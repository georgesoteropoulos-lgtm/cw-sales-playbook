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hfCfCkSAbE0+2xDW9BtBaaEFEW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Gives every rep a single-page snapshot of where the team stands in Q2 before diving into individual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Team Q2 GWP: sum of all bound premium written by BDMs + BDAs since Apr 1.</a:t>
            </a:r>
            <a:endParaRPr/>
          </a:p>
          <a:p>
            <a:pPr indent="0" lvl="0" marL="0" rtl="0" algn="l">
              <a:spcBef>
                <a:spcPts val="0"/>
              </a:spcBef>
              <a:spcAft>
                <a:spcPts val="0"/>
              </a:spcAft>
              <a:buNone/>
            </a:pPr>
            <a:r>
              <a:rPr lang="en-US"/>
              <a:t>- Q2 Projected Finish: (Q2 GWP to date ÷ days elapsed) × 91 days in the quarter, shown as "Proj." in the GWP tile label.</a:t>
            </a:r>
            <a:endParaRPr/>
          </a:p>
          <a:p>
            <a:pPr indent="0" lvl="0" marL="0" rtl="0" algn="l">
              <a:spcBef>
                <a:spcPts val="0"/>
              </a:spcBef>
              <a:spcAft>
                <a:spcPts val="0"/>
              </a:spcAft>
              <a:buNone/>
            </a:pPr>
            <a:r>
              <a:rPr lang="en-US"/>
              <a:t>- Q2 Submissions: total submission count from agencies assigned to Growth Team reps since Apr 1.</a:t>
            </a:r>
            <a:endParaRPr/>
          </a:p>
          <a:p>
            <a:pPr indent="0" lvl="0" marL="0" rtl="0" algn="l">
              <a:spcBef>
                <a:spcPts val="0"/>
              </a:spcBef>
              <a:spcAft>
                <a:spcPts val="0"/>
              </a:spcAft>
              <a:buNone/>
            </a:pPr>
            <a:r>
              <a:rPr lang="en-US"/>
              <a:t>- Activity Compliance Q2: each rep's weekly calls + meetings averaged across Q2 weeks vs. weekly goal (40 BDMs / 50 BDAs). This tile shows the team average.</a:t>
            </a:r>
            <a:endParaRPr/>
          </a:p>
          <a:p>
            <a:pPr indent="0" lvl="0" marL="0" rtl="0" algn="l">
              <a:spcBef>
                <a:spcPts val="0"/>
              </a:spcBef>
              <a:spcAft>
                <a:spcPts val="0"/>
              </a:spcAft>
              <a:buNone/>
            </a:pPr>
            <a:r>
              <a:rPr lang="en-US"/>
              <a:t>- Net New Agencies Appointed: count of "Activated Won" deals in the HubSpot NNA pipeline since Apr 1, BDMs only, filtered to deal names starting with "Appointed - " (true new appointments — excludes "Already appointed", "No deal received", "Duplicate", and pending paperwork tags). Goal = 4 per BDM per quarter. Green = at goal, amber = halfway, red = behind.</a:t>
            </a:r>
            <a:endParaRPr/>
          </a:p>
          <a:p>
            <a:pPr indent="0" lvl="0" marL="0" rtl="0" algn="l">
              <a:spcBef>
                <a:spcPts val="0"/>
              </a:spcBef>
              <a:spcAft>
                <a:spcPts val="0"/>
              </a:spcAft>
              <a:buNone/>
            </a:pPr>
            <a:r>
              <a:rPr lang="en-US"/>
              <a:t>- Badge pills: GWP and Submissions badges show pacing vs. Q1 Final total. Activity badge shows On Track / At Risk / Behind.</a:t>
            </a:r>
            <a:endParaRPr/>
          </a:p>
          <a:p>
            <a:pPr indent="0" lvl="0" marL="0" rtl="0" algn="l">
              <a:spcBef>
                <a:spcPts val="0"/>
              </a:spcBef>
              <a:spcAft>
                <a:spcPts val="0"/>
              </a:spcAft>
              <a:buNone/>
            </a:pPr>
            <a:r>
              <a:rPr lang="en-US"/>
              <a:t>- "vs last month" comparison: each box shows a delta vs the prior month (or Q1 avg for activity/agencies). Green ▲ = improving, red ▼ = declining.</a:t>
            </a:r>
            <a:endParaRPr/>
          </a:p>
          <a:p>
            <a:pPr indent="0" lvl="0" marL="0" rtl="0" algn="l">
              <a:spcBef>
                <a:spcPts val="0"/>
              </a:spcBef>
              <a:spcAft>
                <a:spcPts val="0"/>
              </a:spcAft>
              <a:buNone/>
            </a:pPr>
            <a:r>
              <a:rPr lang="en-US"/>
              <a:t>- Q2 MIX strip (purple): breaks the Q2 GWP figure into New Business / Renewals / Endorsements with each segment's $ amount and % of total. Shows what the team controls (gross production before cancellations).</a:t>
            </a:r>
            <a:endParaRPr/>
          </a:p>
          <a:p>
            <a:pPr indent="0" lvl="0" marL="0" rtl="0" algn="l">
              <a:spcBef>
                <a:spcPts val="0"/>
              </a:spcBef>
              <a:spcAft>
                <a:spcPts val="0"/>
              </a:spcAft>
              <a:buNone/>
            </a:pPr>
            <a:r>
              <a:rPr lang="en-US"/>
              <a:t>- Q1 Final strip (gray): Q1 full-quarter actuals for each metric — GWP, Activity %, Submissions, Agencies Appointed. Use as the benchmark for the four KPI tiles above.</a:t>
            </a:r>
            <a:endParaRPr/>
          </a:p>
          <a:p>
            <a:pPr indent="0" lvl="0" marL="0" rtl="0" algn="l">
              <a:spcBef>
                <a:spcPts val="0"/>
              </a:spcBef>
              <a:spcAft>
                <a:spcPts val="0"/>
              </a:spcAft>
              <a:buNone/>
            </a:pPr>
            <a:r>
              <a:rPr lang="en-US"/>
              <a:t>- MTD Pace: (GWP written this month to date ÷ days elapsed this month) × total days in the month.</a:t>
            </a:r>
            <a:endParaRPr/>
          </a:p>
          <a:p>
            <a:pPr indent="0" lvl="0" marL="0" rtl="0" algn="l">
              <a:spcBef>
                <a:spcPts val="0"/>
              </a:spcBef>
              <a:spcAft>
                <a:spcPts val="0"/>
              </a:spcAft>
              <a:buNone/>
            </a:pPr>
            <a:r>
              <a:rPr lang="en-US"/>
              <a:t>- YTD chart: total company GWP per month (new business + renewals + endorsements) for each month of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TO LOOK FOR</a:t>
            </a:r>
            <a:endParaRPr/>
          </a:p>
          <a:p>
            <a:pPr indent="0" lvl="0" marL="0" rtl="0" algn="l">
              <a:spcBef>
                <a:spcPts val="0"/>
              </a:spcBef>
              <a:spcAft>
                <a:spcPts val="0"/>
              </a:spcAft>
              <a:buNone/>
            </a:pPr>
            <a:r>
              <a:rPr lang="en-US"/>
              <a:t>- Read top to bottom: tiles answer "where are we vs goal?", Q2 MIX answers "what's driving GWP?", Q1 Final answers "how does this compare to last quarter?", MTD bar answers "are we on pace this month?", trend chart shows the trajectory.</a:t>
            </a:r>
            <a:endParaRPr/>
          </a:p>
          <a:p>
            <a:pPr indent="0" lvl="0" marL="0" rtl="0" algn="l">
              <a:spcBef>
                <a:spcPts val="0"/>
              </a:spcBef>
              <a:spcAft>
                <a:spcPts val="0"/>
              </a:spcAft>
              <a:buNone/>
            </a:pPr>
            <a:r>
              <a:rPr lang="en-US"/>
              <a:t>- If Q2 MIX shows endorsements running unusually high relative to NB, the headline GWP is leaning on existing-book activity, not new wins.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Shows where every BDM ranks in Q2. The goal is transparency — everyone sees the same numbers so there are no surprises.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Q2 GWP: total bound premium written by the rep since Apr 1.</a:t>
            </a:r>
            <a:endParaRPr/>
          </a:p>
          <a:p>
            <a:pPr indent="0" lvl="0" marL="0" rtl="0" algn="l">
              <a:spcBef>
                <a:spcPts val="0"/>
              </a:spcBef>
              <a:spcAft>
                <a:spcPts val="0"/>
              </a:spcAft>
              <a:buNone/>
            </a:pPr>
            <a:r>
              <a:rPr lang="en-US"/>
              <a:t>- Q2 Subs: total submission count (quotes + applications) for the rep since Apr 1.</a:t>
            </a:r>
            <a:endParaRPr/>
          </a:p>
          <a:p>
            <a:pPr indent="0" lvl="0" marL="0" rtl="0" algn="l">
              <a:spcBef>
                <a:spcPts val="0"/>
              </a:spcBef>
              <a:spcAft>
                <a:spcPts val="0"/>
              </a:spcAft>
              <a:buNone/>
            </a:pPr>
            <a:r>
              <a:rPr lang="en-US"/>
              <a:t>- OKR 1 — Subs YOY %: (Q2 subs to date this year ÷ same date range last year) − 1. Green = +100% or more vs. last year.</a:t>
            </a:r>
            <a:endParaRPr/>
          </a:p>
          <a:p>
            <a:pPr indent="0" lvl="0" marL="0" rtl="0" algn="l">
              <a:spcBef>
                <a:spcPts val="0"/>
              </a:spcBef>
              <a:spcAft>
                <a:spcPts val="0"/>
              </a:spcAft>
              <a:buNone/>
            </a:pPr>
            <a:r>
              <a:rPr lang="en-US"/>
              <a:t>- OKR 2 — Activity %: (avg weekly calls + meetings) ÷ 40 goal. Green = 100%+. Amber = 75–99%. Red = below 75%.</a:t>
            </a:r>
            <a:endParaRPr/>
          </a:p>
          <a:p>
            <a:pPr indent="0" lvl="0" marL="0" rtl="0" algn="l">
              <a:spcBef>
                <a:spcPts val="0"/>
              </a:spcBef>
              <a:spcAft>
                <a:spcPts val="0"/>
              </a:spcAft>
              <a:buNone/>
            </a:pPr>
            <a:r>
              <a:rPr lang="en-US"/>
              <a:t>- OKR 3 — Portfolio Active %: active agencies ÷ total assigned agencies. Active = any 2026 submission on the agency from any source (BDM, BDA, or direct). Green = 75%+.</a:t>
            </a:r>
            <a:endParaRPr/>
          </a:p>
          <a:p>
            <a:pPr indent="0" lvl="0" marL="0" rtl="0" algn="l">
              <a:spcBef>
                <a:spcPts val="0"/>
              </a:spcBef>
              <a:spcAft>
                <a:spcPts val="0"/>
              </a:spcAft>
              <a:buNone/>
            </a:pPr>
            <a:r>
              <a:rPr lang="en-US"/>
              <a:t>- OKR 4 — New Agencies: count of "Activated Won" deals in the HubSpot NNA pipeline since Apr 1, filtered to deal names starting with "Appointed - " (excludes "Already appointed", "No deal received", "Duplicate", and pending paperwork). Goal = 4 per quarter.</a:t>
            </a:r>
            <a:endParaRPr/>
          </a:p>
          <a:p>
            <a:pPr indent="0" lvl="0" marL="0" rtl="0" algn="l">
              <a:spcBef>
                <a:spcPts val="0"/>
              </a:spcBef>
              <a:spcAft>
                <a:spcPts val="0"/>
              </a:spcAft>
              <a:buNone/>
            </a:pPr>
            <a:r>
              <a:rPr lang="en-US"/>
              <a:t>- Composite Score /100: weighted blend of all 4 OKRs. Higher = stronger overall Q2 performance.</a:t>
            </a:r>
            <a:endParaRPr/>
          </a:p>
          <a:p>
            <a:pPr indent="0" lvl="0" marL="0" rtl="0" algn="l">
              <a:spcBef>
                <a:spcPts val="0"/>
              </a:spcBef>
              <a:spcAft>
                <a:spcPts val="0"/>
              </a:spcAft>
              <a:buNone/>
            </a:pPr>
            <a:r>
              <a:rPr lang="en-US"/>
              <a:t>- Trend arrow and Q1→Q2 score: composite score from Q1 final vs. Q2 current — shows whether a rep is improving or declining.</a:t>
            </a:r>
            <a:endParaRPr/>
          </a:p>
        </p:txBody>
      </p:sp>
      <p:sp>
        <p:nvSpPr>
          <p:cNvPr id="141" name="Google Shape;14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Same ranking view as BDMs but for BDAs. BDAs have a higher activity goal and do not have an OKR 4 (new agency activation).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Q2 GWP and Subs: same as BDMs — bound premium and submission count since Apr 1.</a:t>
            </a:r>
            <a:endParaRPr/>
          </a:p>
          <a:p>
            <a:pPr indent="0" lvl="0" marL="0" rtl="0" algn="l">
              <a:spcBef>
                <a:spcPts val="0"/>
              </a:spcBef>
              <a:spcAft>
                <a:spcPts val="0"/>
              </a:spcAft>
              <a:buNone/>
            </a:pPr>
            <a:r>
              <a:rPr lang="en-US"/>
              <a:t>- OKR 1 — Subs YOY %: (Q2 subs to date ÷ same period last year) − 1. BDA Q2 accountability started Apr 20 for Cabrera, Lewis, and Sloan — their YOY is calculated from that date forward.</a:t>
            </a:r>
            <a:endParaRPr/>
          </a:p>
          <a:p>
            <a:pPr indent="0" lvl="0" marL="0" rtl="0" algn="l">
              <a:spcBef>
                <a:spcPts val="0"/>
              </a:spcBef>
              <a:spcAft>
                <a:spcPts val="0"/>
              </a:spcAft>
              <a:buNone/>
            </a:pPr>
            <a:r>
              <a:rPr lang="en-US"/>
              <a:t>- OKR 2 — Activity %: (avg weekly calls + meetings) ÷ 50 goal. BDA goal is 50 acts/week, not 40.</a:t>
            </a:r>
            <a:endParaRPr/>
          </a:p>
          <a:p>
            <a:pPr indent="0" lvl="0" marL="0" rtl="0" algn="l">
              <a:spcBef>
                <a:spcPts val="0"/>
              </a:spcBef>
              <a:spcAft>
                <a:spcPts val="0"/>
              </a:spcAft>
              <a:buNone/>
            </a:pPr>
            <a:r>
              <a:rPr lang="en-US"/>
              <a:t>- OKR 3 — Portfolio Active %: same formula as BDMs. Active = any 2026 submission on the agency from any source. Green = 75%+ of assigned agencies active. BDA target = 70%.</a:t>
            </a:r>
            <a:endParaRPr/>
          </a:p>
          <a:p>
            <a:pPr indent="0" lvl="0" marL="0" rtl="0" algn="l">
              <a:spcBef>
                <a:spcPts val="0"/>
              </a:spcBef>
              <a:spcAft>
                <a:spcPts val="0"/>
              </a:spcAft>
              <a:buNone/>
            </a:pPr>
            <a:r>
              <a:rPr lang="en-US"/>
              <a:t>- Composite Score /100: weighted blend of OKRs 1–3 (no OKR 4 for BDAs).</a:t>
            </a:r>
            <a:endParaRPr/>
          </a:p>
          <a:p>
            <a:pPr indent="0" lvl="0" marL="0" rtl="0" algn="l">
              <a:spcBef>
                <a:spcPts val="0"/>
              </a:spcBef>
              <a:spcAft>
                <a:spcPts val="0"/>
              </a:spcAft>
              <a:buNone/>
            </a:pPr>
            <a:r>
              <a:rPr lang="en-US"/>
              <a:t>- Trend: Q1 composite score vs. Q2 current composite — arrow shows direction of change.</a:t>
            </a:r>
            <a:endParaRPr/>
          </a:p>
        </p:txBody>
      </p:sp>
      <p:sp>
        <p:nvSpPr>
          <p:cNvPr id="151" name="Google Shape;15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Shows week-by-week activity for every BDM. Activity is the leading indicator — GWP follows from consistent outreach.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Each cell = total calls + meetings logged in HubSpot for that rep in that calendar week. Emails are excluded.</a:t>
            </a:r>
            <a:endParaRPr/>
          </a:p>
          <a:p>
            <a:pPr indent="0" lvl="0" marL="0" rtl="0" algn="l">
              <a:spcBef>
                <a:spcPts val="0"/>
              </a:spcBef>
              <a:spcAft>
                <a:spcPts val="0"/>
              </a:spcAft>
              <a:buNone/>
            </a:pPr>
            <a:r>
              <a:rPr lang="en-US"/>
              <a:t>- Goal = 40 acts/week per BDM.</a:t>
            </a:r>
            <a:endParaRPr/>
          </a:p>
          <a:p>
            <a:pPr indent="0" lvl="0" marL="0" rtl="0" algn="l">
              <a:spcBef>
                <a:spcPts val="0"/>
              </a:spcBef>
              <a:spcAft>
                <a:spcPts val="0"/>
              </a:spcAft>
              <a:buNone/>
            </a:pPr>
            <a:r>
              <a:rPr lang="en-US"/>
              <a:t>- Green = 40+ (100% of goal). Amber = 30–39 (75–99%). Red = below 30 (&lt;75%). Gray = zero logged that week.</a:t>
            </a:r>
            <a:endParaRPr/>
          </a:p>
          <a:p>
            <a:pPr indent="0" lvl="0" marL="0" rtl="0" algn="l">
              <a:spcBef>
                <a:spcPts val="0"/>
              </a:spcBef>
              <a:spcAft>
                <a:spcPts val="0"/>
              </a:spcAft>
              <a:buNone/>
            </a:pPr>
            <a:r>
              <a:rPr lang="en-US"/>
              <a:t>- Avg % (right column): average of each week's (acts ÷ 40) across all Q2 weeks to date. This is the same number shown in OKR 2 on the rankings slide.</a:t>
            </a:r>
            <a:endParaRPr/>
          </a:p>
          <a:p>
            <a:pPr indent="0" lvl="0" marL="0" rtl="0" algn="l">
              <a:spcBef>
                <a:spcPts val="0"/>
              </a:spcBef>
              <a:spcAft>
                <a:spcPts val="0"/>
              </a:spcAft>
              <a:buNone/>
            </a:pPr>
            <a:r>
              <a:rPr lang="en-US"/>
              <a:t>- Summary table below the heatmap: Calls and Meetings are Q2 totals. Avg/Wk = total acts ÷ weeks elapsed. % to Goal = Avg/Wk ÷ 40.</a:t>
            </a:r>
            <a:endParaRPr/>
          </a:p>
          <a:p>
            <a:pPr indent="0" lvl="0" marL="0" rtl="0" algn="l">
              <a:spcBef>
                <a:spcPts val="0"/>
              </a:spcBef>
              <a:spcAft>
                <a:spcPts val="0"/>
              </a:spcAft>
              <a:buNone/>
            </a:pPr>
            <a:r>
              <a:rPr lang="en-US"/>
              <a:t>- BDA Activity Dashboard is on the next slide.</a:t>
            </a:r>
            <a:endParaRPr/>
          </a:p>
        </p:txBody>
      </p:sp>
      <p:sp>
        <p:nvSpPr>
          <p:cNvPr id="161" name="Google Shape;16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Same heatmap layout as BDMs but for BDAs. BDAs have a higher weekly goal because outbound activity is the core of their role.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Each cell = calls + meetings for that BDA in that week. Emails excluded.</a:t>
            </a:r>
            <a:endParaRPr/>
          </a:p>
          <a:p>
            <a:pPr indent="0" lvl="0" marL="0" rtl="0" algn="l">
              <a:spcBef>
                <a:spcPts val="0"/>
              </a:spcBef>
              <a:spcAft>
                <a:spcPts val="0"/>
              </a:spcAft>
              <a:buNone/>
            </a:pPr>
            <a:r>
              <a:rPr lang="en-US"/>
              <a:t>- Goal = 50 acts/week per BDA.</a:t>
            </a:r>
            <a:endParaRPr/>
          </a:p>
          <a:p>
            <a:pPr indent="0" lvl="0" marL="0" rtl="0" algn="l">
              <a:spcBef>
                <a:spcPts val="0"/>
              </a:spcBef>
              <a:spcAft>
                <a:spcPts val="0"/>
              </a:spcAft>
              <a:buNone/>
            </a:pPr>
            <a:r>
              <a:rPr lang="en-US"/>
              <a:t>- Green = 50+ (100%). Amber = 37–49 (75–99%). Red = below 37 (&lt;75%). Gray = zero logged.</a:t>
            </a:r>
            <a:endParaRPr/>
          </a:p>
          <a:p>
            <a:pPr indent="0" lvl="0" marL="0" rtl="0" algn="l">
              <a:spcBef>
                <a:spcPts val="0"/>
              </a:spcBef>
              <a:spcAft>
                <a:spcPts val="0"/>
              </a:spcAft>
              <a:buNone/>
            </a:pPr>
            <a:r>
              <a:rPr lang="en-US"/>
              <a:t>- Erika Cabrera, Portia Lewis, and Taylor Sloan: gray cells before the week of Apr 20 are expected — their Q2 activity accountability started that week, so earlier weeks are grayed out rather than shown as red.</a:t>
            </a:r>
            <a:endParaRPr/>
          </a:p>
          <a:p>
            <a:pPr indent="0" lvl="0" marL="0" rtl="0" algn="l">
              <a:spcBef>
                <a:spcPts val="0"/>
              </a:spcBef>
              <a:spcAft>
                <a:spcPts val="0"/>
              </a:spcAft>
              <a:buNone/>
            </a:pPr>
            <a:r>
              <a:rPr lang="en-US"/>
              <a:t>- Avg % (right column): average of each week's (acts ÷ 50) across the weeks they are accountable for. Matches OKR 2 on the rankings slide.</a:t>
            </a:r>
            <a:endParaRPr/>
          </a:p>
          <a:p>
            <a:pPr indent="0" lvl="0" marL="0" rtl="0" algn="l">
              <a:spcBef>
                <a:spcPts val="0"/>
              </a:spcBef>
              <a:spcAft>
                <a:spcPts val="0"/>
              </a:spcAft>
              <a:buNone/>
            </a:pPr>
            <a:r>
              <a:rPr lang="en-US"/>
              <a:t>- Summary table: totals are counted from Apr 1 for all BDAs, except Cabrera/Lewis/Sloan whose calls and meetings are counted from Apr 20.</a:t>
            </a:r>
            <a:endParaRPr/>
          </a:p>
          <a:p>
            <a:pPr indent="0" lvl="0" marL="0" rtl="0" algn="l">
              <a:spcBef>
                <a:spcPts val="0"/>
              </a:spcBef>
              <a:spcAft>
                <a:spcPts val="0"/>
              </a:spcAft>
              <a:buNone/>
            </a:pPr>
            <a:r>
              <a:rPr lang="en-US"/>
              <a:t>- BDM Activity Dashboard is on the previous slide.</a:t>
            </a:r>
            <a:endParaRPr/>
          </a:p>
        </p:txBody>
      </p:sp>
      <p:sp>
        <p:nvSpPr>
          <p:cNvPr id="326" name="Google Shape;32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Shows how actively each rep is working their assigned book. An agency assigned but not submitting in 2026 is a missed opportunity. Engagement % (OKR 3) is the headline number per rep.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Portfolio: agencies assigned to the rep in HubSpot. BDMs are matched via the owner_2 property; BDAs via onboarding_success_agent.</a:t>
            </a:r>
            <a:endParaRPr/>
          </a:p>
          <a:p>
            <a:pPr indent="0" lvl="0" marL="0" rtl="0" algn="l">
              <a:spcBef>
                <a:spcPts val="0"/>
              </a:spcBef>
              <a:spcAft>
                <a:spcPts val="0"/>
              </a:spcAft>
              <a:buNone/>
            </a:pPr>
            <a:r>
              <a:rPr lang="en-US"/>
              <a:t>- Active: any agency in the rep's portfolio that has at least one 2026 submission from any source — including subs that came through a BDA below the BDM. Uses a normalized name match (strips LLC/Inc/Corp/DBA, punctuation, case).</a:t>
            </a:r>
            <a:endParaRPr/>
          </a:p>
          <a:p>
            <a:pPr indent="0" lvl="0" marL="0" rtl="0" algn="l">
              <a:spcBef>
                <a:spcPts val="0"/>
              </a:spcBef>
              <a:spcAft>
                <a:spcPts val="0"/>
              </a:spcAft>
              <a:buNone/>
            </a:pPr>
            <a:r>
              <a:rPr lang="en-US"/>
              <a:t>- Dormant: Portfolio − Active. Agencies assigned to the rep with zero 2026 submissions. Specific names are listed on the next slide (Dormant Agencies — Detail by Rep).</a:t>
            </a:r>
            <a:endParaRPr/>
          </a:p>
          <a:p>
            <a:pPr indent="0" lvl="0" marL="0" rtl="0" algn="l">
              <a:spcBef>
                <a:spcPts val="0"/>
              </a:spcBef>
              <a:spcAft>
                <a:spcPts val="0"/>
              </a:spcAft>
              <a:buNone/>
            </a:pPr>
            <a:r>
              <a:rPr lang="en-US"/>
              <a:t>- Eng. % (Engagement): Active ÷ Portfolio × 100. This is OKR 3. Green = 75%+. Amber = 50–74%. Red = below 50%. BDM target = 100%. BDA target = 70%.</a:t>
            </a:r>
            <a:endParaRPr/>
          </a:p>
          <a:p>
            <a:pPr indent="0" lvl="0" marL="0" rtl="0" algn="l">
              <a:spcBef>
                <a:spcPts val="0"/>
              </a:spcBef>
              <a:spcAft>
                <a:spcPts val="0"/>
              </a:spcAft>
              <a:buNone/>
            </a:pPr>
            <a:r>
              <a:rPr lang="en-US"/>
              <a:t>- Q1 GWP: gross written premium from this rep's book in Q1 2026 (reference column).</a:t>
            </a:r>
            <a:endParaRPr/>
          </a:p>
          <a:p>
            <a:pPr indent="0" lvl="0" marL="0" rtl="0" algn="l">
              <a:spcBef>
                <a:spcPts val="0"/>
              </a:spcBef>
              <a:spcAft>
                <a:spcPts val="0"/>
              </a:spcAft>
              <a:buNone/>
            </a:pPr>
            <a:r>
              <a:rPr lang="en-US"/>
              <a:t>- Q2 Subs / Q2 Binds / Q2 GWP: submission, bind, and premium counts for Q2 2026 to date (Apr 1 → today). Only includes agencies assigned to this rep.</a:t>
            </a:r>
            <a:endParaRPr/>
          </a:p>
          <a:p>
            <a:pPr indent="0" lvl="0" marL="0" rtl="0" algn="l">
              <a:spcBef>
                <a:spcPts val="0"/>
              </a:spcBef>
              <a:spcAft>
                <a:spcPts val="0"/>
              </a:spcAft>
              <a:buNone/>
            </a:pPr>
            <a:r>
              <a:rPr lang="en-US"/>
              <a:t>- Q2 Renew / Q2 Cancel: GWP from Q2 renewals and cancellations. If cancels approach renewals, that rep has a retention problem.</a:t>
            </a:r>
            <a:endParaRPr/>
          </a:p>
          <a:p>
            <a:pPr indent="0" lvl="0" marL="0" rtl="0" algn="l">
              <a:spcBef>
                <a:spcPts val="0"/>
              </a:spcBef>
              <a:spcAft>
                <a:spcPts val="0"/>
              </a:spcAft>
              <a:buNone/>
            </a:pPr>
            <a:r>
              <a:rPr lang="en-US"/>
              <a:t>- Unassigned row: agencies that submitted in Q2 but did not map to any rep's HubSpot book by name. Not part of the team portfolio total.</a:t>
            </a:r>
            <a:endParaRPr/>
          </a:p>
        </p:txBody>
      </p:sp>
      <p:sp>
        <p:nvSpPr>
          <p:cNvPr id="461" name="Google Shape;46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Pairs with the Account Health slide. That slide gave you the dormant count; this slide names the specific agencies so reps can act — call them, get a sub in, or escalate. Driving these counts down is the path to OKR 3 (100% portfolio engagement for BDMs, 70% for BDAs).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LIST IS BUILT</a:t>
            </a:r>
            <a:endParaRPr/>
          </a:p>
          <a:p>
            <a:pPr indent="0" lvl="0" marL="0" rtl="0" algn="l">
              <a:spcBef>
                <a:spcPts val="0"/>
              </a:spcBef>
              <a:spcAft>
                <a:spcPts val="0"/>
              </a:spcAft>
              <a:buNone/>
            </a:pPr>
            <a:r>
              <a:rPr lang="en-US"/>
              <a:t>- Portfolio per rep is pulled from HubSpot live: BDMs via owner_2, BDAs via onboarding_success_agent.</a:t>
            </a:r>
            <a:endParaRPr/>
          </a:p>
          <a:p>
            <a:pPr indent="0" lvl="0" marL="0" rtl="0" algn="l">
              <a:spcBef>
                <a:spcPts val="0"/>
              </a:spcBef>
              <a:spcAft>
                <a:spcPts val="0"/>
              </a:spcAft>
              <a:buNone/>
            </a:pPr>
            <a:r>
              <a:rPr lang="en-US"/>
              <a:t>- An agency is DORMANT if it has zero 2026 submissions from any source (loose lens — same definition used on the Account Health slide). Name matching is normalized (strips LLC/Inc/Corp/DBA, punctuation, case) so 'Acme, LLC' and 'Acme LLC' match the same agency.</a:t>
            </a:r>
            <a:endParaRPr/>
          </a:p>
          <a:p>
            <a:pPr indent="0" lvl="0" marL="0" rtl="0" algn="l">
              <a:spcBef>
                <a:spcPts val="0"/>
              </a:spcBef>
              <a:spcAft>
                <a:spcPts val="0"/>
              </a:spcAft>
              <a:buNone/>
            </a:pPr>
            <a:r>
              <a:rPr lang="en-US"/>
              <a:t>- Card color stripe codes severity: red (5+ dormant), orange (3–4), amber (1–2), green (0).</a:t>
            </a:r>
            <a:endParaRPr/>
          </a:p>
          <a:p>
            <a:pPr indent="0" lvl="0" marL="0" rtl="0" algn="l">
              <a:spcBef>
                <a:spcPts val="0"/>
              </a:spcBef>
              <a:spcAft>
                <a:spcPts val="0"/>
              </a:spcAft>
              <a:buNone/>
            </a:pPr>
            <a:r>
              <a:rPr lang="en-US"/>
              <a:t>- Reps with zero dormant agencies aren't shown as empty cards — they're tallied in the footer line.</a:t>
            </a:r>
            <a:endParaRPr/>
          </a:p>
        </p:txBody>
      </p:sp>
      <p:sp>
        <p:nvSpPr>
          <p:cNvPr id="637" name="Google Shape;63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OKR 4 — tracks BDM appointment performance and whether each newly-appointed agency is actually producing. Two signals: did we sign them this quarter, and have they started submitting?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Source: HubSpot deals in the Net New Agency (NNA) pipeline, stage = 'Activated Won', closedate &gt;= 2026-04-01.</a:t>
            </a:r>
            <a:endParaRPr/>
          </a:p>
          <a:p>
            <a:pPr indent="0" lvl="0" marL="0" rtl="0" algn="l">
              <a:spcBef>
                <a:spcPts val="0"/>
              </a:spcBef>
              <a:spcAft>
                <a:spcPts val="0"/>
              </a:spcAft>
              <a:buNone/>
            </a:pPr>
            <a:r>
              <a:rPr lang="en-US"/>
              <a:t>- Filter: only deals whose name starts with 'Appointed - ' count toward the OKR. BDMs use deal name prefixes to tag outcomes — we only credit true new appointments.</a:t>
            </a:r>
            <a:endParaRPr/>
          </a:p>
          <a:p>
            <a:pPr indent="0" lvl="0" marL="0" rtl="0" algn="l">
              <a:spcBef>
                <a:spcPts val="0"/>
              </a:spcBef>
              <a:spcAft>
                <a:spcPts val="0"/>
              </a:spcAft>
              <a:buNone/>
            </a:pPr>
            <a:r>
              <a:rPr lang="en-US"/>
              <a:t>  • 'Appointed - &lt;Agency&gt;'  → counts ✓</a:t>
            </a:r>
            <a:endParaRPr/>
          </a:p>
          <a:p>
            <a:pPr indent="0" lvl="0" marL="0" rtl="0" algn="l">
              <a:spcBef>
                <a:spcPts val="0"/>
              </a:spcBef>
              <a:spcAft>
                <a:spcPts val="0"/>
              </a:spcAft>
              <a:buNone/>
            </a:pPr>
            <a:r>
              <a:rPr lang="en-US"/>
              <a:t>  • 'Already appointed - &lt;Agency&gt;'  → excluded (relationship pre-existed)</a:t>
            </a:r>
            <a:endParaRPr/>
          </a:p>
          <a:p>
            <a:pPr indent="0" lvl="0" marL="0" rtl="0" algn="l">
              <a:spcBef>
                <a:spcPts val="0"/>
              </a:spcBef>
              <a:spcAft>
                <a:spcPts val="0"/>
              </a:spcAft>
              <a:buNone/>
            </a:pPr>
            <a:r>
              <a:rPr lang="en-US"/>
              <a:t>  • 'No deal received - &lt;Agency&gt;'  → excluded (paperwork never came back)</a:t>
            </a:r>
            <a:endParaRPr/>
          </a:p>
          <a:p>
            <a:pPr indent="0" lvl="0" marL="0" rtl="0" algn="l">
              <a:spcBef>
                <a:spcPts val="0"/>
              </a:spcBef>
              <a:spcAft>
                <a:spcPts val="0"/>
              </a:spcAft>
              <a:buNone/>
            </a:pPr>
            <a:r>
              <a:rPr lang="en-US"/>
              <a:t>  • 'Duplicate - &lt;Agency&gt;'  → excluded</a:t>
            </a:r>
            <a:endParaRPr/>
          </a:p>
          <a:p>
            <a:pPr indent="0" lvl="0" marL="0" rtl="0" algn="l">
              <a:spcBef>
                <a:spcPts val="0"/>
              </a:spcBef>
              <a:spcAft>
                <a:spcPts val="0"/>
              </a:spcAft>
              <a:buNone/>
            </a:pPr>
            <a:r>
              <a:rPr lang="en-US"/>
              <a:t>  • 'Deal created / pending paperwork - &lt;Agency&gt;'  → excluded (not closed yet)</a:t>
            </a:r>
            <a:endParaRPr/>
          </a:p>
          <a:p>
            <a:pPr indent="0" lvl="0" marL="0" rtl="0" algn="l">
              <a:spcBef>
                <a:spcPts val="0"/>
              </a:spcBef>
              <a:spcAft>
                <a:spcPts val="0"/>
              </a:spcAft>
              <a:buNone/>
            </a:pPr>
            <a:r>
              <a:rPr lang="en-US"/>
              <a:t>- Goal = 4 true new appointments per BDM per quarter (20 team total). Green = 4+. Amber = 2–3. Red = 0–1.</a:t>
            </a:r>
            <a:endParaRPr/>
          </a:p>
          <a:p>
            <a:pPr indent="0" lvl="0" marL="0" rtl="0" algn="l">
              <a:spcBef>
                <a:spcPts val="0"/>
              </a:spcBef>
              <a:spcAft>
                <a:spcPts val="0"/>
              </a:spcAft>
              <a:buNone/>
            </a:pPr>
            <a:r>
              <a:rPr lang="en-US"/>
              <a:t>- Each agency name on the slide has its 'Appointed -' prefix stripped and is suffixed with: (a) its Q2 submission count and (b) the bound GWP it has generated in Q2 (e.g., 'Acme Insurance — 3 Q2 subs · $145K GWP'). Zero Q2 subs = appointed but not producing yet (reactivation outreach). $0 GWP with subs &gt; 0 = quoting but not binding (pricing or quality issue).</a:t>
            </a:r>
            <a:endParaRPr/>
          </a:p>
          <a:p>
            <a:pPr indent="0" lvl="0" marL="0" rtl="0" algn="l">
              <a:spcBef>
                <a:spcPts val="0"/>
              </a:spcBef>
              <a:spcAft>
                <a:spcPts val="0"/>
              </a:spcAft>
              <a:buNone/>
            </a:pPr>
            <a:r>
              <a:rPr lang="en-US"/>
              <a:t>- '+X in pipeline' under the count = NNA deals still in earlier stages (Identified, Outreach, Discovery, Decision Maker Bought-In, Education, Intent to Partner, Onboarding/Setup). Near-term appointment pipeline.</a:t>
            </a:r>
            <a:endParaRPr/>
          </a:p>
          <a:p>
            <a:pPr indent="0" lvl="0" marL="0" rtl="0" algn="l">
              <a:spcBef>
                <a:spcPts val="0"/>
              </a:spcBef>
              <a:spcAft>
                <a:spcPts val="0"/>
              </a:spcAft>
              <a:buNone/>
            </a:pPr>
            <a:r>
              <a:rPr lang="en-US"/>
              <a:t>- Q1 reference is in the appendix.</a:t>
            </a:r>
            <a:endParaRPr/>
          </a:p>
          <a:p>
            <a:pPr indent="0" lvl="0" marL="0" rtl="0" algn="l">
              <a:spcBef>
                <a:spcPts val="0"/>
              </a:spcBef>
              <a:spcAft>
                <a:spcPts val="0"/>
              </a:spcAft>
              <a:buNone/>
            </a:pPr>
            <a:r>
              <a:rPr lang="en-US"/>
              <a:t>- We are 42 days into a 91-day quarter.</a:t>
            </a:r>
            <a:endParaRPr/>
          </a:p>
        </p:txBody>
      </p:sp>
      <p:sp>
        <p:nvSpPr>
          <p:cNvPr id="718" name="Google Shape;71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7" name="Google Shape;7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Shows which agencies are generating the most Q2 revenue (left) and the most activity (right). High GWP = biggest accounts. High subs = most active relationships. Comparing the two lists shows where volume and quality align vs. diverge — agencies on both lists are the team's anchor accounts.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Q2 GWP by Agency (left): sum of bound policy premiums from each agency since Apr 1, 2026. Only policies with a recorded premium counted.</a:t>
            </a:r>
            <a:endParaRPr/>
          </a:p>
          <a:p>
            <a:pPr indent="0" lvl="0" marL="0" rtl="0" algn="l">
              <a:spcBef>
                <a:spcPts val="0"/>
              </a:spcBef>
              <a:spcAft>
                <a:spcPts val="0"/>
              </a:spcAft>
              <a:buNone/>
            </a:pPr>
            <a:r>
              <a:rPr lang="en-US"/>
              <a:t>- Q2 Subs by Agency (right): total submission count per agency since Apr 1, 2026. Includes all submissions regardless of quote/bind status.</a:t>
            </a:r>
            <a:endParaRPr/>
          </a:p>
          <a:p>
            <a:pPr indent="0" lvl="0" marL="0" rtl="0" algn="l">
              <a:spcBef>
                <a:spcPts val="0"/>
              </a:spcBef>
              <a:spcAft>
                <a:spcPts val="0"/>
              </a:spcAft>
              <a:buNone/>
            </a:pPr>
            <a:r>
              <a:rPr lang="en-US"/>
              <a:t>- Rep shown = the rep who owns that agency in Metabase/HubSpot (last recorded if multiple).</a:t>
            </a:r>
            <a:endParaRPr/>
          </a:p>
          <a:p>
            <a:pPr indent="0" lvl="0" marL="0" rtl="0" algn="l">
              <a:spcBef>
                <a:spcPts val="0"/>
              </a:spcBef>
              <a:spcAft>
                <a:spcPts val="0"/>
              </a:spcAft>
              <a:buNone/>
            </a:pPr>
            <a:r>
              <a:rPr lang="en-US"/>
              <a:t>- Top 20 each, ranked largest to smallest. Agencies appearing in BOTH lists are flagged as anchor accounts (high volume AND high revenue).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NEW BADGE</a:t>
            </a:r>
            <a:endParaRPr/>
          </a:p>
          <a:p>
            <a:pPr indent="0" lvl="0" marL="0" rtl="0" algn="l">
              <a:spcBef>
                <a:spcPts val="0"/>
              </a:spcBef>
              <a:spcAft>
                <a:spcPts val="0"/>
              </a:spcAft>
              <a:buNone/>
            </a:pPr>
            <a:r>
              <a:rPr lang="en-US"/>
              <a:t>- A green 'NEW' pill appears next to the rank when the agency was NOT in last week's emailed deck on this list. Snapshot is read from C:\Users\george.soteropoulos\top_lists_snapshot.json (refreshed automatically after every build).</a:t>
            </a:r>
            <a:endParaRPr/>
          </a:p>
          <a:p>
            <a:pPr indent="0" lvl="0" marL="0" rtl="0" algn="l">
              <a:spcBef>
                <a:spcPts val="0"/>
              </a:spcBef>
              <a:spcAft>
                <a:spcPts val="0"/>
              </a:spcAft>
              <a:buNone/>
            </a:pPr>
            <a:r>
              <a:rPr lang="en-US"/>
              <a:t>- First-time-ever build: no badges (no prior snapshot exists). Starting next Monday's auto-email, badges will appear for genuine new entrants.</a:t>
            </a:r>
            <a:endParaRPr/>
          </a:p>
        </p:txBody>
      </p:sp>
      <p:sp>
        <p:nvSpPr>
          <p:cNvPr id="728" name="Google Shape;72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0" name="Google Shape;95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Names the individual insurance agents (producers) writing the most bound premium with Cover Whale in Q2. These are the specific people — not just agencies — your reps should know by name and prioritize for relationship-building. The agency list on the prior slide tells you which BROKERAGES matter; this slide tells you which PEOPLE.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Agent: current_producer_contact_first_name + current_producer_contact_last_name from dw_reader.policy_transaction_premium (same source as the Metabase Bound Business Report V2, card 31771).</a:t>
            </a:r>
            <a:endParaRPr/>
          </a:p>
          <a:p>
            <a:pPr indent="0" lvl="0" marL="0" rtl="0" algn="l">
              <a:spcBef>
                <a:spcPts val="0"/>
              </a:spcBef>
              <a:spcAft>
                <a:spcPts val="0"/>
              </a:spcAft>
              <a:buNone/>
            </a:pPr>
            <a:r>
              <a:rPr lang="en-US"/>
              <a:t>- Agency: the brokerage they work for (producer_name field).</a:t>
            </a:r>
            <a:endParaRPr/>
          </a:p>
          <a:p>
            <a:pPr indent="0" lvl="0" marL="0" rtl="0" algn="l">
              <a:spcBef>
                <a:spcPts val="0"/>
              </a:spcBef>
              <a:spcAft>
                <a:spcPts val="0"/>
              </a:spcAft>
              <a:buNone/>
            </a:pPr>
            <a:r>
              <a:rPr lang="en-US"/>
              <a:t>- Q2 GWP: total gross_written_premium_amount on transactions with transaction_effective_date &gt;= 2026-04-01.</a:t>
            </a:r>
            <a:endParaRPr/>
          </a:p>
          <a:p>
            <a:pPr indent="0" lvl="0" marL="0" rtl="0" algn="l">
              <a:spcBef>
                <a:spcPts val="0"/>
              </a:spcBef>
              <a:spcAft>
                <a:spcPts val="0"/>
              </a:spcAft>
              <a:buNone/>
            </a:pPr>
            <a:r>
              <a:rPr lang="en-US"/>
              <a:t>- Two side-by-side columns: ranks 1–20 left, 21–40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NEW BADGE</a:t>
            </a:r>
            <a:endParaRPr/>
          </a:p>
          <a:p>
            <a:pPr indent="0" lvl="0" marL="0" rtl="0" algn="l">
              <a:spcBef>
                <a:spcPts val="0"/>
              </a:spcBef>
              <a:spcAft>
                <a:spcPts val="0"/>
              </a:spcAft>
              <a:buNone/>
            </a:pPr>
            <a:r>
              <a:rPr lang="en-US"/>
              <a:t>- A green 'NEW' pill appears next to the rank when this agent (matched by name + agency) was NOT in last week's emailed deck's top 40. Snapshot stored at C:\Users\george.soteropoulos\top_lists_snapshot.json and refreshed every build.</a:t>
            </a:r>
            <a:endParaRPr/>
          </a:p>
          <a:p>
            <a:pPr indent="0" lvl="0" marL="0" rtl="0" algn="l">
              <a:spcBef>
                <a:spcPts val="0"/>
              </a:spcBef>
              <a:spcAft>
                <a:spcPts val="0"/>
              </a:spcAft>
              <a:buNone/>
            </a:pPr>
            <a:r>
              <a:rPr lang="en-US"/>
              <a:t>- A producer appearing here who also shows up on the prior slide as a 'NEW' agency is a likely single-account driver — worth investigating the deal behind it.</a:t>
            </a:r>
            <a:endParaRPr/>
          </a:p>
        </p:txBody>
      </p:sp>
      <p:sp>
        <p:nvSpPr>
          <p:cNvPr id="951" name="Google Shape;951;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9" name="Google Shape;116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a:t>
            </a:r>
            <a:endParaRPr/>
          </a:p>
          <a:p>
            <a:pPr indent="0" lvl="0" marL="0" rtl="0" algn="l">
              <a:spcBef>
                <a:spcPts val="0"/>
              </a:spcBef>
              <a:spcAft>
                <a:spcPts val="0"/>
              </a:spcAft>
              <a:buNone/>
            </a:pPr>
            <a:r>
              <a:rPr lang="en-US"/>
              <a:t>Closes the deck with the highest-value Q2 wins. Fleet = 4+ power units — these multi-unit accounts move the GWP needle in a way single-unit binds don't. Use this as the finishing slide in QBR / leadership reviews.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THE NUMBERS ARE CALCULATED</a:t>
            </a:r>
            <a:endParaRPr/>
          </a:p>
          <a:p>
            <a:pPr indent="0" lvl="0" marL="0" rtl="0" algn="l">
              <a:spcBef>
                <a:spcPts val="0"/>
              </a:spcBef>
              <a:spcAft>
                <a:spcPts val="0"/>
              </a:spcAft>
              <a:buNone/>
            </a:pPr>
            <a:r>
              <a:rPr lang="en-US"/>
              <a:t>- Each row = a single bound fleet submission with premium &gt; $0, written since Apr 1, 2026.</a:t>
            </a:r>
            <a:endParaRPr/>
          </a:p>
          <a:p>
            <a:pPr indent="0" lvl="0" marL="0" rtl="0" algn="l">
              <a:spcBef>
                <a:spcPts val="0"/>
              </a:spcBef>
              <a:spcAft>
                <a:spcPts val="0"/>
              </a:spcAft>
              <a:buNone/>
            </a:pPr>
            <a:r>
              <a:rPr lang="en-US"/>
              <a:t>- Premium = GWP as recorded in the cw_rep.transportation_submissions database.</a:t>
            </a:r>
            <a:endParaRPr/>
          </a:p>
          <a:p>
            <a:pPr indent="0" lvl="0" marL="0" rtl="0" algn="l">
              <a:spcBef>
                <a:spcPts val="0"/>
              </a:spcBef>
              <a:spcAft>
                <a:spcPts val="0"/>
              </a:spcAft>
              <a:buNone/>
            </a:pPr>
            <a:r>
              <a:rPr lang="en-US"/>
              <a:t>- Ranked largest to smallest. Up to 20 shown.</a:t>
            </a:r>
            <a:endParaRPr/>
          </a:p>
          <a:p>
            <a:pPr indent="0" lvl="0" marL="0" rtl="0" algn="l">
              <a:spcBef>
                <a:spcPts val="0"/>
              </a:spcBef>
              <a:spcAft>
                <a:spcPts val="0"/>
              </a:spcAft>
              <a:buNone/>
            </a:pPr>
            <a:r>
              <a:rPr lang="en-US"/>
              <a:t>- Units = number of power units on the submission (num_power_units field).</a:t>
            </a:r>
            <a:endParaRPr/>
          </a:p>
          <a:p>
            <a:pPr indent="0" lvl="0" marL="0" rtl="0" algn="l">
              <a:spcBef>
                <a:spcPts val="0"/>
              </a:spcBef>
              <a:spcAft>
                <a:spcPts val="0"/>
              </a:spcAft>
              <a:buNone/>
            </a:pPr>
            <a:r>
              <a:rPr lang="en-US"/>
              <a:t>- Rep = the BDM or BDA who owns the agency (HubSpot ownership at sub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SLIDE ORDER</a:t>
            </a:r>
            <a:endParaRPr/>
          </a:p>
          <a:p>
            <a:pPr indent="0" lvl="0" marL="0" rtl="0" algn="l">
              <a:spcBef>
                <a:spcPts val="0"/>
              </a:spcBef>
              <a:spcAft>
                <a:spcPts val="0"/>
              </a:spcAft>
              <a:buNone/>
            </a:pPr>
            <a:r>
              <a:rPr lang="en-US"/>
              <a:t>- This slide is intentionally placed LAST in the deck — after the Top 20 Agencies and Top 40 Individual Agents — so the read finishes on the team's biggest wins.</a:t>
            </a:r>
            <a:endParaRPr/>
          </a:p>
        </p:txBody>
      </p:sp>
      <p:sp>
        <p:nvSpPr>
          <p:cNvPr id="1170" name="Google Shape;1170;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Q2 Team Scoreboard</a:t>
            </a:r>
            <a:endParaRPr/>
          </a:p>
        </p:txBody>
      </p:sp>
      <p:sp>
        <p:nvSpPr>
          <p:cNvPr id="87" name="Google Shape;87;p1"/>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As of May 12, 2026  |  42 days into Q2  |  49 days remaining</a:t>
            </a:r>
            <a:endParaRPr/>
          </a:p>
        </p:txBody>
      </p:sp>
      <p:sp>
        <p:nvSpPr>
          <p:cNvPr id="88" name="Google Shape;88;p1"/>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89" name="Google Shape;89;p1"/>
          <p:cNvSpPr/>
          <p:nvPr/>
        </p:nvSpPr>
        <p:spPr>
          <a:xfrm>
            <a:off x="457200" y="1572768"/>
            <a:ext cx="2743200" cy="1645920"/>
          </a:xfrm>
          <a:prstGeom prst="roundRect">
            <a:avLst>
              <a:gd fmla="val 16667" name="adj"/>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530352" y="1664208"/>
            <a:ext cx="2596896" cy="5943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111827"/>
                </a:solidFill>
                <a:latin typeface="Calibri"/>
                <a:ea typeface="Calibri"/>
                <a:cs typeface="Calibri"/>
                <a:sym typeface="Calibri"/>
              </a:rPr>
              <a:t>$31.8M</a:t>
            </a:r>
            <a:endParaRPr/>
          </a:p>
        </p:txBody>
      </p:sp>
      <p:sp>
        <p:nvSpPr>
          <p:cNvPr id="91" name="Google Shape;91;p1"/>
          <p:cNvSpPr txBox="1"/>
          <p:nvPr/>
        </p:nvSpPr>
        <p:spPr>
          <a:xfrm>
            <a:off x="530352" y="2286000"/>
            <a:ext cx="2596896"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Team GWP Q2 YTD  |  Proj. $68.8M</a:t>
            </a:r>
            <a:endParaRPr/>
          </a:p>
        </p:txBody>
      </p:sp>
      <p:sp>
        <p:nvSpPr>
          <p:cNvPr id="92" name="Google Shape;92;p1"/>
          <p:cNvSpPr/>
          <p:nvPr/>
        </p:nvSpPr>
        <p:spPr>
          <a:xfrm>
            <a:off x="685800" y="2651760"/>
            <a:ext cx="2286000" cy="292608"/>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685800" y="2670048"/>
            <a:ext cx="228600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Pacing 113% of Q1 Final</a:t>
            </a:r>
            <a:endParaRPr/>
          </a:p>
        </p:txBody>
      </p:sp>
      <p:sp>
        <p:nvSpPr>
          <p:cNvPr id="94" name="Google Shape;94;p1"/>
          <p:cNvSpPr/>
          <p:nvPr/>
        </p:nvSpPr>
        <p:spPr>
          <a:xfrm>
            <a:off x="3301898" y="1572768"/>
            <a:ext cx="2743200" cy="1645920"/>
          </a:xfrm>
          <a:prstGeom prst="roundRect">
            <a:avLst>
              <a:gd fmla="val 16667" name="adj"/>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txBox="1"/>
          <p:nvPr/>
        </p:nvSpPr>
        <p:spPr>
          <a:xfrm>
            <a:off x="3375050" y="1664208"/>
            <a:ext cx="2596896" cy="5943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111827"/>
                </a:solidFill>
                <a:latin typeface="Calibri"/>
                <a:ea typeface="Calibri"/>
                <a:cs typeface="Calibri"/>
                <a:sym typeface="Calibri"/>
              </a:rPr>
              <a:t>77%</a:t>
            </a:r>
            <a:endParaRPr/>
          </a:p>
        </p:txBody>
      </p:sp>
      <p:sp>
        <p:nvSpPr>
          <p:cNvPr id="96" name="Google Shape;96;p1"/>
          <p:cNvSpPr txBox="1"/>
          <p:nvPr/>
        </p:nvSpPr>
        <p:spPr>
          <a:xfrm>
            <a:off x="3375050" y="2286000"/>
            <a:ext cx="2596896"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Activity Compliance Q2</a:t>
            </a:r>
            <a:endParaRPr/>
          </a:p>
        </p:txBody>
      </p:sp>
      <p:sp>
        <p:nvSpPr>
          <p:cNvPr id="97" name="Google Shape;97;p1"/>
          <p:cNvSpPr/>
          <p:nvPr/>
        </p:nvSpPr>
        <p:spPr>
          <a:xfrm>
            <a:off x="3530498" y="2651760"/>
            <a:ext cx="2286000" cy="292608"/>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
          <p:cNvSpPr txBox="1"/>
          <p:nvPr/>
        </p:nvSpPr>
        <p:spPr>
          <a:xfrm>
            <a:off x="3530498" y="2670048"/>
            <a:ext cx="228600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AT RISK</a:t>
            </a:r>
            <a:endParaRPr/>
          </a:p>
        </p:txBody>
      </p:sp>
      <p:sp>
        <p:nvSpPr>
          <p:cNvPr id="99" name="Google Shape;99;p1"/>
          <p:cNvSpPr/>
          <p:nvPr/>
        </p:nvSpPr>
        <p:spPr>
          <a:xfrm>
            <a:off x="6146596" y="1572768"/>
            <a:ext cx="2743200" cy="1645920"/>
          </a:xfrm>
          <a:prstGeom prst="roundRect">
            <a:avLst>
              <a:gd fmla="val 16667" name="adj"/>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txBox="1"/>
          <p:nvPr/>
        </p:nvSpPr>
        <p:spPr>
          <a:xfrm>
            <a:off x="6219748" y="1664208"/>
            <a:ext cx="2596896" cy="5943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111827"/>
                </a:solidFill>
                <a:latin typeface="Calibri"/>
                <a:ea typeface="Calibri"/>
                <a:cs typeface="Calibri"/>
                <a:sym typeface="Calibri"/>
              </a:rPr>
              <a:t>23,808</a:t>
            </a:r>
            <a:endParaRPr/>
          </a:p>
        </p:txBody>
      </p:sp>
      <p:sp>
        <p:nvSpPr>
          <p:cNvPr id="101" name="Google Shape;101;p1"/>
          <p:cNvSpPr txBox="1"/>
          <p:nvPr/>
        </p:nvSpPr>
        <p:spPr>
          <a:xfrm>
            <a:off x="6219748" y="2286000"/>
            <a:ext cx="2596896"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Submissions Q2 YTD</a:t>
            </a:r>
            <a:endParaRPr/>
          </a:p>
        </p:txBody>
      </p:sp>
      <p:sp>
        <p:nvSpPr>
          <p:cNvPr id="102" name="Google Shape;102;p1"/>
          <p:cNvSpPr/>
          <p:nvPr/>
        </p:nvSpPr>
        <p:spPr>
          <a:xfrm>
            <a:off x="6375196" y="2651760"/>
            <a:ext cx="2286000" cy="292608"/>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
          <p:cNvSpPr txBox="1"/>
          <p:nvPr/>
        </p:nvSpPr>
        <p:spPr>
          <a:xfrm>
            <a:off x="6375196" y="2670048"/>
            <a:ext cx="228600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Pacing 112% of Q1 Final</a:t>
            </a:r>
            <a:endParaRPr/>
          </a:p>
        </p:txBody>
      </p:sp>
      <p:sp>
        <p:nvSpPr>
          <p:cNvPr id="104" name="Google Shape;104;p1"/>
          <p:cNvSpPr/>
          <p:nvPr/>
        </p:nvSpPr>
        <p:spPr>
          <a:xfrm>
            <a:off x="8991295" y="1572768"/>
            <a:ext cx="2743200" cy="1645920"/>
          </a:xfrm>
          <a:prstGeom prst="roundRect">
            <a:avLst>
              <a:gd fmla="val 16667" name="adj"/>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txBox="1"/>
          <p:nvPr/>
        </p:nvSpPr>
        <p:spPr>
          <a:xfrm>
            <a:off x="9064447" y="1664208"/>
            <a:ext cx="2596896" cy="5943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111827"/>
                </a:solidFill>
                <a:latin typeface="Calibri"/>
                <a:ea typeface="Calibri"/>
                <a:cs typeface="Calibri"/>
                <a:sym typeface="Calibri"/>
              </a:rPr>
              <a:t>9</a:t>
            </a:r>
            <a:endParaRPr/>
          </a:p>
        </p:txBody>
      </p:sp>
      <p:sp>
        <p:nvSpPr>
          <p:cNvPr id="106" name="Google Shape;106;p1"/>
          <p:cNvSpPr txBox="1"/>
          <p:nvPr/>
        </p:nvSpPr>
        <p:spPr>
          <a:xfrm>
            <a:off x="9064447" y="2286000"/>
            <a:ext cx="2596896"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Net New Agencies Appointed</a:t>
            </a:r>
            <a:endParaRPr/>
          </a:p>
        </p:txBody>
      </p:sp>
      <p:sp>
        <p:nvSpPr>
          <p:cNvPr id="107" name="Google Shape;107;p1"/>
          <p:cNvSpPr/>
          <p:nvPr/>
        </p:nvSpPr>
        <p:spPr>
          <a:xfrm>
            <a:off x="9219895" y="2651760"/>
            <a:ext cx="2286000" cy="292608"/>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
          <p:cNvSpPr txBox="1"/>
          <p:nvPr/>
        </p:nvSpPr>
        <p:spPr>
          <a:xfrm>
            <a:off x="9219895" y="2670048"/>
            <a:ext cx="228600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38% of Goal  |  9 / 24 target</a:t>
            </a:r>
            <a:endParaRPr/>
          </a:p>
        </p:txBody>
      </p:sp>
      <p:sp>
        <p:nvSpPr>
          <p:cNvPr id="109" name="Google Shape;109;p1"/>
          <p:cNvSpPr txBox="1"/>
          <p:nvPr/>
        </p:nvSpPr>
        <p:spPr>
          <a:xfrm>
            <a:off x="530352" y="3255264"/>
            <a:ext cx="2596896"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DC2626"/>
                </a:solidFill>
                <a:latin typeface="Calibri"/>
                <a:ea typeface="Calibri"/>
                <a:cs typeface="Calibri"/>
                <a:sym typeface="Calibri"/>
              </a:rPr>
              <a:t>▼ $5.1M vs Apr pace</a:t>
            </a:r>
            <a:endParaRPr/>
          </a:p>
        </p:txBody>
      </p:sp>
      <p:sp>
        <p:nvSpPr>
          <p:cNvPr id="110" name="Google Shape;110;p1"/>
          <p:cNvSpPr txBox="1"/>
          <p:nvPr/>
        </p:nvSpPr>
        <p:spPr>
          <a:xfrm>
            <a:off x="3375050" y="3255264"/>
            <a:ext cx="2596896"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059669"/>
                </a:solidFill>
                <a:latin typeface="Calibri"/>
                <a:ea typeface="Calibri"/>
                <a:cs typeface="Calibri"/>
                <a:sym typeface="Calibri"/>
              </a:rPr>
              <a:t>▲ 29pp vs Q1 avg (48%)</a:t>
            </a:r>
            <a:endParaRPr/>
          </a:p>
        </p:txBody>
      </p:sp>
      <p:sp>
        <p:nvSpPr>
          <p:cNvPr id="111" name="Google Shape;111;p1"/>
          <p:cNvSpPr txBox="1"/>
          <p:nvPr/>
        </p:nvSpPr>
        <p:spPr>
          <a:xfrm>
            <a:off x="6219748" y="3255264"/>
            <a:ext cx="2596896"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059669"/>
                </a:solidFill>
                <a:latin typeface="Calibri"/>
                <a:ea typeface="Calibri"/>
                <a:cs typeface="Calibri"/>
                <a:sym typeface="Calibri"/>
              </a:rPr>
              <a:t>▲ 5951 vs Apr (17857)</a:t>
            </a:r>
            <a:endParaRPr/>
          </a:p>
        </p:txBody>
      </p:sp>
      <p:sp>
        <p:nvSpPr>
          <p:cNvPr id="112" name="Google Shape;112;p1"/>
          <p:cNvSpPr txBox="1"/>
          <p:nvPr/>
        </p:nvSpPr>
        <p:spPr>
          <a:xfrm>
            <a:off x="9064447" y="3255264"/>
            <a:ext cx="2596896"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059669"/>
                </a:solidFill>
                <a:latin typeface="Calibri"/>
                <a:ea typeface="Calibri"/>
                <a:cs typeface="Calibri"/>
                <a:sym typeface="Calibri"/>
              </a:rPr>
              <a:t>▲ 4 vs Q1 final (5)</a:t>
            </a:r>
            <a:endParaRPr/>
          </a:p>
        </p:txBody>
      </p:sp>
      <p:sp>
        <p:nvSpPr>
          <p:cNvPr id="113" name="Google Shape;113;p1"/>
          <p:cNvSpPr/>
          <p:nvPr/>
        </p:nvSpPr>
        <p:spPr>
          <a:xfrm>
            <a:off x="457200" y="3493008"/>
            <a:ext cx="11277295" cy="502920"/>
          </a:xfrm>
          <a:prstGeom prst="rect">
            <a:avLst/>
          </a:prstGeom>
          <a:solidFill>
            <a:srgbClr val="F5F3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
          <p:cNvSpPr/>
          <p:nvPr/>
        </p:nvSpPr>
        <p:spPr>
          <a:xfrm>
            <a:off x="457200" y="3493008"/>
            <a:ext cx="11277295" cy="18288"/>
          </a:xfrm>
          <a:prstGeom prst="rect">
            <a:avLst/>
          </a:prstGeom>
          <a:solidFill>
            <a:srgbClr val="DDD6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
          <p:cNvSpPr txBox="1"/>
          <p:nvPr/>
        </p:nvSpPr>
        <p:spPr>
          <a:xfrm>
            <a:off x="475488" y="3547872"/>
            <a:ext cx="100584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D28D9"/>
                </a:solidFill>
                <a:latin typeface="Calibri"/>
                <a:ea typeface="Calibri"/>
                <a:cs typeface="Calibri"/>
                <a:sym typeface="Calibri"/>
              </a:rPr>
              <a:t>Q2</a:t>
            </a:r>
            <a:br>
              <a:rPr b="1" i="0" lang="en-US" sz="850" u="none" cap="none" strike="noStrike">
                <a:solidFill>
                  <a:srgbClr val="6D28D9"/>
                </a:solidFill>
                <a:latin typeface="Calibri"/>
                <a:ea typeface="Calibri"/>
                <a:cs typeface="Calibri"/>
                <a:sym typeface="Calibri"/>
              </a:rPr>
            </a:br>
            <a:r>
              <a:rPr b="1" i="0" lang="en-US" sz="850" u="none" cap="none" strike="noStrike">
                <a:solidFill>
                  <a:srgbClr val="6D28D9"/>
                </a:solidFill>
                <a:latin typeface="Calibri"/>
                <a:ea typeface="Calibri"/>
                <a:cs typeface="Calibri"/>
                <a:sym typeface="Calibri"/>
              </a:rPr>
              <a:t>MIX</a:t>
            </a:r>
            <a:endParaRPr/>
          </a:p>
        </p:txBody>
      </p:sp>
      <p:sp>
        <p:nvSpPr>
          <p:cNvPr id="116" name="Google Shape;116;p1"/>
          <p:cNvSpPr/>
          <p:nvPr/>
        </p:nvSpPr>
        <p:spPr>
          <a:xfrm>
            <a:off x="1508760" y="3566160"/>
            <a:ext cx="18288" cy="356616"/>
          </a:xfrm>
          <a:prstGeom prst="rect">
            <a:avLst/>
          </a:prstGeom>
          <a:solidFill>
            <a:srgbClr val="C4B5F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
          <p:cNvSpPr txBox="1"/>
          <p:nvPr/>
        </p:nvSpPr>
        <p:spPr>
          <a:xfrm>
            <a:off x="1508760" y="3529584"/>
            <a:ext cx="3408578"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$20.5M</a:t>
            </a:r>
            <a:endParaRPr/>
          </a:p>
        </p:txBody>
      </p:sp>
      <p:sp>
        <p:nvSpPr>
          <p:cNvPr id="118" name="Google Shape;118;p1"/>
          <p:cNvSpPr txBox="1"/>
          <p:nvPr/>
        </p:nvSpPr>
        <p:spPr>
          <a:xfrm>
            <a:off x="1508760" y="3785615"/>
            <a:ext cx="3408578"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New Business (65%)</a:t>
            </a:r>
            <a:endParaRPr/>
          </a:p>
        </p:txBody>
      </p:sp>
      <p:sp>
        <p:nvSpPr>
          <p:cNvPr id="119" name="Google Shape;119;p1"/>
          <p:cNvSpPr txBox="1"/>
          <p:nvPr/>
        </p:nvSpPr>
        <p:spPr>
          <a:xfrm>
            <a:off x="4917338" y="3529584"/>
            <a:ext cx="3408578"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$6.1M</a:t>
            </a:r>
            <a:endParaRPr/>
          </a:p>
        </p:txBody>
      </p:sp>
      <p:sp>
        <p:nvSpPr>
          <p:cNvPr id="120" name="Google Shape;120;p1"/>
          <p:cNvSpPr txBox="1"/>
          <p:nvPr/>
        </p:nvSpPr>
        <p:spPr>
          <a:xfrm>
            <a:off x="4917338" y="3785615"/>
            <a:ext cx="3408578"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Renewals (19%)</a:t>
            </a:r>
            <a:endParaRPr/>
          </a:p>
        </p:txBody>
      </p:sp>
      <p:sp>
        <p:nvSpPr>
          <p:cNvPr id="121" name="Google Shape;121;p1"/>
          <p:cNvSpPr txBox="1"/>
          <p:nvPr/>
        </p:nvSpPr>
        <p:spPr>
          <a:xfrm>
            <a:off x="8325916" y="3529584"/>
            <a:ext cx="3408578"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$5.2M</a:t>
            </a:r>
            <a:endParaRPr/>
          </a:p>
        </p:txBody>
      </p:sp>
      <p:sp>
        <p:nvSpPr>
          <p:cNvPr id="122" name="Google Shape;122;p1"/>
          <p:cNvSpPr txBox="1"/>
          <p:nvPr/>
        </p:nvSpPr>
        <p:spPr>
          <a:xfrm>
            <a:off x="8325916" y="3785615"/>
            <a:ext cx="3408578"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Endorsements (16%)</a:t>
            </a:r>
            <a:endParaRPr/>
          </a:p>
        </p:txBody>
      </p:sp>
      <p:sp>
        <p:nvSpPr>
          <p:cNvPr id="123" name="Google Shape;123;p1"/>
          <p:cNvSpPr/>
          <p:nvPr/>
        </p:nvSpPr>
        <p:spPr>
          <a:xfrm>
            <a:off x="457200" y="4069080"/>
            <a:ext cx="11277295" cy="548640"/>
          </a:xfrm>
          <a:prstGeom prst="rect">
            <a:avLst/>
          </a:prstGeom>
          <a:solidFill>
            <a:srgbClr val="F3F4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
          <p:cNvSpPr/>
          <p:nvPr/>
        </p:nvSpPr>
        <p:spPr>
          <a:xfrm>
            <a:off x="457200" y="4069080"/>
            <a:ext cx="11277295" cy="18288"/>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
          <p:cNvSpPr txBox="1"/>
          <p:nvPr/>
        </p:nvSpPr>
        <p:spPr>
          <a:xfrm>
            <a:off x="475488" y="4142232"/>
            <a:ext cx="1005840"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Q1</a:t>
            </a:r>
            <a:br>
              <a:rPr b="1" i="0" lang="en-US" sz="850" u="none" cap="none" strike="noStrike">
                <a:solidFill>
                  <a:srgbClr val="6B7280"/>
                </a:solidFill>
                <a:latin typeface="Calibri"/>
                <a:ea typeface="Calibri"/>
                <a:cs typeface="Calibri"/>
                <a:sym typeface="Calibri"/>
              </a:rPr>
            </a:br>
            <a:r>
              <a:rPr b="1" i="0" lang="en-US" sz="850" u="none" cap="none" strike="noStrike">
                <a:solidFill>
                  <a:srgbClr val="6B7280"/>
                </a:solidFill>
                <a:latin typeface="Calibri"/>
                <a:ea typeface="Calibri"/>
                <a:cs typeface="Calibri"/>
                <a:sym typeface="Calibri"/>
              </a:rPr>
              <a:t>FINAL</a:t>
            </a:r>
            <a:endParaRPr/>
          </a:p>
        </p:txBody>
      </p:sp>
      <p:sp>
        <p:nvSpPr>
          <p:cNvPr id="126" name="Google Shape;126;p1"/>
          <p:cNvSpPr/>
          <p:nvPr/>
        </p:nvSpPr>
        <p:spPr>
          <a:xfrm>
            <a:off x="1508760" y="4142232"/>
            <a:ext cx="18288" cy="402335"/>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
          <p:cNvSpPr txBox="1"/>
          <p:nvPr/>
        </p:nvSpPr>
        <p:spPr>
          <a:xfrm>
            <a:off x="457200" y="4105656"/>
            <a:ext cx="27432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$60.7M</a:t>
            </a:r>
            <a:endParaRPr/>
          </a:p>
        </p:txBody>
      </p:sp>
      <p:sp>
        <p:nvSpPr>
          <p:cNvPr id="128" name="Google Shape;128;p1"/>
          <p:cNvSpPr txBox="1"/>
          <p:nvPr/>
        </p:nvSpPr>
        <p:spPr>
          <a:xfrm>
            <a:off x="457200" y="4379976"/>
            <a:ext cx="2743200"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GWP</a:t>
            </a:r>
            <a:endParaRPr/>
          </a:p>
        </p:txBody>
      </p:sp>
      <p:sp>
        <p:nvSpPr>
          <p:cNvPr id="129" name="Google Shape;129;p1"/>
          <p:cNvSpPr txBox="1"/>
          <p:nvPr/>
        </p:nvSpPr>
        <p:spPr>
          <a:xfrm>
            <a:off x="3301898" y="4105656"/>
            <a:ext cx="27432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48%</a:t>
            </a:r>
            <a:endParaRPr/>
          </a:p>
        </p:txBody>
      </p:sp>
      <p:sp>
        <p:nvSpPr>
          <p:cNvPr id="130" name="Google Shape;130;p1"/>
          <p:cNvSpPr txBox="1"/>
          <p:nvPr/>
        </p:nvSpPr>
        <p:spPr>
          <a:xfrm>
            <a:off x="3301898" y="4379976"/>
            <a:ext cx="2743200"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Activity</a:t>
            </a:r>
            <a:endParaRPr/>
          </a:p>
        </p:txBody>
      </p:sp>
      <p:sp>
        <p:nvSpPr>
          <p:cNvPr id="131" name="Google Shape;131;p1"/>
          <p:cNvSpPr txBox="1"/>
          <p:nvPr/>
        </p:nvSpPr>
        <p:spPr>
          <a:xfrm>
            <a:off x="6146596" y="4105656"/>
            <a:ext cx="27432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45,952</a:t>
            </a:r>
            <a:endParaRPr/>
          </a:p>
        </p:txBody>
      </p:sp>
      <p:sp>
        <p:nvSpPr>
          <p:cNvPr id="132" name="Google Shape;132;p1"/>
          <p:cNvSpPr txBox="1"/>
          <p:nvPr/>
        </p:nvSpPr>
        <p:spPr>
          <a:xfrm>
            <a:off x="6146596" y="4379976"/>
            <a:ext cx="2743200"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Submissions</a:t>
            </a:r>
            <a:endParaRPr/>
          </a:p>
        </p:txBody>
      </p:sp>
      <p:sp>
        <p:nvSpPr>
          <p:cNvPr id="133" name="Google Shape;133;p1"/>
          <p:cNvSpPr txBox="1"/>
          <p:nvPr/>
        </p:nvSpPr>
        <p:spPr>
          <a:xfrm>
            <a:off x="8991295" y="4105656"/>
            <a:ext cx="27432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11827"/>
                </a:solidFill>
                <a:latin typeface="Calibri"/>
                <a:ea typeface="Calibri"/>
                <a:cs typeface="Calibri"/>
                <a:sym typeface="Calibri"/>
              </a:rPr>
              <a:t>5</a:t>
            </a:r>
            <a:endParaRPr/>
          </a:p>
        </p:txBody>
      </p:sp>
      <p:sp>
        <p:nvSpPr>
          <p:cNvPr id="134" name="Google Shape;134;p1"/>
          <p:cNvSpPr txBox="1"/>
          <p:nvPr/>
        </p:nvSpPr>
        <p:spPr>
          <a:xfrm>
            <a:off x="8991295" y="4379976"/>
            <a:ext cx="2743200"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50" u="none" cap="none" strike="noStrike">
                <a:solidFill>
                  <a:srgbClr val="6B7280"/>
                </a:solidFill>
                <a:latin typeface="Calibri"/>
                <a:ea typeface="Calibri"/>
                <a:cs typeface="Calibri"/>
                <a:sym typeface="Calibri"/>
              </a:rPr>
              <a:t>Agencies Appointed</a:t>
            </a:r>
            <a:endParaRPr/>
          </a:p>
        </p:txBody>
      </p:sp>
      <p:sp>
        <p:nvSpPr>
          <p:cNvPr id="135" name="Google Shape;135;p1"/>
          <p:cNvSpPr/>
          <p:nvPr/>
        </p:nvSpPr>
        <p:spPr>
          <a:xfrm>
            <a:off x="182880" y="4727448"/>
            <a:ext cx="11795760" cy="4572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
          <p:cNvSpPr txBox="1"/>
          <p:nvPr/>
        </p:nvSpPr>
        <p:spPr>
          <a:xfrm>
            <a:off x="320040" y="4818888"/>
            <a:ext cx="115214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MTD (May):  $7.45M written  ·  $19.25M pace  ·  12/31 days elapsed</a:t>
            </a:r>
            <a:endParaRPr/>
          </a:p>
        </p:txBody>
      </p:sp>
      <p:pic>
        <p:nvPicPr>
          <p:cNvPr descr="s1_team_trend.png" id="137" name="Google Shape;137;p1"/>
          <p:cNvPicPr preferRelativeResize="0"/>
          <p:nvPr/>
        </p:nvPicPr>
        <p:blipFill rotWithShape="1">
          <a:blip r:embed="rId3">
            <a:alphaModFix/>
          </a:blip>
          <a:srcRect b="0" l="0" r="0" t="0"/>
          <a:stretch/>
        </p:blipFill>
        <p:spPr>
          <a:xfrm>
            <a:off x="182880" y="5257800"/>
            <a:ext cx="11795760" cy="15087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2"/>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2"/>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BDM Performance Rankings — Q2 2026</a:t>
            </a:r>
            <a:endParaRPr/>
          </a:p>
        </p:txBody>
      </p:sp>
      <p:sp>
        <p:nvSpPr>
          <p:cNvPr id="145" name="Google Shape;145;p2"/>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Q2 2026 YTD (Apr 1–May 12)  |  Green = on target  |  Amber = at risk  |  Red = behind  |  Goal: ≥40 acts/wk  |  Ranked by composite OKR score</a:t>
            </a:r>
            <a:endParaRPr/>
          </a:p>
        </p:txBody>
      </p:sp>
      <p:sp>
        <p:nvSpPr>
          <p:cNvPr id="146" name="Google Shape;146;p2"/>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pic>
        <p:nvPicPr>
          <p:cNvPr descr="v8_matrix_bdm.png" id="147" name="Google Shape;147;p2"/>
          <p:cNvPicPr preferRelativeResize="0"/>
          <p:nvPr/>
        </p:nvPicPr>
        <p:blipFill rotWithShape="1">
          <a:blip r:embed="rId3">
            <a:alphaModFix/>
          </a:blip>
          <a:srcRect b="0" l="0" r="0" t="0"/>
          <a:stretch/>
        </p:blipFill>
        <p:spPr>
          <a:xfrm>
            <a:off x="91440" y="749808"/>
            <a:ext cx="11978640" cy="56692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3"/>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BDA Performance Rankings — Q2 2026</a:t>
            </a:r>
            <a:endParaRPr/>
          </a:p>
        </p:txBody>
      </p:sp>
      <p:sp>
        <p:nvSpPr>
          <p:cNvPr id="155" name="Google Shape;155;p3"/>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Q2 2026 YTD (Apr 1–May 12)  |  Green = on target  |  Amber = at risk  |  Red = behind  |  Goal: ≥50 acts/wk  |  Ranked by composite OKR score</a:t>
            </a:r>
            <a:endParaRPr/>
          </a:p>
        </p:txBody>
      </p:sp>
      <p:sp>
        <p:nvSpPr>
          <p:cNvPr id="156" name="Google Shape;156;p3"/>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pic>
        <p:nvPicPr>
          <p:cNvPr descr="v8_matrix_bda.png" id="157" name="Google Shape;157;p3"/>
          <p:cNvPicPr preferRelativeResize="0"/>
          <p:nvPr/>
        </p:nvPicPr>
        <p:blipFill rotWithShape="1">
          <a:blip r:embed="rId3">
            <a:alphaModFix/>
          </a:blip>
          <a:srcRect b="0" l="0" r="0" t="0"/>
          <a:stretch/>
        </p:blipFill>
        <p:spPr>
          <a:xfrm>
            <a:off x="91440" y="749808"/>
            <a:ext cx="11978640" cy="56692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4"/>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Activity Dashboard — Q2 2026  |  BDMs  |  Calls + Meetings</a:t>
            </a:r>
            <a:endParaRPr/>
          </a:p>
        </p:txBody>
      </p:sp>
      <p:sp>
        <p:nvSpPr>
          <p:cNvPr id="165" name="Google Shape;165;p4"/>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Q2 YTD  |  Apr 1–May 12  |  BDMs Only  |  Goal: 40 acts/wk  |  Emails excluded</a:t>
            </a:r>
            <a:endParaRPr/>
          </a:p>
        </p:txBody>
      </p:sp>
      <p:sp>
        <p:nvSpPr>
          <p:cNvPr id="166" name="Google Shape;166;p4"/>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167" name="Google Shape;167;p4"/>
          <p:cNvSpPr/>
          <p:nvPr/>
        </p:nvSpPr>
        <p:spPr>
          <a:xfrm>
            <a:off x="182880" y="804672"/>
            <a:ext cx="9235440" cy="27432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txBox="1"/>
          <p:nvPr/>
        </p:nvSpPr>
        <p:spPr>
          <a:xfrm>
            <a:off x="256032" y="850392"/>
            <a:ext cx="18288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Rep</a:t>
            </a:r>
            <a:endParaRPr/>
          </a:p>
        </p:txBody>
      </p:sp>
      <p:sp>
        <p:nvSpPr>
          <p:cNvPr id="169" name="Google Shape;169;p4"/>
          <p:cNvSpPr txBox="1"/>
          <p:nvPr/>
        </p:nvSpPr>
        <p:spPr>
          <a:xfrm>
            <a:off x="201168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6-12</a:t>
            </a:r>
            <a:endParaRPr/>
          </a:p>
        </p:txBody>
      </p:sp>
      <p:sp>
        <p:nvSpPr>
          <p:cNvPr id="170" name="Google Shape;170;p4"/>
          <p:cNvSpPr txBox="1"/>
          <p:nvPr/>
        </p:nvSpPr>
        <p:spPr>
          <a:xfrm>
            <a:off x="310896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13-19</a:t>
            </a:r>
            <a:endParaRPr/>
          </a:p>
        </p:txBody>
      </p:sp>
      <p:sp>
        <p:nvSpPr>
          <p:cNvPr id="171" name="Google Shape;171;p4"/>
          <p:cNvSpPr txBox="1"/>
          <p:nvPr/>
        </p:nvSpPr>
        <p:spPr>
          <a:xfrm>
            <a:off x="420624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20-26</a:t>
            </a:r>
            <a:endParaRPr/>
          </a:p>
        </p:txBody>
      </p:sp>
      <p:sp>
        <p:nvSpPr>
          <p:cNvPr id="172" name="Google Shape;172;p4"/>
          <p:cNvSpPr txBox="1"/>
          <p:nvPr/>
        </p:nvSpPr>
        <p:spPr>
          <a:xfrm>
            <a:off x="530352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27-May 3</a:t>
            </a:r>
            <a:endParaRPr/>
          </a:p>
        </p:txBody>
      </p:sp>
      <p:sp>
        <p:nvSpPr>
          <p:cNvPr id="173" name="Google Shape;173;p4"/>
          <p:cNvSpPr txBox="1"/>
          <p:nvPr/>
        </p:nvSpPr>
        <p:spPr>
          <a:xfrm>
            <a:off x="640080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May 4-10</a:t>
            </a:r>
            <a:endParaRPr/>
          </a:p>
        </p:txBody>
      </p:sp>
      <p:sp>
        <p:nvSpPr>
          <p:cNvPr id="174" name="Google Shape;174;p4"/>
          <p:cNvSpPr txBox="1"/>
          <p:nvPr/>
        </p:nvSpPr>
        <p:spPr>
          <a:xfrm>
            <a:off x="7498079"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May 11-12</a:t>
            </a:r>
            <a:endParaRPr/>
          </a:p>
        </p:txBody>
      </p:sp>
      <p:sp>
        <p:nvSpPr>
          <p:cNvPr id="175" name="Google Shape;175;p4"/>
          <p:cNvSpPr txBox="1"/>
          <p:nvPr/>
        </p:nvSpPr>
        <p:spPr>
          <a:xfrm>
            <a:off x="8595359" y="850392"/>
            <a:ext cx="8229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Avg %</a:t>
            </a:r>
            <a:endParaRPr/>
          </a:p>
        </p:txBody>
      </p:sp>
      <p:sp>
        <p:nvSpPr>
          <p:cNvPr id="176" name="Google Shape;176;p4"/>
          <p:cNvSpPr txBox="1"/>
          <p:nvPr/>
        </p:nvSpPr>
        <p:spPr>
          <a:xfrm>
            <a:off x="256032" y="121158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Derek Janssen</a:t>
            </a:r>
            <a:endParaRPr/>
          </a:p>
        </p:txBody>
      </p:sp>
      <p:sp>
        <p:nvSpPr>
          <p:cNvPr id="177" name="Google Shape;177;p4"/>
          <p:cNvSpPr/>
          <p:nvPr/>
        </p:nvSpPr>
        <p:spPr>
          <a:xfrm>
            <a:off x="2048256" y="113385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2011680"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89</a:t>
            </a:r>
            <a:endParaRPr/>
          </a:p>
        </p:txBody>
      </p:sp>
      <p:sp>
        <p:nvSpPr>
          <p:cNvPr id="179" name="Google Shape;179;p4"/>
          <p:cNvSpPr/>
          <p:nvPr/>
        </p:nvSpPr>
        <p:spPr>
          <a:xfrm>
            <a:off x="3145536" y="113385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4"/>
          <p:cNvSpPr txBox="1"/>
          <p:nvPr/>
        </p:nvSpPr>
        <p:spPr>
          <a:xfrm>
            <a:off x="3108960"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58</a:t>
            </a:r>
            <a:endParaRPr/>
          </a:p>
        </p:txBody>
      </p:sp>
      <p:sp>
        <p:nvSpPr>
          <p:cNvPr id="181" name="Google Shape;181;p4"/>
          <p:cNvSpPr/>
          <p:nvPr/>
        </p:nvSpPr>
        <p:spPr>
          <a:xfrm>
            <a:off x="4242816" y="113385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4"/>
          <p:cNvSpPr txBox="1"/>
          <p:nvPr/>
        </p:nvSpPr>
        <p:spPr>
          <a:xfrm>
            <a:off x="4206240"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67</a:t>
            </a:r>
            <a:endParaRPr/>
          </a:p>
        </p:txBody>
      </p:sp>
      <p:sp>
        <p:nvSpPr>
          <p:cNvPr id="183" name="Google Shape;183;p4"/>
          <p:cNvSpPr/>
          <p:nvPr/>
        </p:nvSpPr>
        <p:spPr>
          <a:xfrm>
            <a:off x="5340096" y="113385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4"/>
          <p:cNvSpPr txBox="1"/>
          <p:nvPr/>
        </p:nvSpPr>
        <p:spPr>
          <a:xfrm>
            <a:off x="5303520"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63</a:t>
            </a:r>
            <a:endParaRPr/>
          </a:p>
        </p:txBody>
      </p:sp>
      <p:sp>
        <p:nvSpPr>
          <p:cNvPr id="185" name="Google Shape;185;p4"/>
          <p:cNvSpPr/>
          <p:nvPr/>
        </p:nvSpPr>
        <p:spPr>
          <a:xfrm>
            <a:off x="6437376" y="113385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4"/>
          <p:cNvSpPr txBox="1"/>
          <p:nvPr/>
        </p:nvSpPr>
        <p:spPr>
          <a:xfrm>
            <a:off x="6400800"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43</a:t>
            </a:r>
            <a:endParaRPr/>
          </a:p>
        </p:txBody>
      </p:sp>
      <p:sp>
        <p:nvSpPr>
          <p:cNvPr id="187" name="Google Shape;187;p4"/>
          <p:cNvSpPr/>
          <p:nvPr/>
        </p:nvSpPr>
        <p:spPr>
          <a:xfrm>
            <a:off x="7534655" y="113385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4"/>
          <p:cNvSpPr txBox="1"/>
          <p:nvPr/>
        </p:nvSpPr>
        <p:spPr>
          <a:xfrm>
            <a:off x="7498079" y="12115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a:t>
            </a:r>
            <a:endParaRPr/>
          </a:p>
        </p:txBody>
      </p:sp>
      <p:sp>
        <p:nvSpPr>
          <p:cNvPr id="189" name="Google Shape;189;p4"/>
          <p:cNvSpPr txBox="1"/>
          <p:nvPr/>
        </p:nvSpPr>
        <p:spPr>
          <a:xfrm>
            <a:off x="8595359" y="121158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059669"/>
                </a:solidFill>
                <a:latin typeface="Calibri"/>
                <a:ea typeface="Calibri"/>
                <a:cs typeface="Calibri"/>
                <a:sym typeface="Calibri"/>
              </a:rPr>
              <a:t>160%</a:t>
            </a:r>
            <a:endParaRPr/>
          </a:p>
        </p:txBody>
      </p:sp>
      <p:sp>
        <p:nvSpPr>
          <p:cNvPr id="190" name="Google Shape;190;p4"/>
          <p:cNvSpPr/>
          <p:nvPr/>
        </p:nvSpPr>
        <p:spPr>
          <a:xfrm>
            <a:off x="182880" y="1581912"/>
            <a:ext cx="9235440" cy="50292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4"/>
          <p:cNvSpPr txBox="1"/>
          <p:nvPr/>
        </p:nvSpPr>
        <p:spPr>
          <a:xfrm>
            <a:off x="256032" y="171450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Ron Douglas</a:t>
            </a:r>
            <a:endParaRPr/>
          </a:p>
        </p:txBody>
      </p:sp>
      <p:sp>
        <p:nvSpPr>
          <p:cNvPr id="192" name="Google Shape;192;p4"/>
          <p:cNvSpPr/>
          <p:nvPr/>
        </p:nvSpPr>
        <p:spPr>
          <a:xfrm>
            <a:off x="2048256" y="163677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4"/>
          <p:cNvSpPr txBox="1"/>
          <p:nvPr/>
        </p:nvSpPr>
        <p:spPr>
          <a:xfrm>
            <a:off x="2011680"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17</a:t>
            </a:r>
            <a:endParaRPr/>
          </a:p>
        </p:txBody>
      </p:sp>
      <p:sp>
        <p:nvSpPr>
          <p:cNvPr id="194" name="Google Shape;194;p4"/>
          <p:cNvSpPr/>
          <p:nvPr/>
        </p:nvSpPr>
        <p:spPr>
          <a:xfrm>
            <a:off x="3145536" y="163677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4"/>
          <p:cNvSpPr txBox="1"/>
          <p:nvPr/>
        </p:nvSpPr>
        <p:spPr>
          <a:xfrm>
            <a:off x="3108960"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43</a:t>
            </a:r>
            <a:endParaRPr/>
          </a:p>
        </p:txBody>
      </p:sp>
      <p:sp>
        <p:nvSpPr>
          <p:cNvPr id="196" name="Google Shape;196;p4"/>
          <p:cNvSpPr/>
          <p:nvPr/>
        </p:nvSpPr>
        <p:spPr>
          <a:xfrm>
            <a:off x="4242816" y="1636776"/>
            <a:ext cx="1024127" cy="39319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4"/>
          <p:cNvSpPr txBox="1"/>
          <p:nvPr/>
        </p:nvSpPr>
        <p:spPr>
          <a:xfrm>
            <a:off x="4206240"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34</a:t>
            </a:r>
            <a:endParaRPr/>
          </a:p>
        </p:txBody>
      </p:sp>
      <p:sp>
        <p:nvSpPr>
          <p:cNvPr id="198" name="Google Shape;198;p4"/>
          <p:cNvSpPr/>
          <p:nvPr/>
        </p:nvSpPr>
        <p:spPr>
          <a:xfrm>
            <a:off x="5340096" y="163677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4"/>
          <p:cNvSpPr txBox="1"/>
          <p:nvPr/>
        </p:nvSpPr>
        <p:spPr>
          <a:xfrm>
            <a:off x="5303520"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47</a:t>
            </a:r>
            <a:endParaRPr/>
          </a:p>
        </p:txBody>
      </p:sp>
      <p:sp>
        <p:nvSpPr>
          <p:cNvPr id="200" name="Google Shape;200;p4"/>
          <p:cNvSpPr/>
          <p:nvPr/>
        </p:nvSpPr>
        <p:spPr>
          <a:xfrm>
            <a:off x="6437376" y="1636776"/>
            <a:ext cx="1024127" cy="39319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4"/>
          <p:cNvSpPr txBox="1"/>
          <p:nvPr/>
        </p:nvSpPr>
        <p:spPr>
          <a:xfrm>
            <a:off x="6400800"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202" name="Google Shape;202;p4"/>
          <p:cNvSpPr/>
          <p:nvPr/>
        </p:nvSpPr>
        <p:spPr>
          <a:xfrm>
            <a:off x="7534655" y="163677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4"/>
          <p:cNvSpPr txBox="1"/>
          <p:nvPr/>
        </p:nvSpPr>
        <p:spPr>
          <a:xfrm>
            <a:off x="7498079" y="171450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a:t>
            </a:r>
            <a:endParaRPr/>
          </a:p>
        </p:txBody>
      </p:sp>
      <p:sp>
        <p:nvSpPr>
          <p:cNvPr id="204" name="Google Shape;204;p4"/>
          <p:cNvSpPr txBox="1"/>
          <p:nvPr/>
        </p:nvSpPr>
        <p:spPr>
          <a:xfrm>
            <a:off x="8595359" y="171450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C2626"/>
                </a:solidFill>
                <a:latin typeface="Calibri"/>
                <a:ea typeface="Calibri"/>
                <a:cs typeface="Calibri"/>
                <a:sym typeface="Calibri"/>
              </a:rPr>
              <a:t>70%</a:t>
            </a:r>
            <a:endParaRPr/>
          </a:p>
        </p:txBody>
      </p:sp>
      <p:sp>
        <p:nvSpPr>
          <p:cNvPr id="205" name="Google Shape;205;p4"/>
          <p:cNvSpPr txBox="1"/>
          <p:nvPr/>
        </p:nvSpPr>
        <p:spPr>
          <a:xfrm>
            <a:off x="256032" y="221742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Christopher Hayes</a:t>
            </a:r>
            <a:endParaRPr/>
          </a:p>
        </p:txBody>
      </p:sp>
      <p:sp>
        <p:nvSpPr>
          <p:cNvPr id="206" name="Google Shape;206;p4"/>
          <p:cNvSpPr/>
          <p:nvPr/>
        </p:nvSpPr>
        <p:spPr>
          <a:xfrm>
            <a:off x="2048256" y="2139696"/>
            <a:ext cx="1024127" cy="39319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4"/>
          <p:cNvSpPr txBox="1"/>
          <p:nvPr/>
        </p:nvSpPr>
        <p:spPr>
          <a:xfrm>
            <a:off x="2011680"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39</a:t>
            </a:r>
            <a:endParaRPr/>
          </a:p>
        </p:txBody>
      </p:sp>
      <p:sp>
        <p:nvSpPr>
          <p:cNvPr id="208" name="Google Shape;208;p4"/>
          <p:cNvSpPr/>
          <p:nvPr/>
        </p:nvSpPr>
        <p:spPr>
          <a:xfrm>
            <a:off x="3145536" y="213969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4"/>
          <p:cNvSpPr txBox="1"/>
          <p:nvPr/>
        </p:nvSpPr>
        <p:spPr>
          <a:xfrm>
            <a:off x="3108960"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42</a:t>
            </a:r>
            <a:endParaRPr/>
          </a:p>
        </p:txBody>
      </p:sp>
      <p:sp>
        <p:nvSpPr>
          <p:cNvPr id="210" name="Google Shape;210;p4"/>
          <p:cNvSpPr/>
          <p:nvPr/>
        </p:nvSpPr>
        <p:spPr>
          <a:xfrm>
            <a:off x="4242816" y="213969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4"/>
          <p:cNvSpPr txBox="1"/>
          <p:nvPr/>
        </p:nvSpPr>
        <p:spPr>
          <a:xfrm>
            <a:off x="4206240"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25</a:t>
            </a:r>
            <a:endParaRPr/>
          </a:p>
        </p:txBody>
      </p:sp>
      <p:sp>
        <p:nvSpPr>
          <p:cNvPr id="212" name="Google Shape;212;p4"/>
          <p:cNvSpPr/>
          <p:nvPr/>
        </p:nvSpPr>
        <p:spPr>
          <a:xfrm>
            <a:off x="5340096" y="213969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4"/>
          <p:cNvSpPr txBox="1"/>
          <p:nvPr/>
        </p:nvSpPr>
        <p:spPr>
          <a:xfrm>
            <a:off x="5303520"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40</a:t>
            </a:r>
            <a:endParaRPr/>
          </a:p>
        </p:txBody>
      </p:sp>
      <p:sp>
        <p:nvSpPr>
          <p:cNvPr id="214" name="Google Shape;214;p4"/>
          <p:cNvSpPr/>
          <p:nvPr/>
        </p:nvSpPr>
        <p:spPr>
          <a:xfrm>
            <a:off x="6437376" y="213969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4"/>
          <p:cNvSpPr txBox="1"/>
          <p:nvPr/>
        </p:nvSpPr>
        <p:spPr>
          <a:xfrm>
            <a:off x="6400800"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15</a:t>
            </a:r>
            <a:endParaRPr/>
          </a:p>
        </p:txBody>
      </p:sp>
      <p:sp>
        <p:nvSpPr>
          <p:cNvPr id="216" name="Google Shape;216;p4"/>
          <p:cNvSpPr/>
          <p:nvPr/>
        </p:nvSpPr>
        <p:spPr>
          <a:xfrm>
            <a:off x="7534655" y="213969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4"/>
          <p:cNvSpPr txBox="1"/>
          <p:nvPr/>
        </p:nvSpPr>
        <p:spPr>
          <a:xfrm>
            <a:off x="7498079" y="221742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8</a:t>
            </a:r>
            <a:endParaRPr/>
          </a:p>
        </p:txBody>
      </p:sp>
      <p:sp>
        <p:nvSpPr>
          <p:cNvPr id="218" name="Google Shape;218;p4"/>
          <p:cNvSpPr txBox="1"/>
          <p:nvPr/>
        </p:nvSpPr>
        <p:spPr>
          <a:xfrm>
            <a:off x="8595359" y="221742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97706"/>
                </a:solidFill>
                <a:latin typeface="Calibri"/>
                <a:ea typeface="Calibri"/>
                <a:cs typeface="Calibri"/>
                <a:sym typeface="Calibri"/>
              </a:rPr>
              <a:t>80%</a:t>
            </a:r>
            <a:endParaRPr/>
          </a:p>
        </p:txBody>
      </p:sp>
      <p:sp>
        <p:nvSpPr>
          <p:cNvPr id="219" name="Google Shape;219;p4"/>
          <p:cNvSpPr/>
          <p:nvPr/>
        </p:nvSpPr>
        <p:spPr>
          <a:xfrm>
            <a:off x="182880" y="2587752"/>
            <a:ext cx="9235440" cy="50292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4"/>
          <p:cNvSpPr txBox="1"/>
          <p:nvPr/>
        </p:nvSpPr>
        <p:spPr>
          <a:xfrm>
            <a:off x="256032" y="272034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Derrick Leroy</a:t>
            </a:r>
            <a:endParaRPr/>
          </a:p>
        </p:txBody>
      </p:sp>
      <p:sp>
        <p:nvSpPr>
          <p:cNvPr id="221" name="Google Shape;221;p4"/>
          <p:cNvSpPr/>
          <p:nvPr/>
        </p:nvSpPr>
        <p:spPr>
          <a:xfrm>
            <a:off x="2048256" y="264261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4"/>
          <p:cNvSpPr txBox="1"/>
          <p:nvPr/>
        </p:nvSpPr>
        <p:spPr>
          <a:xfrm>
            <a:off x="2011680"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50</a:t>
            </a:r>
            <a:endParaRPr/>
          </a:p>
        </p:txBody>
      </p:sp>
      <p:sp>
        <p:nvSpPr>
          <p:cNvPr id="223" name="Google Shape;223;p4"/>
          <p:cNvSpPr/>
          <p:nvPr/>
        </p:nvSpPr>
        <p:spPr>
          <a:xfrm>
            <a:off x="3145536" y="264261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4"/>
          <p:cNvSpPr txBox="1"/>
          <p:nvPr/>
        </p:nvSpPr>
        <p:spPr>
          <a:xfrm>
            <a:off x="3108960"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48</a:t>
            </a:r>
            <a:endParaRPr/>
          </a:p>
        </p:txBody>
      </p:sp>
      <p:sp>
        <p:nvSpPr>
          <p:cNvPr id="225" name="Google Shape;225;p4"/>
          <p:cNvSpPr/>
          <p:nvPr/>
        </p:nvSpPr>
        <p:spPr>
          <a:xfrm>
            <a:off x="4242816" y="264261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4"/>
          <p:cNvSpPr txBox="1"/>
          <p:nvPr/>
        </p:nvSpPr>
        <p:spPr>
          <a:xfrm>
            <a:off x="4206240"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65</a:t>
            </a:r>
            <a:endParaRPr/>
          </a:p>
        </p:txBody>
      </p:sp>
      <p:sp>
        <p:nvSpPr>
          <p:cNvPr id="227" name="Google Shape;227;p4"/>
          <p:cNvSpPr/>
          <p:nvPr/>
        </p:nvSpPr>
        <p:spPr>
          <a:xfrm>
            <a:off x="5340096" y="264261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4"/>
          <p:cNvSpPr txBox="1"/>
          <p:nvPr/>
        </p:nvSpPr>
        <p:spPr>
          <a:xfrm>
            <a:off x="5303520"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51</a:t>
            </a:r>
            <a:endParaRPr/>
          </a:p>
        </p:txBody>
      </p:sp>
      <p:sp>
        <p:nvSpPr>
          <p:cNvPr id="229" name="Google Shape;229;p4"/>
          <p:cNvSpPr/>
          <p:nvPr/>
        </p:nvSpPr>
        <p:spPr>
          <a:xfrm>
            <a:off x="6437376" y="264261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4"/>
          <p:cNvSpPr txBox="1"/>
          <p:nvPr/>
        </p:nvSpPr>
        <p:spPr>
          <a:xfrm>
            <a:off x="6400800"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54</a:t>
            </a:r>
            <a:endParaRPr/>
          </a:p>
        </p:txBody>
      </p:sp>
      <p:sp>
        <p:nvSpPr>
          <p:cNvPr id="231" name="Google Shape;231;p4"/>
          <p:cNvSpPr/>
          <p:nvPr/>
        </p:nvSpPr>
        <p:spPr>
          <a:xfrm>
            <a:off x="7534655" y="264261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4"/>
          <p:cNvSpPr txBox="1"/>
          <p:nvPr/>
        </p:nvSpPr>
        <p:spPr>
          <a:xfrm>
            <a:off x="7498079" y="272034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12</a:t>
            </a:r>
            <a:endParaRPr/>
          </a:p>
        </p:txBody>
      </p:sp>
      <p:sp>
        <p:nvSpPr>
          <p:cNvPr id="233" name="Google Shape;233;p4"/>
          <p:cNvSpPr txBox="1"/>
          <p:nvPr/>
        </p:nvSpPr>
        <p:spPr>
          <a:xfrm>
            <a:off x="8595359" y="272034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059669"/>
                </a:solidFill>
                <a:latin typeface="Calibri"/>
                <a:ea typeface="Calibri"/>
                <a:cs typeface="Calibri"/>
                <a:sym typeface="Calibri"/>
              </a:rPr>
              <a:t>134%</a:t>
            </a:r>
            <a:endParaRPr/>
          </a:p>
        </p:txBody>
      </p:sp>
      <p:sp>
        <p:nvSpPr>
          <p:cNvPr id="234" name="Google Shape;234;p4"/>
          <p:cNvSpPr txBox="1"/>
          <p:nvPr/>
        </p:nvSpPr>
        <p:spPr>
          <a:xfrm>
            <a:off x="256032" y="322326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Westy McLaughlin</a:t>
            </a:r>
            <a:endParaRPr/>
          </a:p>
        </p:txBody>
      </p:sp>
      <p:sp>
        <p:nvSpPr>
          <p:cNvPr id="235" name="Google Shape;235;p4"/>
          <p:cNvSpPr/>
          <p:nvPr/>
        </p:nvSpPr>
        <p:spPr>
          <a:xfrm>
            <a:off x="2048256" y="3145536"/>
            <a:ext cx="1024127" cy="39319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4"/>
          <p:cNvSpPr txBox="1"/>
          <p:nvPr/>
        </p:nvSpPr>
        <p:spPr>
          <a:xfrm>
            <a:off x="2011680"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46</a:t>
            </a:r>
            <a:endParaRPr/>
          </a:p>
        </p:txBody>
      </p:sp>
      <p:sp>
        <p:nvSpPr>
          <p:cNvPr id="237" name="Google Shape;237;p4"/>
          <p:cNvSpPr/>
          <p:nvPr/>
        </p:nvSpPr>
        <p:spPr>
          <a:xfrm>
            <a:off x="3145536" y="314553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4"/>
          <p:cNvSpPr txBox="1"/>
          <p:nvPr/>
        </p:nvSpPr>
        <p:spPr>
          <a:xfrm>
            <a:off x="3108960"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29</a:t>
            </a:r>
            <a:endParaRPr/>
          </a:p>
        </p:txBody>
      </p:sp>
      <p:sp>
        <p:nvSpPr>
          <p:cNvPr id="239" name="Google Shape;239;p4"/>
          <p:cNvSpPr/>
          <p:nvPr/>
        </p:nvSpPr>
        <p:spPr>
          <a:xfrm>
            <a:off x="4242816" y="314553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4"/>
          <p:cNvSpPr txBox="1"/>
          <p:nvPr/>
        </p:nvSpPr>
        <p:spPr>
          <a:xfrm>
            <a:off x="4206240"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28</a:t>
            </a:r>
            <a:endParaRPr/>
          </a:p>
        </p:txBody>
      </p:sp>
      <p:sp>
        <p:nvSpPr>
          <p:cNvPr id="241" name="Google Shape;241;p4"/>
          <p:cNvSpPr/>
          <p:nvPr/>
        </p:nvSpPr>
        <p:spPr>
          <a:xfrm>
            <a:off x="5340096" y="3145536"/>
            <a:ext cx="1024127" cy="39319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4"/>
          <p:cNvSpPr txBox="1"/>
          <p:nvPr/>
        </p:nvSpPr>
        <p:spPr>
          <a:xfrm>
            <a:off x="5303520"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39</a:t>
            </a:r>
            <a:endParaRPr/>
          </a:p>
        </p:txBody>
      </p:sp>
      <p:sp>
        <p:nvSpPr>
          <p:cNvPr id="243" name="Google Shape;243;p4"/>
          <p:cNvSpPr/>
          <p:nvPr/>
        </p:nvSpPr>
        <p:spPr>
          <a:xfrm>
            <a:off x="6437376" y="314553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4"/>
          <p:cNvSpPr txBox="1"/>
          <p:nvPr/>
        </p:nvSpPr>
        <p:spPr>
          <a:xfrm>
            <a:off x="6400800"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25</a:t>
            </a:r>
            <a:endParaRPr/>
          </a:p>
        </p:txBody>
      </p:sp>
      <p:sp>
        <p:nvSpPr>
          <p:cNvPr id="245" name="Google Shape;245;p4"/>
          <p:cNvSpPr/>
          <p:nvPr/>
        </p:nvSpPr>
        <p:spPr>
          <a:xfrm>
            <a:off x="7534655" y="314553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4"/>
          <p:cNvSpPr txBox="1"/>
          <p:nvPr/>
        </p:nvSpPr>
        <p:spPr>
          <a:xfrm>
            <a:off x="7498079" y="322326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7</a:t>
            </a:r>
            <a:endParaRPr/>
          </a:p>
        </p:txBody>
      </p:sp>
      <p:sp>
        <p:nvSpPr>
          <p:cNvPr id="247" name="Google Shape;247;p4"/>
          <p:cNvSpPr txBox="1"/>
          <p:nvPr/>
        </p:nvSpPr>
        <p:spPr>
          <a:xfrm>
            <a:off x="8595359" y="322326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97706"/>
                </a:solidFill>
                <a:latin typeface="Calibri"/>
                <a:ea typeface="Calibri"/>
                <a:cs typeface="Calibri"/>
                <a:sym typeface="Calibri"/>
              </a:rPr>
              <a:t>84%</a:t>
            </a:r>
            <a:endParaRPr/>
          </a:p>
        </p:txBody>
      </p:sp>
      <p:sp>
        <p:nvSpPr>
          <p:cNvPr id="248" name="Google Shape;248;p4"/>
          <p:cNvSpPr/>
          <p:nvPr/>
        </p:nvSpPr>
        <p:spPr>
          <a:xfrm>
            <a:off x="182880" y="3593591"/>
            <a:ext cx="9235440" cy="50292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4"/>
          <p:cNvSpPr txBox="1"/>
          <p:nvPr/>
        </p:nvSpPr>
        <p:spPr>
          <a:xfrm>
            <a:off x="256032" y="3726180"/>
            <a:ext cx="1828800" cy="429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Alexis Berry-Smith</a:t>
            </a:r>
            <a:endParaRPr/>
          </a:p>
        </p:txBody>
      </p:sp>
      <p:sp>
        <p:nvSpPr>
          <p:cNvPr id="250" name="Google Shape;250;p4"/>
          <p:cNvSpPr/>
          <p:nvPr/>
        </p:nvSpPr>
        <p:spPr>
          <a:xfrm>
            <a:off x="2048256" y="3648456"/>
            <a:ext cx="1024127" cy="39319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4"/>
          <p:cNvSpPr txBox="1"/>
          <p:nvPr/>
        </p:nvSpPr>
        <p:spPr>
          <a:xfrm>
            <a:off x="2011680"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252" name="Google Shape;252;p4"/>
          <p:cNvSpPr/>
          <p:nvPr/>
        </p:nvSpPr>
        <p:spPr>
          <a:xfrm>
            <a:off x="3145536" y="3648456"/>
            <a:ext cx="1024127" cy="39319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4"/>
          <p:cNvSpPr txBox="1"/>
          <p:nvPr/>
        </p:nvSpPr>
        <p:spPr>
          <a:xfrm>
            <a:off x="3108960"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254" name="Google Shape;254;p4"/>
          <p:cNvSpPr/>
          <p:nvPr/>
        </p:nvSpPr>
        <p:spPr>
          <a:xfrm>
            <a:off x="4242816" y="364845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4"/>
          <p:cNvSpPr txBox="1"/>
          <p:nvPr/>
        </p:nvSpPr>
        <p:spPr>
          <a:xfrm>
            <a:off x="4206240"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a:t>
            </a:r>
            <a:endParaRPr/>
          </a:p>
        </p:txBody>
      </p:sp>
      <p:sp>
        <p:nvSpPr>
          <p:cNvPr id="256" name="Google Shape;256;p4"/>
          <p:cNvSpPr/>
          <p:nvPr/>
        </p:nvSpPr>
        <p:spPr>
          <a:xfrm>
            <a:off x="5340096" y="3648456"/>
            <a:ext cx="1024127" cy="39319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4"/>
          <p:cNvSpPr txBox="1"/>
          <p:nvPr/>
        </p:nvSpPr>
        <p:spPr>
          <a:xfrm>
            <a:off x="5303520"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258" name="Google Shape;258;p4"/>
          <p:cNvSpPr/>
          <p:nvPr/>
        </p:nvSpPr>
        <p:spPr>
          <a:xfrm>
            <a:off x="6437376" y="3648456"/>
            <a:ext cx="1024127" cy="39319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4"/>
          <p:cNvSpPr txBox="1"/>
          <p:nvPr/>
        </p:nvSpPr>
        <p:spPr>
          <a:xfrm>
            <a:off x="6400800"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32</a:t>
            </a:r>
            <a:endParaRPr/>
          </a:p>
        </p:txBody>
      </p:sp>
      <p:sp>
        <p:nvSpPr>
          <p:cNvPr id="260" name="Google Shape;260;p4"/>
          <p:cNvSpPr/>
          <p:nvPr/>
        </p:nvSpPr>
        <p:spPr>
          <a:xfrm>
            <a:off x="7534655" y="3648456"/>
            <a:ext cx="1024127" cy="39319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4"/>
          <p:cNvSpPr txBox="1"/>
          <p:nvPr/>
        </p:nvSpPr>
        <p:spPr>
          <a:xfrm>
            <a:off x="7498079" y="3726180"/>
            <a:ext cx="109728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22</a:t>
            </a:r>
            <a:endParaRPr/>
          </a:p>
        </p:txBody>
      </p:sp>
      <p:sp>
        <p:nvSpPr>
          <p:cNvPr id="262" name="Google Shape;262;p4"/>
          <p:cNvSpPr txBox="1"/>
          <p:nvPr/>
        </p:nvSpPr>
        <p:spPr>
          <a:xfrm>
            <a:off x="8595359" y="3726180"/>
            <a:ext cx="822960" cy="4297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C2626"/>
                </a:solidFill>
                <a:latin typeface="Calibri"/>
                <a:ea typeface="Calibri"/>
                <a:cs typeface="Calibri"/>
                <a:sym typeface="Calibri"/>
              </a:rPr>
              <a:t>18%</a:t>
            </a:r>
            <a:endParaRPr/>
          </a:p>
        </p:txBody>
      </p:sp>
      <p:sp>
        <p:nvSpPr>
          <p:cNvPr id="263" name="Google Shape;263;p4"/>
          <p:cNvSpPr/>
          <p:nvPr/>
        </p:nvSpPr>
        <p:spPr>
          <a:xfrm>
            <a:off x="0" y="4279392"/>
            <a:ext cx="12191695"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4"/>
          <p:cNvSpPr txBox="1"/>
          <p:nvPr/>
        </p:nvSpPr>
        <p:spPr>
          <a:xfrm>
            <a:off x="182880" y="4352544"/>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Rep</a:t>
            </a:r>
            <a:endParaRPr/>
          </a:p>
        </p:txBody>
      </p:sp>
      <p:sp>
        <p:nvSpPr>
          <p:cNvPr id="265" name="Google Shape;265;p4"/>
          <p:cNvSpPr txBox="1"/>
          <p:nvPr/>
        </p:nvSpPr>
        <p:spPr>
          <a:xfrm>
            <a:off x="1554480" y="4352544"/>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Role</a:t>
            </a:r>
            <a:endParaRPr/>
          </a:p>
        </p:txBody>
      </p:sp>
      <p:sp>
        <p:nvSpPr>
          <p:cNvPr id="266" name="Google Shape;266;p4"/>
          <p:cNvSpPr txBox="1"/>
          <p:nvPr/>
        </p:nvSpPr>
        <p:spPr>
          <a:xfrm>
            <a:off x="2148840" y="4352544"/>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Calls</a:t>
            </a:r>
            <a:endParaRPr/>
          </a:p>
        </p:txBody>
      </p:sp>
      <p:sp>
        <p:nvSpPr>
          <p:cNvPr id="267" name="Google Shape;267;p4"/>
          <p:cNvSpPr txBox="1"/>
          <p:nvPr/>
        </p:nvSpPr>
        <p:spPr>
          <a:xfrm>
            <a:off x="3337560" y="435254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Meetings</a:t>
            </a:r>
            <a:endParaRPr/>
          </a:p>
        </p:txBody>
      </p:sp>
      <p:sp>
        <p:nvSpPr>
          <p:cNvPr id="268" name="Google Shape;268;p4"/>
          <p:cNvSpPr txBox="1"/>
          <p:nvPr/>
        </p:nvSpPr>
        <p:spPr>
          <a:xfrm>
            <a:off x="4251960" y="43525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Inbound</a:t>
            </a:r>
            <a:endParaRPr/>
          </a:p>
        </p:txBody>
      </p:sp>
      <p:sp>
        <p:nvSpPr>
          <p:cNvPr id="269" name="Google Shape;269;p4"/>
          <p:cNvSpPr txBox="1"/>
          <p:nvPr/>
        </p:nvSpPr>
        <p:spPr>
          <a:xfrm>
            <a:off x="5029200" y="43525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Total</a:t>
            </a:r>
            <a:endParaRPr/>
          </a:p>
        </p:txBody>
      </p:sp>
      <p:sp>
        <p:nvSpPr>
          <p:cNvPr id="270" name="Google Shape;270;p4"/>
          <p:cNvSpPr txBox="1"/>
          <p:nvPr/>
        </p:nvSpPr>
        <p:spPr>
          <a:xfrm>
            <a:off x="5806440" y="43525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Avg/Wk</a:t>
            </a:r>
            <a:endParaRPr/>
          </a:p>
        </p:txBody>
      </p:sp>
      <p:sp>
        <p:nvSpPr>
          <p:cNvPr id="271" name="Google Shape;271;p4"/>
          <p:cNvSpPr txBox="1"/>
          <p:nvPr/>
        </p:nvSpPr>
        <p:spPr>
          <a:xfrm>
            <a:off x="6583679" y="435254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 to Goal</a:t>
            </a:r>
            <a:endParaRPr/>
          </a:p>
        </p:txBody>
      </p:sp>
      <p:sp>
        <p:nvSpPr>
          <p:cNvPr id="272" name="Google Shape;272;p4"/>
          <p:cNvSpPr txBox="1"/>
          <p:nvPr/>
        </p:nvSpPr>
        <p:spPr>
          <a:xfrm>
            <a:off x="182880" y="4553712"/>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Derek Janssen</a:t>
            </a:r>
            <a:endParaRPr/>
          </a:p>
        </p:txBody>
      </p:sp>
      <p:sp>
        <p:nvSpPr>
          <p:cNvPr id="273" name="Google Shape;273;p4"/>
          <p:cNvSpPr txBox="1"/>
          <p:nvPr/>
        </p:nvSpPr>
        <p:spPr>
          <a:xfrm>
            <a:off x="1554480" y="4553712"/>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274" name="Google Shape;274;p4"/>
          <p:cNvSpPr txBox="1"/>
          <p:nvPr/>
        </p:nvSpPr>
        <p:spPr>
          <a:xfrm>
            <a:off x="2148840" y="4553712"/>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334</a:t>
            </a:r>
            <a:endParaRPr/>
          </a:p>
        </p:txBody>
      </p:sp>
      <p:sp>
        <p:nvSpPr>
          <p:cNvPr id="275" name="Google Shape;275;p4"/>
          <p:cNvSpPr txBox="1"/>
          <p:nvPr/>
        </p:nvSpPr>
        <p:spPr>
          <a:xfrm>
            <a:off x="3337560" y="455371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47</a:t>
            </a:r>
            <a:endParaRPr/>
          </a:p>
        </p:txBody>
      </p:sp>
      <p:sp>
        <p:nvSpPr>
          <p:cNvPr id="276" name="Google Shape;276;p4"/>
          <p:cNvSpPr txBox="1"/>
          <p:nvPr/>
        </p:nvSpPr>
        <p:spPr>
          <a:xfrm>
            <a:off x="4251960" y="455371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60</a:t>
            </a:r>
            <a:endParaRPr/>
          </a:p>
        </p:txBody>
      </p:sp>
      <p:sp>
        <p:nvSpPr>
          <p:cNvPr id="277" name="Google Shape;277;p4"/>
          <p:cNvSpPr txBox="1"/>
          <p:nvPr/>
        </p:nvSpPr>
        <p:spPr>
          <a:xfrm>
            <a:off x="5029200" y="455371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381</a:t>
            </a:r>
            <a:endParaRPr/>
          </a:p>
        </p:txBody>
      </p:sp>
      <p:sp>
        <p:nvSpPr>
          <p:cNvPr id="278" name="Google Shape;278;p4"/>
          <p:cNvSpPr txBox="1"/>
          <p:nvPr/>
        </p:nvSpPr>
        <p:spPr>
          <a:xfrm>
            <a:off x="5806440" y="455371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64.0</a:t>
            </a:r>
            <a:endParaRPr/>
          </a:p>
        </p:txBody>
      </p:sp>
      <p:sp>
        <p:nvSpPr>
          <p:cNvPr id="279" name="Google Shape;279;p4"/>
          <p:cNvSpPr txBox="1"/>
          <p:nvPr/>
        </p:nvSpPr>
        <p:spPr>
          <a:xfrm>
            <a:off x="6583679" y="455371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059669"/>
                </a:solidFill>
                <a:latin typeface="Calibri"/>
                <a:ea typeface="Calibri"/>
                <a:cs typeface="Calibri"/>
                <a:sym typeface="Calibri"/>
              </a:rPr>
              <a:t>160%</a:t>
            </a:r>
            <a:endParaRPr/>
          </a:p>
        </p:txBody>
      </p:sp>
      <p:sp>
        <p:nvSpPr>
          <p:cNvPr id="280" name="Google Shape;280;p4"/>
          <p:cNvSpPr/>
          <p:nvPr/>
        </p:nvSpPr>
        <p:spPr>
          <a:xfrm>
            <a:off x="182880" y="4791456"/>
            <a:ext cx="7315200" cy="22860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4"/>
          <p:cNvSpPr txBox="1"/>
          <p:nvPr/>
        </p:nvSpPr>
        <p:spPr>
          <a:xfrm>
            <a:off x="182880" y="4809744"/>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Ron Douglas</a:t>
            </a:r>
            <a:endParaRPr/>
          </a:p>
        </p:txBody>
      </p:sp>
      <p:sp>
        <p:nvSpPr>
          <p:cNvPr id="282" name="Google Shape;282;p4"/>
          <p:cNvSpPr txBox="1"/>
          <p:nvPr/>
        </p:nvSpPr>
        <p:spPr>
          <a:xfrm>
            <a:off x="1554480" y="4809744"/>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283" name="Google Shape;283;p4"/>
          <p:cNvSpPr txBox="1"/>
          <p:nvPr/>
        </p:nvSpPr>
        <p:spPr>
          <a:xfrm>
            <a:off x="2148840" y="4809744"/>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124</a:t>
            </a:r>
            <a:endParaRPr/>
          </a:p>
        </p:txBody>
      </p:sp>
      <p:sp>
        <p:nvSpPr>
          <p:cNvPr id="284" name="Google Shape;284;p4"/>
          <p:cNvSpPr txBox="1"/>
          <p:nvPr/>
        </p:nvSpPr>
        <p:spPr>
          <a:xfrm>
            <a:off x="3337560" y="480974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22</a:t>
            </a:r>
            <a:endParaRPr/>
          </a:p>
        </p:txBody>
      </p:sp>
      <p:sp>
        <p:nvSpPr>
          <p:cNvPr id="285" name="Google Shape;285;p4"/>
          <p:cNvSpPr txBox="1"/>
          <p:nvPr/>
        </p:nvSpPr>
        <p:spPr>
          <a:xfrm>
            <a:off x="4251960" y="48097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68</a:t>
            </a:r>
            <a:endParaRPr/>
          </a:p>
        </p:txBody>
      </p:sp>
      <p:sp>
        <p:nvSpPr>
          <p:cNvPr id="286" name="Google Shape;286;p4"/>
          <p:cNvSpPr txBox="1"/>
          <p:nvPr/>
        </p:nvSpPr>
        <p:spPr>
          <a:xfrm>
            <a:off x="5029200" y="48097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146</a:t>
            </a:r>
            <a:endParaRPr/>
          </a:p>
        </p:txBody>
      </p:sp>
      <p:sp>
        <p:nvSpPr>
          <p:cNvPr id="287" name="Google Shape;287;p4"/>
          <p:cNvSpPr txBox="1"/>
          <p:nvPr/>
        </p:nvSpPr>
        <p:spPr>
          <a:xfrm>
            <a:off x="5806440" y="480974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28.2</a:t>
            </a:r>
            <a:endParaRPr/>
          </a:p>
        </p:txBody>
      </p:sp>
      <p:sp>
        <p:nvSpPr>
          <p:cNvPr id="288" name="Google Shape;288;p4"/>
          <p:cNvSpPr txBox="1"/>
          <p:nvPr/>
        </p:nvSpPr>
        <p:spPr>
          <a:xfrm>
            <a:off x="6583679" y="480974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C2626"/>
                </a:solidFill>
                <a:latin typeface="Calibri"/>
                <a:ea typeface="Calibri"/>
                <a:cs typeface="Calibri"/>
                <a:sym typeface="Calibri"/>
              </a:rPr>
              <a:t>70%</a:t>
            </a:r>
            <a:endParaRPr/>
          </a:p>
        </p:txBody>
      </p:sp>
      <p:sp>
        <p:nvSpPr>
          <p:cNvPr id="289" name="Google Shape;289;p4"/>
          <p:cNvSpPr txBox="1"/>
          <p:nvPr/>
        </p:nvSpPr>
        <p:spPr>
          <a:xfrm>
            <a:off x="182880" y="5065776"/>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Christopher Hayes</a:t>
            </a:r>
            <a:endParaRPr/>
          </a:p>
        </p:txBody>
      </p:sp>
      <p:sp>
        <p:nvSpPr>
          <p:cNvPr id="290" name="Google Shape;290;p4"/>
          <p:cNvSpPr txBox="1"/>
          <p:nvPr/>
        </p:nvSpPr>
        <p:spPr>
          <a:xfrm>
            <a:off x="1554480" y="5065776"/>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291" name="Google Shape;291;p4"/>
          <p:cNvSpPr txBox="1"/>
          <p:nvPr/>
        </p:nvSpPr>
        <p:spPr>
          <a:xfrm>
            <a:off x="2148840" y="5065776"/>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171</a:t>
            </a:r>
            <a:endParaRPr/>
          </a:p>
        </p:txBody>
      </p:sp>
      <p:sp>
        <p:nvSpPr>
          <p:cNvPr id="292" name="Google Shape;292;p4"/>
          <p:cNvSpPr txBox="1"/>
          <p:nvPr/>
        </p:nvSpPr>
        <p:spPr>
          <a:xfrm>
            <a:off x="3337560" y="5065776"/>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11</a:t>
            </a:r>
            <a:endParaRPr/>
          </a:p>
        </p:txBody>
      </p:sp>
      <p:sp>
        <p:nvSpPr>
          <p:cNvPr id="293" name="Google Shape;293;p4"/>
          <p:cNvSpPr txBox="1"/>
          <p:nvPr/>
        </p:nvSpPr>
        <p:spPr>
          <a:xfrm>
            <a:off x="4251960" y="506577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30</a:t>
            </a:r>
            <a:endParaRPr/>
          </a:p>
        </p:txBody>
      </p:sp>
      <p:sp>
        <p:nvSpPr>
          <p:cNvPr id="294" name="Google Shape;294;p4"/>
          <p:cNvSpPr txBox="1"/>
          <p:nvPr/>
        </p:nvSpPr>
        <p:spPr>
          <a:xfrm>
            <a:off x="5029200" y="506577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182</a:t>
            </a:r>
            <a:endParaRPr/>
          </a:p>
        </p:txBody>
      </p:sp>
      <p:sp>
        <p:nvSpPr>
          <p:cNvPr id="295" name="Google Shape;295;p4"/>
          <p:cNvSpPr txBox="1"/>
          <p:nvPr/>
        </p:nvSpPr>
        <p:spPr>
          <a:xfrm>
            <a:off x="5806440" y="506577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32.2</a:t>
            </a:r>
            <a:endParaRPr/>
          </a:p>
        </p:txBody>
      </p:sp>
      <p:sp>
        <p:nvSpPr>
          <p:cNvPr id="296" name="Google Shape;296;p4"/>
          <p:cNvSpPr txBox="1"/>
          <p:nvPr/>
        </p:nvSpPr>
        <p:spPr>
          <a:xfrm>
            <a:off x="6583679" y="5065776"/>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97706"/>
                </a:solidFill>
                <a:latin typeface="Calibri"/>
                <a:ea typeface="Calibri"/>
                <a:cs typeface="Calibri"/>
                <a:sym typeface="Calibri"/>
              </a:rPr>
              <a:t>80%</a:t>
            </a:r>
            <a:endParaRPr/>
          </a:p>
        </p:txBody>
      </p:sp>
      <p:sp>
        <p:nvSpPr>
          <p:cNvPr id="297" name="Google Shape;297;p4"/>
          <p:cNvSpPr/>
          <p:nvPr/>
        </p:nvSpPr>
        <p:spPr>
          <a:xfrm>
            <a:off x="182880" y="5303520"/>
            <a:ext cx="7315200" cy="22860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4"/>
          <p:cNvSpPr txBox="1"/>
          <p:nvPr/>
        </p:nvSpPr>
        <p:spPr>
          <a:xfrm>
            <a:off x="182880" y="5321808"/>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Derrick Leroy</a:t>
            </a:r>
            <a:endParaRPr/>
          </a:p>
        </p:txBody>
      </p:sp>
      <p:sp>
        <p:nvSpPr>
          <p:cNvPr id="299" name="Google Shape;299;p4"/>
          <p:cNvSpPr txBox="1"/>
          <p:nvPr/>
        </p:nvSpPr>
        <p:spPr>
          <a:xfrm>
            <a:off x="1554480" y="5321808"/>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300" name="Google Shape;300;p4"/>
          <p:cNvSpPr txBox="1"/>
          <p:nvPr/>
        </p:nvSpPr>
        <p:spPr>
          <a:xfrm>
            <a:off x="2148840" y="5321808"/>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318</a:t>
            </a:r>
            <a:endParaRPr/>
          </a:p>
        </p:txBody>
      </p:sp>
      <p:sp>
        <p:nvSpPr>
          <p:cNvPr id="301" name="Google Shape;301;p4"/>
          <p:cNvSpPr txBox="1"/>
          <p:nvPr/>
        </p:nvSpPr>
        <p:spPr>
          <a:xfrm>
            <a:off x="3337560" y="532180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11</a:t>
            </a:r>
            <a:endParaRPr/>
          </a:p>
        </p:txBody>
      </p:sp>
      <p:sp>
        <p:nvSpPr>
          <p:cNvPr id="302" name="Google Shape;302;p4"/>
          <p:cNvSpPr txBox="1"/>
          <p:nvPr/>
        </p:nvSpPr>
        <p:spPr>
          <a:xfrm>
            <a:off x="4251960" y="532180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36</a:t>
            </a:r>
            <a:endParaRPr/>
          </a:p>
        </p:txBody>
      </p:sp>
      <p:sp>
        <p:nvSpPr>
          <p:cNvPr id="303" name="Google Shape;303;p4"/>
          <p:cNvSpPr txBox="1"/>
          <p:nvPr/>
        </p:nvSpPr>
        <p:spPr>
          <a:xfrm>
            <a:off x="5029200" y="532180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329</a:t>
            </a:r>
            <a:endParaRPr/>
          </a:p>
        </p:txBody>
      </p:sp>
      <p:sp>
        <p:nvSpPr>
          <p:cNvPr id="304" name="Google Shape;304;p4"/>
          <p:cNvSpPr txBox="1"/>
          <p:nvPr/>
        </p:nvSpPr>
        <p:spPr>
          <a:xfrm>
            <a:off x="5806440" y="532180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53.6</a:t>
            </a:r>
            <a:endParaRPr/>
          </a:p>
        </p:txBody>
      </p:sp>
      <p:sp>
        <p:nvSpPr>
          <p:cNvPr id="305" name="Google Shape;305;p4"/>
          <p:cNvSpPr txBox="1"/>
          <p:nvPr/>
        </p:nvSpPr>
        <p:spPr>
          <a:xfrm>
            <a:off x="6583679" y="532180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059669"/>
                </a:solidFill>
                <a:latin typeface="Calibri"/>
                <a:ea typeface="Calibri"/>
                <a:cs typeface="Calibri"/>
                <a:sym typeface="Calibri"/>
              </a:rPr>
              <a:t>134%</a:t>
            </a:r>
            <a:endParaRPr/>
          </a:p>
        </p:txBody>
      </p:sp>
      <p:sp>
        <p:nvSpPr>
          <p:cNvPr id="306" name="Google Shape;306;p4"/>
          <p:cNvSpPr txBox="1"/>
          <p:nvPr/>
        </p:nvSpPr>
        <p:spPr>
          <a:xfrm>
            <a:off x="182880" y="5577840"/>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Westy McLaughlin</a:t>
            </a:r>
            <a:endParaRPr/>
          </a:p>
        </p:txBody>
      </p:sp>
      <p:sp>
        <p:nvSpPr>
          <p:cNvPr id="307" name="Google Shape;307;p4"/>
          <p:cNvSpPr txBox="1"/>
          <p:nvPr/>
        </p:nvSpPr>
        <p:spPr>
          <a:xfrm>
            <a:off x="1554480" y="5577840"/>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308" name="Google Shape;308;p4"/>
          <p:cNvSpPr txBox="1"/>
          <p:nvPr/>
        </p:nvSpPr>
        <p:spPr>
          <a:xfrm>
            <a:off x="2148840" y="5577840"/>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175</a:t>
            </a:r>
            <a:endParaRPr/>
          </a:p>
        </p:txBody>
      </p:sp>
      <p:sp>
        <p:nvSpPr>
          <p:cNvPr id="309" name="Google Shape;309;p4"/>
          <p:cNvSpPr txBox="1"/>
          <p:nvPr/>
        </p:nvSpPr>
        <p:spPr>
          <a:xfrm>
            <a:off x="3337560" y="557784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11</a:t>
            </a:r>
            <a:endParaRPr/>
          </a:p>
        </p:txBody>
      </p:sp>
      <p:sp>
        <p:nvSpPr>
          <p:cNvPr id="310" name="Google Shape;310;p4"/>
          <p:cNvSpPr txBox="1"/>
          <p:nvPr/>
        </p:nvSpPr>
        <p:spPr>
          <a:xfrm>
            <a:off x="4251960" y="557784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39</a:t>
            </a:r>
            <a:endParaRPr/>
          </a:p>
        </p:txBody>
      </p:sp>
      <p:sp>
        <p:nvSpPr>
          <p:cNvPr id="311" name="Google Shape;311;p4"/>
          <p:cNvSpPr txBox="1"/>
          <p:nvPr/>
        </p:nvSpPr>
        <p:spPr>
          <a:xfrm>
            <a:off x="5029200" y="557784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186</a:t>
            </a:r>
            <a:endParaRPr/>
          </a:p>
        </p:txBody>
      </p:sp>
      <p:sp>
        <p:nvSpPr>
          <p:cNvPr id="312" name="Google Shape;312;p4"/>
          <p:cNvSpPr txBox="1"/>
          <p:nvPr/>
        </p:nvSpPr>
        <p:spPr>
          <a:xfrm>
            <a:off x="5806440" y="557784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33.4</a:t>
            </a:r>
            <a:endParaRPr/>
          </a:p>
        </p:txBody>
      </p:sp>
      <p:sp>
        <p:nvSpPr>
          <p:cNvPr id="313" name="Google Shape;313;p4"/>
          <p:cNvSpPr txBox="1"/>
          <p:nvPr/>
        </p:nvSpPr>
        <p:spPr>
          <a:xfrm>
            <a:off x="6583679" y="557784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97706"/>
                </a:solidFill>
                <a:latin typeface="Calibri"/>
                <a:ea typeface="Calibri"/>
                <a:cs typeface="Calibri"/>
                <a:sym typeface="Calibri"/>
              </a:rPr>
              <a:t>84%</a:t>
            </a:r>
            <a:endParaRPr/>
          </a:p>
        </p:txBody>
      </p:sp>
      <p:sp>
        <p:nvSpPr>
          <p:cNvPr id="314" name="Google Shape;314;p4"/>
          <p:cNvSpPr/>
          <p:nvPr/>
        </p:nvSpPr>
        <p:spPr>
          <a:xfrm>
            <a:off x="182880" y="5815584"/>
            <a:ext cx="7315200" cy="22860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4"/>
          <p:cNvSpPr txBox="1"/>
          <p:nvPr/>
        </p:nvSpPr>
        <p:spPr>
          <a:xfrm>
            <a:off x="182880" y="5833872"/>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Alexis Berry-Smith</a:t>
            </a:r>
            <a:endParaRPr/>
          </a:p>
        </p:txBody>
      </p:sp>
      <p:sp>
        <p:nvSpPr>
          <p:cNvPr id="316" name="Google Shape;316;p4"/>
          <p:cNvSpPr txBox="1"/>
          <p:nvPr/>
        </p:nvSpPr>
        <p:spPr>
          <a:xfrm>
            <a:off x="1554480" y="5833872"/>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BDM</a:t>
            </a:r>
            <a:endParaRPr/>
          </a:p>
        </p:txBody>
      </p:sp>
      <p:sp>
        <p:nvSpPr>
          <p:cNvPr id="317" name="Google Shape;317;p4"/>
          <p:cNvSpPr txBox="1"/>
          <p:nvPr/>
        </p:nvSpPr>
        <p:spPr>
          <a:xfrm>
            <a:off x="2148840" y="5833872"/>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52</a:t>
            </a:r>
            <a:endParaRPr/>
          </a:p>
        </p:txBody>
      </p:sp>
      <p:sp>
        <p:nvSpPr>
          <p:cNvPr id="318" name="Google Shape;318;p4"/>
          <p:cNvSpPr txBox="1"/>
          <p:nvPr/>
        </p:nvSpPr>
        <p:spPr>
          <a:xfrm>
            <a:off x="3337560" y="583387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6</a:t>
            </a:r>
            <a:endParaRPr/>
          </a:p>
        </p:txBody>
      </p:sp>
      <p:sp>
        <p:nvSpPr>
          <p:cNvPr id="319" name="Google Shape;319;p4"/>
          <p:cNvSpPr txBox="1"/>
          <p:nvPr/>
        </p:nvSpPr>
        <p:spPr>
          <a:xfrm>
            <a:off x="4251960" y="583387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2</a:t>
            </a:r>
            <a:endParaRPr/>
          </a:p>
        </p:txBody>
      </p:sp>
      <p:sp>
        <p:nvSpPr>
          <p:cNvPr id="320" name="Google Shape;320;p4"/>
          <p:cNvSpPr txBox="1"/>
          <p:nvPr/>
        </p:nvSpPr>
        <p:spPr>
          <a:xfrm>
            <a:off x="5029200" y="583387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58</a:t>
            </a:r>
            <a:endParaRPr/>
          </a:p>
        </p:txBody>
      </p:sp>
      <p:sp>
        <p:nvSpPr>
          <p:cNvPr id="321" name="Google Shape;321;p4"/>
          <p:cNvSpPr txBox="1"/>
          <p:nvPr/>
        </p:nvSpPr>
        <p:spPr>
          <a:xfrm>
            <a:off x="5806440" y="583387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7.2</a:t>
            </a:r>
            <a:endParaRPr/>
          </a:p>
        </p:txBody>
      </p:sp>
      <p:sp>
        <p:nvSpPr>
          <p:cNvPr id="322" name="Google Shape;322;p4"/>
          <p:cNvSpPr txBox="1"/>
          <p:nvPr/>
        </p:nvSpPr>
        <p:spPr>
          <a:xfrm>
            <a:off x="6583679" y="583387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C2626"/>
                </a:solidFill>
                <a:latin typeface="Calibri"/>
                <a:ea typeface="Calibri"/>
                <a:cs typeface="Calibri"/>
                <a:sym typeface="Calibri"/>
              </a:rPr>
              <a:t>18%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5"/>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5"/>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Activity Dashboard — Q2 2026  |  BDAs  |  Calls + Meetings</a:t>
            </a:r>
            <a:endParaRPr/>
          </a:p>
        </p:txBody>
      </p:sp>
      <p:sp>
        <p:nvSpPr>
          <p:cNvPr id="330" name="Google Shape;330;p5"/>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Q2 YTD  |  Apr 1–May 12  |  BDAs Only  |  Goal: 50 acts/wk  |  Emails excluded</a:t>
            </a:r>
            <a:endParaRPr/>
          </a:p>
        </p:txBody>
      </p:sp>
      <p:sp>
        <p:nvSpPr>
          <p:cNvPr id="331" name="Google Shape;331;p5"/>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332" name="Google Shape;332;p5"/>
          <p:cNvSpPr/>
          <p:nvPr/>
        </p:nvSpPr>
        <p:spPr>
          <a:xfrm>
            <a:off x="182880" y="804672"/>
            <a:ext cx="9235440" cy="27432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5"/>
          <p:cNvSpPr txBox="1"/>
          <p:nvPr/>
        </p:nvSpPr>
        <p:spPr>
          <a:xfrm>
            <a:off x="256032" y="850392"/>
            <a:ext cx="18288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Rep</a:t>
            </a:r>
            <a:endParaRPr/>
          </a:p>
        </p:txBody>
      </p:sp>
      <p:sp>
        <p:nvSpPr>
          <p:cNvPr id="334" name="Google Shape;334;p5"/>
          <p:cNvSpPr txBox="1"/>
          <p:nvPr/>
        </p:nvSpPr>
        <p:spPr>
          <a:xfrm>
            <a:off x="201168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6-12</a:t>
            </a:r>
            <a:endParaRPr/>
          </a:p>
        </p:txBody>
      </p:sp>
      <p:sp>
        <p:nvSpPr>
          <p:cNvPr id="335" name="Google Shape;335;p5"/>
          <p:cNvSpPr txBox="1"/>
          <p:nvPr/>
        </p:nvSpPr>
        <p:spPr>
          <a:xfrm>
            <a:off x="310896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13-19</a:t>
            </a:r>
            <a:endParaRPr/>
          </a:p>
        </p:txBody>
      </p:sp>
      <p:sp>
        <p:nvSpPr>
          <p:cNvPr id="336" name="Google Shape;336;p5"/>
          <p:cNvSpPr txBox="1"/>
          <p:nvPr/>
        </p:nvSpPr>
        <p:spPr>
          <a:xfrm>
            <a:off x="420624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20-26</a:t>
            </a:r>
            <a:endParaRPr/>
          </a:p>
        </p:txBody>
      </p:sp>
      <p:sp>
        <p:nvSpPr>
          <p:cNvPr id="337" name="Google Shape;337;p5"/>
          <p:cNvSpPr txBox="1"/>
          <p:nvPr/>
        </p:nvSpPr>
        <p:spPr>
          <a:xfrm>
            <a:off x="530352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Apr 27-May 3</a:t>
            </a:r>
            <a:endParaRPr/>
          </a:p>
        </p:txBody>
      </p:sp>
      <p:sp>
        <p:nvSpPr>
          <p:cNvPr id="338" name="Google Shape;338;p5"/>
          <p:cNvSpPr txBox="1"/>
          <p:nvPr/>
        </p:nvSpPr>
        <p:spPr>
          <a:xfrm>
            <a:off x="6400800"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May 4-10</a:t>
            </a:r>
            <a:endParaRPr/>
          </a:p>
        </p:txBody>
      </p:sp>
      <p:sp>
        <p:nvSpPr>
          <p:cNvPr id="339" name="Google Shape;339;p5"/>
          <p:cNvSpPr txBox="1"/>
          <p:nvPr/>
        </p:nvSpPr>
        <p:spPr>
          <a:xfrm>
            <a:off x="7498079" y="850392"/>
            <a:ext cx="10972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May 11-12</a:t>
            </a:r>
            <a:endParaRPr/>
          </a:p>
        </p:txBody>
      </p:sp>
      <p:sp>
        <p:nvSpPr>
          <p:cNvPr id="340" name="Google Shape;340;p5"/>
          <p:cNvSpPr txBox="1"/>
          <p:nvPr/>
        </p:nvSpPr>
        <p:spPr>
          <a:xfrm>
            <a:off x="8595359" y="850392"/>
            <a:ext cx="8229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FFFFFF"/>
                </a:solidFill>
                <a:latin typeface="Calibri"/>
                <a:ea typeface="Calibri"/>
                <a:cs typeface="Calibri"/>
                <a:sym typeface="Calibri"/>
              </a:rPr>
              <a:t>Avg %</a:t>
            </a:r>
            <a:endParaRPr/>
          </a:p>
        </p:txBody>
      </p:sp>
      <p:sp>
        <p:nvSpPr>
          <p:cNvPr id="341" name="Google Shape;341;p5"/>
          <p:cNvSpPr txBox="1"/>
          <p:nvPr/>
        </p:nvSpPr>
        <p:spPr>
          <a:xfrm>
            <a:off x="256032" y="1234440"/>
            <a:ext cx="18288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Cameron Brader</a:t>
            </a:r>
            <a:endParaRPr/>
          </a:p>
        </p:txBody>
      </p:sp>
      <p:sp>
        <p:nvSpPr>
          <p:cNvPr id="342" name="Google Shape;342;p5"/>
          <p:cNvSpPr/>
          <p:nvPr/>
        </p:nvSpPr>
        <p:spPr>
          <a:xfrm>
            <a:off x="2048256" y="113385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5"/>
          <p:cNvSpPr txBox="1"/>
          <p:nvPr/>
        </p:nvSpPr>
        <p:spPr>
          <a:xfrm>
            <a:off x="2011680"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31</a:t>
            </a:r>
            <a:endParaRPr/>
          </a:p>
        </p:txBody>
      </p:sp>
      <p:sp>
        <p:nvSpPr>
          <p:cNvPr id="344" name="Google Shape;344;p5"/>
          <p:cNvSpPr/>
          <p:nvPr/>
        </p:nvSpPr>
        <p:spPr>
          <a:xfrm>
            <a:off x="3145536" y="1133856"/>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5"/>
          <p:cNvSpPr txBox="1"/>
          <p:nvPr/>
        </p:nvSpPr>
        <p:spPr>
          <a:xfrm>
            <a:off x="3108960"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58</a:t>
            </a:r>
            <a:endParaRPr/>
          </a:p>
        </p:txBody>
      </p:sp>
      <p:sp>
        <p:nvSpPr>
          <p:cNvPr id="346" name="Google Shape;346;p5"/>
          <p:cNvSpPr/>
          <p:nvPr/>
        </p:nvSpPr>
        <p:spPr>
          <a:xfrm>
            <a:off x="4242816" y="1133856"/>
            <a:ext cx="1024127" cy="43891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5"/>
          <p:cNvSpPr txBox="1"/>
          <p:nvPr/>
        </p:nvSpPr>
        <p:spPr>
          <a:xfrm>
            <a:off x="4206240"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38</a:t>
            </a:r>
            <a:endParaRPr/>
          </a:p>
        </p:txBody>
      </p:sp>
      <p:sp>
        <p:nvSpPr>
          <p:cNvPr id="348" name="Google Shape;348;p5"/>
          <p:cNvSpPr/>
          <p:nvPr/>
        </p:nvSpPr>
        <p:spPr>
          <a:xfrm>
            <a:off x="5340096" y="1133856"/>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5"/>
          <p:cNvSpPr txBox="1"/>
          <p:nvPr/>
        </p:nvSpPr>
        <p:spPr>
          <a:xfrm>
            <a:off x="5303520"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57</a:t>
            </a:r>
            <a:endParaRPr/>
          </a:p>
        </p:txBody>
      </p:sp>
      <p:sp>
        <p:nvSpPr>
          <p:cNvPr id="350" name="Google Shape;350;p5"/>
          <p:cNvSpPr/>
          <p:nvPr/>
        </p:nvSpPr>
        <p:spPr>
          <a:xfrm>
            <a:off x="6437376" y="1133856"/>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5"/>
          <p:cNvSpPr txBox="1"/>
          <p:nvPr/>
        </p:nvSpPr>
        <p:spPr>
          <a:xfrm>
            <a:off x="6400800"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53</a:t>
            </a:r>
            <a:endParaRPr/>
          </a:p>
        </p:txBody>
      </p:sp>
      <p:sp>
        <p:nvSpPr>
          <p:cNvPr id="352" name="Google Shape;352;p5"/>
          <p:cNvSpPr/>
          <p:nvPr/>
        </p:nvSpPr>
        <p:spPr>
          <a:xfrm>
            <a:off x="7534655" y="113385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5"/>
          <p:cNvSpPr txBox="1"/>
          <p:nvPr/>
        </p:nvSpPr>
        <p:spPr>
          <a:xfrm>
            <a:off x="7498079" y="123444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a:t>
            </a:r>
            <a:endParaRPr/>
          </a:p>
        </p:txBody>
      </p:sp>
      <p:sp>
        <p:nvSpPr>
          <p:cNvPr id="354" name="Google Shape;354;p5"/>
          <p:cNvSpPr txBox="1"/>
          <p:nvPr/>
        </p:nvSpPr>
        <p:spPr>
          <a:xfrm>
            <a:off x="8595359" y="1234440"/>
            <a:ext cx="82296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97706"/>
                </a:solidFill>
                <a:latin typeface="Calibri"/>
                <a:ea typeface="Calibri"/>
                <a:cs typeface="Calibri"/>
                <a:sym typeface="Calibri"/>
              </a:rPr>
              <a:t>95%</a:t>
            </a:r>
            <a:endParaRPr/>
          </a:p>
        </p:txBody>
      </p:sp>
      <p:sp>
        <p:nvSpPr>
          <p:cNvPr id="355" name="Google Shape;355;p5"/>
          <p:cNvSpPr/>
          <p:nvPr/>
        </p:nvSpPr>
        <p:spPr>
          <a:xfrm>
            <a:off x="182880" y="1627631"/>
            <a:ext cx="9235440" cy="54864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5"/>
          <p:cNvSpPr txBox="1"/>
          <p:nvPr/>
        </p:nvSpPr>
        <p:spPr>
          <a:xfrm>
            <a:off x="256032" y="1783079"/>
            <a:ext cx="18288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Erika Cabrera</a:t>
            </a:r>
            <a:endParaRPr/>
          </a:p>
        </p:txBody>
      </p:sp>
      <p:sp>
        <p:nvSpPr>
          <p:cNvPr id="357" name="Google Shape;357;p5"/>
          <p:cNvSpPr/>
          <p:nvPr/>
        </p:nvSpPr>
        <p:spPr>
          <a:xfrm>
            <a:off x="2048256" y="1682495"/>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5"/>
          <p:cNvSpPr/>
          <p:nvPr/>
        </p:nvSpPr>
        <p:spPr>
          <a:xfrm>
            <a:off x="3145536" y="1682495"/>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5"/>
          <p:cNvSpPr/>
          <p:nvPr/>
        </p:nvSpPr>
        <p:spPr>
          <a:xfrm>
            <a:off x="4242816" y="1682495"/>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5"/>
          <p:cNvSpPr txBox="1"/>
          <p:nvPr/>
        </p:nvSpPr>
        <p:spPr>
          <a:xfrm>
            <a:off x="4206240" y="178307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21</a:t>
            </a:r>
            <a:endParaRPr/>
          </a:p>
        </p:txBody>
      </p:sp>
      <p:sp>
        <p:nvSpPr>
          <p:cNvPr id="361" name="Google Shape;361;p5"/>
          <p:cNvSpPr/>
          <p:nvPr/>
        </p:nvSpPr>
        <p:spPr>
          <a:xfrm>
            <a:off x="5340096" y="1682495"/>
            <a:ext cx="1024127" cy="43891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5"/>
          <p:cNvSpPr txBox="1"/>
          <p:nvPr/>
        </p:nvSpPr>
        <p:spPr>
          <a:xfrm>
            <a:off x="5303520" y="178307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39</a:t>
            </a:r>
            <a:endParaRPr/>
          </a:p>
        </p:txBody>
      </p:sp>
      <p:sp>
        <p:nvSpPr>
          <p:cNvPr id="363" name="Google Shape;363;p5"/>
          <p:cNvSpPr/>
          <p:nvPr/>
        </p:nvSpPr>
        <p:spPr>
          <a:xfrm>
            <a:off x="6437376" y="1682495"/>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5"/>
          <p:cNvSpPr txBox="1"/>
          <p:nvPr/>
        </p:nvSpPr>
        <p:spPr>
          <a:xfrm>
            <a:off x="6400800" y="178307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14</a:t>
            </a:r>
            <a:endParaRPr/>
          </a:p>
        </p:txBody>
      </p:sp>
      <p:sp>
        <p:nvSpPr>
          <p:cNvPr id="365" name="Google Shape;365;p5"/>
          <p:cNvSpPr/>
          <p:nvPr/>
        </p:nvSpPr>
        <p:spPr>
          <a:xfrm>
            <a:off x="7534655" y="1682495"/>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5"/>
          <p:cNvSpPr txBox="1"/>
          <p:nvPr/>
        </p:nvSpPr>
        <p:spPr>
          <a:xfrm>
            <a:off x="7498079" y="178307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8</a:t>
            </a:r>
            <a:endParaRPr/>
          </a:p>
        </p:txBody>
      </p:sp>
      <p:sp>
        <p:nvSpPr>
          <p:cNvPr id="367" name="Google Shape;367;p5"/>
          <p:cNvSpPr txBox="1"/>
          <p:nvPr/>
        </p:nvSpPr>
        <p:spPr>
          <a:xfrm>
            <a:off x="8595359" y="1783079"/>
            <a:ext cx="82296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C2626"/>
                </a:solidFill>
                <a:latin typeface="Calibri"/>
                <a:ea typeface="Calibri"/>
                <a:cs typeface="Calibri"/>
                <a:sym typeface="Calibri"/>
              </a:rPr>
              <a:t>41%</a:t>
            </a:r>
            <a:endParaRPr/>
          </a:p>
        </p:txBody>
      </p:sp>
      <p:sp>
        <p:nvSpPr>
          <p:cNvPr id="368" name="Google Shape;368;p5"/>
          <p:cNvSpPr txBox="1"/>
          <p:nvPr/>
        </p:nvSpPr>
        <p:spPr>
          <a:xfrm>
            <a:off x="256032" y="2331720"/>
            <a:ext cx="18288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Portia Lewis</a:t>
            </a:r>
            <a:endParaRPr/>
          </a:p>
        </p:txBody>
      </p:sp>
      <p:sp>
        <p:nvSpPr>
          <p:cNvPr id="369" name="Google Shape;369;p5"/>
          <p:cNvSpPr/>
          <p:nvPr/>
        </p:nvSpPr>
        <p:spPr>
          <a:xfrm>
            <a:off x="2048256" y="2231136"/>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5"/>
          <p:cNvSpPr/>
          <p:nvPr/>
        </p:nvSpPr>
        <p:spPr>
          <a:xfrm>
            <a:off x="3145536" y="2231136"/>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5"/>
          <p:cNvSpPr/>
          <p:nvPr/>
        </p:nvSpPr>
        <p:spPr>
          <a:xfrm>
            <a:off x="4242816" y="223113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5"/>
          <p:cNvSpPr txBox="1"/>
          <p:nvPr/>
        </p:nvSpPr>
        <p:spPr>
          <a:xfrm>
            <a:off x="4206240" y="233172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33</a:t>
            </a:r>
            <a:endParaRPr/>
          </a:p>
        </p:txBody>
      </p:sp>
      <p:sp>
        <p:nvSpPr>
          <p:cNvPr id="373" name="Google Shape;373;p5"/>
          <p:cNvSpPr/>
          <p:nvPr/>
        </p:nvSpPr>
        <p:spPr>
          <a:xfrm>
            <a:off x="5340096" y="223113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5"/>
          <p:cNvSpPr txBox="1"/>
          <p:nvPr/>
        </p:nvSpPr>
        <p:spPr>
          <a:xfrm>
            <a:off x="5303520" y="233172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34</a:t>
            </a:r>
            <a:endParaRPr/>
          </a:p>
        </p:txBody>
      </p:sp>
      <p:sp>
        <p:nvSpPr>
          <p:cNvPr id="375" name="Google Shape;375;p5"/>
          <p:cNvSpPr/>
          <p:nvPr/>
        </p:nvSpPr>
        <p:spPr>
          <a:xfrm>
            <a:off x="6437376" y="2231136"/>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5"/>
          <p:cNvSpPr txBox="1"/>
          <p:nvPr/>
        </p:nvSpPr>
        <p:spPr>
          <a:xfrm>
            <a:off x="6400800" y="233172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53</a:t>
            </a:r>
            <a:endParaRPr/>
          </a:p>
        </p:txBody>
      </p:sp>
      <p:sp>
        <p:nvSpPr>
          <p:cNvPr id="377" name="Google Shape;377;p5"/>
          <p:cNvSpPr/>
          <p:nvPr/>
        </p:nvSpPr>
        <p:spPr>
          <a:xfrm>
            <a:off x="7534655" y="223113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5"/>
          <p:cNvSpPr txBox="1"/>
          <p:nvPr/>
        </p:nvSpPr>
        <p:spPr>
          <a:xfrm>
            <a:off x="7498079" y="233172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10</a:t>
            </a:r>
            <a:endParaRPr/>
          </a:p>
        </p:txBody>
      </p:sp>
      <p:sp>
        <p:nvSpPr>
          <p:cNvPr id="379" name="Google Shape;379;p5"/>
          <p:cNvSpPr txBox="1"/>
          <p:nvPr/>
        </p:nvSpPr>
        <p:spPr>
          <a:xfrm>
            <a:off x="8595359" y="2331720"/>
            <a:ext cx="82296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C2626"/>
                </a:solidFill>
                <a:latin typeface="Calibri"/>
                <a:ea typeface="Calibri"/>
                <a:cs typeface="Calibri"/>
                <a:sym typeface="Calibri"/>
              </a:rPr>
              <a:t>65%</a:t>
            </a:r>
            <a:endParaRPr/>
          </a:p>
        </p:txBody>
      </p:sp>
      <p:sp>
        <p:nvSpPr>
          <p:cNvPr id="380" name="Google Shape;380;p5"/>
          <p:cNvSpPr/>
          <p:nvPr/>
        </p:nvSpPr>
        <p:spPr>
          <a:xfrm>
            <a:off x="182880" y="2724911"/>
            <a:ext cx="9235440" cy="54864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5"/>
          <p:cNvSpPr txBox="1"/>
          <p:nvPr/>
        </p:nvSpPr>
        <p:spPr>
          <a:xfrm>
            <a:off x="256032" y="2880359"/>
            <a:ext cx="18288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Taylor Sloan</a:t>
            </a:r>
            <a:endParaRPr/>
          </a:p>
        </p:txBody>
      </p:sp>
      <p:sp>
        <p:nvSpPr>
          <p:cNvPr id="382" name="Google Shape;382;p5"/>
          <p:cNvSpPr/>
          <p:nvPr/>
        </p:nvSpPr>
        <p:spPr>
          <a:xfrm>
            <a:off x="2048256" y="2779775"/>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5"/>
          <p:cNvSpPr/>
          <p:nvPr/>
        </p:nvSpPr>
        <p:spPr>
          <a:xfrm>
            <a:off x="3145536" y="2779775"/>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5"/>
          <p:cNvSpPr/>
          <p:nvPr/>
        </p:nvSpPr>
        <p:spPr>
          <a:xfrm>
            <a:off x="4242816" y="2779775"/>
            <a:ext cx="1024127" cy="43891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5"/>
          <p:cNvSpPr txBox="1"/>
          <p:nvPr/>
        </p:nvSpPr>
        <p:spPr>
          <a:xfrm>
            <a:off x="4206240" y="288035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48</a:t>
            </a:r>
            <a:endParaRPr/>
          </a:p>
        </p:txBody>
      </p:sp>
      <p:sp>
        <p:nvSpPr>
          <p:cNvPr id="386" name="Google Shape;386;p5"/>
          <p:cNvSpPr/>
          <p:nvPr/>
        </p:nvSpPr>
        <p:spPr>
          <a:xfrm>
            <a:off x="5340096" y="2779775"/>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5"/>
          <p:cNvSpPr txBox="1"/>
          <p:nvPr/>
        </p:nvSpPr>
        <p:spPr>
          <a:xfrm>
            <a:off x="5303520" y="288035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58</a:t>
            </a:r>
            <a:endParaRPr/>
          </a:p>
        </p:txBody>
      </p:sp>
      <p:sp>
        <p:nvSpPr>
          <p:cNvPr id="388" name="Google Shape;388;p5"/>
          <p:cNvSpPr/>
          <p:nvPr/>
        </p:nvSpPr>
        <p:spPr>
          <a:xfrm>
            <a:off x="6437376" y="2779775"/>
            <a:ext cx="1024127" cy="438912"/>
          </a:xfrm>
          <a:prstGeom prst="rect">
            <a:avLst/>
          </a:prstGeom>
          <a:solidFill>
            <a:srgbClr val="05784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5"/>
          <p:cNvSpPr txBox="1"/>
          <p:nvPr/>
        </p:nvSpPr>
        <p:spPr>
          <a:xfrm>
            <a:off x="6400800" y="288035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54</a:t>
            </a:r>
            <a:endParaRPr/>
          </a:p>
        </p:txBody>
      </p:sp>
      <p:sp>
        <p:nvSpPr>
          <p:cNvPr id="390" name="Google Shape;390;p5"/>
          <p:cNvSpPr/>
          <p:nvPr/>
        </p:nvSpPr>
        <p:spPr>
          <a:xfrm>
            <a:off x="7534655" y="2779775"/>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5"/>
          <p:cNvSpPr txBox="1"/>
          <p:nvPr/>
        </p:nvSpPr>
        <p:spPr>
          <a:xfrm>
            <a:off x="7498079" y="2880359"/>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15</a:t>
            </a:r>
            <a:endParaRPr/>
          </a:p>
        </p:txBody>
      </p:sp>
      <p:sp>
        <p:nvSpPr>
          <p:cNvPr id="392" name="Google Shape;392;p5"/>
          <p:cNvSpPr txBox="1"/>
          <p:nvPr/>
        </p:nvSpPr>
        <p:spPr>
          <a:xfrm>
            <a:off x="8595359" y="2880359"/>
            <a:ext cx="82296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97706"/>
                </a:solidFill>
                <a:latin typeface="Calibri"/>
                <a:ea typeface="Calibri"/>
                <a:cs typeface="Calibri"/>
                <a:sym typeface="Calibri"/>
              </a:rPr>
              <a:t>88%</a:t>
            </a:r>
            <a:endParaRPr/>
          </a:p>
        </p:txBody>
      </p:sp>
      <p:sp>
        <p:nvSpPr>
          <p:cNvPr id="393" name="Google Shape;393;p5"/>
          <p:cNvSpPr txBox="1"/>
          <p:nvPr/>
        </p:nvSpPr>
        <p:spPr>
          <a:xfrm>
            <a:off x="256032" y="3429000"/>
            <a:ext cx="18288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Kurt Butterfield</a:t>
            </a:r>
            <a:endParaRPr/>
          </a:p>
        </p:txBody>
      </p:sp>
      <p:sp>
        <p:nvSpPr>
          <p:cNvPr id="394" name="Google Shape;394;p5"/>
          <p:cNvSpPr/>
          <p:nvPr/>
        </p:nvSpPr>
        <p:spPr>
          <a:xfrm>
            <a:off x="2048256" y="3328416"/>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5"/>
          <p:cNvSpPr txBox="1"/>
          <p:nvPr/>
        </p:nvSpPr>
        <p:spPr>
          <a:xfrm>
            <a:off x="2011680"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396" name="Google Shape;396;p5"/>
          <p:cNvSpPr/>
          <p:nvPr/>
        </p:nvSpPr>
        <p:spPr>
          <a:xfrm>
            <a:off x="3145536" y="3328416"/>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5"/>
          <p:cNvSpPr txBox="1"/>
          <p:nvPr/>
        </p:nvSpPr>
        <p:spPr>
          <a:xfrm>
            <a:off x="3108960"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398" name="Google Shape;398;p5"/>
          <p:cNvSpPr/>
          <p:nvPr/>
        </p:nvSpPr>
        <p:spPr>
          <a:xfrm>
            <a:off x="4242816" y="332841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5"/>
          <p:cNvSpPr txBox="1"/>
          <p:nvPr/>
        </p:nvSpPr>
        <p:spPr>
          <a:xfrm>
            <a:off x="4206240"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a:t>
            </a:r>
            <a:endParaRPr/>
          </a:p>
        </p:txBody>
      </p:sp>
      <p:sp>
        <p:nvSpPr>
          <p:cNvPr id="400" name="Google Shape;400;p5"/>
          <p:cNvSpPr/>
          <p:nvPr/>
        </p:nvSpPr>
        <p:spPr>
          <a:xfrm>
            <a:off x="5340096" y="3328416"/>
            <a:ext cx="1024127" cy="438912"/>
          </a:xfrm>
          <a:prstGeom prst="rect">
            <a:avLst/>
          </a:prstGeom>
          <a:solidFill>
            <a:srgbClr val="D1D5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5"/>
          <p:cNvSpPr txBox="1"/>
          <p:nvPr/>
        </p:nvSpPr>
        <p:spPr>
          <a:xfrm>
            <a:off x="5303520"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0</a:t>
            </a:r>
            <a:endParaRPr/>
          </a:p>
        </p:txBody>
      </p:sp>
      <p:sp>
        <p:nvSpPr>
          <p:cNvPr id="402" name="Google Shape;402;p5"/>
          <p:cNvSpPr/>
          <p:nvPr/>
        </p:nvSpPr>
        <p:spPr>
          <a:xfrm>
            <a:off x="6437376" y="3328416"/>
            <a:ext cx="1024127" cy="438912"/>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5"/>
          <p:cNvSpPr txBox="1"/>
          <p:nvPr/>
        </p:nvSpPr>
        <p:spPr>
          <a:xfrm>
            <a:off x="6400800"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39</a:t>
            </a:r>
            <a:endParaRPr/>
          </a:p>
        </p:txBody>
      </p:sp>
      <p:sp>
        <p:nvSpPr>
          <p:cNvPr id="404" name="Google Shape;404;p5"/>
          <p:cNvSpPr/>
          <p:nvPr/>
        </p:nvSpPr>
        <p:spPr>
          <a:xfrm>
            <a:off x="7534655" y="3328416"/>
            <a:ext cx="1024127" cy="438912"/>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5"/>
          <p:cNvSpPr txBox="1"/>
          <p:nvPr/>
        </p:nvSpPr>
        <p:spPr>
          <a:xfrm>
            <a:off x="7498079" y="3429000"/>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13</a:t>
            </a:r>
            <a:endParaRPr/>
          </a:p>
        </p:txBody>
      </p:sp>
      <p:sp>
        <p:nvSpPr>
          <p:cNvPr id="406" name="Google Shape;406;p5"/>
          <p:cNvSpPr txBox="1"/>
          <p:nvPr/>
        </p:nvSpPr>
        <p:spPr>
          <a:xfrm>
            <a:off x="8595359" y="3429000"/>
            <a:ext cx="82296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DC2626"/>
                </a:solidFill>
                <a:latin typeface="Calibri"/>
                <a:ea typeface="Calibri"/>
                <a:cs typeface="Calibri"/>
                <a:sym typeface="Calibri"/>
              </a:rPr>
              <a:t>16%</a:t>
            </a:r>
            <a:endParaRPr/>
          </a:p>
        </p:txBody>
      </p:sp>
      <p:sp>
        <p:nvSpPr>
          <p:cNvPr id="407" name="Google Shape;407;p5"/>
          <p:cNvSpPr/>
          <p:nvPr/>
        </p:nvSpPr>
        <p:spPr>
          <a:xfrm>
            <a:off x="0" y="4005072"/>
            <a:ext cx="12191695"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5"/>
          <p:cNvSpPr txBox="1"/>
          <p:nvPr/>
        </p:nvSpPr>
        <p:spPr>
          <a:xfrm>
            <a:off x="182880" y="4078224"/>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Rep</a:t>
            </a:r>
            <a:endParaRPr/>
          </a:p>
        </p:txBody>
      </p:sp>
      <p:sp>
        <p:nvSpPr>
          <p:cNvPr id="409" name="Google Shape;409;p5"/>
          <p:cNvSpPr txBox="1"/>
          <p:nvPr/>
        </p:nvSpPr>
        <p:spPr>
          <a:xfrm>
            <a:off x="1554480" y="4078224"/>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Role</a:t>
            </a:r>
            <a:endParaRPr/>
          </a:p>
        </p:txBody>
      </p:sp>
      <p:sp>
        <p:nvSpPr>
          <p:cNvPr id="410" name="Google Shape;410;p5"/>
          <p:cNvSpPr txBox="1"/>
          <p:nvPr/>
        </p:nvSpPr>
        <p:spPr>
          <a:xfrm>
            <a:off x="2148840" y="4078224"/>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Calls</a:t>
            </a:r>
            <a:endParaRPr/>
          </a:p>
        </p:txBody>
      </p:sp>
      <p:sp>
        <p:nvSpPr>
          <p:cNvPr id="411" name="Google Shape;411;p5"/>
          <p:cNvSpPr txBox="1"/>
          <p:nvPr/>
        </p:nvSpPr>
        <p:spPr>
          <a:xfrm>
            <a:off x="3337560" y="407822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Meetings</a:t>
            </a:r>
            <a:endParaRPr/>
          </a:p>
        </p:txBody>
      </p:sp>
      <p:sp>
        <p:nvSpPr>
          <p:cNvPr id="412" name="Google Shape;412;p5"/>
          <p:cNvSpPr txBox="1"/>
          <p:nvPr/>
        </p:nvSpPr>
        <p:spPr>
          <a:xfrm>
            <a:off x="4251960" y="40782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Inbound</a:t>
            </a:r>
            <a:endParaRPr/>
          </a:p>
        </p:txBody>
      </p:sp>
      <p:sp>
        <p:nvSpPr>
          <p:cNvPr id="413" name="Google Shape;413;p5"/>
          <p:cNvSpPr txBox="1"/>
          <p:nvPr/>
        </p:nvSpPr>
        <p:spPr>
          <a:xfrm>
            <a:off x="5029200" y="40782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Total</a:t>
            </a:r>
            <a:endParaRPr/>
          </a:p>
        </p:txBody>
      </p:sp>
      <p:sp>
        <p:nvSpPr>
          <p:cNvPr id="414" name="Google Shape;414;p5"/>
          <p:cNvSpPr txBox="1"/>
          <p:nvPr/>
        </p:nvSpPr>
        <p:spPr>
          <a:xfrm>
            <a:off x="5806440" y="40782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Avg/Wk</a:t>
            </a:r>
            <a:endParaRPr/>
          </a:p>
        </p:txBody>
      </p:sp>
      <p:sp>
        <p:nvSpPr>
          <p:cNvPr id="415" name="Google Shape;415;p5"/>
          <p:cNvSpPr txBox="1"/>
          <p:nvPr/>
        </p:nvSpPr>
        <p:spPr>
          <a:xfrm>
            <a:off x="6583679" y="407822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 to Goal</a:t>
            </a:r>
            <a:endParaRPr/>
          </a:p>
        </p:txBody>
      </p:sp>
      <p:sp>
        <p:nvSpPr>
          <p:cNvPr id="416" name="Google Shape;416;p5"/>
          <p:cNvSpPr txBox="1"/>
          <p:nvPr/>
        </p:nvSpPr>
        <p:spPr>
          <a:xfrm>
            <a:off x="182880" y="4279392"/>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Cameron Brader</a:t>
            </a:r>
            <a:endParaRPr/>
          </a:p>
        </p:txBody>
      </p:sp>
      <p:sp>
        <p:nvSpPr>
          <p:cNvPr id="417" name="Google Shape;417;p5"/>
          <p:cNvSpPr txBox="1"/>
          <p:nvPr/>
        </p:nvSpPr>
        <p:spPr>
          <a:xfrm>
            <a:off x="1554480" y="4279392"/>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BDA</a:t>
            </a:r>
            <a:endParaRPr/>
          </a:p>
        </p:txBody>
      </p:sp>
      <p:sp>
        <p:nvSpPr>
          <p:cNvPr id="418" name="Google Shape;418;p5"/>
          <p:cNvSpPr txBox="1"/>
          <p:nvPr/>
        </p:nvSpPr>
        <p:spPr>
          <a:xfrm>
            <a:off x="2148840" y="4279392"/>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266</a:t>
            </a:r>
            <a:endParaRPr/>
          </a:p>
        </p:txBody>
      </p:sp>
      <p:sp>
        <p:nvSpPr>
          <p:cNvPr id="419" name="Google Shape;419;p5"/>
          <p:cNvSpPr txBox="1"/>
          <p:nvPr/>
        </p:nvSpPr>
        <p:spPr>
          <a:xfrm>
            <a:off x="3337560" y="427939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9</a:t>
            </a:r>
            <a:endParaRPr/>
          </a:p>
        </p:txBody>
      </p:sp>
      <p:sp>
        <p:nvSpPr>
          <p:cNvPr id="420" name="Google Shape;420;p5"/>
          <p:cNvSpPr txBox="1"/>
          <p:nvPr/>
        </p:nvSpPr>
        <p:spPr>
          <a:xfrm>
            <a:off x="4251960" y="427939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30</a:t>
            </a:r>
            <a:endParaRPr/>
          </a:p>
        </p:txBody>
      </p:sp>
      <p:sp>
        <p:nvSpPr>
          <p:cNvPr id="421" name="Google Shape;421;p5"/>
          <p:cNvSpPr txBox="1"/>
          <p:nvPr/>
        </p:nvSpPr>
        <p:spPr>
          <a:xfrm>
            <a:off x="5029200" y="427939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275</a:t>
            </a:r>
            <a:endParaRPr/>
          </a:p>
        </p:txBody>
      </p:sp>
      <p:sp>
        <p:nvSpPr>
          <p:cNvPr id="422" name="Google Shape;422;p5"/>
          <p:cNvSpPr txBox="1"/>
          <p:nvPr/>
        </p:nvSpPr>
        <p:spPr>
          <a:xfrm>
            <a:off x="5806440" y="4279392"/>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47.4</a:t>
            </a:r>
            <a:endParaRPr/>
          </a:p>
        </p:txBody>
      </p:sp>
      <p:sp>
        <p:nvSpPr>
          <p:cNvPr id="423" name="Google Shape;423;p5"/>
          <p:cNvSpPr txBox="1"/>
          <p:nvPr/>
        </p:nvSpPr>
        <p:spPr>
          <a:xfrm>
            <a:off x="6583679" y="4279392"/>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97706"/>
                </a:solidFill>
                <a:latin typeface="Calibri"/>
                <a:ea typeface="Calibri"/>
                <a:cs typeface="Calibri"/>
                <a:sym typeface="Calibri"/>
              </a:rPr>
              <a:t>95%</a:t>
            </a:r>
            <a:endParaRPr/>
          </a:p>
        </p:txBody>
      </p:sp>
      <p:sp>
        <p:nvSpPr>
          <p:cNvPr id="424" name="Google Shape;424;p5"/>
          <p:cNvSpPr/>
          <p:nvPr/>
        </p:nvSpPr>
        <p:spPr>
          <a:xfrm>
            <a:off x="182880" y="4517136"/>
            <a:ext cx="7315200" cy="22860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5"/>
          <p:cNvSpPr txBox="1"/>
          <p:nvPr/>
        </p:nvSpPr>
        <p:spPr>
          <a:xfrm>
            <a:off x="182880" y="4535424"/>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Erika Cabrera</a:t>
            </a:r>
            <a:endParaRPr/>
          </a:p>
        </p:txBody>
      </p:sp>
      <p:sp>
        <p:nvSpPr>
          <p:cNvPr id="426" name="Google Shape;426;p5"/>
          <p:cNvSpPr txBox="1"/>
          <p:nvPr/>
        </p:nvSpPr>
        <p:spPr>
          <a:xfrm>
            <a:off x="1554480" y="4535424"/>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BDA</a:t>
            </a:r>
            <a:endParaRPr/>
          </a:p>
        </p:txBody>
      </p:sp>
      <p:sp>
        <p:nvSpPr>
          <p:cNvPr id="427" name="Google Shape;427;p5"/>
          <p:cNvSpPr txBox="1"/>
          <p:nvPr/>
        </p:nvSpPr>
        <p:spPr>
          <a:xfrm>
            <a:off x="2148840" y="4535424"/>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76</a:t>
            </a:r>
            <a:endParaRPr/>
          </a:p>
        </p:txBody>
      </p:sp>
      <p:sp>
        <p:nvSpPr>
          <p:cNvPr id="428" name="Google Shape;428;p5"/>
          <p:cNvSpPr txBox="1"/>
          <p:nvPr/>
        </p:nvSpPr>
        <p:spPr>
          <a:xfrm>
            <a:off x="3337560" y="453542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6</a:t>
            </a:r>
            <a:endParaRPr/>
          </a:p>
        </p:txBody>
      </p:sp>
      <p:sp>
        <p:nvSpPr>
          <p:cNvPr id="429" name="Google Shape;429;p5"/>
          <p:cNvSpPr txBox="1"/>
          <p:nvPr/>
        </p:nvSpPr>
        <p:spPr>
          <a:xfrm>
            <a:off x="4251960" y="45354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4</a:t>
            </a:r>
            <a:endParaRPr/>
          </a:p>
        </p:txBody>
      </p:sp>
      <p:sp>
        <p:nvSpPr>
          <p:cNvPr id="430" name="Google Shape;430;p5"/>
          <p:cNvSpPr txBox="1"/>
          <p:nvPr/>
        </p:nvSpPr>
        <p:spPr>
          <a:xfrm>
            <a:off x="5029200" y="45354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82</a:t>
            </a:r>
            <a:endParaRPr/>
          </a:p>
        </p:txBody>
      </p:sp>
      <p:sp>
        <p:nvSpPr>
          <p:cNvPr id="431" name="Google Shape;431;p5"/>
          <p:cNvSpPr txBox="1"/>
          <p:nvPr/>
        </p:nvSpPr>
        <p:spPr>
          <a:xfrm>
            <a:off x="5806440" y="4535424"/>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20.5</a:t>
            </a:r>
            <a:endParaRPr/>
          </a:p>
        </p:txBody>
      </p:sp>
      <p:sp>
        <p:nvSpPr>
          <p:cNvPr id="432" name="Google Shape;432;p5"/>
          <p:cNvSpPr txBox="1"/>
          <p:nvPr/>
        </p:nvSpPr>
        <p:spPr>
          <a:xfrm>
            <a:off x="6583679" y="4535424"/>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C2626"/>
                </a:solidFill>
                <a:latin typeface="Calibri"/>
                <a:ea typeface="Calibri"/>
                <a:cs typeface="Calibri"/>
                <a:sym typeface="Calibri"/>
              </a:rPr>
              <a:t>41%</a:t>
            </a:r>
            <a:endParaRPr/>
          </a:p>
        </p:txBody>
      </p:sp>
      <p:sp>
        <p:nvSpPr>
          <p:cNvPr id="433" name="Google Shape;433;p5"/>
          <p:cNvSpPr txBox="1"/>
          <p:nvPr/>
        </p:nvSpPr>
        <p:spPr>
          <a:xfrm>
            <a:off x="182880" y="4791456"/>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Portia Lewis</a:t>
            </a:r>
            <a:endParaRPr/>
          </a:p>
        </p:txBody>
      </p:sp>
      <p:sp>
        <p:nvSpPr>
          <p:cNvPr id="434" name="Google Shape;434;p5"/>
          <p:cNvSpPr txBox="1"/>
          <p:nvPr/>
        </p:nvSpPr>
        <p:spPr>
          <a:xfrm>
            <a:off x="1554480" y="4791456"/>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BDA</a:t>
            </a:r>
            <a:endParaRPr/>
          </a:p>
        </p:txBody>
      </p:sp>
      <p:sp>
        <p:nvSpPr>
          <p:cNvPr id="435" name="Google Shape;435;p5"/>
          <p:cNvSpPr txBox="1"/>
          <p:nvPr/>
        </p:nvSpPr>
        <p:spPr>
          <a:xfrm>
            <a:off x="2148840" y="4791456"/>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124</a:t>
            </a:r>
            <a:endParaRPr/>
          </a:p>
        </p:txBody>
      </p:sp>
      <p:sp>
        <p:nvSpPr>
          <p:cNvPr id="436" name="Google Shape;436;p5"/>
          <p:cNvSpPr txBox="1"/>
          <p:nvPr/>
        </p:nvSpPr>
        <p:spPr>
          <a:xfrm>
            <a:off x="3337560" y="4791456"/>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6</a:t>
            </a:r>
            <a:endParaRPr/>
          </a:p>
        </p:txBody>
      </p:sp>
      <p:sp>
        <p:nvSpPr>
          <p:cNvPr id="437" name="Google Shape;437;p5"/>
          <p:cNvSpPr txBox="1"/>
          <p:nvPr/>
        </p:nvSpPr>
        <p:spPr>
          <a:xfrm>
            <a:off x="4251960" y="479145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13</a:t>
            </a:r>
            <a:endParaRPr/>
          </a:p>
        </p:txBody>
      </p:sp>
      <p:sp>
        <p:nvSpPr>
          <p:cNvPr id="438" name="Google Shape;438;p5"/>
          <p:cNvSpPr txBox="1"/>
          <p:nvPr/>
        </p:nvSpPr>
        <p:spPr>
          <a:xfrm>
            <a:off x="5029200" y="479145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130</a:t>
            </a:r>
            <a:endParaRPr/>
          </a:p>
        </p:txBody>
      </p:sp>
      <p:sp>
        <p:nvSpPr>
          <p:cNvPr id="439" name="Google Shape;439;p5"/>
          <p:cNvSpPr txBox="1"/>
          <p:nvPr/>
        </p:nvSpPr>
        <p:spPr>
          <a:xfrm>
            <a:off x="5806440" y="4791456"/>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32.5</a:t>
            </a:r>
            <a:endParaRPr/>
          </a:p>
        </p:txBody>
      </p:sp>
      <p:sp>
        <p:nvSpPr>
          <p:cNvPr id="440" name="Google Shape;440;p5"/>
          <p:cNvSpPr txBox="1"/>
          <p:nvPr/>
        </p:nvSpPr>
        <p:spPr>
          <a:xfrm>
            <a:off x="6583679" y="4791456"/>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C2626"/>
                </a:solidFill>
                <a:latin typeface="Calibri"/>
                <a:ea typeface="Calibri"/>
                <a:cs typeface="Calibri"/>
                <a:sym typeface="Calibri"/>
              </a:rPr>
              <a:t>65%</a:t>
            </a:r>
            <a:endParaRPr/>
          </a:p>
        </p:txBody>
      </p:sp>
      <p:sp>
        <p:nvSpPr>
          <p:cNvPr id="441" name="Google Shape;441;p5"/>
          <p:cNvSpPr/>
          <p:nvPr/>
        </p:nvSpPr>
        <p:spPr>
          <a:xfrm>
            <a:off x="182880" y="5029200"/>
            <a:ext cx="7315200" cy="228600"/>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5"/>
          <p:cNvSpPr txBox="1"/>
          <p:nvPr/>
        </p:nvSpPr>
        <p:spPr>
          <a:xfrm>
            <a:off x="182880" y="5047488"/>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Taylor Sloan</a:t>
            </a:r>
            <a:endParaRPr/>
          </a:p>
        </p:txBody>
      </p:sp>
      <p:sp>
        <p:nvSpPr>
          <p:cNvPr id="443" name="Google Shape;443;p5"/>
          <p:cNvSpPr txBox="1"/>
          <p:nvPr/>
        </p:nvSpPr>
        <p:spPr>
          <a:xfrm>
            <a:off x="1554480" y="5047488"/>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BDA</a:t>
            </a:r>
            <a:endParaRPr/>
          </a:p>
        </p:txBody>
      </p:sp>
      <p:sp>
        <p:nvSpPr>
          <p:cNvPr id="444" name="Google Shape;444;p5"/>
          <p:cNvSpPr txBox="1"/>
          <p:nvPr/>
        </p:nvSpPr>
        <p:spPr>
          <a:xfrm>
            <a:off x="2148840" y="5047488"/>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167</a:t>
            </a:r>
            <a:endParaRPr/>
          </a:p>
        </p:txBody>
      </p:sp>
      <p:sp>
        <p:nvSpPr>
          <p:cNvPr id="445" name="Google Shape;445;p5"/>
          <p:cNvSpPr txBox="1"/>
          <p:nvPr/>
        </p:nvSpPr>
        <p:spPr>
          <a:xfrm>
            <a:off x="3337560" y="504748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8</a:t>
            </a:r>
            <a:endParaRPr/>
          </a:p>
        </p:txBody>
      </p:sp>
      <p:sp>
        <p:nvSpPr>
          <p:cNvPr id="446" name="Google Shape;446;p5"/>
          <p:cNvSpPr txBox="1"/>
          <p:nvPr/>
        </p:nvSpPr>
        <p:spPr>
          <a:xfrm>
            <a:off x="4251960" y="504748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12</a:t>
            </a:r>
            <a:endParaRPr/>
          </a:p>
        </p:txBody>
      </p:sp>
      <p:sp>
        <p:nvSpPr>
          <p:cNvPr id="447" name="Google Shape;447;p5"/>
          <p:cNvSpPr txBox="1"/>
          <p:nvPr/>
        </p:nvSpPr>
        <p:spPr>
          <a:xfrm>
            <a:off x="5029200" y="504748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175</a:t>
            </a:r>
            <a:endParaRPr/>
          </a:p>
        </p:txBody>
      </p:sp>
      <p:sp>
        <p:nvSpPr>
          <p:cNvPr id="448" name="Google Shape;448;p5"/>
          <p:cNvSpPr txBox="1"/>
          <p:nvPr/>
        </p:nvSpPr>
        <p:spPr>
          <a:xfrm>
            <a:off x="5806440" y="5047488"/>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43.8</a:t>
            </a:r>
            <a:endParaRPr/>
          </a:p>
        </p:txBody>
      </p:sp>
      <p:sp>
        <p:nvSpPr>
          <p:cNvPr id="449" name="Google Shape;449;p5"/>
          <p:cNvSpPr txBox="1"/>
          <p:nvPr/>
        </p:nvSpPr>
        <p:spPr>
          <a:xfrm>
            <a:off x="6583679" y="504748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97706"/>
                </a:solidFill>
                <a:latin typeface="Calibri"/>
                <a:ea typeface="Calibri"/>
                <a:cs typeface="Calibri"/>
                <a:sym typeface="Calibri"/>
              </a:rPr>
              <a:t>88%</a:t>
            </a:r>
            <a:endParaRPr/>
          </a:p>
        </p:txBody>
      </p:sp>
      <p:sp>
        <p:nvSpPr>
          <p:cNvPr id="450" name="Google Shape;450;p5"/>
          <p:cNvSpPr txBox="1"/>
          <p:nvPr/>
        </p:nvSpPr>
        <p:spPr>
          <a:xfrm>
            <a:off x="182880" y="5303520"/>
            <a:ext cx="13716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111827"/>
                </a:solidFill>
                <a:latin typeface="Calibri"/>
                <a:ea typeface="Calibri"/>
                <a:cs typeface="Calibri"/>
                <a:sym typeface="Calibri"/>
              </a:rPr>
              <a:t>Kurt Butterfield</a:t>
            </a:r>
            <a:endParaRPr/>
          </a:p>
        </p:txBody>
      </p:sp>
      <p:sp>
        <p:nvSpPr>
          <p:cNvPr id="451" name="Google Shape;451;p5"/>
          <p:cNvSpPr txBox="1"/>
          <p:nvPr/>
        </p:nvSpPr>
        <p:spPr>
          <a:xfrm>
            <a:off x="1554480" y="5303520"/>
            <a:ext cx="5943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BDA</a:t>
            </a:r>
            <a:endParaRPr/>
          </a:p>
        </p:txBody>
      </p:sp>
      <p:sp>
        <p:nvSpPr>
          <p:cNvPr id="452" name="Google Shape;452;p5"/>
          <p:cNvSpPr txBox="1"/>
          <p:nvPr/>
        </p:nvSpPr>
        <p:spPr>
          <a:xfrm>
            <a:off x="2148840" y="5303520"/>
            <a:ext cx="11887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51</a:t>
            </a:r>
            <a:endParaRPr/>
          </a:p>
        </p:txBody>
      </p:sp>
      <p:sp>
        <p:nvSpPr>
          <p:cNvPr id="453" name="Google Shape;453;p5"/>
          <p:cNvSpPr txBox="1"/>
          <p:nvPr/>
        </p:nvSpPr>
        <p:spPr>
          <a:xfrm>
            <a:off x="3337560" y="530352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2</a:t>
            </a:r>
            <a:endParaRPr/>
          </a:p>
        </p:txBody>
      </p:sp>
      <p:sp>
        <p:nvSpPr>
          <p:cNvPr id="454" name="Google Shape;454;p5"/>
          <p:cNvSpPr txBox="1"/>
          <p:nvPr/>
        </p:nvSpPr>
        <p:spPr>
          <a:xfrm>
            <a:off x="4251960" y="530352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6B7280"/>
                </a:solidFill>
                <a:latin typeface="Calibri"/>
                <a:ea typeface="Calibri"/>
                <a:cs typeface="Calibri"/>
                <a:sym typeface="Calibri"/>
              </a:rPr>
              <a:t>2</a:t>
            </a:r>
            <a:endParaRPr/>
          </a:p>
        </p:txBody>
      </p:sp>
      <p:sp>
        <p:nvSpPr>
          <p:cNvPr id="455" name="Google Shape;455;p5"/>
          <p:cNvSpPr txBox="1"/>
          <p:nvPr/>
        </p:nvSpPr>
        <p:spPr>
          <a:xfrm>
            <a:off x="5029200" y="530352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53</a:t>
            </a:r>
            <a:endParaRPr/>
          </a:p>
        </p:txBody>
      </p:sp>
      <p:sp>
        <p:nvSpPr>
          <p:cNvPr id="456" name="Google Shape;456;p5"/>
          <p:cNvSpPr txBox="1"/>
          <p:nvPr/>
        </p:nvSpPr>
        <p:spPr>
          <a:xfrm>
            <a:off x="5806440" y="5303520"/>
            <a:ext cx="777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111827"/>
                </a:solidFill>
                <a:latin typeface="Calibri"/>
                <a:ea typeface="Calibri"/>
                <a:cs typeface="Calibri"/>
                <a:sym typeface="Calibri"/>
              </a:rPr>
              <a:t>8.0</a:t>
            </a:r>
            <a:endParaRPr/>
          </a:p>
        </p:txBody>
      </p:sp>
      <p:sp>
        <p:nvSpPr>
          <p:cNvPr id="457" name="Google Shape;457;p5"/>
          <p:cNvSpPr txBox="1"/>
          <p:nvPr/>
        </p:nvSpPr>
        <p:spPr>
          <a:xfrm>
            <a:off x="6583679" y="530352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DC2626"/>
                </a:solidFill>
                <a:latin typeface="Calibri"/>
                <a:ea typeface="Calibri"/>
                <a:cs typeface="Calibri"/>
                <a:sym typeface="Calibri"/>
              </a:rPr>
              <a:t>16%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6"/>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6"/>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Account Health &amp; Agency Engagement</a:t>
            </a:r>
            <a:endParaRPr/>
          </a:p>
        </p:txBody>
      </p:sp>
      <p:sp>
        <p:nvSpPr>
          <p:cNvPr id="465" name="Google Shape;465;p6"/>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Active vs Dormant Agencies  |  BDMs + BDAs  |  Active = any 2026 submission on the agency  |  Engagement Rate vs portfolio</a:t>
            </a:r>
            <a:endParaRPr/>
          </a:p>
        </p:txBody>
      </p:sp>
      <p:sp>
        <p:nvSpPr>
          <p:cNvPr id="466" name="Google Shape;466;p6"/>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467" name="Google Shape;467;p6"/>
          <p:cNvSpPr txBox="1"/>
          <p:nvPr/>
        </p:nvSpPr>
        <p:spPr>
          <a:xfrm>
            <a:off x="182880" y="841248"/>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B7280"/>
                </a:solidFill>
                <a:latin typeface="Calibri"/>
                <a:ea typeface="Calibri"/>
                <a:cs typeface="Calibri"/>
                <a:sym typeface="Calibri"/>
              </a:rPr>
              <a:t>Rep</a:t>
            </a:r>
            <a:endParaRPr/>
          </a:p>
        </p:txBody>
      </p:sp>
      <p:sp>
        <p:nvSpPr>
          <p:cNvPr id="468" name="Google Shape;468;p6"/>
          <p:cNvSpPr txBox="1"/>
          <p:nvPr/>
        </p:nvSpPr>
        <p:spPr>
          <a:xfrm>
            <a:off x="1691639" y="84124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Portfolio</a:t>
            </a:r>
            <a:endParaRPr/>
          </a:p>
        </p:txBody>
      </p:sp>
      <p:sp>
        <p:nvSpPr>
          <p:cNvPr id="469" name="Google Shape;469;p6"/>
          <p:cNvSpPr txBox="1"/>
          <p:nvPr/>
        </p:nvSpPr>
        <p:spPr>
          <a:xfrm>
            <a:off x="2404872" y="84124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Active</a:t>
            </a:r>
            <a:endParaRPr/>
          </a:p>
        </p:txBody>
      </p:sp>
      <p:sp>
        <p:nvSpPr>
          <p:cNvPr id="470" name="Google Shape;470;p6"/>
          <p:cNvSpPr txBox="1"/>
          <p:nvPr/>
        </p:nvSpPr>
        <p:spPr>
          <a:xfrm>
            <a:off x="3026664" y="84124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Dormant</a:t>
            </a:r>
            <a:endParaRPr/>
          </a:p>
        </p:txBody>
      </p:sp>
      <p:sp>
        <p:nvSpPr>
          <p:cNvPr id="471" name="Google Shape;471;p6"/>
          <p:cNvSpPr txBox="1"/>
          <p:nvPr/>
        </p:nvSpPr>
        <p:spPr>
          <a:xfrm>
            <a:off x="3739896" y="84124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Eng. %</a:t>
            </a:r>
            <a:endParaRPr/>
          </a:p>
        </p:txBody>
      </p:sp>
      <p:sp>
        <p:nvSpPr>
          <p:cNvPr id="472" name="Google Shape;472;p6"/>
          <p:cNvSpPr txBox="1"/>
          <p:nvPr/>
        </p:nvSpPr>
        <p:spPr>
          <a:xfrm>
            <a:off x="4361688" y="84124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Q1 GWP</a:t>
            </a:r>
            <a:endParaRPr/>
          </a:p>
        </p:txBody>
      </p:sp>
      <p:sp>
        <p:nvSpPr>
          <p:cNvPr id="473" name="Google Shape;473;p6"/>
          <p:cNvSpPr txBox="1"/>
          <p:nvPr/>
        </p:nvSpPr>
        <p:spPr>
          <a:xfrm>
            <a:off x="5321807" y="841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Q2 Subs</a:t>
            </a:r>
            <a:endParaRPr/>
          </a:p>
        </p:txBody>
      </p:sp>
      <p:sp>
        <p:nvSpPr>
          <p:cNvPr id="474" name="Google Shape;474;p6"/>
          <p:cNvSpPr txBox="1"/>
          <p:nvPr/>
        </p:nvSpPr>
        <p:spPr>
          <a:xfrm>
            <a:off x="6126479" y="841248"/>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Q2 Binds</a:t>
            </a:r>
            <a:endParaRPr/>
          </a:p>
        </p:txBody>
      </p:sp>
      <p:sp>
        <p:nvSpPr>
          <p:cNvPr id="475" name="Google Shape;475;p6"/>
          <p:cNvSpPr txBox="1"/>
          <p:nvPr/>
        </p:nvSpPr>
        <p:spPr>
          <a:xfrm>
            <a:off x="6857999" y="84124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Q2 GWP</a:t>
            </a:r>
            <a:endParaRPr/>
          </a:p>
        </p:txBody>
      </p:sp>
      <p:sp>
        <p:nvSpPr>
          <p:cNvPr id="476" name="Google Shape;476;p6"/>
          <p:cNvSpPr txBox="1"/>
          <p:nvPr/>
        </p:nvSpPr>
        <p:spPr>
          <a:xfrm>
            <a:off x="7818119" y="841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Q2 Renew</a:t>
            </a:r>
            <a:endParaRPr/>
          </a:p>
        </p:txBody>
      </p:sp>
      <p:sp>
        <p:nvSpPr>
          <p:cNvPr id="477" name="Google Shape;477;p6"/>
          <p:cNvSpPr txBox="1"/>
          <p:nvPr/>
        </p:nvSpPr>
        <p:spPr>
          <a:xfrm>
            <a:off x="8622792" y="841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00" u="none" cap="none" strike="noStrike">
                <a:solidFill>
                  <a:srgbClr val="6B7280"/>
                </a:solidFill>
                <a:latin typeface="Calibri"/>
                <a:ea typeface="Calibri"/>
                <a:cs typeface="Calibri"/>
                <a:sym typeface="Calibri"/>
              </a:rPr>
              <a:t>Q2 Cancel</a:t>
            </a:r>
            <a:endParaRPr/>
          </a:p>
        </p:txBody>
      </p:sp>
      <p:sp>
        <p:nvSpPr>
          <p:cNvPr id="478" name="Google Shape;478;p6"/>
          <p:cNvSpPr/>
          <p:nvPr/>
        </p:nvSpPr>
        <p:spPr>
          <a:xfrm>
            <a:off x="182880" y="1042416"/>
            <a:ext cx="9244584"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6"/>
          <p:cNvSpPr txBox="1"/>
          <p:nvPr/>
        </p:nvSpPr>
        <p:spPr>
          <a:xfrm>
            <a:off x="182880" y="1115568"/>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Derek Janssen</a:t>
            </a:r>
            <a:endParaRPr/>
          </a:p>
        </p:txBody>
      </p:sp>
      <p:sp>
        <p:nvSpPr>
          <p:cNvPr id="480" name="Google Shape;480;p6"/>
          <p:cNvSpPr txBox="1"/>
          <p:nvPr/>
        </p:nvSpPr>
        <p:spPr>
          <a:xfrm>
            <a:off x="1691639" y="111556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53</a:t>
            </a:r>
            <a:endParaRPr/>
          </a:p>
        </p:txBody>
      </p:sp>
      <p:sp>
        <p:nvSpPr>
          <p:cNvPr id="481" name="Google Shape;481;p6"/>
          <p:cNvSpPr txBox="1"/>
          <p:nvPr/>
        </p:nvSpPr>
        <p:spPr>
          <a:xfrm>
            <a:off x="2404872" y="111556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53</a:t>
            </a:r>
            <a:endParaRPr/>
          </a:p>
        </p:txBody>
      </p:sp>
      <p:sp>
        <p:nvSpPr>
          <p:cNvPr id="482" name="Google Shape;482;p6"/>
          <p:cNvSpPr txBox="1"/>
          <p:nvPr/>
        </p:nvSpPr>
        <p:spPr>
          <a:xfrm>
            <a:off x="3026664" y="111556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0</a:t>
            </a:r>
            <a:endParaRPr/>
          </a:p>
        </p:txBody>
      </p:sp>
      <p:sp>
        <p:nvSpPr>
          <p:cNvPr id="483" name="Google Shape;483;p6"/>
          <p:cNvSpPr txBox="1"/>
          <p:nvPr/>
        </p:nvSpPr>
        <p:spPr>
          <a:xfrm>
            <a:off x="3739896" y="111556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59669"/>
                </a:solidFill>
                <a:latin typeface="Calibri"/>
                <a:ea typeface="Calibri"/>
                <a:cs typeface="Calibri"/>
                <a:sym typeface="Calibri"/>
              </a:rPr>
              <a:t>100%</a:t>
            </a:r>
            <a:endParaRPr/>
          </a:p>
        </p:txBody>
      </p:sp>
      <p:sp>
        <p:nvSpPr>
          <p:cNvPr id="484" name="Google Shape;484;p6"/>
          <p:cNvSpPr txBox="1"/>
          <p:nvPr/>
        </p:nvSpPr>
        <p:spPr>
          <a:xfrm>
            <a:off x="4361688" y="111556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$23.4M</a:t>
            </a:r>
            <a:endParaRPr/>
          </a:p>
        </p:txBody>
      </p:sp>
      <p:sp>
        <p:nvSpPr>
          <p:cNvPr id="485" name="Google Shape;485;p6"/>
          <p:cNvSpPr txBox="1"/>
          <p:nvPr/>
        </p:nvSpPr>
        <p:spPr>
          <a:xfrm>
            <a:off x="5321807" y="111556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5472</a:t>
            </a:r>
            <a:endParaRPr/>
          </a:p>
        </p:txBody>
      </p:sp>
      <p:sp>
        <p:nvSpPr>
          <p:cNvPr id="486" name="Google Shape;486;p6"/>
          <p:cNvSpPr txBox="1"/>
          <p:nvPr/>
        </p:nvSpPr>
        <p:spPr>
          <a:xfrm>
            <a:off x="6126479" y="1115568"/>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415</a:t>
            </a:r>
            <a:endParaRPr/>
          </a:p>
        </p:txBody>
      </p:sp>
      <p:sp>
        <p:nvSpPr>
          <p:cNvPr id="487" name="Google Shape;487;p6"/>
          <p:cNvSpPr txBox="1"/>
          <p:nvPr/>
        </p:nvSpPr>
        <p:spPr>
          <a:xfrm>
            <a:off x="6857999" y="111556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$10.3M</a:t>
            </a:r>
            <a:endParaRPr/>
          </a:p>
        </p:txBody>
      </p:sp>
      <p:sp>
        <p:nvSpPr>
          <p:cNvPr id="488" name="Google Shape;488;p6"/>
          <p:cNvSpPr txBox="1"/>
          <p:nvPr/>
        </p:nvSpPr>
        <p:spPr>
          <a:xfrm>
            <a:off x="7818119" y="111556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$3.3M</a:t>
            </a:r>
            <a:endParaRPr/>
          </a:p>
        </p:txBody>
      </p:sp>
      <p:sp>
        <p:nvSpPr>
          <p:cNvPr id="489" name="Google Shape;489;p6"/>
          <p:cNvSpPr txBox="1"/>
          <p:nvPr/>
        </p:nvSpPr>
        <p:spPr>
          <a:xfrm>
            <a:off x="8622792" y="111556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$3.2M</a:t>
            </a:r>
            <a:endParaRPr/>
          </a:p>
        </p:txBody>
      </p:sp>
      <p:sp>
        <p:nvSpPr>
          <p:cNvPr id="490" name="Google Shape;490;p6"/>
          <p:cNvSpPr/>
          <p:nvPr/>
        </p:nvSpPr>
        <p:spPr>
          <a:xfrm>
            <a:off x="182880" y="1499616"/>
            <a:ext cx="9244584" cy="402336"/>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6"/>
          <p:cNvSpPr txBox="1"/>
          <p:nvPr/>
        </p:nvSpPr>
        <p:spPr>
          <a:xfrm>
            <a:off x="182880" y="1517904"/>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Christopher Hayes</a:t>
            </a:r>
            <a:endParaRPr/>
          </a:p>
        </p:txBody>
      </p:sp>
      <p:sp>
        <p:nvSpPr>
          <p:cNvPr id="492" name="Google Shape;492;p6"/>
          <p:cNvSpPr txBox="1"/>
          <p:nvPr/>
        </p:nvSpPr>
        <p:spPr>
          <a:xfrm>
            <a:off x="1691639" y="1517904"/>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45</a:t>
            </a:r>
            <a:endParaRPr/>
          </a:p>
        </p:txBody>
      </p:sp>
      <p:sp>
        <p:nvSpPr>
          <p:cNvPr id="493" name="Google Shape;493;p6"/>
          <p:cNvSpPr txBox="1"/>
          <p:nvPr/>
        </p:nvSpPr>
        <p:spPr>
          <a:xfrm>
            <a:off x="2404872" y="1517904"/>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45</a:t>
            </a:r>
            <a:endParaRPr/>
          </a:p>
        </p:txBody>
      </p:sp>
      <p:sp>
        <p:nvSpPr>
          <p:cNvPr id="494" name="Google Shape;494;p6"/>
          <p:cNvSpPr txBox="1"/>
          <p:nvPr/>
        </p:nvSpPr>
        <p:spPr>
          <a:xfrm>
            <a:off x="3026664" y="1517904"/>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0</a:t>
            </a:r>
            <a:endParaRPr/>
          </a:p>
        </p:txBody>
      </p:sp>
      <p:sp>
        <p:nvSpPr>
          <p:cNvPr id="495" name="Google Shape;495;p6"/>
          <p:cNvSpPr txBox="1"/>
          <p:nvPr/>
        </p:nvSpPr>
        <p:spPr>
          <a:xfrm>
            <a:off x="3739896" y="1517904"/>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59669"/>
                </a:solidFill>
                <a:latin typeface="Calibri"/>
                <a:ea typeface="Calibri"/>
                <a:cs typeface="Calibri"/>
                <a:sym typeface="Calibri"/>
              </a:rPr>
              <a:t>100%</a:t>
            </a:r>
            <a:endParaRPr/>
          </a:p>
        </p:txBody>
      </p:sp>
      <p:sp>
        <p:nvSpPr>
          <p:cNvPr id="496" name="Google Shape;496;p6"/>
          <p:cNvSpPr txBox="1"/>
          <p:nvPr/>
        </p:nvSpPr>
        <p:spPr>
          <a:xfrm>
            <a:off x="4361688" y="1517904"/>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$11.7M</a:t>
            </a:r>
            <a:endParaRPr/>
          </a:p>
        </p:txBody>
      </p:sp>
      <p:sp>
        <p:nvSpPr>
          <p:cNvPr id="497" name="Google Shape;497;p6"/>
          <p:cNvSpPr txBox="1"/>
          <p:nvPr/>
        </p:nvSpPr>
        <p:spPr>
          <a:xfrm>
            <a:off x="5321807" y="151790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2636</a:t>
            </a:r>
            <a:endParaRPr/>
          </a:p>
        </p:txBody>
      </p:sp>
      <p:sp>
        <p:nvSpPr>
          <p:cNvPr id="498" name="Google Shape;498;p6"/>
          <p:cNvSpPr txBox="1"/>
          <p:nvPr/>
        </p:nvSpPr>
        <p:spPr>
          <a:xfrm>
            <a:off x="6126479" y="1517904"/>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272</a:t>
            </a:r>
            <a:endParaRPr/>
          </a:p>
        </p:txBody>
      </p:sp>
      <p:sp>
        <p:nvSpPr>
          <p:cNvPr id="499" name="Google Shape;499;p6"/>
          <p:cNvSpPr txBox="1"/>
          <p:nvPr/>
        </p:nvSpPr>
        <p:spPr>
          <a:xfrm>
            <a:off x="6857999" y="1517904"/>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$5.4M</a:t>
            </a:r>
            <a:endParaRPr/>
          </a:p>
        </p:txBody>
      </p:sp>
      <p:sp>
        <p:nvSpPr>
          <p:cNvPr id="500" name="Google Shape;500;p6"/>
          <p:cNvSpPr txBox="1"/>
          <p:nvPr/>
        </p:nvSpPr>
        <p:spPr>
          <a:xfrm>
            <a:off x="7818119" y="151790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$830K</a:t>
            </a:r>
            <a:endParaRPr/>
          </a:p>
        </p:txBody>
      </p:sp>
      <p:sp>
        <p:nvSpPr>
          <p:cNvPr id="501" name="Google Shape;501;p6"/>
          <p:cNvSpPr txBox="1"/>
          <p:nvPr/>
        </p:nvSpPr>
        <p:spPr>
          <a:xfrm>
            <a:off x="8622792" y="151790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$2.2M</a:t>
            </a:r>
            <a:endParaRPr/>
          </a:p>
        </p:txBody>
      </p:sp>
      <p:sp>
        <p:nvSpPr>
          <p:cNvPr id="502" name="Google Shape;502;p6"/>
          <p:cNvSpPr txBox="1"/>
          <p:nvPr/>
        </p:nvSpPr>
        <p:spPr>
          <a:xfrm>
            <a:off x="182880" y="1920240"/>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Ron Douglas</a:t>
            </a:r>
            <a:endParaRPr/>
          </a:p>
        </p:txBody>
      </p:sp>
      <p:sp>
        <p:nvSpPr>
          <p:cNvPr id="503" name="Google Shape;503;p6"/>
          <p:cNvSpPr txBox="1"/>
          <p:nvPr/>
        </p:nvSpPr>
        <p:spPr>
          <a:xfrm>
            <a:off x="1691639" y="1920240"/>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35</a:t>
            </a:r>
            <a:endParaRPr/>
          </a:p>
        </p:txBody>
      </p:sp>
      <p:sp>
        <p:nvSpPr>
          <p:cNvPr id="504" name="Google Shape;504;p6"/>
          <p:cNvSpPr txBox="1"/>
          <p:nvPr/>
        </p:nvSpPr>
        <p:spPr>
          <a:xfrm>
            <a:off x="2404872" y="1920240"/>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34</a:t>
            </a:r>
            <a:endParaRPr/>
          </a:p>
        </p:txBody>
      </p:sp>
      <p:sp>
        <p:nvSpPr>
          <p:cNvPr id="505" name="Google Shape;505;p6"/>
          <p:cNvSpPr txBox="1"/>
          <p:nvPr/>
        </p:nvSpPr>
        <p:spPr>
          <a:xfrm>
            <a:off x="3026664" y="1920240"/>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1</a:t>
            </a:r>
            <a:endParaRPr/>
          </a:p>
        </p:txBody>
      </p:sp>
      <p:sp>
        <p:nvSpPr>
          <p:cNvPr id="506" name="Google Shape;506;p6"/>
          <p:cNvSpPr txBox="1"/>
          <p:nvPr/>
        </p:nvSpPr>
        <p:spPr>
          <a:xfrm>
            <a:off x="3739896" y="1920240"/>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97%</a:t>
            </a:r>
            <a:endParaRPr/>
          </a:p>
        </p:txBody>
      </p:sp>
      <p:sp>
        <p:nvSpPr>
          <p:cNvPr id="507" name="Google Shape;507;p6"/>
          <p:cNvSpPr txBox="1"/>
          <p:nvPr/>
        </p:nvSpPr>
        <p:spPr>
          <a:xfrm>
            <a:off x="4361688" y="1920240"/>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$9.7M</a:t>
            </a:r>
            <a:endParaRPr/>
          </a:p>
        </p:txBody>
      </p:sp>
      <p:sp>
        <p:nvSpPr>
          <p:cNvPr id="508" name="Google Shape;508;p6"/>
          <p:cNvSpPr txBox="1"/>
          <p:nvPr/>
        </p:nvSpPr>
        <p:spPr>
          <a:xfrm>
            <a:off x="5321807" y="1920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4213</a:t>
            </a:r>
            <a:endParaRPr/>
          </a:p>
        </p:txBody>
      </p:sp>
      <p:sp>
        <p:nvSpPr>
          <p:cNvPr id="509" name="Google Shape;509;p6"/>
          <p:cNvSpPr txBox="1"/>
          <p:nvPr/>
        </p:nvSpPr>
        <p:spPr>
          <a:xfrm>
            <a:off x="6126479" y="1920240"/>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238</a:t>
            </a:r>
            <a:endParaRPr/>
          </a:p>
        </p:txBody>
      </p:sp>
      <p:sp>
        <p:nvSpPr>
          <p:cNvPr id="510" name="Google Shape;510;p6"/>
          <p:cNvSpPr txBox="1"/>
          <p:nvPr/>
        </p:nvSpPr>
        <p:spPr>
          <a:xfrm>
            <a:off x="6857999" y="1920240"/>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$5.7M</a:t>
            </a:r>
            <a:endParaRPr/>
          </a:p>
        </p:txBody>
      </p:sp>
      <p:sp>
        <p:nvSpPr>
          <p:cNvPr id="511" name="Google Shape;511;p6"/>
          <p:cNvSpPr txBox="1"/>
          <p:nvPr/>
        </p:nvSpPr>
        <p:spPr>
          <a:xfrm>
            <a:off x="7818119" y="1920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$982K</a:t>
            </a:r>
            <a:endParaRPr/>
          </a:p>
        </p:txBody>
      </p:sp>
      <p:sp>
        <p:nvSpPr>
          <p:cNvPr id="512" name="Google Shape;512;p6"/>
          <p:cNvSpPr txBox="1"/>
          <p:nvPr/>
        </p:nvSpPr>
        <p:spPr>
          <a:xfrm>
            <a:off x="8622792" y="1920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$2.8M</a:t>
            </a:r>
            <a:endParaRPr/>
          </a:p>
        </p:txBody>
      </p:sp>
      <p:sp>
        <p:nvSpPr>
          <p:cNvPr id="513" name="Google Shape;513;p6"/>
          <p:cNvSpPr/>
          <p:nvPr/>
        </p:nvSpPr>
        <p:spPr>
          <a:xfrm>
            <a:off x="182880" y="2304288"/>
            <a:ext cx="9244584" cy="402336"/>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6"/>
          <p:cNvSpPr txBox="1"/>
          <p:nvPr/>
        </p:nvSpPr>
        <p:spPr>
          <a:xfrm>
            <a:off x="182880" y="2322576"/>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Derrick Leroy</a:t>
            </a:r>
            <a:endParaRPr/>
          </a:p>
        </p:txBody>
      </p:sp>
      <p:sp>
        <p:nvSpPr>
          <p:cNvPr id="515" name="Google Shape;515;p6"/>
          <p:cNvSpPr txBox="1"/>
          <p:nvPr/>
        </p:nvSpPr>
        <p:spPr>
          <a:xfrm>
            <a:off x="1691639" y="2322576"/>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30</a:t>
            </a:r>
            <a:endParaRPr/>
          </a:p>
        </p:txBody>
      </p:sp>
      <p:sp>
        <p:nvSpPr>
          <p:cNvPr id="516" name="Google Shape;516;p6"/>
          <p:cNvSpPr txBox="1"/>
          <p:nvPr/>
        </p:nvSpPr>
        <p:spPr>
          <a:xfrm>
            <a:off x="2404872" y="2322576"/>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28</a:t>
            </a:r>
            <a:endParaRPr/>
          </a:p>
        </p:txBody>
      </p:sp>
      <p:sp>
        <p:nvSpPr>
          <p:cNvPr id="517" name="Google Shape;517;p6"/>
          <p:cNvSpPr txBox="1"/>
          <p:nvPr/>
        </p:nvSpPr>
        <p:spPr>
          <a:xfrm>
            <a:off x="3026664" y="2322576"/>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2</a:t>
            </a:r>
            <a:endParaRPr/>
          </a:p>
        </p:txBody>
      </p:sp>
      <p:sp>
        <p:nvSpPr>
          <p:cNvPr id="518" name="Google Shape;518;p6"/>
          <p:cNvSpPr txBox="1"/>
          <p:nvPr/>
        </p:nvSpPr>
        <p:spPr>
          <a:xfrm>
            <a:off x="3739896" y="2322576"/>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93%</a:t>
            </a:r>
            <a:endParaRPr/>
          </a:p>
        </p:txBody>
      </p:sp>
      <p:sp>
        <p:nvSpPr>
          <p:cNvPr id="519" name="Google Shape;519;p6"/>
          <p:cNvSpPr txBox="1"/>
          <p:nvPr/>
        </p:nvSpPr>
        <p:spPr>
          <a:xfrm>
            <a:off x="4361688" y="2322576"/>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$7.7M</a:t>
            </a:r>
            <a:endParaRPr/>
          </a:p>
        </p:txBody>
      </p:sp>
      <p:sp>
        <p:nvSpPr>
          <p:cNvPr id="520" name="Google Shape;520;p6"/>
          <p:cNvSpPr txBox="1"/>
          <p:nvPr/>
        </p:nvSpPr>
        <p:spPr>
          <a:xfrm>
            <a:off x="5321807" y="232257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2470</a:t>
            </a:r>
            <a:endParaRPr/>
          </a:p>
        </p:txBody>
      </p:sp>
      <p:sp>
        <p:nvSpPr>
          <p:cNvPr id="521" name="Google Shape;521;p6"/>
          <p:cNvSpPr txBox="1"/>
          <p:nvPr/>
        </p:nvSpPr>
        <p:spPr>
          <a:xfrm>
            <a:off x="6126479" y="2322576"/>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197</a:t>
            </a:r>
            <a:endParaRPr/>
          </a:p>
        </p:txBody>
      </p:sp>
      <p:sp>
        <p:nvSpPr>
          <p:cNvPr id="522" name="Google Shape;522;p6"/>
          <p:cNvSpPr txBox="1"/>
          <p:nvPr/>
        </p:nvSpPr>
        <p:spPr>
          <a:xfrm>
            <a:off x="6857999" y="2322576"/>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$3.2M</a:t>
            </a:r>
            <a:endParaRPr/>
          </a:p>
        </p:txBody>
      </p:sp>
      <p:sp>
        <p:nvSpPr>
          <p:cNvPr id="523" name="Google Shape;523;p6"/>
          <p:cNvSpPr txBox="1"/>
          <p:nvPr/>
        </p:nvSpPr>
        <p:spPr>
          <a:xfrm>
            <a:off x="7818119" y="232257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$483K</a:t>
            </a:r>
            <a:endParaRPr/>
          </a:p>
        </p:txBody>
      </p:sp>
      <p:sp>
        <p:nvSpPr>
          <p:cNvPr id="524" name="Google Shape;524;p6"/>
          <p:cNvSpPr txBox="1"/>
          <p:nvPr/>
        </p:nvSpPr>
        <p:spPr>
          <a:xfrm>
            <a:off x="8622792" y="232257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$1.2M</a:t>
            </a:r>
            <a:endParaRPr/>
          </a:p>
        </p:txBody>
      </p:sp>
      <p:sp>
        <p:nvSpPr>
          <p:cNvPr id="525" name="Google Shape;525;p6"/>
          <p:cNvSpPr txBox="1"/>
          <p:nvPr/>
        </p:nvSpPr>
        <p:spPr>
          <a:xfrm>
            <a:off x="182880" y="2724912"/>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Alexis Berry-Smith</a:t>
            </a:r>
            <a:endParaRPr/>
          </a:p>
        </p:txBody>
      </p:sp>
      <p:sp>
        <p:nvSpPr>
          <p:cNvPr id="526" name="Google Shape;526;p6"/>
          <p:cNvSpPr txBox="1"/>
          <p:nvPr/>
        </p:nvSpPr>
        <p:spPr>
          <a:xfrm>
            <a:off x="1691639" y="2724912"/>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22</a:t>
            </a:r>
            <a:endParaRPr/>
          </a:p>
        </p:txBody>
      </p:sp>
      <p:sp>
        <p:nvSpPr>
          <p:cNvPr id="527" name="Google Shape;527;p6"/>
          <p:cNvSpPr txBox="1"/>
          <p:nvPr/>
        </p:nvSpPr>
        <p:spPr>
          <a:xfrm>
            <a:off x="2404872" y="2724912"/>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22</a:t>
            </a:r>
            <a:endParaRPr/>
          </a:p>
        </p:txBody>
      </p:sp>
      <p:sp>
        <p:nvSpPr>
          <p:cNvPr id="528" name="Google Shape;528;p6"/>
          <p:cNvSpPr txBox="1"/>
          <p:nvPr/>
        </p:nvSpPr>
        <p:spPr>
          <a:xfrm>
            <a:off x="3026664" y="2724912"/>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0</a:t>
            </a:r>
            <a:endParaRPr/>
          </a:p>
        </p:txBody>
      </p:sp>
      <p:sp>
        <p:nvSpPr>
          <p:cNvPr id="529" name="Google Shape;529;p6"/>
          <p:cNvSpPr txBox="1"/>
          <p:nvPr/>
        </p:nvSpPr>
        <p:spPr>
          <a:xfrm>
            <a:off x="3739896" y="2724912"/>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59669"/>
                </a:solidFill>
                <a:latin typeface="Calibri"/>
                <a:ea typeface="Calibri"/>
                <a:cs typeface="Calibri"/>
                <a:sym typeface="Calibri"/>
              </a:rPr>
              <a:t>100%</a:t>
            </a:r>
            <a:endParaRPr/>
          </a:p>
        </p:txBody>
      </p:sp>
      <p:sp>
        <p:nvSpPr>
          <p:cNvPr id="530" name="Google Shape;530;p6"/>
          <p:cNvSpPr txBox="1"/>
          <p:nvPr/>
        </p:nvSpPr>
        <p:spPr>
          <a:xfrm>
            <a:off x="4361688" y="2724912"/>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$1.4M</a:t>
            </a:r>
            <a:endParaRPr/>
          </a:p>
        </p:txBody>
      </p:sp>
      <p:sp>
        <p:nvSpPr>
          <p:cNvPr id="531" name="Google Shape;531;p6"/>
          <p:cNvSpPr txBox="1"/>
          <p:nvPr/>
        </p:nvSpPr>
        <p:spPr>
          <a:xfrm>
            <a:off x="5321807" y="272491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1400</a:t>
            </a:r>
            <a:endParaRPr/>
          </a:p>
        </p:txBody>
      </p:sp>
      <p:sp>
        <p:nvSpPr>
          <p:cNvPr id="532" name="Google Shape;532;p6"/>
          <p:cNvSpPr txBox="1"/>
          <p:nvPr/>
        </p:nvSpPr>
        <p:spPr>
          <a:xfrm>
            <a:off x="6126479" y="2724912"/>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110</a:t>
            </a:r>
            <a:endParaRPr/>
          </a:p>
        </p:txBody>
      </p:sp>
      <p:sp>
        <p:nvSpPr>
          <p:cNvPr id="533" name="Google Shape;533;p6"/>
          <p:cNvSpPr txBox="1"/>
          <p:nvPr/>
        </p:nvSpPr>
        <p:spPr>
          <a:xfrm>
            <a:off x="6857999" y="2724912"/>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$2.6M</a:t>
            </a:r>
            <a:endParaRPr/>
          </a:p>
        </p:txBody>
      </p:sp>
      <p:sp>
        <p:nvSpPr>
          <p:cNvPr id="534" name="Google Shape;534;p6"/>
          <p:cNvSpPr txBox="1"/>
          <p:nvPr/>
        </p:nvSpPr>
        <p:spPr>
          <a:xfrm>
            <a:off x="7818119" y="272491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$118K</a:t>
            </a:r>
            <a:endParaRPr/>
          </a:p>
        </p:txBody>
      </p:sp>
      <p:sp>
        <p:nvSpPr>
          <p:cNvPr id="535" name="Google Shape;535;p6"/>
          <p:cNvSpPr txBox="1"/>
          <p:nvPr/>
        </p:nvSpPr>
        <p:spPr>
          <a:xfrm>
            <a:off x="8622792" y="272491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$1.2M</a:t>
            </a:r>
            <a:endParaRPr/>
          </a:p>
        </p:txBody>
      </p:sp>
      <p:sp>
        <p:nvSpPr>
          <p:cNvPr id="536" name="Google Shape;536;p6"/>
          <p:cNvSpPr/>
          <p:nvPr/>
        </p:nvSpPr>
        <p:spPr>
          <a:xfrm>
            <a:off x="182880" y="3108960"/>
            <a:ext cx="9244584" cy="402336"/>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6"/>
          <p:cNvSpPr txBox="1"/>
          <p:nvPr/>
        </p:nvSpPr>
        <p:spPr>
          <a:xfrm>
            <a:off x="182880" y="3127248"/>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Westy McLaughlin</a:t>
            </a:r>
            <a:endParaRPr/>
          </a:p>
        </p:txBody>
      </p:sp>
      <p:sp>
        <p:nvSpPr>
          <p:cNvPr id="538" name="Google Shape;538;p6"/>
          <p:cNvSpPr txBox="1"/>
          <p:nvPr/>
        </p:nvSpPr>
        <p:spPr>
          <a:xfrm>
            <a:off x="1691639" y="312724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14</a:t>
            </a:r>
            <a:endParaRPr/>
          </a:p>
        </p:txBody>
      </p:sp>
      <p:sp>
        <p:nvSpPr>
          <p:cNvPr id="539" name="Google Shape;539;p6"/>
          <p:cNvSpPr txBox="1"/>
          <p:nvPr/>
        </p:nvSpPr>
        <p:spPr>
          <a:xfrm>
            <a:off x="2404872" y="312724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11</a:t>
            </a:r>
            <a:endParaRPr/>
          </a:p>
        </p:txBody>
      </p:sp>
      <p:sp>
        <p:nvSpPr>
          <p:cNvPr id="540" name="Google Shape;540;p6"/>
          <p:cNvSpPr txBox="1"/>
          <p:nvPr/>
        </p:nvSpPr>
        <p:spPr>
          <a:xfrm>
            <a:off x="3026664" y="312724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3</a:t>
            </a:r>
            <a:endParaRPr/>
          </a:p>
        </p:txBody>
      </p:sp>
      <p:sp>
        <p:nvSpPr>
          <p:cNvPr id="541" name="Google Shape;541;p6"/>
          <p:cNvSpPr txBox="1"/>
          <p:nvPr/>
        </p:nvSpPr>
        <p:spPr>
          <a:xfrm>
            <a:off x="3739896" y="312724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79%</a:t>
            </a:r>
            <a:endParaRPr/>
          </a:p>
        </p:txBody>
      </p:sp>
      <p:sp>
        <p:nvSpPr>
          <p:cNvPr id="542" name="Google Shape;542;p6"/>
          <p:cNvSpPr txBox="1"/>
          <p:nvPr/>
        </p:nvSpPr>
        <p:spPr>
          <a:xfrm>
            <a:off x="4361688" y="312724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$275K</a:t>
            </a:r>
            <a:endParaRPr/>
          </a:p>
        </p:txBody>
      </p:sp>
      <p:sp>
        <p:nvSpPr>
          <p:cNvPr id="543" name="Google Shape;543;p6"/>
          <p:cNvSpPr txBox="1"/>
          <p:nvPr/>
        </p:nvSpPr>
        <p:spPr>
          <a:xfrm>
            <a:off x="5321807" y="3127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147</a:t>
            </a:r>
            <a:endParaRPr/>
          </a:p>
        </p:txBody>
      </p:sp>
      <p:sp>
        <p:nvSpPr>
          <p:cNvPr id="544" name="Google Shape;544;p6"/>
          <p:cNvSpPr txBox="1"/>
          <p:nvPr/>
        </p:nvSpPr>
        <p:spPr>
          <a:xfrm>
            <a:off x="6126479" y="3127248"/>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6</a:t>
            </a:r>
            <a:endParaRPr/>
          </a:p>
        </p:txBody>
      </p:sp>
      <p:sp>
        <p:nvSpPr>
          <p:cNvPr id="545" name="Google Shape;545;p6"/>
          <p:cNvSpPr txBox="1"/>
          <p:nvPr/>
        </p:nvSpPr>
        <p:spPr>
          <a:xfrm>
            <a:off x="6857999" y="312724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$67K</a:t>
            </a:r>
            <a:endParaRPr/>
          </a:p>
        </p:txBody>
      </p:sp>
      <p:sp>
        <p:nvSpPr>
          <p:cNvPr id="546" name="Google Shape;546;p6"/>
          <p:cNvSpPr txBox="1"/>
          <p:nvPr/>
        </p:nvSpPr>
        <p:spPr>
          <a:xfrm>
            <a:off x="7818119" y="3127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$15K</a:t>
            </a:r>
            <a:endParaRPr/>
          </a:p>
        </p:txBody>
      </p:sp>
      <p:sp>
        <p:nvSpPr>
          <p:cNvPr id="547" name="Google Shape;547;p6"/>
          <p:cNvSpPr txBox="1"/>
          <p:nvPr/>
        </p:nvSpPr>
        <p:spPr>
          <a:xfrm>
            <a:off x="8622792" y="312724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$44K</a:t>
            </a:r>
            <a:endParaRPr/>
          </a:p>
        </p:txBody>
      </p:sp>
      <p:sp>
        <p:nvSpPr>
          <p:cNvPr id="548" name="Google Shape;548;p6"/>
          <p:cNvSpPr/>
          <p:nvPr/>
        </p:nvSpPr>
        <p:spPr>
          <a:xfrm>
            <a:off x="182880" y="3602736"/>
            <a:ext cx="9244584" cy="201168"/>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6"/>
          <p:cNvSpPr txBox="1"/>
          <p:nvPr/>
        </p:nvSpPr>
        <p:spPr>
          <a:xfrm>
            <a:off x="274320" y="3630168"/>
            <a:ext cx="9061704"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FFFFFF"/>
                </a:solidFill>
                <a:latin typeface="Calibri"/>
                <a:ea typeface="Calibri"/>
                <a:cs typeface="Calibri"/>
                <a:sym typeface="Calibri"/>
              </a:rPr>
              <a:t>BDAs — Business Development Associates  (goal: ≥70% portfolio active)</a:t>
            </a:r>
            <a:endParaRPr/>
          </a:p>
        </p:txBody>
      </p:sp>
      <p:sp>
        <p:nvSpPr>
          <p:cNvPr id="550" name="Google Shape;550;p6"/>
          <p:cNvSpPr/>
          <p:nvPr/>
        </p:nvSpPr>
        <p:spPr>
          <a:xfrm>
            <a:off x="182880" y="3803904"/>
            <a:ext cx="9244584" cy="384048"/>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6"/>
          <p:cNvSpPr txBox="1"/>
          <p:nvPr/>
        </p:nvSpPr>
        <p:spPr>
          <a:xfrm>
            <a:off x="182880" y="3822192"/>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Kurt Butterfield</a:t>
            </a:r>
            <a:endParaRPr/>
          </a:p>
        </p:txBody>
      </p:sp>
      <p:sp>
        <p:nvSpPr>
          <p:cNvPr id="552" name="Google Shape;552;p6"/>
          <p:cNvSpPr txBox="1"/>
          <p:nvPr/>
        </p:nvSpPr>
        <p:spPr>
          <a:xfrm>
            <a:off x="1691639" y="3822192"/>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42</a:t>
            </a:r>
            <a:endParaRPr/>
          </a:p>
        </p:txBody>
      </p:sp>
      <p:sp>
        <p:nvSpPr>
          <p:cNvPr id="553" name="Google Shape;553;p6"/>
          <p:cNvSpPr txBox="1"/>
          <p:nvPr/>
        </p:nvSpPr>
        <p:spPr>
          <a:xfrm>
            <a:off x="2404872" y="3822192"/>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41</a:t>
            </a:r>
            <a:endParaRPr/>
          </a:p>
        </p:txBody>
      </p:sp>
      <p:sp>
        <p:nvSpPr>
          <p:cNvPr id="554" name="Google Shape;554;p6"/>
          <p:cNvSpPr txBox="1"/>
          <p:nvPr/>
        </p:nvSpPr>
        <p:spPr>
          <a:xfrm>
            <a:off x="3026664" y="3822192"/>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1</a:t>
            </a:r>
            <a:endParaRPr/>
          </a:p>
        </p:txBody>
      </p:sp>
      <p:sp>
        <p:nvSpPr>
          <p:cNvPr id="555" name="Google Shape;555;p6"/>
          <p:cNvSpPr txBox="1"/>
          <p:nvPr/>
        </p:nvSpPr>
        <p:spPr>
          <a:xfrm>
            <a:off x="3739896" y="3822192"/>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98%</a:t>
            </a:r>
            <a:endParaRPr/>
          </a:p>
        </p:txBody>
      </p:sp>
      <p:sp>
        <p:nvSpPr>
          <p:cNvPr id="556" name="Google Shape;556;p6"/>
          <p:cNvSpPr txBox="1"/>
          <p:nvPr/>
        </p:nvSpPr>
        <p:spPr>
          <a:xfrm>
            <a:off x="4361688" y="3822192"/>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$2.9M</a:t>
            </a:r>
            <a:endParaRPr/>
          </a:p>
        </p:txBody>
      </p:sp>
      <p:sp>
        <p:nvSpPr>
          <p:cNvPr id="557" name="Google Shape;557;p6"/>
          <p:cNvSpPr txBox="1"/>
          <p:nvPr/>
        </p:nvSpPr>
        <p:spPr>
          <a:xfrm>
            <a:off x="5321807" y="382219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3054</a:t>
            </a:r>
            <a:endParaRPr/>
          </a:p>
        </p:txBody>
      </p:sp>
      <p:sp>
        <p:nvSpPr>
          <p:cNvPr id="558" name="Google Shape;558;p6"/>
          <p:cNvSpPr txBox="1"/>
          <p:nvPr/>
        </p:nvSpPr>
        <p:spPr>
          <a:xfrm>
            <a:off x="6126479" y="3822192"/>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77</a:t>
            </a:r>
            <a:endParaRPr/>
          </a:p>
        </p:txBody>
      </p:sp>
      <p:sp>
        <p:nvSpPr>
          <p:cNvPr id="559" name="Google Shape;559;p6"/>
          <p:cNvSpPr txBox="1"/>
          <p:nvPr/>
        </p:nvSpPr>
        <p:spPr>
          <a:xfrm>
            <a:off x="6857999" y="3822192"/>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$2.0M</a:t>
            </a:r>
            <a:endParaRPr/>
          </a:p>
        </p:txBody>
      </p:sp>
      <p:sp>
        <p:nvSpPr>
          <p:cNvPr id="560" name="Google Shape;560;p6"/>
          <p:cNvSpPr txBox="1"/>
          <p:nvPr/>
        </p:nvSpPr>
        <p:spPr>
          <a:xfrm>
            <a:off x="7818119" y="382219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$74K</a:t>
            </a:r>
            <a:endParaRPr/>
          </a:p>
        </p:txBody>
      </p:sp>
      <p:sp>
        <p:nvSpPr>
          <p:cNvPr id="561" name="Google Shape;561;p6"/>
          <p:cNvSpPr txBox="1"/>
          <p:nvPr/>
        </p:nvSpPr>
        <p:spPr>
          <a:xfrm>
            <a:off x="8622792" y="3822192"/>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$561K</a:t>
            </a:r>
            <a:endParaRPr/>
          </a:p>
        </p:txBody>
      </p:sp>
      <p:sp>
        <p:nvSpPr>
          <p:cNvPr id="562" name="Google Shape;562;p6"/>
          <p:cNvSpPr txBox="1"/>
          <p:nvPr/>
        </p:nvSpPr>
        <p:spPr>
          <a:xfrm>
            <a:off x="182880" y="4206240"/>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Cameron Brader</a:t>
            </a:r>
            <a:endParaRPr/>
          </a:p>
        </p:txBody>
      </p:sp>
      <p:sp>
        <p:nvSpPr>
          <p:cNvPr id="563" name="Google Shape;563;p6"/>
          <p:cNvSpPr txBox="1"/>
          <p:nvPr/>
        </p:nvSpPr>
        <p:spPr>
          <a:xfrm>
            <a:off x="1691639" y="4206240"/>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48</a:t>
            </a:r>
            <a:endParaRPr/>
          </a:p>
        </p:txBody>
      </p:sp>
      <p:sp>
        <p:nvSpPr>
          <p:cNvPr id="564" name="Google Shape;564;p6"/>
          <p:cNvSpPr txBox="1"/>
          <p:nvPr/>
        </p:nvSpPr>
        <p:spPr>
          <a:xfrm>
            <a:off x="2404872" y="4206240"/>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47</a:t>
            </a:r>
            <a:endParaRPr/>
          </a:p>
        </p:txBody>
      </p:sp>
      <p:sp>
        <p:nvSpPr>
          <p:cNvPr id="565" name="Google Shape;565;p6"/>
          <p:cNvSpPr txBox="1"/>
          <p:nvPr/>
        </p:nvSpPr>
        <p:spPr>
          <a:xfrm>
            <a:off x="3026664" y="4206240"/>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1</a:t>
            </a:r>
            <a:endParaRPr/>
          </a:p>
        </p:txBody>
      </p:sp>
      <p:sp>
        <p:nvSpPr>
          <p:cNvPr id="566" name="Google Shape;566;p6"/>
          <p:cNvSpPr txBox="1"/>
          <p:nvPr/>
        </p:nvSpPr>
        <p:spPr>
          <a:xfrm>
            <a:off x="3739896" y="4206240"/>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98%</a:t>
            </a:r>
            <a:endParaRPr/>
          </a:p>
        </p:txBody>
      </p:sp>
      <p:sp>
        <p:nvSpPr>
          <p:cNvPr id="567" name="Google Shape;567;p6"/>
          <p:cNvSpPr txBox="1"/>
          <p:nvPr/>
        </p:nvSpPr>
        <p:spPr>
          <a:xfrm>
            <a:off x="4361688" y="4206240"/>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$2.5M</a:t>
            </a:r>
            <a:endParaRPr/>
          </a:p>
        </p:txBody>
      </p:sp>
      <p:sp>
        <p:nvSpPr>
          <p:cNvPr id="568" name="Google Shape;568;p6"/>
          <p:cNvSpPr txBox="1"/>
          <p:nvPr/>
        </p:nvSpPr>
        <p:spPr>
          <a:xfrm>
            <a:off x="5321807" y="4206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712</a:t>
            </a:r>
            <a:endParaRPr/>
          </a:p>
        </p:txBody>
      </p:sp>
      <p:sp>
        <p:nvSpPr>
          <p:cNvPr id="569" name="Google Shape;569;p6"/>
          <p:cNvSpPr txBox="1"/>
          <p:nvPr/>
        </p:nvSpPr>
        <p:spPr>
          <a:xfrm>
            <a:off x="6126479" y="4206240"/>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36</a:t>
            </a:r>
            <a:endParaRPr/>
          </a:p>
        </p:txBody>
      </p:sp>
      <p:sp>
        <p:nvSpPr>
          <p:cNvPr id="570" name="Google Shape;570;p6"/>
          <p:cNvSpPr txBox="1"/>
          <p:nvPr/>
        </p:nvSpPr>
        <p:spPr>
          <a:xfrm>
            <a:off x="6857999" y="4206240"/>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$970K</a:t>
            </a:r>
            <a:endParaRPr/>
          </a:p>
        </p:txBody>
      </p:sp>
      <p:sp>
        <p:nvSpPr>
          <p:cNvPr id="571" name="Google Shape;571;p6"/>
          <p:cNvSpPr txBox="1"/>
          <p:nvPr/>
        </p:nvSpPr>
        <p:spPr>
          <a:xfrm>
            <a:off x="7818119" y="4206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$187K</a:t>
            </a:r>
            <a:endParaRPr/>
          </a:p>
        </p:txBody>
      </p:sp>
      <p:sp>
        <p:nvSpPr>
          <p:cNvPr id="572" name="Google Shape;572;p6"/>
          <p:cNvSpPr txBox="1"/>
          <p:nvPr/>
        </p:nvSpPr>
        <p:spPr>
          <a:xfrm>
            <a:off x="8622792" y="4206240"/>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$30K</a:t>
            </a:r>
            <a:endParaRPr/>
          </a:p>
        </p:txBody>
      </p:sp>
      <p:sp>
        <p:nvSpPr>
          <p:cNvPr id="573" name="Google Shape;573;p6"/>
          <p:cNvSpPr/>
          <p:nvPr/>
        </p:nvSpPr>
        <p:spPr>
          <a:xfrm>
            <a:off x="182880" y="4572000"/>
            <a:ext cx="9244584" cy="384048"/>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6"/>
          <p:cNvSpPr txBox="1"/>
          <p:nvPr/>
        </p:nvSpPr>
        <p:spPr>
          <a:xfrm>
            <a:off x="182880" y="4590288"/>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Taylor Sloan</a:t>
            </a:r>
            <a:endParaRPr/>
          </a:p>
        </p:txBody>
      </p:sp>
      <p:sp>
        <p:nvSpPr>
          <p:cNvPr id="575" name="Google Shape;575;p6"/>
          <p:cNvSpPr txBox="1"/>
          <p:nvPr/>
        </p:nvSpPr>
        <p:spPr>
          <a:xfrm>
            <a:off x="1691639" y="459028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26</a:t>
            </a:r>
            <a:endParaRPr/>
          </a:p>
        </p:txBody>
      </p:sp>
      <p:sp>
        <p:nvSpPr>
          <p:cNvPr id="576" name="Google Shape;576;p6"/>
          <p:cNvSpPr txBox="1"/>
          <p:nvPr/>
        </p:nvSpPr>
        <p:spPr>
          <a:xfrm>
            <a:off x="2404872" y="459028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25</a:t>
            </a:r>
            <a:endParaRPr/>
          </a:p>
        </p:txBody>
      </p:sp>
      <p:sp>
        <p:nvSpPr>
          <p:cNvPr id="577" name="Google Shape;577;p6"/>
          <p:cNvSpPr txBox="1"/>
          <p:nvPr/>
        </p:nvSpPr>
        <p:spPr>
          <a:xfrm>
            <a:off x="3026664" y="4590288"/>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1</a:t>
            </a:r>
            <a:endParaRPr/>
          </a:p>
        </p:txBody>
      </p:sp>
      <p:sp>
        <p:nvSpPr>
          <p:cNvPr id="578" name="Google Shape;578;p6"/>
          <p:cNvSpPr txBox="1"/>
          <p:nvPr/>
        </p:nvSpPr>
        <p:spPr>
          <a:xfrm>
            <a:off x="3739896" y="4590288"/>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96%</a:t>
            </a:r>
            <a:endParaRPr/>
          </a:p>
        </p:txBody>
      </p:sp>
      <p:sp>
        <p:nvSpPr>
          <p:cNvPr id="579" name="Google Shape;579;p6"/>
          <p:cNvSpPr txBox="1"/>
          <p:nvPr/>
        </p:nvSpPr>
        <p:spPr>
          <a:xfrm>
            <a:off x="4361688" y="459028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$728K</a:t>
            </a:r>
            <a:endParaRPr/>
          </a:p>
        </p:txBody>
      </p:sp>
      <p:sp>
        <p:nvSpPr>
          <p:cNvPr id="580" name="Google Shape;580;p6"/>
          <p:cNvSpPr txBox="1"/>
          <p:nvPr/>
        </p:nvSpPr>
        <p:spPr>
          <a:xfrm>
            <a:off x="5321807" y="459028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436</a:t>
            </a:r>
            <a:endParaRPr/>
          </a:p>
        </p:txBody>
      </p:sp>
      <p:sp>
        <p:nvSpPr>
          <p:cNvPr id="581" name="Google Shape;581;p6"/>
          <p:cNvSpPr txBox="1"/>
          <p:nvPr/>
        </p:nvSpPr>
        <p:spPr>
          <a:xfrm>
            <a:off x="6126479" y="4590288"/>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15</a:t>
            </a:r>
            <a:endParaRPr/>
          </a:p>
        </p:txBody>
      </p:sp>
      <p:sp>
        <p:nvSpPr>
          <p:cNvPr id="582" name="Google Shape;582;p6"/>
          <p:cNvSpPr txBox="1"/>
          <p:nvPr/>
        </p:nvSpPr>
        <p:spPr>
          <a:xfrm>
            <a:off x="6857999" y="4590288"/>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$280K</a:t>
            </a:r>
            <a:endParaRPr/>
          </a:p>
        </p:txBody>
      </p:sp>
      <p:sp>
        <p:nvSpPr>
          <p:cNvPr id="583" name="Google Shape;583;p6"/>
          <p:cNvSpPr txBox="1"/>
          <p:nvPr/>
        </p:nvSpPr>
        <p:spPr>
          <a:xfrm>
            <a:off x="7818119" y="459028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$61K</a:t>
            </a:r>
            <a:endParaRPr/>
          </a:p>
        </p:txBody>
      </p:sp>
      <p:sp>
        <p:nvSpPr>
          <p:cNvPr id="584" name="Google Shape;584;p6"/>
          <p:cNvSpPr txBox="1"/>
          <p:nvPr/>
        </p:nvSpPr>
        <p:spPr>
          <a:xfrm>
            <a:off x="8622792" y="4590288"/>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$243K</a:t>
            </a:r>
            <a:endParaRPr/>
          </a:p>
        </p:txBody>
      </p:sp>
      <p:sp>
        <p:nvSpPr>
          <p:cNvPr id="585" name="Google Shape;585;p6"/>
          <p:cNvSpPr txBox="1"/>
          <p:nvPr/>
        </p:nvSpPr>
        <p:spPr>
          <a:xfrm>
            <a:off x="182880" y="4974336"/>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Portia Lewis</a:t>
            </a:r>
            <a:endParaRPr/>
          </a:p>
        </p:txBody>
      </p:sp>
      <p:sp>
        <p:nvSpPr>
          <p:cNvPr id="586" name="Google Shape;586;p6"/>
          <p:cNvSpPr txBox="1"/>
          <p:nvPr/>
        </p:nvSpPr>
        <p:spPr>
          <a:xfrm>
            <a:off x="1691639" y="4974336"/>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53</a:t>
            </a:r>
            <a:endParaRPr/>
          </a:p>
        </p:txBody>
      </p:sp>
      <p:sp>
        <p:nvSpPr>
          <p:cNvPr id="587" name="Google Shape;587;p6"/>
          <p:cNvSpPr txBox="1"/>
          <p:nvPr/>
        </p:nvSpPr>
        <p:spPr>
          <a:xfrm>
            <a:off x="2404872" y="4974336"/>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45</a:t>
            </a:r>
            <a:endParaRPr/>
          </a:p>
        </p:txBody>
      </p:sp>
      <p:sp>
        <p:nvSpPr>
          <p:cNvPr id="588" name="Google Shape;588;p6"/>
          <p:cNvSpPr txBox="1"/>
          <p:nvPr/>
        </p:nvSpPr>
        <p:spPr>
          <a:xfrm>
            <a:off x="3026664" y="4974336"/>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C2626"/>
                </a:solidFill>
                <a:latin typeface="Calibri"/>
                <a:ea typeface="Calibri"/>
                <a:cs typeface="Calibri"/>
                <a:sym typeface="Calibri"/>
              </a:rPr>
              <a:t>8</a:t>
            </a:r>
            <a:endParaRPr/>
          </a:p>
        </p:txBody>
      </p:sp>
      <p:sp>
        <p:nvSpPr>
          <p:cNvPr id="589" name="Google Shape;589;p6"/>
          <p:cNvSpPr txBox="1"/>
          <p:nvPr/>
        </p:nvSpPr>
        <p:spPr>
          <a:xfrm>
            <a:off x="3739896" y="4974336"/>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85%</a:t>
            </a:r>
            <a:endParaRPr/>
          </a:p>
        </p:txBody>
      </p:sp>
      <p:sp>
        <p:nvSpPr>
          <p:cNvPr id="590" name="Google Shape;590;p6"/>
          <p:cNvSpPr txBox="1"/>
          <p:nvPr/>
        </p:nvSpPr>
        <p:spPr>
          <a:xfrm>
            <a:off x="4361688" y="4974336"/>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$406K</a:t>
            </a:r>
            <a:endParaRPr/>
          </a:p>
        </p:txBody>
      </p:sp>
      <p:sp>
        <p:nvSpPr>
          <p:cNvPr id="591" name="Google Shape;591;p6"/>
          <p:cNvSpPr txBox="1"/>
          <p:nvPr/>
        </p:nvSpPr>
        <p:spPr>
          <a:xfrm>
            <a:off x="5321807" y="497433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1190</a:t>
            </a:r>
            <a:endParaRPr/>
          </a:p>
        </p:txBody>
      </p:sp>
      <p:sp>
        <p:nvSpPr>
          <p:cNvPr id="592" name="Google Shape;592;p6"/>
          <p:cNvSpPr txBox="1"/>
          <p:nvPr/>
        </p:nvSpPr>
        <p:spPr>
          <a:xfrm>
            <a:off x="6126479" y="4974336"/>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27</a:t>
            </a:r>
            <a:endParaRPr/>
          </a:p>
        </p:txBody>
      </p:sp>
      <p:sp>
        <p:nvSpPr>
          <p:cNvPr id="593" name="Google Shape;593;p6"/>
          <p:cNvSpPr txBox="1"/>
          <p:nvPr/>
        </p:nvSpPr>
        <p:spPr>
          <a:xfrm>
            <a:off x="6857999" y="4974336"/>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$757K</a:t>
            </a:r>
            <a:endParaRPr/>
          </a:p>
        </p:txBody>
      </p:sp>
      <p:sp>
        <p:nvSpPr>
          <p:cNvPr id="594" name="Google Shape;594;p6"/>
          <p:cNvSpPr txBox="1"/>
          <p:nvPr/>
        </p:nvSpPr>
        <p:spPr>
          <a:xfrm>
            <a:off x="7818119" y="497433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$24K</a:t>
            </a:r>
            <a:endParaRPr/>
          </a:p>
        </p:txBody>
      </p:sp>
      <p:sp>
        <p:nvSpPr>
          <p:cNvPr id="595" name="Google Shape;595;p6"/>
          <p:cNvSpPr txBox="1"/>
          <p:nvPr/>
        </p:nvSpPr>
        <p:spPr>
          <a:xfrm>
            <a:off x="8622792" y="4974336"/>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$158K</a:t>
            </a:r>
            <a:endParaRPr/>
          </a:p>
        </p:txBody>
      </p:sp>
      <p:sp>
        <p:nvSpPr>
          <p:cNvPr id="596" name="Google Shape;596;p6"/>
          <p:cNvSpPr/>
          <p:nvPr/>
        </p:nvSpPr>
        <p:spPr>
          <a:xfrm>
            <a:off x="182880" y="5340096"/>
            <a:ext cx="9244584" cy="384048"/>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7" name="Google Shape;597;p6"/>
          <p:cNvSpPr txBox="1"/>
          <p:nvPr/>
        </p:nvSpPr>
        <p:spPr>
          <a:xfrm>
            <a:off x="182880" y="5358384"/>
            <a:ext cx="150876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Erika Cabrera</a:t>
            </a:r>
            <a:endParaRPr/>
          </a:p>
        </p:txBody>
      </p:sp>
      <p:sp>
        <p:nvSpPr>
          <p:cNvPr id="598" name="Google Shape;598;p6"/>
          <p:cNvSpPr txBox="1"/>
          <p:nvPr/>
        </p:nvSpPr>
        <p:spPr>
          <a:xfrm>
            <a:off x="1691639" y="5358384"/>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42</a:t>
            </a:r>
            <a:endParaRPr/>
          </a:p>
        </p:txBody>
      </p:sp>
      <p:sp>
        <p:nvSpPr>
          <p:cNvPr id="599" name="Google Shape;599;p6"/>
          <p:cNvSpPr txBox="1"/>
          <p:nvPr/>
        </p:nvSpPr>
        <p:spPr>
          <a:xfrm>
            <a:off x="2404872" y="5358384"/>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41</a:t>
            </a:r>
            <a:endParaRPr/>
          </a:p>
        </p:txBody>
      </p:sp>
      <p:sp>
        <p:nvSpPr>
          <p:cNvPr id="600" name="Google Shape;600;p6"/>
          <p:cNvSpPr txBox="1"/>
          <p:nvPr/>
        </p:nvSpPr>
        <p:spPr>
          <a:xfrm>
            <a:off x="3026664" y="5358384"/>
            <a:ext cx="71323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1</a:t>
            </a:r>
            <a:endParaRPr/>
          </a:p>
        </p:txBody>
      </p:sp>
      <p:sp>
        <p:nvSpPr>
          <p:cNvPr id="601" name="Google Shape;601;p6"/>
          <p:cNvSpPr txBox="1"/>
          <p:nvPr/>
        </p:nvSpPr>
        <p:spPr>
          <a:xfrm>
            <a:off x="3739896" y="5358384"/>
            <a:ext cx="62179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D97706"/>
                </a:solidFill>
                <a:latin typeface="Calibri"/>
                <a:ea typeface="Calibri"/>
                <a:cs typeface="Calibri"/>
                <a:sym typeface="Calibri"/>
              </a:rPr>
              <a:t>98%</a:t>
            </a:r>
            <a:endParaRPr/>
          </a:p>
        </p:txBody>
      </p:sp>
      <p:sp>
        <p:nvSpPr>
          <p:cNvPr id="602" name="Google Shape;602;p6"/>
          <p:cNvSpPr txBox="1"/>
          <p:nvPr/>
        </p:nvSpPr>
        <p:spPr>
          <a:xfrm>
            <a:off x="4361688" y="5358384"/>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$72K</a:t>
            </a:r>
            <a:endParaRPr/>
          </a:p>
        </p:txBody>
      </p:sp>
      <p:sp>
        <p:nvSpPr>
          <p:cNvPr id="603" name="Google Shape;603;p6"/>
          <p:cNvSpPr txBox="1"/>
          <p:nvPr/>
        </p:nvSpPr>
        <p:spPr>
          <a:xfrm>
            <a:off x="5321807" y="535838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2078</a:t>
            </a:r>
            <a:endParaRPr/>
          </a:p>
        </p:txBody>
      </p:sp>
      <p:sp>
        <p:nvSpPr>
          <p:cNvPr id="604" name="Google Shape;604;p6"/>
          <p:cNvSpPr txBox="1"/>
          <p:nvPr/>
        </p:nvSpPr>
        <p:spPr>
          <a:xfrm>
            <a:off x="6126479" y="5358384"/>
            <a:ext cx="7315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41</a:t>
            </a:r>
            <a:endParaRPr/>
          </a:p>
        </p:txBody>
      </p:sp>
      <p:sp>
        <p:nvSpPr>
          <p:cNvPr id="605" name="Google Shape;605;p6"/>
          <p:cNvSpPr txBox="1"/>
          <p:nvPr/>
        </p:nvSpPr>
        <p:spPr>
          <a:xfrm>
            <a:off x="6857999" y="5358384"/>
            <a:ext cx="9601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65F46"/>
                </a:solidFill>
                <a:latin typeface="Calibri"/>
                <a:ea typeface="Calibri"/>
                <a:cs typeface="Calibri"/>
                <a:sym typeface="Calibri"/>
              </a:rPr>
              <a:t>$513K</a:t>
            </a:r>
            <a:endParaRPr/>
          </a:p>
        </p:txBody>
      </p:sp>
      <p:sp>
        <p:nvSpPr>
          <p:cNvPr id="606" name="Google Shape;606;p6"/>
          <p:cNvSpPr txBox="1"/>
          <p:nvPr/>
        </p:nvSpPr>
        <p:spPr>
          <a:xfrm>
            <a:off x="7818119" y="535838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$0</a:t>
            </a:r>
            <a:endParaRPr/>
          </a:p>
        </p:txBody>
      </p:sp>
      <p:sp>
        <p:nvSpPr>
          <p:cNvPr id="607" name="Google Shape;607;p6"/>
          <p:cNvSpPr txBox="1"/>
          <p:nvPr/>
        </p:nvSpPr>
        <p:spPr>
          <a:xfrm>
            <a:off x="8622792" y="5358384"/>
            <a:ext cx="8046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DC2626"/>
                </a:solidFill>
                <a:latin typeface="Calibri"/>
                <a:ea typeface="Calibri"/>
                <a:cs typeface="Calibri"/>
                <a:sym typeface="Calibri"/>
              </a:rPr>
              <a:t>$188K</a:t>
            </a:r>
            <a:endParaRPr/>
          </a:p>
        </p:txBody>
      </p:sp>
      <p:sp>
        <p:nvSpPr>
          <p:cNvPr id="608" name="Google Shape;608;p6"/>
          <p:cNvSpPr/>
          <p:nvPr/>
        </p:nvSpPr>
        <p:spPr>
          <a:xfrm>
            <a:off x="182880" y="5797296"/>
            <a:ext cx="9244584" cy="219456"/>
          </a:xfrm>
          <a:prstGeom prst="rect">
            <a:avLst/>
          </a:prstGeom>
          <a:solidFill>
            <a:srgbClr val="37415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9" name="Google Shape;609;p6"/>
          <p:cNvSpPr txBox="1"/>
          <p:nvPr/>
        </p:nvSpPr>
        <p:spPr>
          <a:xfrm>
            <a:off x="274320" y="5833872"/>
            <a:ext cx="8970263"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FFFFFF"/>
                </a:solidFill>
                <a:latin typeface="Calibri"/>
                <a:ea typeface="Calibri"/>
                <a:cs typeface="Calibri"/>
                <a:sym typeface="Calibri"/>
              </a:rPr>
              <a:t>Unassigned Agencies — submitted in Q2 but not yet assigned to a rep</a:t>
            </a:r>
            <a:endParaRPr/>
          </a:p>
        </p:txBody>
      </p:sp>
      <p:sp>
        <p:nvSpPr>
          <p:cNvPr id="610" name="Google Shape;610;p6"/>
          <p:cNvSpPr/>
          <p:nvPr/>
        </p:nvSpPr>
        <p:spPr>
          <a:xfrm>
            <a:off x="182880" y="6016752"/>
            <a:ext cx="9244584" cy="34747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6"/>
          <p:cNvSpPr txBox="1"/>
          <p:nvPr/>
        </p:nvSpPr>
        <p:spPr>
          <a:xfrm>
            <a:off x="182880" y="6035040"/>
            <a:ext cx="1508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Unassigned</a:t>
            </a:r>
            <a:endParaRPr/>
          </a:p>
        </p:txBody>
      </p:sp>
      <p:sp>
        <p:nvSpPr>
          <p:cNvPr id="612" name="Google Shape;612;p6"/>
          <p:cNvSpPr txBox="1"/>
          <p:nvPr/>
        </p:nvSpPr>
        <p:spPr>
          <a:xfrm>
            <a:off x="1691639" y="6035040"/>
            <a:ext cx="71323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500</a:t>
            </a:r>
            <a:endParaRPr/>
          </a:p>
        </p:txBody>
      </p:sp>
      <p:sp>
        <p:nvSpPr>
          <p:cNvPr id="613" name="Google Shape;613;p6"/>
          <p:cNvSpPr txBox="1"/>
          <p:nvPr/>
        </p:nvSpPr>
        <p:spPr>
          <a:xfrm>
            <a:off x="2404872" y="6035040"/>
            <a:ext cx="62179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059669"/>
                </a:solidFill>
                <a:latin typeface="Calibri"/>
                <a:ea typeface="Calibri"/>
                <a:cs typeface="Calibri"/>
                <a:sym typeface="Calibri"/>
              </a:rPr>
              <a:t>500</a:t>
            </a:r>
            <a:endParaRPr/>
          </a:p>
        </p:txBody>
      </p:sp>
      <p:sp>
        <p:nvSpPr>
          <p:cNvPr id="614" name="Google Shape;614;p6"/>
          <p:cNvSpPr txBox="1"/>
          <p:nvPr/>
        </p:nvSpPr>
        <p:spPr>
          <a:xfrm>
            <a:off x="3026664" y="6035040"/>
            <a:ext cx="71323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a:t>
            </a:r>
            <a:endParaRPr/>
          </a:p>
        </p:txBody>
      </p:sp>
      <p:sp>
        <p:nvSpPr>
          <p:cNvPr id="615" name="Google Shape;615;p6"/>
          <p:cNvSpPr txBox="1"/>
          <p:nvPr/>
        </p:nvSpPr>
        <p:spPr>
          <a:xfrm>
            <a:off x="3739896" y="6035040"/>
            <a:ext cx="62179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a:t>
            </a:r>
            <a:endParaRPr/>
          </a:p>
        </p:txBody>
      </p:sp>
      <p:sp>
        <p:nvSpPr>
          <p:cNvPr id="616" name="Google Shape;616;p6"/>
          <p:cNvSpPr txBox="1"/>
          <p:nvPr/>
        </p:nvSpPr>
        <p:spPr>
          <a:xfrm>
            <a:off x="4361688" y="6035040"/>
            <a:ext cx="9601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$0</a:t>
            </a:r>
            <a:endParaRPr/>
          </a:p>
        </p:txBody>
      </p:sp>
      <p:sp>
        <p:nvSpPr>
          <p:cNvPr id="617" name="Google Shape;617;p6"/>
          <p:cNvSpPr txBox="1"/>
          <p:nvPr/>
        </p:nvSpPr>
        <p:spPr>
          <a:xfrm>
            <a:off x="5321807" y="6035040"/>
            <a:ext cx="80467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21055</a:t>
            </a:r>
            <a:endParaRPr/>
          </a:p>
        </p:txBody>
      </p:sp>
      <p:sp>
        <p:nvSpPr>
          <p:cNvPr id="618" name="Google Shape;618;p6"/>
          <p:cNvSpPr txBox="1"/>
          <p:nvPr/>
        </p:nvSpPr>
        <p:spPr>
          <a:xfrm>
            <a:off x="6126479" y="6035040"/>
            <a:ext cx="7315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111827"/>
                </a:solidFill>
                <a:latin typeface="Calibri"/>
                <a:ea typeface="Calibri"/>
                <a:cs typeface="Calibri"/>
                <a:sym typeface="Calibri"/>
              </a:rPr>
              <a:t>712</a:t>
            </a:r>
            <a:endParaRPr/>
          </a:p>
        </p:txBody>
      </p:sp>
      <p:sp>
        <p:nvSpPr>
          <p:cNvPr id="619" name="Google Shape;619;p6"/>
          <p:cNvSpPr txBox="1"/>
          <p:nvPr/>
        </p:nvSpPr>
        <p:spPr>
          <a:xfrm>
            <a:off x="6857999" y="6035040"/>
            <a:ext cx="9601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D28D9"/>
                </a:solidFill>
                <a:latin typeface="Calibri"/>
                <a:ea typeface="Calibri"/>
                <a:cs typeface="Calibri"/>
                <a:sym typeface="Calibri"/>
              </a:rPr>
              <a:t>$612K</a:t>
            </a:r>
            <a:endParaRPr/>
          </a:p>
        </p:txBody>
      </p:sp>
      <p:sp>
        <p:nvSpPr>
          <p:cNvPr id="620" name="Google Shape;620;p6"/>
          <p:cNvSpPr txBox="1"/>
          <p:nvPr/>
        </p:nvSpPr>
        <p:spPr>
          <a:xfrm>
            <a:off x="7818119" y="6035040"/>
            <a:ext cx="80467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a:t>
            </a:r>
            <a:endParaRPr/>
          </a:p>
        </p:txBody>
      </p:sp>
      <p:sp>
        <p:nvSpPr>
          <p:cNvPr id="621" name="Google Shape;621;p6"/>
          <p:cNvSpPr txBox="1"/>
          <p:nvPr/>
        </p:nvSpPr>
        <p:spPr>
          <a:xfrm>
            <a:off x="8622792" y="6035040"/>
            <a:ext cx="80467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6B7280"/>
                </a:solidFill>
                <a:latin typeface="Calibri"/>
                <a:ea typeface="Calibri"/>
                <a:cs typeface="Calibri"/>
                <a:sym typeface="Calibri"/>
              </a:rPr>
              <a:t>—</a:t>
            </a:r>
            <a:endParaRPr/>
          </a:p>
        </p:txBody>
      </p:sp>
      <p:sp>
        <p:nvSpPr>
          <p:cNvPr id="622" name="Google Shape;622;p6"/>
          <p:cNvSpPr/>
          <p:nvPr/>
        </p:nvSpPr>
        <p:spPr>
          <a:xfrm>
            <a:off x="182880" y="6419088"/>
            <a:ext cx="3044952" cy="36576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3" name="Google Shape;623;p6"/>
          <p:cNvSpPr/>
          <p:nvPr/>
        </p:nvSpPr>
        <p:spPr>
          <a:xfrm>
            <a:off x="182880" y="6419088"/>
            <a:ext cx="64008" cy="365760"/>
          </a:xfrm>
          <a:prstGeom prst="rect">
            <a:avLst/>
          </a:prstGeom>
          <a:solidFill>
            <a:srgbClr val="6D28D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4" name="Google Shape;624;p6"/>
          <p:cNvSpPr txBox="1"/>
          <p:nvPr/>
        </p:nvSpPr>
        <p:spPr>
          <a:xfrm>
            <a:off x="292608" y="6464808"/>
            <a:ext cx="594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D28D9"/>
                </a:solidFill>
                <a:latin typeface="Calibri"/>
                <a:ea typeface="Calibri"/>
                <a:cs typeface="Calibri"/>
                <a:sym typeface="Calibri"/>
              </a:rPr>
              <a:t>BDMs</a:t>
            </a:r>
            <a:endParaRPr/>
          </a:p>
        </p:txBody>
      </p:sp>
      <p:sp>
        <p:nvSpPr>
          <p:cNvPr id="625" name="Google Shape;625;p6"/>
          <p:cNvSpPr txBox="1"/>
          <p:nvPr/>
        </p:nvSpPr>
        <p:spPr>
          <a:xfrm>
            <a:off x="292608" y="6620256"/>
            <a:ext cx="2880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FFFFFF"/>
                </a:solidFill>
                <a:latin typeface="Calibri"/>
                <a:ea typeface="Calibri"/>
                <a:cs typeface="Calibri"/>
                <a:sym typeface="Calibri"/>
              </a:rPr>
              <a:t>199 portfolio  ·  193 active  ·  6 dormant</a:t>
            </a:r>
            <a:endParaRPr/>
          </a:p>
        </p:txBody>
      </p:sp>
      <p:sp>
        <p:nvSpPr>
          <p:cNvPr id="626" name="Google Shape;626;p6"/>
          <p:cNvSpPr/>
          <p:nvPr/>
        </p:nvSpPr>
        <p:spPr>
          <a:xfrm>
            <a:off x="3282696" y="6419088"/>
            <a:ext cx="3044952" cy="36576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6"/>
          <p:cNvSpPr/>
          <p:nvPr/>
        </p:nvSpPr>
        <p:spPr>
          <a:xfrm>
            <a:off x="3282696" y="6419088"/>
            <a:ext cx="64008" cy="365760"/>
          </a:xfrm>
          <a:prstGeom prst="rect">
            <a:avLst/>
          </a:prstGeom>
          <a:solidFill>
            <a:srgbClr val="065F4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6"/>
          <p:cNvSpPr txBox="1"/>
          <p:nvPr/>
        </p:nvSpPr>
        <p:spPr>
          <a:xfrm>
            <a:off x="3392424" y="6464808"/>
            <a:ext cx="594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065F46"/>
                </a:solidFill>
                <a:latin typeface="Calibri"/>
                <a:ea typeface="Calibri"/>
                <a:cs typeface="Calibri"/>
                <a:sym typeface="Calibri"/>
              </a:rPr>
              <a:t>BDAs</a:t>
            </a:r>
            <a:endParaRPr/>
          </a:p>
        </p:txBody>
      </p:sp>
      <p:sp>
        <p:nvSpPr>
          <p:cNvPr id="629" name="Google Shape;629;p6"/>
          <p:cNvSpPr txBox="1"/>
          <p:nvPr/>
        </p:nvSpPr>
        <p:spPr>
          <a:xfrm>
            <a:off x="3392424" y="6620256"/>
            <a:ext cx="2880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FFFFFF"/>
                </a:solidFill>
                <a:latin typeface="Calibri"/>
                <a:ea typeface="Calibri"/>
                <a:cs typeface="Calibri"/>
                <a:sym typeface="Calibri"/>
              </a:rPr>
              <a:t>211 portfolio  ·  199 active  ·  12 dormant</a:t>
            </a:r>
            <a:endParaRPr/>
          </a:p>
        </p:txBody>
      </p:sp>
      <p:sp>
        <p:nvSpPr>
          <p:cNvPr id="630" name="Google Shape;630;p6"/>
          <p:cNvSpPr/>
          <p:nvPr/>
        </p:nvSpPr>
        <p:spPr>
          <a:xfrm>
            <a:off x="6382512" y="6419088"/>
            <a:ext cx="3044952" cy="36576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6"/>
          <p:cNvSpPr/>
          <p:nvPr/>
        </p:nvSpPr>
        <p:spPr>
          <a:xfrm>
            <a:off x="6382512" y="6419088"/>
            <a:ext cx="64008" cy="365760"/>
          </a:xfrm>
          <a:prstGeom prst="rect">
            <a:avLst/>
          </a:prstGeom>
          <a:solidFill>
            <a:srgbClr val="A0AEC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6"/>
          <p:cNvSpPr txBox="1"/>
          <p:nvPr/>
        </p:nvSpPr>
        <p:spPr>
          <a:xfrm>
            <a:off x="6492240" y="6464808"/>
            <a:ext cx="594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A0AEC0"/>
                </a:solidFill>
                <a:latin typeface="Calibri"/>
                <a:ea typeface="Calibri"/>
                <a:cs typeface="Calibri"/>
                <a:sym typeface="Calibri"/>
              </a:rPr>
              <a:t>TEAM</a:t>
            </a:r>
            <a:endParaRPr/>
          </a:p>
        </p:txBody>
      </p:sp>
      <p:sp>
        <p:nvSpPr>
          <p:cNvPr id="633" name="Google Shape;633;p6"/>
          <p:cNvSpPr txBox="1"/>
          <p:nvPr/>
        </p:nvSpPr>
        <p:spPr>
          <a:xfrm>
            <a:off x="6492240" y="6620256"/>
            <a:ext cx="2880360" cy="1463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FFFFFF"/>
                </a:solidFill>
                <a:latin typeface="Calibri"/>
                <a:ea typeface="Calibri"/>
                <a:cs typeface="Calibri"/>
                <a:sym typeface="Calibri"/>
              </a:rPr>
              <a:t>410 portfolio  ·  392 active  ·  96% engaged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8" name="Shape 638"/>
        <p:cNvGrpSpPr/>
        <p:nvPr/>
      </p:nvGrpSpPr>
      <p:grpSpPr>
        <a:xfrm>
          <a:off x="0" y="0"/>
          <a:ext cx="0" cy="0"/>
          <a:chOff x="0" y="0"/>
          <a:chExt cx="0" cy="0"/>
        </a:xfrm>
      </p:grpSpPr>
      <p:sp>
        <p:nvSpPr>
          <p:cNvPr id="639" name="Google Shape;639;p7"/>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7"/>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Dormant Agencies  |  Detail by Rep</a:t>
            </a:r>
            <a:endParaRPr/>
          </a:p>
        </p:txBody>
      </p:sp>
      <p:sp>
        <p:nvSpPr>
          <p:cNvPr id="641" name="Google Shape;641;p7"/>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Agencies in each rep's HubSpot portfolio with zero 2026 submissions  |  Refreshed 2026-05-12</a:t>
            </a:r>
            <a:endParaRPr/>
          </a:p>
        </p:txBody>
      </p:sp>
      <p:sp>
        <p:nvSpPr>
          <p:cNvPr id="642" name="Google Shape;642;p7"/>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643" name="Google Shape;643;p7"/>
          <p:cNvSpPr txBox="1"/>
          <p:nvPr/>
        </p:nvSpPr>
        <p:spPr>
          <a:xfrm>
            <a:off x="274320" y="868680"/>
            <a:ext cx="5623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C1D95"/>
                </a:solidFill>
                <a:latin typeface="Georgia"/>
                <a:ea typeface="Georgia"/>
                <a:cs typeface="Georgia"/>
                <a:sym typeface="Georgia"/>
              </a:rPr>
              <a:t>BDMs  (3 reps with dormant agencies)</a:t>
            </a:r>
            <a:endParaRPr/>
          </a:p>
        </p:txBody>
      </p:sp>
      <p:sp>
        <p:nvSpPr>
          <p:cNvPr id="644" name="Google Shape;644;p7"/>
          <p:cNvSpPr txBox="1"/>
          <p:nvPr/>
        </p:nvSpPr>
        <p:spPr>
          <a:xfrm>
            <a:off x="6263640" y="868680"/>
            <a:ext cx="56235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C1D95"/>
                </a:solidFill>
                <a:latin typeface="Georgia"/>
                <a:ea typeface="Georgia"/>
                <a:cs typeface="Georgia"/>
                <a:sym typeface="Georgia"/>
              </a:rPr>
              <a:t>BDAs  (5 reps with dormant agencies)</a:t>
            </a:r>
            <a:endParaRPr/>
          </a:p>
        </p:txBody>
      </p:sp>
      <p:sp>
        <p:nvSpPr>
          <p:cNvPr id="645" name="Google Shape;645;p7"/>
          <p:cNvSpPr/>
          <p:nvPr/>
        </p:nvSpPr>
        <p:spPr>
          <a:xfrm>
            <a:off x="274320" y="1280160"/>
            <a:ext cx="5623560" cy="841248"/>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7"/>
          <p:cNvSpPr/>
          <p:nvPr/>
        </p:nvSpPr>
        <p:spPr>
          <a:xfrm>
            <a:off x="274320" y="1280160"/>
            <a:ext cx="54864" cy="841248"/>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7"/>
          <p:cNvSpPr txBox="1"/>
          <p:nvPr/>
        </p:nvSpPr>
        <p:spPr>
          <a:xfrm>
            <a:off x="420623" y="1335024"/>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Ron Douglas</a:t>
            </a:r>
            <a:endParaRPr/>
          </a:p>
        </p:txBody>
      </p:sp>
      <p:sp>
        <p:nvSpPr>
          <p:cNvPr id="648" name="Google Shape;648;p7"/>
          <p:cNvSpPr txBox="1"/>
          <p:nvPr/>
        </p:nvSpPr>
        <p:spPr>
          <a:xfrm>
            <a:off x="4663440" y="1353312"/>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97706"/>
                </a:solidFill>
                <a:latin typeface="Calibri"/>
                <a:ea typeface="Calibri"/>
                <a:cs typeface="Calibri"/>
                <a:sym typeface="Calibri"/>
              </a:rPr>
              <a:t>1 dormant</a:t>
            </a:r>
            <a:endParaRPr/>
          </a:p>
        </p:txBody>
      </p:sp>
      <p:sp>
        <p:nvSpPr>
          <p:cNvPr id="649" name="Google Shape;649;p7"/>
          <p:cNvSpPr txBox="1"/>
          <p:nvPr/>
        </p:nvSpPr>
        <p:spPr>
          <a:xfrm>
            <a:off x="420623" y="1554480"/>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1 of 35 agencies dormant</a:t>
            </a:r>
            <a:endParaRPr/>
          </a:p>
        </p:txBody>
      </p:sp>
      <p:sp>
        <p:nvSpPr>
          <p:cNvPr id="650" name="Google Shape;650;p7"/>
          <p:cNvSpPr txBox="1"/>
          <p:nvPr/>
        </p:nvSpPr>
        <p:spPr>
          <a:xfrm>
            <a:off x="457200" y="175564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651" name="Google Shape;651;p7"/>
          <p:cNvSpPr txBox="1"/>
          <p:nvPr/>
        </p:nvSpPr>
        <p:spPr>
          <a:xfrm>
            <a:off x="585216" y="173736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Southwest Insurance, LLC</a:t>
            </a:r>
            <a:endParaRPr/>
          </a:p>
        </p:txBody>
      </p:sp>
      <p:sp>
        <p:nvSpPr>
          <p:cNvPr id="652" name="Google Shape;652;p7"/>
          <p:cNvSpPr/>
          <p:nvPr/>
        </p:nvSpPr>
        <p:spPr>
          <a:xfrm>
            <a:off x="274320" y="2286000"/>
            <a:ext cx="5623560" cy="1042416"/>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3" name="Google Shape;653;p7"/>
          <p:cNvSpPr/>
          <p:nvPr/>
        </p:nvSpPr>
        <p:spPr>
          <a:xfrm>
            <a:off x="274320" y="2286000"/>
            <a:ext cx="54864" cy="1042416"/>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7"/>
          <p:cNvSpPr txBox="1"/>
          <p:nvPr/>
        </p:nvSpPr>
        <p:spPr>
          <a:xfrm>
            <a:off x="420623" y="2340864"/>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Derrick Leroy</a:t>
            </a:r>
            <a:endParaRPr/>
          </a:p>
        </p:txBody>
      </p:sp>
      <p:sp>
        <p:nvSpPr>
          <p:cNvPr id="655" name="Google Shape;655;p7"/>
          <p:cNvSpPr txBox="1"/>
          <p:nvPr/>
        </p:nvSpPr>
        <p:spPr>
          <a:xfrm>
            <a:off x="4663440" y="2359152"/>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97706"/>
                </a:solidFill>
                <a:latin typeface="Calibri"/>
                <a:ea typeface="Calibri"/>
                <a:cs typeface="Calibri"/>
                <a:sym typeface="Calibri"/>
              </a:rPr>
              <a:t>2 dormant</a:t>
            </a:r>
            <a:endParaRPr/>
          </a:p>
        </p:txBody>
      </p:sp>
      <p:sp>
        <p:nvSpPr>
          <p:cNvPr id="656" name="Google Shape;656;p7"/>
          <p:cNvSpPr txBox="1"/>
          <p:nvPr/>
        </p:nvSpPr>
        <p:spPr>
          <a:xfrm>
            <a:off x="420623" y="2560320"/>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2 of 30 agencies dormant</a:t>
            </a:r>
            <a:endParaRPr/>
          </a:p>
        </p:txBody>
      </p:sp>
      <p:sp>
        <p:nvSpPr>
          <p:cNvPr id="657" name="Google Shape;657;p7"/>
          <p:cNvSpPr txBox="1"/>
          <p:nvPr/>
        </p:nvSpPr>
        <p:spPr>
          <a:xfrm>
            <a:off x="457200" y="276148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658" name="Google Shape;658;p7"/>
          <p:cNvSpPr txBox="1"/>
          <p:nvPr/>
        </p:nvSpPr>
        <p:spPr>
          <a:xfrm>
            <a:off x="585216" y="274320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Awesome Group Llc Dba Phoenix Services Ltd</a:t>
            </a:r>
            <a:endParaRPr/>
          </a:p>
        </p:txBody>
      </p:sp>
      <p:sp>
        <p:nvSpPr>
          <p:cNvPr id="659" name="Google Shape;659;p7"/>
          <p:cNvSpPr txBox="1"/>
          <p:nvPr/>
        </p:nvSpPr>
        <p:spPr>
          <a:xfrm>
            <a:off x="457200" y="294436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660" name="Google Shape;660;p7"/>
          <p:cNvSpPr txBox="1"/>
          <p:nvPr/>
        </p:nvSpPr>
        <p:spPr>
          <a:xfrm>
            <a:off x="585216" y="292608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Eagles Insurnace Agency Llc</a:t>
            </a:r>
            <a:endParaRPr/>
          </a:p>
        </p:txBody>
      </p:sp>
      <p:sp>
        <p:nvSpPr>
          <p:cNvPr id="661" name="Google Shape;661;p7"/>
          <p:cNvSpPr/>
          <p:nvPr/>
        </p:nvSpPr>
        <p:spPr>
          <a:xfrm>
            <a:off x="274320" y="3493008"/>
            <a:ext cx="5623560" cy="1243584"/>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7"/>
          <p:cNvSpPr/>
          <p:nvPr/>
        </p:nvSpPr>
        <p:spPr>
          <a:xfrm>
            <a:off x="274320" y="3493008"/>
            <a:ext cx="54864" cy="1243584"/>
          </a:xfrm>
          <a:prstGeom prst="rect">
            <a:avLst/>
          </a:prstGeom>
          <a:solidFill>
            <a:srgbClr val="EA580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3" name="Google Shape;663;p7"/>
          <p:cNvSpPr txBox="1"/>
          <p:nvPr/>
        </p:nvSpPr>
        <p:spPr>
          <a:xfrm>
            <a:off x="420623" y="3547872"/>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Westy McLaughlin</a:t>
            </a:r>
            <a:endParaRPr/>
          </a:p>
        </p:txBody>
      </p:sp>
      <p:sp>
        <p:nvSpPr>
          <p:cNvPr id="664" name="Google Shape;664;p7"/>
          <p:cNvSpPr txBox="1"/>
          <p:nvPr/>
        </p:nvSpPr>
        <p:spPr>
          <a:xfrm>
            <a:off x="4663440" y="3566160"/>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EA580C"/>
                </a:solidFill>
                <a:latin typeface="Calibri"/>
                <a:ea typeface="Calibri"/>
                <a:cs typeface="Calibri"/>
                <a:sym typeface="Calibri"/>
              </a:rPr>
              <a:t>3 dormant</a:t>
            </a:r>
            <a:endParaRPr/>
          </a:p>
        </p:txBody>
      </p:sp>
      <p:sp>
        <p:nvSpPr>
          <p:cNvPr id="665" name="Google Shape;665;p7"/>
          <p:cNvSpPr txBox="1"/>
          <p:nvPr/>
        </p:nvSpPr>
        <p:spPr>
          <a:xfrm>
            <a:off x="420623" y="3767328"/>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3 of 14 agencies dormant</a:t>
            </a:r>
            <a:endParaRPr/>
          </a:p>
        </p:txBody>
      </p:sp>
      <p:sp>
        <p:nvSpPr>
          <p:cNvPr id="666" name="Google Shape;666;p7"/>
          <p:cNvSpPr txBox="1"/>
          <p:nvPr/>
        </p:nvSpPr>
        <p:spPr>
          <a:xfrm>
            <a:off x="457200" y="3968496"/>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EA580C"/>
                </a:solidFill>
                <a:latin typeface="Calibri"/>
                <a:ea typeface="Calibri"/>
                <a:cs typeface="Calibri"/>
                <a:sym typeface="Calibri"/>
              </a:rPr>
              <a:t>•</a:t>
            </a:r>
            <a:endParaRPr/>
          </a:p>
        </p:txBody>
      </p:sp>
      <p:sp>
        <p:nvSpPr>
          <p:cNvPr id="667" name="Google Shape;667;p7"/>
          <p:cNvSpPr txBox="1"/>
          <p:nvPr/>
        </p:nvSpPr>
        <p:spPr>
          <a:xfrm>
            <a:off x="585216" y="3950208"/>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Block Insurance</a:t>
            </a:r>
            <a:endParaRPr/>
          </a:p>
        </p:txBody>
      </p:sp>
      <p:sp>
        <p:nvSpPr>
          <p:cNvPr id="668" name="Google Shape;668;p7"/>
          <p:cNvSpPr txBox="1"/>
          <p:nvPr/>
        </p:nvSpPr>
        <p:spPr>
          <a:xfrm>
            <a:off x="457200" y="4151376"/>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EA580C"/>
                </a:solidFill>
                <a:latin typeface="Calibri"/>
                <a:ea typeface="Calibri"/>
                <a:cs typeface="Calibri"/>
                <a:sym typeface="Calibri"/>
              </a:rPr>
              <a:t>•</a:t>
            </a:r>
            <a:endParaRPr/>
          </a:p>
        </p:txBody>
      </p:sp>
      <p:sp>
        <p:nvSpPr>
          <p:cNvPr id="669" name="Google Shape;669;p7"/>
          <p:cNvSpPr txBox="1"/>
          <p:nvPr/>
        </p:nvSpPr>
        <p:spPr>
          <a:xfrm>
            <a:off x="585216" y="4133088"/>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RRL Insurance</a:t>
            </a:r>
            <a:endParaRPr/>
          </a:p>
        </p:txBody>
      </p:sp>
      <p:sp>
        <p:nvSpPr>
          <p:cNvPr id="670" name="Google Shape;670;p7"/>
          <p:cNvSpPr txBox="1"/>
          <p:nvPr/>
        </p:nvSpPr>
        <p:spPr>
          <a:xfrm>
            <a:off x="457200" y="4334256"/>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EA580C"/>
                </a:solidFill>
                <a:latin typeface="Calibri"/>
                <a:ea typeface="Calibri"/>
                <a:cs typeface="Calibri"/>
                <a:sym typeface="Calibri"/>
              </a:rPr>
              <a:t>•</a:t>
            </a:r>
            <a:endParaRPr/>
          </a:p>
        </p:txBody>
      </p:sp>
      <p:sp>
        <p:nvSpPr>
          <p:cNvPr id="671" name="Google Shape;671;p7"/>
          <p:cNvSpPr txBox="1"/>
          <p:nvPr/>
        </p:nvSpPr>
        <p:spPr>
          <a:xfrm>
            <a:off x="585216" y="4315968"/>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Robertson Ryan</a:t>
            </a:r>
            <a:endParaRPr/>
          </a:p>
        </p:txBody>
      </p:sp>
      <p:sp>
        <p:nvSpPr>
          <p:cNvPr id="672" name="Google Shape;672;p7"/>
          <p:cNvSpPr/>
          <p:nvPr/>
        </p:nvSpPr>
        <p:spPr>
          <a:xfrm>
            <a:off x="6263640" y="1280160"/>
            <a:ext cx="5623560" cy="841248"/>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7"/>
          <p:cNvSpPr/>
          <p:nvPr/>
        </p:nvSpPr>
        <p:spPr>
          <a:xfrm>
            <a:off x="6263640" y="1280160"/>
            <a:ext cx="54864" cy="841248"/>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7"/>
          <p:cNvSpPr txBox="1"/>
          <p:nvPr/>
        </p:nvSpPr>
        <p:spPr>
          <a:xfrm>
            <a:off x="6409944" y="1335024"/>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Cameron Brader</a:t>
            </a:r>
            <a:endParaRPr/>
          </a:p>
        </p:txBody>
      </p:sp>
      <p:sp>
        <p:nvSpPr>
          <p:cNvPr id="675" name="Google Shape;675;p7"/>
          <p:cNvSpPr txBox="1"/>
          <p:nvPr/>
        </p:nvSpPr>
        <p:spPr>
          <a:xfrm>
            <a:off x="10652760" y="1353312"/>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97706"/>
                </a:solidFill>
                <a:latin typeface="Calibri"/>
                <a:ea typeface="Calibri"/>
                <a:cs typeface="Calibri"/>
                <a:sym typeface="Calibri"/>
              </a:rPr>
              <a:t>1 dormant</a:t>
            </a:r>
            <a:endParaRPr/>
          </a:p>
        </p:txBody>
      </p:sp>
      <p:sp>
        <p:nvSpPr>
          <p:cNvPr id="676" name="Google Shape;676;p7"/>
          <p:cNvSpPr txBox="1"/>
          <p:nvPr/>
        </p:nvSpPr>
        <p:spPr>
          <a:xfrm>
            <a:off x="6409944" y="1554480"/>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1 of 48 agencies dormant</a:t>
            </a:r>
            <a:endParaRPr/>
          </a:p>
        </p:txBody>
      </p:sp>
      <p:sp>
        <p:nvSpPr>
          <p:cNvPr id="677" name="Google Shape;677;p7"/>
          <p:cNvSpPr txBox="1"/>
          <p:nvPr/>
        </p:nvSpPr>
        <p:spPr>
          <a:xfrm>
            <a:off x="6446520" y="175564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678" name="Google Shape;678;p7"/>
          <p:cNvSpPr txBox="1"/>
          <p:nvPr/>
        </p:nvSpPr>
        <p:spPr>
          <a:xfrm>
            <a:off x="6574536" y="173736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Trinity Ins Services Llc</a:t>
            </a:r>
            <a:endParaRPr/>
          </a:p>
        </p:txBody>
      </p:sp>
      <p:sp>
        <p:nvSpPr>
          <p:cNvPr id="679" name="Google Shape;679;p7"/>
          <p:cNvSpPr/>
          <p:nvPr/>
        </p:nvSpPr>
        <p:spPr>
          <a:xfrm>
            <a:off x="6263640" y="2286000"/>
            <a:ext cx="5623560" cy="841248"/>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7"/>
          <p:cNvSpPr/>
          <p:nvPr/>
        </p:nvSpPr>
        <p:spPr>
          <a:xfrm>
            <a:off x="6263640" y="2286000"/>
            <a:ext cx="54864" cy="841248"/>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1" name="Google Shape;681;p7"/>
          <p:cNvSpPr txBox="1"/>
          <p:nvPr/>
        </p:nvSpPr>
        <p:spPr>
          <a:xfrm>
            <a:off x="6409944" y="2340864"/>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Erika Cabrera</a:t>
            </a:r>
            <a:endParaRPr/>
          </a:p>
        </p:txBody>
      </p:sp>
      <p:sp>
        <p:nvSpPr>
          <p:cNvPr id="682" name="Google Shape;682;p7"/>
          <p:cNvSpPr txBox="1"/>
          <p:nvPr/>
        </p:nvSpPr>
        <p:spPr>
          <a:xfrm>
            <a:off x="10652760" y="2359152"/>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97706"/>
                </a:solidFill>
                <a:latin typeface="Calibri"/>
                <a:ea typeface="Calibri"/>
                <a:cs typeface="Calibri"/>
                <a:sym typeface="Calibri"/>
              </a:rPr>
              <a:t>1 dormant</a:t>
            </a:r>
            <a:endParaRPr/>
          </a:p>
        </p:txBody>
      </p:sp>
      <p:sp>
        <p:nvSpPr>
          <p:cNvPr id="683" name="Google Shape;683;p7"/>
          <p:cNvSpPr txBox="1"/>
          <p:nvPr/>
        </p:nvSpPr>
        <p:spPr>
          <a:xfrm>
            <a:off x="6409944" y="2560320"/>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1 of 42 agencies dormant</a:t>
            </a:r>
            <a:endParaRPr/>
          </a:p>
        </p:txBody>
      </p:sp>
      <p:sp>
        <p:nvSpPr>
          <p:cNvPr id="684" name="Google Shape;684;p7"/>
          <p:cNvSpPr txBox="1"/>
          <p:nvPr/>
        </p:nvSpPr>
        <p:spPr>
          <a:xfrm>
            <a:off x="6446520" y="276148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685" name="Google Shape;685;p7"/>
          <p:cNvSpPr txBox="1"/>
          <p:nvPr/>
        </p:nvSpPr>
        <p:spPr>
          <a:xfrm>
            <a:off x="6574536" y="274320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J.c.a. Consultant, Inc.</a:t>
            </a:r>
            <a:endParaRPr/>
          </a:p>
        </p:txBody>
      </p:sp>
      <p:sp>
        <p:nvSpPr>
          <p:cNvPr id="686" name="Google Shape;686;p7"/>
          <p:cNvSpPr/>
          <p:nvPr/>
        </p:nvSpPr>
        <p:spPr>
          <a:xfrm>
            <a:off x="6263640" y="3291840"/>
            <a:ext cx="5623560" cy="2249424"/>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7" name="Google Shape;687;p7"/>
          <p:cNvSpPr/>
          <p:nvPr/>
        </p:nvSpPr>
        <p:spPr>
          <a:xfrm>
            <a:off x="6263640" y="3291840"/>
            <a:ext cx="54864" cy="22494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7"/>
          <p:cNvSpPr txBox="1"/>
          <p:nvPr/>
        </p:nvSpPr>
        <p:spPr>
          <a:xfrm>
            <a:off x="6409944" y="3346704"/>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Portia Lewis</a:t>
            </a:r>
            <a:endParaRPr/>
          </a:p>
        </p:txBody>
      </p:sp>
      <p:sp>
        <p:nvSpPr>
          <p:cNvPr id="689" name="Google Shape;689;p7"/>
          <p:cNvSpPr txBox="1"/>
          <p:nvPr/>
        </p:nvSpPr>
        <p:spPr>
          <a:xfrm>
            <a:off x="10652760" y="3364992"/>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C2626"/>
                </a:solidFill>
                <a:latin typeface="Calibri"/>
                <a:ea typeface="Calibri"/>
                <a:cs typeface="Calibri"/>
                <a:sym typeface="Calibri"/>
              </a:rPr>
              <a:t>8 dormant</a:t>
            </a:r>
            <a:endParaRPr/>
          </a:p>
        </p:txBody>
      </p:sp>
      <p:sp>
        <p:nvSpPr>
          <p:cNvPr id="690" name="Google Shape;690;p7"/>
          <p:cNvSpPr txBox="1"/>
          <p:nvPr/>
        </p:nvSpPr>
        <p:spPr>
          <a:xfrm>
            <a:off x="6409944" y="3566160"/>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8 of 53 agencies dormant</a:t>
            </a:r>
            <a:endParaRPr/>
          </a:p>
        </p:txBody>
      </p:sp>
      <p:sp>
        <p:nvSpPr>
          <p:cNvPr id="691" name="Google Shape;691;p7"/>
          <p:cNvSpPr txBox="1"/>
          <p:nvPr/>
        </p:nvSpPr>
        <p:spPr>
          <a:xfrm>
            <a:off x="6446520" y="376732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692" name="Google Shape;692;p7"/>
          <p:cNvSpPr txBox="1"/>
          <p:nvPr/>
        </p:nvSpPr>
        <p:spPr>
          <a:xfrm>
            <a:off x="6574536" y="374904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Allcom Insurance Corporation</a:t>
            </a:r>
            <a:endParaRPr/>
          </a:p>
        </p:txBody>
      </p:sp>
      <p:sp>
        <p:nvSpPr>
          <p:cNvPr id="693" name="Google Shape;693;p7"/>
          <p:cNvSpPr txBox="1"/>
          <p:nvPr/>
        </p:nvSpPr>
        <p:spPr>
          <a:xfrm>
            <a:off x="6446520" y="395020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694" name="Google Shape;694;p7"/>
          <p:cNvSpPr txBox="1"/>
          <p:nvPr/>
        </p:nvSpPr>
        <p:spPr>
          <a:xfrm>
            <a:off x="6574536" y="393192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Allstars Insurance Partners, Inc</a:t>
            </a:r>
            <a:endParaRPr/>
          </a:p>
        </p:txBody>
      </p:sp>
      <p:sp>
        <p:nvSpPr>
          <p:cNvPr id="695" name="Google Shape;695;p7"/>
          <p:cNvSpPr txBox="1"/>
          <p:nvPr/>
        </p:nvSpPr>
        <p:spPr>
          <a:xfrm>
            <a:off x="6446520" y="413308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696" name="Google Shape;696;p7"/>
          <p:cNvSpPr txBox="1"/>
          <p:nvPr/>
        </p:nvSpPr>
        <p:spPr>
          <a:xfrm>
            <a:off x="6574536" y="411480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Assured Insurance Consultants, LLC</a:t>
            </a:r>
            <a:endParaRPr/>
          </a:p>
        </p:txBody>
      </p:sp>
      <p:sp>
        <p:nvSpPr>
          <p:cNvPr id="697" name="Google Shape;697;p7"/>
          <p:cNvSpPr txBox="1"/>
          <p:nvPr/>
        </p:nvSpPr>
        <p:spPr>
          <a:xfrm>
            <a:off x="6446520" y="431596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698" name="Google Shape;698;p7"/>
          <p:cNvSpPr txBox="1"/>
          <p:nvPr/>
        </p:nvSpPr>
        <p:spPr>
          <a:xfrm>
            <a:off x="6574536" y="429768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Clark Farley Insurance Agency - A Relation Company</a:t>
            </a:r>
            <a:endParaRPr/>
          </a:p>
        </p:txBody>
      </p:sp>
      <p:sp>
        <p:nvSpPr>
          <p:cNvPr id="699" name="Google Shape;699;p7"/>
          <p:cNvSpPr txBox="1"/>
          <p:nvPr/>
        </p:nvSpPr>
        <p:spPr>
          <a:xfrm>
            <a:off x="6446520" y="449884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700" name="Google Shape;700;p7"/>
          <p:cNvSpPr txBox="1"/>
          <p:nvPr/>
        </p:nvSpPr>
        <p:spPr>
          <a:xfrm>
            <a:off x="6574536" y="448056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Lake Marion Agency LLC</a:t>
            </a:r>
            <a:endParaRPr/>
          </a:p>
        </p:txBody>
      </p:sp>
      <p:sp>
        <p:nvSpPr>
          <p:cNvPr id="701" name="Google Shape;701;p7"/>
          <p:cNvSpPr txBox="1"/>
          <p:nvPr/>
        </p:nvSpPr>
        <p:spPr>
          <a:xfrm>
            <a:off x="6446520" y="468172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702" name="Google Shape;702;p7"/>
          <p:cNvSpPr txBox="1"/>
          <p:nvPr/>
        </p:nvSpPr>
        <p:spPr>
          <a:xfrm>
            <a:off x="6574536" y="466344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Paramount Trucking Specialist Llc</a:t>
            </a:r>
            <a:endParaRPr/>
          </a:p>
        </p:txBody>
      </p:sp>
      <p:sp>
        <p:nvSpPr>
          <p:cNvPr id="703" name="Google Shape;703;p7"/>
          <p:cNvSpPr txBox="1"/>
          <p:nvPr/>
        </p:nvSpPr>
        <p:spPr>
          <a:xfrm>
            <a:off x="6446520" y="486460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704" name="Google Shape;704;p7"/>
          <p:cNvSpPr txBox="1"/>
          <p:nvPr/>
        </p:nvSpPr>
        <p:spPr>
          <a:xfrm>
            <a:off x="6574536" y="484632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Patrick Phillips Insurance Agency,</a:t>
            </a:r>
            <a:endParaRPr/>
          </a:p>
        </p:txBody>
      </p:sp>
      <p:sp>
        <p:nvSpPr>
          <p:cNvPr id="705" name="Google Shape;705;p7"/>
          <p:cNvSpPr txBox="1"/>
          <p:nvPr/>
        </p:nvSpPr>
        <p:spPr>
          <a:xfrm>
            <a:off x="6446520" y="5047488"/>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C2626"/>
                </a:solidFill>
                <a:latin typeface="Calibri"/>
                <a:ea typeface="Calibri"/>
                <a:cs typeface="Calibri"/>
                <a:sym typeface="Calibri"/>
              </a:rPr>
              <a:t>•</a:t>
            </a:r>
            <a:endParaRPr/>
          </a:p>
        </p:txBody>
      </p:sp>
      <p:sp>
        <p:nvSpPr>
          <p:cNvPr id="706" name="Google Shape;706;p7"/>
          <p:cNvSpPr txBox="1"/>
          <p:nvPr/>
        </p:nvSpPr>
        <p:spPr>
          <a:xfrm>
            <a:off x="6574536" y="5029200"/>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TransRisk LLC</a:t>
            </a:r>
            <a:endParaRPr/>
          </a:p>
        </p:txBody>
      </p:sp>
      <p:sp>
        <p:nvSpPr>
          <p:cNvPr id="707" name="Google Shape;707;p7"/>
          <p:cNvSpPr/>
          <p:nvPr/>
        </p:nvSpPr>
        <p:spPr>
          <a:xfrm>
            <a:off x="6263640" y="5705856"/>
            <a:ext cx="5623560" cy="841248"/>
          </a:xfrm>
          <a:prstGeom prst="rect">
            <a:avLst/>
          </a:prstGeom>
          <a:solidFill>
            <a:srgbClr val="F9FAFB"/>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8" name="Google Shape;708;p7"/>
          <p:cNvSpPr/>
          <p:nvPr/>
        </p:nvSpPr>
        <p:spPr>
          <a:xfrm>
            <a:off x="6263640" y="5705856"/>
            <a:ext cx="54864" cy="841248"/>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9" name="Google Shape;709;p7"/>
          <p:cNvSpPr txBox="1"/>
          <p:nvPr/>
        </p:nvSpPr>
        <p:spPr>
          <a:xfrm>
            <a:off x="6409944" y="5760720"/>
            <a:ext cx="42519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11827"/>
                </a:solidFill>
                <a:latin typeface="Calibri"/>
                <a:ea typeface="Calibri"/>
                <a:cs typeface="Calibri"/>
                <a:sym typeface="Calibri"/>
              </a:rPr>
              <a:t>Taylor Sloan</a:t>
            </a:r>
            <a:endParaRPr/>
          </a:p>
        </p:txBody>
      </p:sp>
      <p:sp>
        <p:nvSpPr>
          <p:cNvPr id="710" name="Google Shape;710;p7"/>
          <p:cNvSpPr txBox="1"/>
          <p:nvPr/>
        </p:nvSpPr>
        <p:spPr>
          <a:xfrm>
            <a:off x="10652760" y="5779008"/>
            <a:ext cx="1097280" cy="21945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D97706"/>
                </a:solidFill>
                <a:latin typeface="Calibri"/>
                <a:ea typeface="Calibri"/>
                <a:cs typeface="Calibri"/>
                <a:sym typeface="Calibri"/>
              </a:rPr>
              <a:t>1 dormant</a:t>
            </a:r>
            <a:endParaRPr/>
          </a:p>
        </p:txBody>
      </p:sp>
      <p:sp>
        <p:nvSpPr>
          <p:cNvPr id="711" name="Google Shape;711;p7"/>
          <p:cNvSpPr txBox="1"/>
          <p:nvPr/>
        </p:nvSpPr>
        <p:spPr>
          <a:xfrm>
            <a:off x="6409944" y="5980176"/>
            <a:ext cx="534924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6B7280"/>
                </a:solidFill>
                <a:latin typeface="Calibri"/>
                <a:ea typeface="Calibri"/>
                <a:cs typeface="Calibri"/>
                <a:sym typeface="Calibri"/>
              </a:rPr>
              <a:t>1 of 26 agencies dormant</a:t>
            </a:r>
            <a:endParaRPr/>
          </a:p>
        </p:txBody>
      </p:sp>
      <p:sp>
        <p:nvSpPr>
          <p:cNvPr id="712" name="Google Shape;712;p7"/>
          <p:cNvSpPr txBox="1"/>
          <p:nvPr/>
        </p:nvSpPr>
        <p:spPr>
          <a:xfrm>
            <a:off x="6446520" y="6181344"/>
            <a:ext cx="9144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D97706"/>
                </a:solidFill>
                <a:latin typeface="Calibri"/>
                <a:ea typeface="Calibri"/>
                <a:cs typeface="Calibri"/>
                <a:sym typeface="Calibri"/>
              </a:rPr>
              <a:t>•</a:t>
            </a:r>
            <a:endParaRPr/>
          </a:p>
        </p:txBody>
      </p:sp>
      <p:sp>
        <p:nvSpPr>
          <p:cNvPr id="713" name="Google Shape;713;p7"/>
          <p:cNvSpPr txBox="1"/>
          <p:nvPr/>
        </p:nvSpPr>
        <p:spPr>
          <a:xfrm>
            <a:off x="6574536" y="6163056"/>
            <a:ext cx="5221224"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74151"/>
                </a:solidFill>
                <a:latin typeface="Calibri"/>
                <a:ea typeface="Calibri"/>
                <a:cs typeface="Calibri"/>
                <a:sym typeface="Calibri"/>
              </a:rPr>
              <a:t>Titanic Insurance Services Inc.</a:t>
            </a:r>
            <a:endParaRPr/>
          </a:p>
        </p:txBody>
      </p:sp>
      <p:sp>
        <p:nvSpPr>
          <p:cNvPr id="714" name="Google Shape;714;p7"/>
          <p:cNvSpPr txBox="1"/>
          <p:nvPr/>
        </p:nvSpPr>
        <p:spPr>
          <a:xfrm>
            <a:off x="274320" y="6537960"/>
            <a:ext cx="118872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+ 3 reps with 100% active portfolios are not shown (zero dormant agencies).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p8"/>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1" name="Google Shape;721;p8"/>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New Producing Agencies  |  Q2 YTD</a:t>
            </a:r>
            <a:endParaRPr/>
          </a:p>
        </p:txBody>
      </p:sp>
      <p:sp>
        <p:nvSpPr>
          <p:cNvPr id="722" name="Google Shape;722;p8"/>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BDMs Only  |  All Activated-Won NNA deals shown w/ status tag + close date  ·  OKR4 count = APPOINTED only  ·  Goal: 4 per BDM/quarter</a:t>
            </a:r>
            <a:endParaRPr/>
          </a:p>
        </p:txBody>
      </p:sp>
      <p:sp>
        <p:nvSpPr>
          <p:cNvPr id="723" name="Google Shape;723;p8"/>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pic>
        <p:nvPicPr>
          <p:cNvPr descr="v8_okr4_agencies.png" id="724" name="Google Shape;724;p8"/>
          <p:cNvPicPr preferRelativeResize="0"/>
          <p:nvPr/>
        </p:nvPicPr>
        <p:blipFill rotWithShape="1">
          <a:blip r:embed="rId3">
            <a:alphaModFix/>
          </a:blip>
          <a:srcRect b="0" l="0" r="0" t="0"/>
          <a:stretch/>
        </p:blipFill>
        <p:spPr>
          <a:xfrm>
            <a:off x="91440" y="749808"/>
            <a:ext cx="11978640" cy="58521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p9"/>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1" name="Google Shape;731;p9"/>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Team Wins — Top 20 Agencies Q2 2026</a:t>
            </a:r>
            <a:endParaRPr/>
          </a:p>
        </p:txBody>
      </p:sp>
      <p:sp>
        <p:nvSpPr>
          <p:cNvPr id="732" name="Google Shape;732;p9"/>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Ranked by Q2 GWP (left) and Q2 Submissions (right)  ·  Mint-shaded row = new vs last week’s deck  ·  Apr 1–May 12</a:t>
            </a:r>
            <a:endParaRPr/>
          </a:p>
        </p:txBody>
      </p:sp>
      <p:sp>
        <p:nvSpPr>
          <p:cNvPr id="733" name="Google Shape;733;p9"/>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734" name="Google Shape;734;p9"/>
          <p:cNvSpPr/>
          <p:nvPr/>
        </p:nvSpPr>
        <p:spPr>
          <a:xfrm>
            <a:off x="228600" y="841248"/>
            <a:ext cx="5779008" cy="237744"/>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9"/>
          <p:cNvSpPr txBox="1"/>
          <p:nvPr/>
        </p:nvSpPr>
        <p:spPr>
          <a:xfrm>
            <a:off x="301752" y="868680"/>
            <a:ext cx="5742432"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FFFFFF"/>
                </a:solidFill>
                <a:latin typeface="Calibri"/>
                <a:ea typeface="Calibri"/>
                <a:cs typeface="Calibri"/>
                <a:sym typeface="Calibri"/>
              </a:rPr>
              <a:t>Top 20 Agencies — Q2 GWP Written</a:t>
            </a:r>
            <a:endParaRPr/>
          </a:p>
        </p:txBody>
      </p:sp>
      <p:sp>
        <p:nvSpPr>
          <p:cNvPr id="736" name="Google Shape;736;p9"/>
          <p:cNvSpPr txBox="1"/>
          <p:nvPr/>
        </p:nvSpPr>
        <p:spPr>
          <a:xfrm>
            <a:off x="228600" y="1097280"/>
            <a:ext cx="3474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a:t>
            </a:r>
            <a:endParaRPr/>
          </a:p>
        </p:txBody>
      </p:sp>
      <p:sp>
        <p:nvSpPr>
          <p:cNvPr id="737" name="Google Shape;737;p9"/>
          <p:cNvSpPr txBox="1"/>
          <p:nvPr/>
        </p:nvSpPr>
        <p:spPr>
          <a:xfrm>
            <a:off x="576072" y="1097280"/>
            <a:ext cx="10058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Rep</a:t>
            </a:r>
            <a:endParaRPr/>
          </a:p>
        </p:txBody>
      </p:sp>
      <p:sp>
        <p:nvSpPr>
          <p:cNvPr id="738" name="Google Shape;738;p9"/>
          <p:cNvSpPr txBox="1"/>
          <p:nvPr/>
        </p:nvSpPr>
        <p:spPr>
          <a:xfrm>
            <a:off x="1581912" y="1097280"/>
            <a:ext cx="34747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Agency</a:t>
            </a:r>
            <a:endParaRPr/>
          </a:p>
        </p:txBody>
      </p:sp>
      <p:sp>
        <p:nvSpPr>
          <p:cNvPr id="739" name="Google Shape;739;p9"/>
          <p:cNvSpPr txBox="1"/>
          <p:nvPr/>
        </p:nvSpPr>
        <p:spPr>
          <a:xfrm>
            <a:off x="5056631" y="109728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Q2 GWP</a:t>
            </a:r>
            <a:endParaRPr/>
          </a:p>
        </p:txBody>
      </p:sp>
      <p:sp>
        <p:nvSpPr>
          <p:cNvPr id="740" name="Google Shape;740;p9"/>
          <p:cNvSpPr/>
          <p:nvPr/>
        </p:nvSpPr>
        <p:spPr>
          <a:xfrm>
            <a:off x="228600" y="1298448"/>
            <a:ext cx="5742432"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1" name="Google Shape;741;p9"/>
          <p:cNvSpPr/>
          <p:nvPr/>
        </p:nvSpPr>
        <p:spPr>
          <a:xfrm>
            <a:off x="228600" y="1316736"/>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2" name="Google Shape;742;p9"/>
          <p:cNvSpPr txBox="1"/>
          <p:nvPr/>
        </p:nvSpPr>
        <p:spPr>
          <a:xfrm>
            <a:off x="228600" y="1335024"/>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a:t>
            </a:r>
            <a:endParaRPr/>
          </a:p>
        </p:txBody>
      </p:sp>
      <p:sp>
        <p:nvSpPr>
          <p:cNvPr id="743" name="Google Shape;743;p9"/>
          <p:cNvSpPr txBox="1"/>
          <p:nvPr/>
        </p:nvSpPr>
        <p:spPr>
          <a:xfrm>
            <a:off x="576072" y="1335024"/>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744" name="Google Shape;744;p9"/>
          <p:cNvSpPr txBox="1"/>
          <p:nvPr/>
        </p:nvSpPr>
        <p:spPr>
          <a:xfrm>
            <a:off x="1581912" y="1335024"/>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USA SPECIALTY INSURANCE/DBA PREVENTTY</a:t>
            </a:r>
            <a:endParaRPr/>
          </a:p>
        </p:txBody>
      </p:sp>
      <p:sp>
        <p:nvSpPr>
          <p:cNvPr id="745" name="Google Shape;745;p9"/>
          <p:cNvSpPr txBox="1"/>
          <p:nvPr/>
        </p:nvSpPr>
        <p:spPr>
          <a:xfrm>
            <a:off x="5056631" y="1335024"/>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$2.2M</a:t>
            </a:r>
            <a:endParaRPr/>
          </a:p>
        </p:txBody>
      </p:sp>
      <p:sp>
        <p:nvSpPr>
          <p:cNvPr id="746" name="Google Shape;746;p9"/>
          <p:cNvSpPr/>
          <p:nvPr/>
        </p:nvSpPr>
        <p:spPr>
          <a:xfrm>
            <a:off x="228600" y="1554480"/>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7" name="Google Shape;747;p9"/>
          <p:cNvSpPr txBox="1"/>
          <p:nvPr/>
        </p:nvSpPr>
        <p:spPr>
          <a:xfrm>
            <a:off x="228600" y="1572768"/>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a:t>
            </a:r>
            <a:endParaRPr/>
          </a:p>
        </p:txBody>
      </p:sp>
      <p:sp>
        <p:nvSpPr>
          <p:cNvPr id="748" name="Google Shape;748;p9"/>
          <p:cNvSpPr txBox="1"/>
          <p:nvPr/>
        </p:nvSpPr>
        <p:spPr>
          <a:xfrm>
            <a:off x="576072" y="1572768"/>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49" name="Google Shape;749;p9"/>
          <p:cNvSpPr txBox="1"/>
          <p:nvPr/>
        </p:nvSpPr>
        <p:spPr>
          <a:xfrm>
            <a:off x="1581912" y="1572768"/>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Reliance Partners, LLC</a:t>
            </a:r>
            <a:endParaRPr/>
          </a:p>
        </p:txBody>
      </p:sp>
      <p:sp>
        <p:nvSpPr>
          <p:cNvPr id="750" name="Google Shape;750;p9"/>
          <p:cNvSpPr txBox="1"/>
          <p:nvPr/>
        </p:nvSpPr>
        <p:spPr>
          <a:xfrm>
            <a:off x="5056631" y="1572768"/>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$2.2M</a:t>
            </a:r>
            <a:endParaRPr/>
          </a:p>
        </p:txBody>
      </p:sp>
      <p:sp>
        <p:nvSpPr>
          <p:cNvPr id="751" name="Google Shape;751;p9"/>
          <p:cNvSpPr/>
          <p:nvPr/>
        </p:nvSpPr>
        <p:spPr>
          <a:xfrm>
            <a:off x="228600" y="1792224"/>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2" name="Google Shape;752;p9"/>
          <p:cNvSpPr txBox="1"/>
          <p:nvPr/>
        </p:nvSpPr>
        <p:spPr>
          <a:xfrm>
            <a:off x="228600" y="1810512"/>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a:t>
            </a:r>
            <a:endParaRPr/>
          </a:p>
        </p:txBody>
      </p:sp>
      <p:sp>
        <p:nvSpPr>
          <p:cNvPr id="753" name="Google Shape;753;p9"/>
          <p:cNvSpPr txBox="1"/>
          <p:nvPr/>
        </p:nvSpPr>
        <p:spPr>
          <a:xfrm>
            <a:off x="576072" y="1810512"/>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54" name="Google Shape;754;p9"/>
          <p:cNvSpPr txBox="1"/>
          <p:nvPr/>
        </p:nvSpPr>
        <p:spPr>
          <a:xfrm>
            <a:off x="1581912" y="1810512"/>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Jagdeep Singh Insurance Agency, Inc</a:t>
            </a:r>
            <a:endParaRPr/>
          </a:p>
        </p:txBody>
      </p:sp>
      <p:sp>
        <p:nvSpPr>
          <p:cNvPr id="755" name="Google Shape;755;p9"/>
          <p:cNvSpPr txBox="1"/>
          <p:nvPr/>
        </p:nvSpPr>
        <p:spPr>
          <a:xfrm>
            <a:off x="5056631" y="1810512"/>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$2.1M</a:t>
            </a:r>
            <a:endParaRPr/>
          </a:p>
        </p:txBody>
      </p:sp>
      <p:sp>
        <p:nvSpPr>
          <p:cNvPr id="756" name="Google Shape;756;p9"/>
          <p:cNvSpPr/>
          <p:nvPr/>
        </p:nvSpPr>
        <p:spPr>
          <a:xfrm>
            <a:off x="228600" y="2029968"/>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7" name="Google Shape;757;p9"/>
          <p:cNvSpPr txBox="1"/>
          <p:nvPr/>
        </p:nvSpPr>
        <p:spPr>
          <a:xfrm>
            <a:off x="228600" y="2048256"/>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a:t>
            </a:r>
            <a:endParaRPr/>
          </a:p>
        </p:txBody>
      </p:sp>
      <p:sp>
        <p:nvSpPr>
          <p:cNvPr id="758" name="Google Shape;758;p9"/>
          <p:cNvSpPr txBox="1"/>
          <p:nvPr/>
        </p:nvSpPr>
        <p:spPr>
          <a:xfrm>
            <a:off x="576072" y="2048256"/>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759" name="Google Shape;759;p9"/>
          <p:cNvSpPr txBox="1"/>
          <p:nvPr/>
        </p:nvSpPr>
        <p:spPr>
          <a:xfrm>
            <a:off x="1581912" y="2048256"/>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Commercial Trucking Insurance Agency LLC</a:t>
            </a:r>
            <a:endParaRPr/>
          </a:p>
        </p:txBody>
      </p:sp>
      <p:sp>
        <p:nvSpPr>
          <p:cNvPr id="760" name="Google Shape;760;p9"/>
          <p:cNvSpPr txBox="1"/>
          <p:nvPr/>
        </p:nvSpPr>
        <p:spPr>
          <a:xfrm>
            <a:off x="5056631" y="2048256"/>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$1.7M</a:t>
            </a:r>
            <a:endParaRPr/>
          </a:p>
        </p:txBody>
      </p:sp>
      <p:sp>
        <p:nvSpPr>
          <p:cNvPr id="761" name="Google Shape;761;p9"/>
          <p:cNvSpPr/>
          <p:nvPr/>
        </p:nvSpPr>
        <p:spPr>
          <a:xfrm>
            <a:off x="228600" y="2267712"/>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9"/>
          <p:cNvSpPr txBox="1"/>
          <p:nvPr/>
        </p:nvSpPr>
        <p:spPr>
          <a:xfrm>
            <a:off x="228600" y="2286000"/>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a:t>
            </a:r>
            <a:endParaRPr/>
          </a:p>
        </p:txBody>
      </p:sp>
      <p:sp>
        <p:nvSpPr>
          <p:cNvPr id="763" name="Google Shape;763;p9"/>
          <p:cNvSpPr txBox="1"/>
          <p:nvPr/>
        </p:nvSpPr>
        <p:spPr>
          <a:xfrm>
            <a:off x="576072" y="2286000"/>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64" name="Google Shape;764;p9"/>
          <p:cNvSpPr txBox="1"/>
          <p:nvPr/>
        </p:nvSpPr>
        <p:spPr>
          <a:xfrm>
            <a:off x="1581912" y="2286000"/>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United Advantage Insurance Services</a:t>
            </a:r>
            <a:endParaRPr/>
          </a:p>
        </p:txBody>
      </p:sp>
      <p:sp>
        <p:nvSpPr>
          <p:cNvPr id="765" name="Google Shape;765;p9"/>
          <p:cNvSpPr txBox="1"/>
          <p:nvPr/>
        </p:nvSpPr>
        <p:spPr>
          <a:xfrm>
            <a:off x="5056631" y="2286000"/>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$1.5M</a:t>
            </a:r>
            <a:endParaRPr/>
          </a:p>
        </p:txBody>
      </p:sp>
      <p:sp>
        <p:nvSpPr>
          <p:cNvPr id="766" name="Google Shape;766;p9"/>
          <p:cNvSpPr/>
          <p:nvPr/>
        </p:nvSpPr>
        <p:spPr>
          <a:xfrm>
            <a:off x="228600" y="2505456"/>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7" name="Google Shape;767;p9"/>
          <p:cNvSpPr txBox="1"/>
          <p:nvPr/>
        </p:nvSpPr>
        <p:spPr>
          <a:xfrm>
            <a:off x="228600" y="2523744"/>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a:t>
            </a:r>
            <a:endParaRPr/>
          </a:p>
        </p:txBody>
      </p:sp>
      <p:sp>
        <p:nvSpPr>
          <p:cNvPr id="768" name="Google Shape;768;p9"/>
          <p:cNvSpPr txBox="1"/>
          <p:nvPr/>
        </p:nvSpPr>
        <p:spPr>
          <a:xfrm>
            <a:off x="576072" y="2523744"/>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769" name="Google Shape;769;p9"/>
          <p:cNvSpPr txBox="1"/>
          <p:nvPr/>
        </p:nvSpPr>
        <p:spPr>
          <a:xfrm>
            <a:off x="1581912" y="2523744"/>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DNIS Inc.</a:t>
            </a:r>
            <a:endParaRPr/>
          </a:p>
        </p:txBody>
      </p:sp>
      <p:sp>
        <p:nvSpPr>
          <p:cNvPr id="770" name="Google Shape;770;p9"/>
          <p:cNvSpPr txBox="1"/>
          <p:nvPr/>
        </p:nvSpPr>
        <p:spPr>
          <a:xfrm>
            <a:off x="5056631" y="2523744"/>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$1.2M</a:t>
            </a:r>
            <a:endParaRPr/>
          </a:p>
        </p:txBody>
      </p:sp>
      <p:sp>
        <p:nvSpPr>
          <p:cNvPr id="771" name="Google Shape;771;p9"/>
          <p:cNvSpPr/>
          <p:nvPr/>
        </p:nvSpPr>
        <p:spPr>
          <a:xfrm>
            <a:off x="228600" y="2743199"/>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2" name="Google Shape;772;p9"/>
          <p:cNvSpPr txBox="1"/>
          <p:nvPr/>
        </p:nvSpPr>
        <p:spPr>
          <a:xfrm>
            <a:off x="228600" y="276148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a:t>
            </a:r>
            <a:endParaRPr/>
          </a:p>
        </p:txBody>
      </p:sp>
      <p:sp>
        <p:nvSpPr>
          <p:cNvPr id="773" name="Google Shape;773;p9"/>
          <p:cNvSpPr txBox="1"/>
          <p:nvPr/>
        </p:nvSpPr>
        <p:spPr>
          <a:xfrm>
            <a:off x="576072" y="276148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774" name="Google Shape;774;p9"/>
          <p:cNvSpPr txBox="1"/>
          <p:nvPr/>
        </p:nvSpPr>
        <p:spPr>
          <a:xfrm>
            <a:off x="1581912" y="276148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American Fleet Insurance</a:t>
            </a:r>
            <a:endParaRPr/>
          </a:p>
        </p:txBody>
      </p:sp>
      <p:sp>
        <p:nvSpPr>
          <p:cNvPr id="775" name="Google Shape;775;p9"/>
          <p:cNvSpPr txBox="1"/>
          <p:nvPr/>
        </p:nvSpPr>
        <p:spPr>
          <a:xfrm>
            <a:off x="5056631" y="276148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$1.2M</a:t>
            </a:r>
            <a:endParaRPr/>
          </a:p>
        </p:txBody>
      </p:sp>
      <p:sp>
        <p:nvSpPr>
          <p:cNvPr id="776" name="Google Shape;776;p9"/>
          <p:cNvSpPr/>
          <p:nvPr/>
        </p:nvSpPr>
        <p:spPr>
          <a:xfrm>
            <a:off x="228600" y="2980943"/>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7" name="Google Shape;777;p9"/>
          <p:cNvSpPr txBox="1"/>
          <p:nvPr/>
        </p:nvSpPr>
        <p:spPr>
          <a:xfrm>
            <a:off x="228600" y="299923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a:t>
            </a:r>
            <a:endParaRPr/>
          </a:p>
        </p:txBody>
      </p:sp>
      <p:sp>
        <p:nvSpPr>
          <p:cNvPr id="778" name="Google Shape;778;p9"/>
          <p:cNvSpPr txBox="1"/>
          <p:nvPr/>
        </p:nvSpPr>
        <p:spPr>
          <a:xfrm>
            <a:off x="576072" y="299923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779" name="Google Shape;779;p9"/>
          <p:cNvSpPr txBox="1"/>
          <p:nvPr/>
        </p:nvSpPr>
        <p:spPr>
          <a:xfrm>
            <a:off x="1581912" y="299923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Insurance4Truckers LLC</a:t>
            </a:r>
            <a:endParaRPr/>
          </a:p>
        </p:txBody>
      </p:sp>
      <p:sp>
        <p:nvSpPr>
          <p:cNvPr id="780" name="Google Shape;780;p9"/>
          <p:cNvSpPr txBox="1"/>
          <p:nvPr/>
        </p:nvSpPr>
        <p:spPr>
          <a:xfrm>
            <a:off x="5056631" y="299923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$1.2M</a:t>
            </a:r>
            <a:endParaRPr/>
          </a:p>
        </p:txBody>
      </p:sp>
      <p:sp>
        <p:nvSpPr>
          <p:cNvPr id="781" name="Google Shape;781;p9"/>
          <p:cNvSpPr/>
          <p:nvPr/>
        </p:nvSpPr>
        <p:spPr>
          <a:xfrm>
            <a:off x="228600" y="3218687"/>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2" name="Google Shape;782;p9"/>
          <p:cNvSpPr txBox="1"/>
          <p:nvPr/>
        </p:nvSpPr>
        <p:spPr>
          <a:xfrm>
            <a:off x="228600" y="323697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a:t>
            </a:r>
            <a:endParaRPr/>
          </a:p>
        </p:txBody>
      </p:sp>
      <p:sp>
        <p:nvSpPr>
          <p:cNvPr id="783" name="Google Shape;783;p9"/>
          <p:cNvSpPr txBox="1"/>
          <p:nvPr/>
        </p:nvSpPr>
        <p:spPr>
          <a:xfrm>
            <a:off x="576072" y="323697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84" name="Google Shape;784;p9"/>
          <p:cNvSpPr txBox="1"/>
          <p:nvPr/>
        </p:nvSpPr>
        <p:spPr>
          <a:xfrm>
            <a:off x="1581912" y="323697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Safeline Insurance Agency, Inc.</a:t>
            </a:r>
            <a:endParaRPr/>
          </a:p>
        </p:txBody>
      </p:sp>
      <p:sp>
        <p:nvSpPr>
          <p:cNvPr id="785" name="Google Shape;785;p9"/>
          <p:cNvSpPr txBox="1"/>
          <p:nvPr/>
        </p:nvSpPr>
        <p:spPr>
          <a:xfrm>
            <a:off x="5056631" y="323697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$1.1M</a:t>
            </a:r>
            <a:endParaRPr/>
          </a:p>
        </p:txBody>
      </p:sp>
      <p:sp>
        <p:nvSpPr>
          <p:cNvPr id="786" name="Google Shape;786;p9"/>
          <p:cNvSpPr/>
          <p:nvPr/>
        </p:nvSpPr>
        <p:spPr>
          <a:xfrm>
            <a:off x="228600" y="3456431"/>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7" name="Google Shape;787;p9"/>
          <p:cNvSpPr txBox="1"/>
          <p:nvPr/>
        </p:nvSpPr>
        <p:spPr>
          <a:xfrm>
            <a:off x="228600" y="347471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10</a:t>
            </a:r>
            <a:endParaRPr/>
          </a:p>
        </p:txBody>
      </p:sp>
      <p:sp>
        <p:nvSpPr>
          <p:cNvPr id="788" name="Google Shape;788;p9"/>
          <p:cNvSpPr txBox="1"/>
          <p:nvPr/>
        </p:nvSpPr>
        <p:spPr>
          <a:xfrm>
            <a:off x="576072" y="347471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89" name="Google Shape;789;p9"/>
          <p:cNvSpPr txBox="1"/>
          <p:nvPr/>
        </p:nvSpPr>
        <p:spPr>
          <a:xfrm>
            <a:off x="1581912" y="347471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Surefire Insurance Agency Corp.</a:t>
            </a:r>
            <a:endParaRPr/>
          </a:p>
        </p:txBody>
      </p:sp>
      <p:sp>
        <p:nvSpPr>
          <p:cNvPr id="790" name="Google Shape;790;p9"/>
          <p:cNvSpPr txBox="1"/>
          <p:nvPr/>
        </p:nvSpPr>
        <p:spPr>
          <a:xfrm>
            <a:off x="5056631" y="347471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$1.1M</a:t>
            </a:r>
            <a:endParaRPr/>
          </a:p>
        </p:txBody>
      </p:sp>
      <p:sp>
        <p:nvSpPr>
          <p:cNvPr id="791" name="Google Shape;791;p9"/>
          <p:cNvSpPr/>
          <p:nvPr/>
        </p:nvSpPr>
        <p:spPr>
          <a:xfrm>
            <a:off x="228600" y="3694175"/>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2" name="Google Shape;792;p9"/>
          <p:cNvSpPr txBox="1"/>
          <p:nvPr/>
        </p:nvSpPr>
        <p:spPr>
          <a:xfrm>
            <a:off x="228600" y="3712463"/>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a:t>
            </a:r>
            <a:endParaRPr/>
          </a:p>
        </p:txBody>
      </p:sp>
      <p:sp>
        <p:nvSpPr>
          <p:cNvPr id="793" name="Google Shape;793;p9"/>
          <p:cNvSpPr txBox="1"/>
          <p:nvPr/>
        </p:nvSpPr>
        <p:spPr>
          <a:xfrm>
            <a:off x="576072" y="3712463"/>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794" name="Google Shape;794;p9"/>
          <p:cNvSpPr txBox="1"/>
          <p:nvPr/>
        </p:nvSpPr>
        <p:spPr>
          <a:xfrm>
            <a:off x="1581912" y="3712463"/>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CASCADE INSURANCE SERVICES INC DBA: CASC…</a:t>
            </a:r>
            <a:endParaRPr/>
          </a:p>
        </p:txBody>
      </p:sp>
      <p:sp>
        <p:nvSpPr>
          <p:cNvPr id="795" name="Google Shape;795;p9"/>
          <p:cNvSpPr txBox="1"/>
          <p:nvPr/>
        </p:nvSpPr>
        <p:spPr>
          <a:xfrm>
            <a:off x="5056631" y="3712463"/>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$971K</a:t>
            </a:r>
            <a:endParaRPr/>
          </a:p>
        </p:txBody>
      </p:sp>
      <p:sp>
        <p:nvSpPr>
          <p:cNvPr id="796" name="Google Shape;796;p9"/>
          <p:cNvSpPr/>
          <p:nvPr/>
        </p:nvSpPr>
        <p:spPr>
          <a:xfrm>
            <a:off x="228600" y="3931919"/>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7" name="Google Shape;797;p9"/>
          <p:cNvSpPr txBox="1"/>
          <p:nvPr/>
        </p:nvSpPr>
        <p:spPr>
          <a:xfrm>
            <a:off x="228600" y="395020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a:t>
            </a:r>
            <a:endParaRPr/>
          </a:p>
        </p:txBody>
      </p:sp>
      <p:sp>
        <p:nvSpPr>
          <p:cNvPr id="798" name="Google Shape;798;p9"/>
          <p:cNvSpPr txBox="1"/>
          <p:nvPr/>
        </p:nvSpPr>
        <p:spPr>
          <a:xfrm>
            <a:off x="576072" y="395020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799" name="Google Shape;799;p9"/>
          <p:cNvSpPr txBox="1"/>
          <p:nvPr/>
        </p:nvSpPr>
        <p:spPr>
          <a:xfrm>
            <a:off x="1581912" y="395020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AMC Agents LLC</a:t>
            </a:r>
            <a:endParaRPr/>
          </a:p>
        </p:txBody>
      </p:sp>
      <p:sp>
        <p:nvSpPr>
          <p:cNvPr id="800" name="Google Shape;800;p9"/>
          <p:cNvSpPr txBox="1"/>
          <p:nvPr/>
        </p:nvSpPr>
        <p:spPr>
          <a:xfrm>
            <a:off x="5056631" y="395020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$968K</a:t>
            </a:r>
            <a:endParaRPr/>
          </a:p>
        </p:txBody>
      </p:sp>
      <p:sp>
        <p:nvSpPr>
          <p:cNvPr id="801" name="Google Shape;801;p9"/>
          <p:cNvSpPr/>
          <p:nvPr/>
        </p:nvSpPr>
        <p:spPr>
          <a:xfrm>
            <a:off x="228600" y="4169663"/>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2" name="Google Shape;802;p9"/>
          <p:cNvSpPr txBox="1"/>
          <p:nvPr/>
        </p:nvSpPr>
        <p:spPr>
          <a:xfrm>
            <a:off x="228600" y="418795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13</a:t>
            </a:r>
            <a:endParaRPr/>
          </a:p>
        </p:txBody>
      </p:sp>
      <p:sp>
        <p:nvSpPr>
          <p:cNvPr id="803" name="Google Shape;803;p9"/>
          <p:cNvSpPr txBox="1"/>
          <p:nvPr/>
        </p:nvSpPr>
        <p:spPr>
          <a:xfrm>
            <a:off x="576072" y="418795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Alexis B.</a:t>
            </a:r>
            <a:endParaRPr/>
          </a:p>
        </p:txBody>
      </p:sp>
      <p:sp>
        <p:nvSpPr>
          <p:cNvPr id="804" name="Google Shape;804;p9"/>
          <p:cNvSpPr txBox="1"/>
          <p:nvPr/>
        </p:nvSpPr>
        <p:spPr>
          <a:xfrm>
            <a:off x="1581912" y="418795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A.S.I.A Inc</a:t>
            </a:r>
            <a:endParaRPr/>
          </a:p>
        </p:txBody>
      </p:sp>
      <p:sp>
        <p:nvSpPr>
          <p:cNvPr id="805" name="Google Shape;805;p9"/>
          <p:cNvSpPr txBox="1"/>
          <p:nvPr/>
        </p:nvSpPr>
        <p:spPr>
          <a:xfrm>
            <a:off x="5056631" y="418795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$844K</a:t>
            </a:r>
            <a:endParaRPr/>
          </a:p>
        </p:txBody>
      </p:sp>
      <p:sp>
        <p:nvSpPr>
          <p:cNvPr id="806" name="Google Shape;806;p9"/>
          <p:cNvSpPr/>
          <p:nvPr/>
        </p:nvSpPr>
        <p:spPr>
          <a:xfrm>
            <a:off x="228600" y="4407407"/>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7" name="Google Shape;807;p9"/>
          <p:cNvSpPr txBox="1"/>
          <p:nvPr/>
        </p:nvSpPr>
        <p:spPr>
          <a:xfrm>
            <a:off x="228600" y="442569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14</a:t>
            </a:r>
            <a:endParaRPr/>
          </a:p>
        </p:txBody>
      </p:sp>
      <p:sp>
        <p:nvSpPr>
          <p:cNvPr id="808" name="Google Shape;808;p9"/>
          <p:cNvSpPr txBox="1"/>
          <p:nvPr/>
        </p:nvSpPr>
        <p:spPr>
          <a:xfrm>
            <a:off x="576072" y="442569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809" name="Google Shape;809;p9"/>
          <p:cNvSpPr txBox="1"/>
          <p:nvPr/>
        </p:nvSpPr>
        <p:spPr>
          <a:xfrm>
            <a:off x="1581912" y="442569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Valion Security LLC</a:t>
            </a:r>
            <a:endParaRPr/>
          </a:p>
        </p:txBody>
      </p:sp>
      <p:sp>
        <p:nvSpPr>
          <p:cNvPr id="810" name="Google Shape;810;p9"/>
          <p:cNvSpPr txBox="1"/>
          <p:nvPr/>
        </p:nvSpPr>
        <p:spPr>
          <a:xfrm>
            <a:off x="5056631" y="442569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$832K</a:t>
            </a:r>
            <a:endParaRPr/>
          </a:p>
        </p:txBody>
      </p:sp>
      <p:sp>
        <p:nvSpPr>
          <p:cNvPr id="811" name="Google Shape;811;p9"/>
          <p:cNvSpPr/>
          <p:nvPr/>
        </p:nvSpPr>
        <p:spPr>
          <a:xfrm>
            <a:off x="228600" y="4645151"/>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2" name="Google Shape;812;p9"/>
          <p:cNvSpPr txBox="1"/>
          <p:nvPr/>
        </p:nvSpPr>
        <p:spPr>
          <a:xfrm>
            <a:off x="228600" y="466343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15</a:t>
            </a:r>
            <a:endParaRPr/>
          </a:p>
        </p:txBody>
      </p:sp>
      <p:sp>
        <p:nvSpPr>
          <p:cNvPr id="813" name="Google Shape;813;p9"/>
          <p:cNvSpPr txBox="1"/>
          <p:nvPr/>
        </p:nvSpPr>
        <p:spPr>
          <a:xfrm>
            <a:off x="576072" y="466343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Kurt B.</a:t>
            </a:r>
            <a:endParaRPr/>
          </a:p>
        </p:txBody>
      </p:sp>
      <p:sp>
        <p:nvSpPr>
          <p:cNvPr id="814" name="Google Shape;814;p9"/>
          <p:cNvSpPr txBox="1"/>
          <p:nvPr/>
        </p:nvSpPr>
        <p:spPr>
          <a:xfrm>
            <a:off x="1581912" y="466343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Fino Services LLC</a:t>
            </a:r>
            <a:endParaRPr/>
          </a:p>
        </p:txBody>
      </p:sp>
      <p:sp>
        <p:nvSpPr>
          <p:cNvPr id="815" name="Google Shape;815;p9"/>
          <p:cNvSpPr txBox="1"/>
          <p:nvPr/>
        </p:nvSpPr>
        <p:spPr>
          <a:xfrm>
            <a:off x="5056631" y="466343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$763K</a:t>
            </a:r>
            <a:endParaRPr/>
          </a:p>
        </p:txBody>
      </p:sp>
      <p:sp>
        <p:nvSpPr>
          <p:cNvPr id="816" name="Google Shape;816;p9"/>
          <p:cNvSpPr/>
          <p:nvPr/>
        </p:nvSpPr>
        <p:spPr>
          <a:xfrm>
            <a:off x="228600" y="4882895"/>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7" name="Google Shape;817;p9"/>
          <p:cNvSpPr txBox="1"/>
          <p:nvPr/>
        </p:nvSpPr>
        <p:spPr>
          <a:xfrm>
            <a:off x="228600" y="4901183"/>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a:t>
            </a:r>
            <a:endParaRPr/>
          </a:p>
        </p:txBody>
      </p:sp>
      <p:sp>
        <p:nvSpPr>
          <p:cNvPr id="818" name="Google Shape;818;p9"/>
          <p:cNvSpPr txBox="1"/>
          <p:nvPr/>
        </p:nvSpPr>
        <p:spPr>
          <a:xfrm>
            <a:off x="576072" y="4901183"/>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819" name="Google Shape;819;p9"/>
          <p:cNvSpPr txBox="1"/>
          <p:nvPr/>
        </p:nvSpPr>
        <p:spPr>
          <a:xfrm>
            <a:off x="1581912" y="4901183"/>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Velocity Insurance Multiservices LLC</a:t>
            </a:r>
            <a:endParaRPr/>
          </a:p>
        </p:txBody>
      </p:sp>
      <p:sp>
        <p:nvSpPr>
          <p:cNvPr id="820" name="Google Shape;820;p9"/>
          <p:cNvSpPr txBox="1"/>
          <p:nvPr/>
        </p:nvSpPr>
        <p:spPr>
          <a:xfrm>
            <a:off x="5056631" y="4901183"/>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$721K</a:t>
            </a:r>
            <a:endParaRPr/>
          </a:p>
        </p:txBody>
      </p:sp>
      <p:sp>
        <p:nvSpPr>
          <p:cNvPr id="821" name="Google Shape;821;p9"/>
          <p:cNvSpPr/>
          <p:nvPr/>
        </p:nvSpPr>
        <p:spPr>
          <a:xfrm>
            <a:off x="228600" y="5120639"/>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2" name="Google Shape;822;p9"/>
          <p:cNvSpPr txBox="1"/>
          <p:nvPr/>
        </p:nvSpPr>
        <p:spPr>
          <a:xfrm>
            <a:off x="228600" y="513892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a:t>
            </a:r>
            <a:endParaRPr/>
          </a:p>
        </p:txBody>
      </p:sp>
      <p:sp>
        <p:nvSpPr>
          <p:cNvPr id="823" name="Google Shape;823;p9"/>
          <p:cNvSpPr txBox="1"/>
          <p:nvPr/>
        </p:nvSpPr>
        <p:spPr>
          <a:xfrm>
            <a:off x="576072" y="513892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824" name="Google Shape;824;p9"/>
          <p:cNvSpPr txBox="1"/>
          <p:nvPr/>
        </p:nvSpPr>
        <p:spPr>
          <a:xfrm>
            <a:off x="1581912" y="513892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Prestige International Insurance Group I…</a:t>
            </a:r>
            <a:endParaRPr/>
          </a:p>
        </p:txBody>
      </p:sp>
      <p:sp>
        <p:nvSpPr>
          <p:cNvPr id="825" name="Google Shape;825;p9"/>
          <p:cNvSpPr txBox="1"/>
          <p:nvPr/>
        </p:nvSpPr>
        <p:spPr>
          <a:xfrm>
            <a:off x="5056631" y="513892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$653K</a:t>
            </a:r>
            <a:endParaRPr/>
          </a:p>
        </p:txBody>
      </p:sp>
      <p:sp>
        <p:nvSpPr>
          <p:cNvPr id="826" name="Google Shape;826;p9"/>
          <p:cNvSpPr/>
          <p:nvPr/>
        </p:nvSpPr>
        <p:spPr>
          <a:xfrm>
            <a:off x="228600" y="5358383"/>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7" name="Google Shape;827;p9"/>
          <p:cNvSpPr txBox="1"/>
          <p:nvPr/>
        </p:nvSpPr>
        <p:spPr>
          <a:xfrm>
            <a:off x="228600" y="537667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18</a:t>
            </a:r>
            <a:endParaRPr/>
          </a:p>
        </p:txBody>
      </p:sp>
      <p:sp>
        <p:nvSpPr>
          <p:cNvPr id="828" name="Google Shape;828;p9"/>
          <p:cNvSpPr txBox="1"/>
          <p:nvPr/>
        </p:nvSpPr>
        <p:spPr>
          <a:xfrm>
            <a:off x="576072" y="537667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829" name="Google Shape;829;p9"/>
          <p:cNvSpPr txBox="1"/>
          <p:nvPr/>
        </p:nvSpPr>
        <p:spPr>
          <a:xfrm>
            <a:off x="1581912" y="537667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Justin Wilson</a:t>
            </a:r>
            <a:endParaRPr/>
          </a:p>
        </p:txBody>
      </p:sp>
      <p:sp>
        <p:nvSpPr>
          <p:cNvPr id="830" name="Google Shape;830;p9"/>
          <p:cNvSpPr txBox="1"/>
          <p:nvPr/>
        </p:nvSpPr>
        <p:spPr>
          <a:xfrm>
            <a:off x="5056631" y="537667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$614K</a:t>
            </a:r>
            <a:endParaRPr/>
          </a:p>
        </p:txBody>
      </p:sp>
      <p:sp>
        <p:nvSpPr>
          <p:cNvPr id="831" name="Google Shape;831;p9"/>
          <p:cNvSpPr/>
          <p:nvPr/>
        </p:nvSpPr>
        <p:spPr>
          <a:xfrm>
            <a:off x="228600" y="5596127"/>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2" name="Google Shape;832;p9"/>
          <p:cNvSpPr txBox="1"/>
          <p:nvPr/>
        </p:nvSpPr>
        <p:spPr>
          <a:xfrm>
            <a:off x="228600" y="561441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a:t>
            </a:r>
            <a:endParaRPr/>
          </a:p>
        </p:txBody>
      </p:sp>
      <p:sp>
        <p:nvSpPr>
          <p:cNvPr id="833" name="Google Shape;833;p9"/>
          <p:cNvSpPr txBox="1"/>
          <p:nvPr/>
        </p:nvSpPr>
        <p:spPr>
          <a:xfrm>
            <a:off x="576072" y="561441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834" name="Google Shape;834;p9"/>
          <p:cNvSpPr txBox="1"/>
          <p:nvPr/>
        </p:nvSpPr>
        <p:spPr>
          <a:xfrm>
            <a:off x="1581912" y="561441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Vintage Insurance Agency Inc (The)</a:t>
            </a:r>
            <a:endParaRPr/>
          </a:p>
        </p:txBody>
      </p:sp>
      <p:sp>
        <p:nvSpPr>
          <p:cNvPr id="835" name="Google Shape;835;p9"/>
          <p:cNvSpPr txBox="1"/>
          <p:nvPr/>
        </p:nvSpPr>
        <p:spPr>
          <a:xfrm>
            <a:off x="5056631" y="561441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$586K</a:t>
            </a:r>
            <a:endParaRPr/>
          </a:p>
        </p:txBody>
      </p:sp>
      <p:sp>
        <p:nvSpPr>
          <p:cNvPr id="836" name="Google Shape;836;p9"/>
          <p:cNvSpPr/>
          <p:nvPr/>
        </p:nvSpPr>
        <p:spPr>
          <a:xfrm>
            <a:off x="228600" y="5833871"/>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7" name="Google Shape;837;p9"/>
          <p:cNvSpPr txBox="1"/>
          <p:nvPr/>
        </p:nvSpPr>
        <p:spPr>
          <a:xfrm>
            <a:off x="228600" y="585215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20</a:t>
            </a:r>
            <a:endParaRPr/>
          </a:p>
        </p:txBody>
      </p:sp>
      <p:sp>
        <p:nvSpPr>
          <p:cNvPr id="838" name="Google Shape;838;p9"/>
          <p:cNvSpPr txBox="1"/>
          <p:nvPr/>
        </p:nvSpPr>
        <p:spPr>
          <a:xfrm>
            <a:off x="576072" y="585215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839" name="Google Shape;839;p9"/>
          <p:cNvSpPr txBox="1"/>
          <p:nvPr/>
        </p:nvSpPr>
        <p:spPr>
          <a:xfrm>
            <a:off x="1581912" y="585215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Ewall Insurance Company</a:t>
            </a:r>
            <a:endParaRPr/>
          </a:p>
        </p:txBody>
      </p:sp>
      <p:sp>
        <p:nvSpPr>
          <p:cNvPr id="840" name="Google Shape;840;p9"/>
          <p:cNvSpPr txBox="1"/>
          <p:nvPr/>
        </p:nvSpPr>
        <p:spPr>
          <a:xfrm>
            <a:off x="5056631" y="585215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$584K</a:t>
            </a:r>
            <a:endParaRPr/>
          </a:p>
        </p:txBody>
      </p:sp>
      <p:sp>
        <p:nvSpPr>
          <p:cNvPr id="841" name="Google Shape;841;p9"/>
          <p:cNvSpPr/>
          <p:nvPr/>
        </p:nvSpPr>
        <p:spPr>
          <a:xfrm>
            <a:off x="6291072" y="841248"/>
            <a:ext cx="5779008" cy="237744"/>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2" name="Google Shape;842;p9"/>
          <p:cNvSpPr txBox="1"/>
          <p:nvPr/>
        </p:nvSpPr>
        <p:spPr>
          <a:xfrm>
            <a:off x="6364224" y="868680"/>
            <a:ext cx="5742432"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FFFFFF"/>
                </a:solidFill>
                <a:latin typeface="Calibri"/>
                <a:ea typeface="Calibri"/>
                <a:cs typeface="Calibri"/>
                <a:sym typeface="Calibri"/>
              </a:rPr>
              <a:t>Top 20 Agencies — Q2 Submissions</a:t>
            </a:r>
            <a:endParaRPr/>
          </a:p>
        </p:txBody>
      </p:sp>
      <p:sp>
        <p:nvSpPr>
          <p:cNvPr id="843" name="Google Shape;843;p9"/>
          <p:cNvSpPr txBox="1"/>
          <p:nvPr/>
        </p:nvSpPr>
        <p:spPr>
          <a:xfrm>
            <a:off x="6291072" y="1097280"/>
            <a:ext cx="347472"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a:t>
            </a:r>
            <a:endParaRPr/>
          </a:p>
        </p:txBody>
      </p:sp>
      <p:sp>
        <p:nvSpPr>
          <p:cNvPr id="844" name="Google Shape;844;p9"/>
          <p:cNvSpPr txBox="1"/>
          <p:nvPr/>
        </p:nvSpPr>
        <p:spPr>
          <a:xfrm>
            <a:off x="6638544" y="1097280"/>
            <a:ext cx="10058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Rep</a:t>
            </a:r>
            <a:endParaRPr/>
          </a:p>
        </p:txBody>
      </p:sp>
      <p:sp>
        <p:nvSpPr>
          <p:cNvPr id="845" name="Google Shape;845;p9"/>
          <p:cNvSpPr txBox="1"/>
          <p:nvPr/>
        </p:nvSpPr>
        <p:spPr>
          <a:xfrm>
            <a:off x="7644383" y="1097280"/>
            <a:ext cx="34747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Agency</a:t>
            </a:r>
            <a:endParaRPr/>
          </a:p>
        </p:txBody>
      </p:sp>
      <p:sp>
        <p:nvSpPr>
          <p:cNvPr id="846" name="Google Shape;846;p9"/>
          <p:cNvSpPr txBox="1"/>
          <p:nvPr/>
        </p:nvSpPr>
        <p:spPr>
          <a:xfrm>
            <a:off x="11119104" y="1097280"/>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Q2 Subs</a:t>
            </a:r>
            <a:endParaRPr/>
          </a:p>
        </p:txBody>
      </p:sp>
      <p:sp>
        <p:nvSpPr>
          <p:cNvPr id="847" name="Google Shape;847;p9"/>
          <p:cNvSpPr/>
          <p:nvPr/>
        </p:nvSpPr>
        <p:spPr>
          <a:xfrm>
            <a:off x="6291072" y="1298448"/>
            <a:ext cx="5742432"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8" name="Google Shape;848;p9"/>
          <p:cNvSpPr/>
          <p:nvPr/>
        </p:nvSpPr>
        <p:spPr>
          <a:xfrm>
            <a:off x="6291072" y="1316736"/>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9" name="Google Shape;849;p9"/>
          <p:cNvSpPr txBox="1"/>
          <p:nvPr/>
        </p:nvSpPr>
        <p:spPr>
          <a:xfrm>
            <a:off x="6291072" y="1335024"/>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a:t>
            </a:r>
            <a:endParaRPr/>
          </a:p>
        </p:txBody>
      </p:sp>
      <p:sp>
        <p:nvSpPr>
          <p:cNvPr id="850" name="Google Shape;850;p9"/>
          <p:cNvSpPr txBox="1"/>
          <p:nvPr/>
        </p:nvSpPr>
        <p:spPr>
          <a:xfrm>
            <a:off x="6638544" y="1335024"/>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851" name="Google Shape;851;p9"/>
          <p:cNvSpPr txBox="1"/>
          <p:nvPr/>
        </p:nvSpPr>
        <p:spPr>
          <a:xfrm>
            <a:off x="7644383" y="1335024"/>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Reliance Partners, LLC</a:t>
            </a:r>
            <a:endParaRPr/>
          </a:p>
        </p:txBody>
      </p:sp>
      <p:sp>
        <p:nvSpPr>
          <p:cNvPr id="852" name="Google Shape;852;p9"/>
          <p:cNvSpPr txBox="1"/>
          <p:nvPr/>
        </p:nvSpPr>
        <p:spPr>
          <a:xfrm>
            <a:off x="11119104" y="1335024"/>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1699</a:t>
            </a:r>
            <a:endParaRPr/>
          </a:p>
        </p:txBody>
      </p:sp>
      <p:sp>
        <p:nvSpPr>
          <p:cNvPr id="853" name="Google Shape;853;p9"/>
          <p:cNvSpPr/>
          <p:nvPr/>
        </p:nvSpPr>
        <p:spPr>
          <a:xfrm>
            <a:off x="6291072" y="1554480"/>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4" name="Google Shape;854;p9"/>
          <p:cNvSpPr txBox="1"/>
          <p:nvPr/>
        </p:nvSpPr>
        <p:spPr>
          <a:xfrm>
            <a:off x="6291072" y="1572768"/>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a:t>
            </a:r>
            <a:endParaRPr/>
          </a:p>
        </p:txBody>
      </p:sp>
      <p:sp>
        <p:nvSpPr>
          <p:cNvPr id="855" name="Google Shape;855;p9"/>
          <p:cNvSpPr txBox="1"/>
          <p:nvPr/>
        </p:nvSpPr>
        <p:spPr>
          <a:xfrm>
            <a:off x="6638544" y="1572768"/>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856" name="Google Shape;856;p9"/>
          <p:cNvSpPr txBox="1"/>
          <p:nvPr/>
        </p:nvSpPr>
        <p:spPr>
          <a:xfrm>
            <a:off x="7644383" y="1572768"/>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Insurance4Truckers LLC</a:t>
            </a:r>
            <a:endParaRPr/>
          </a:p>
        </p:txBody>
      </p:sp>
      <p:sp>
        <p:nvSpPr>
          <p:cNvPr id="857" name="Google Shape;857;p9"/>
          <p:cNvSpPr txBox="1"/>
          <p:nvPr/>
        </p:nvSpPr>
        <p:spPr>
          <a:xfrm>
            <a:off x="11119104" y="1572768"/>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1614</a:t>
            </a:r>
            <a:endParaRPr/>
          </a:p>
        </p:txBody>
      </p:sp>
      <p:sp>
        <p:nvSpPr>
          <p:cNvPr id="858" name="Google Shape;858;p9"/>
          <p:cNvSpPr/>
          <p:nvPr/>
        </p:nvSpPr>
        <p:spPr>
          <a:xfrm>
            <a:off x="6291072" y="1792224"/>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9" name="Google Shape;859;p9"/>
          <p:cNvSpPr txBox="1"/>
          <p:nvPr/>
        </p:nvSpPr>
        <p:spPr>
          <a:xfrm>
            <a:off x="6291072" y="1810512"/>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a:t>
            </a:r>
            <a:endParaRPr/>
          </a:p>
        </p:txBody>
      </p:sp>
      <p:sp>
        <p:nvSpPr>
          <p:cNvPr id="860" name="Google Shape;860;p9"/>
          <p:cNvSpPr txBox="1"/>
          <p:nvPr/>
        </p:nvSpPr>
        <p:spPr>
          <a:xfrm>
            <a:off x="6638544" y="1810512"/>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Kurt B.</a:t>
            </a:r>
            <a:endParaRPr/>
          </a:p>
        </p:txBody>
      </p:sp>
      <p:sp>
        <p:nvSpPr>
          <p:cNvPr id="861" name="Google Shape;861;p9"/>
          <p:cNvSpPr txBox="1"/>
          <p:nvPr/>
        </p:nvSpPr>
        <p:spPr>
          <a:xfrm>
            <a:off x="7644383" y="1810512"/>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Fino Services LLC</a:t>
            </a:r>
            <a:endParaRPr/>
          </a:p>
        </p:txBody>
      </p:sp>
      <p:sp>
        <p:nvSpPr>
          <p:cNvPr id="862" name="Google Shape;862;p9"/>
          <p:cNvSpPr txBox="1"/>
          <p:nvPr/>
        </p:nvSpPr>
        <p:spPr>
          <a:xfrm>
            <a:off x="11119104" y="1810512"/>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1195</a:t>
            </a:r>
            <a:endParaRPr/>
          </a:p>
        </p:txBody>
      </p:sp>
      <p:sp>
        <p:nvSpPr>
          <p:cNvPr id="863" name="Google Shape;863;p9"/>
          <p:cNvSpPr/>
          <p:nvPr/>
        </p:nvSpPr>
        <p:spPr>
          <a:xfrm>
            <a:off x="6291072" y="2029968"/>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4" name="Google Shape;864;p9"/>
          <p:cNvSpPr txBox="1"/>
          <p:nvPr/>
        </p:nvSpPr>
        <p:spPr>
          <a:xfrm>
            <a:off x="6291072" y="2048256"/>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a:t>
            </a:r>
            <a:endParaRPr/>
          </a:p>
        </p:txBody>
      </p:sp>
      <p:sp>
        <p:nvSpPr>
          <p:cNvPr id="865" name="Google Shape;865;p9"/>
          <p:cNvSpPr txBox="1"/>
          <p:nvPr/>
        </p:nvSpPr>
        <p:spPr>
          <a:xfrm>
            <a:off x="6638544" y="2048256"/>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866" name="Google Shape;866;p9"/>
          <p:cNvSpPr txBox="1"/>
          <p:nvPr/>
        </p:nvSpPr>
        <p:spPr>
          <a:xfrm>
            <a:off x="7644383" y="2048256"/>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USA SPECIALTY INSURANCE/DBA PREVENTTY</a:t>
            </a:r>
            <a:endParaRPr/>
          </a:p>
        </p:txBody>
      </p:sp>
      <p:sp>
        <p:nvSpPr>
          <p:cNvPr id="867" name="Google Shape;867;p9"/>
          <p:cNvSpPr txBox="1"/>
          <p:nvPr/>
        </p:nvSpPr>
        <p:spPr>
          <a:xfrm>
            <a:off x="11119104" y="2048256"/>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1020</a:t>
            </a:r>
            <a:endParaRPr/>
          </a:p>
        </p:txBody>
      </p:sp>
      <p:sp>
        <p:nvSpPr>
          <p:cNvPr id="868" name="Google Shape;868;p9"/>
          <p:cNvSpPr/>
          <p:nvPr/>
        </p:nvSpPr>
        <p:spPr>
          <a:xfrm>
            <a:off x="6291072" y="2267712"/>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9" name="Google Shape;869;p9"/>
          <p:cNvSpPr txBox="1"/>
          <p:nvPr/>
        </p:nvSpPr>
        <p:spPr>
          <a:xfrm>
            <a:off x="6291072" y="2286000"/>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a:t>
            </a:r>
            <a:endParaRPr/>
          </a:p>
        </p:txBody>
      </p:sp>
      <p:sp>
        <p:nvSpPr>
          <p:cNvPr id="870" name="Google Shape;870;p9"/>
          <p:cNvSpPr txBox="1"/>
          <p:nvPr/>
        </p:nvSpPr>
        <p:spPr>
          <a:xfrm>
            <a:off x="6638544" y="2286000"/>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871" name="Google Shape;871;p9"/>
          <p:cNvSpPr txBox="1"/>
          <p:nvPr/>
        </p:nvSpPr>
        <p:spPr>
          <a:xfrm>
            <a:off x="7644383" y="2286000"/>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United Advantage Insurance Services</a:t>
            </a:r>
            <a:endParaRPr/>
          </a:p>
        </p:txBody>
      </p:sp>
      <p:sp>
        <p:nvSpPr>
          <p:cNvPr id="872" name="Google Shape;872;p9"/>
          <p:cNvSpPr txBox="1"/>
          <p:nvPr/>
        </p:nvSpPr>
        <p:spPr>
          <a:xfrm>
            <a:off x="11119104" y="2286000"/>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915</a:t>
            </a:r>
            <a:endParaRPr/>
          </a:p>
        </p:txBody>
      </p:sp>
      <p:sp>
        <p:nvSpPr>
          <p:cNvPr id="873" name="Google Shape;873;p9"/>
          <p:cNvSpPr/>
          <p:nvPr/>
        </p:nvSpPr>
        <p:spPr>
          <a:xfrm>
            <a:off x="6291072" y="2505456"/>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4" name="Google Shape;874;p9"/>
          <p:cNvSpPr txBox="1"/>
          <p:nvPr/>
        </p:nvSpPr>
        <p:spPr>
          <a:xfrm>
            <a:off x="6291072" y="2523744"/>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a:t>
            </a:r>
            <a:endParaRPr/>
          </a:p>
        </p:txBody>
      </p:sp>
      <p:sp>
        <p:nvSpPr>
          <p:cNvPr id="875" name="Google Shape;875;p9"/>
          <p:cNvSpPr txBox="1"/>
          <p:nvPr/>
        </p:nvSpPr>
        <p:spPr>
          <a:xfrm>
            <a:off x="6638544" y="2523744"/>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876" name="Google Shape;876;p9"/>
          <p:cNvSpPr txBox="1"/>
          <p:nvPr/>
        </p:nvSpPr>
        <p:spPr>
          <a:xfrm>
            <a:off x="7644383" y="2523744"/>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American Fleet Insurance</a:t>
            </a:r>
            <a:endParaRPr/>
          </a:p>
        </p:txBody>
      </p:sp>
      <p:sp>
        <p:nvSpPr>
          <p:cNvPr id="877" name="Google Shape;877;p9"/>
          <p:cNvSpPr txBox="1"/>
          <p:nvPr/>
        </p:nvSpPr>
        <p:spPr>
          <a:xfrm>
            <a:off x="11119104" y="2523744"/>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794</a:t>
            </a:r>
            <a:endParaRPr/>
          </a:p>
        </p:txBody>
      </p:sp>
      <p:sp>
        <p:nvSpPr>
          <p:cNvPr id="878" name="Google Shape;878;p9"/>
          <p:cNvSpPr/>
          <p:nvPr/>
        </p:nvSpPr>
        <p:spPr>
          <a:xfrm>
            <a:off x="6291072" y="2743199"/>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9" name="Google Shape;879;p9"/>
          <p:cNvSpPr txBox="1"/>
          <p:nvPr/>
        </p:nvSpPr>
        <p:spPr>
          <a:xfrm>
            <a:off x="6291072" y="276148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a:t>
            </a:r>
            <a:endParaRPr/>
          </a:p>
        </p:txBody>
      </p:sp>
      <p:sp>
        <p:nvSpPr>
          <p:cNvPr id="880" name="Google Shape;880;p9"/>
          <p:cNvSpPr txBox="1"/>
          <p:nvPr/>
        </p:nvSpPr>
        <p:spPr>
          <a:xfrm>
            <a:off x="6638544" y="276148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881" name="Google Shape;881;p9"/>
          <p:cNvSpPr txBox="1"/>
          <p:nvPr/>
        </p:nvSpPr>
        <p:spPr>
          <a:xfrm>
            <a:off x="7644383" y="276148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AMC Agents LLC</a:t>
            </a:r>
            <a:endParaRPr/>
          </a:p>
        </p:txBody>
      </p:sp>
      <p:sp>
        <p:nvSpPr>
          <p:cNvPr id="882" name="Google Shape;882;p9"/>
          <p:cNvSpPr txBox="1"/>
          <p:nvPr/>
        </p:nvSpPr>
        <p:spPr>
          <a:xfrm>
            <a:off x="11119104" y="276148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699</a:t>
            </a:r>
            <a:endParaRPr/>
          </a:p>
        </p:txBody>
      </p:sp>
      <p:sp>
        <p:nvSpPr>
          <p:cNvPr id="883" name="Google Shape;883;p9"/>
          <p:cNvSpPr/>
          <p:nvPr/>
        </p:nvSpPr>
        <p:spPr>
          <a:xfrm>
            <a:off x="6291072" y="2980943"/>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4" name="Google Shape;884;p9"/>
          <p:cNvSpPr txBox="1"/>
          <p:nvPr/>
        </p:nvSpPr>
        <p:spPr>
          <a:xfrm>
            <a:off x="6291072" y="299923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a:t>
            </a:r>
            <a:endParaRPr/>
          </a:p>
        </p:txBody>
      </p:sp>
      <p:sp>
        <p:nvSpPr>
          <p:cNvPr id="885" name="Google Shape;885;p9"/>
          <p:cNvSpPr txBox="1"/>
          <p:nvPr/>
        </p:nvSpPr>
        <p:spPr>
          <a:xfrm>
            <a:off x="6638544" y="299923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Erika C.</a:t>
            </a:r>
            <a:endParaRPr/>
          </a:p>
        </p:txBody>
      </p:sp>
      <p:sp>
        <p:nvSpPr>
          <p:cNvPr id="886" name="Google Shape;886;p9"/>
          <p:cNvSpPr txBox="1"/>
          <p:nvPr/>
        </p:nvSpPr>
        <p:spPr>
          <a:xfrm>
            <a:off x="7644383" y="299923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Cslr Insurance Services, LLC</a:t>
            </a:r>
            <a:endParaRPr/>
          </a:p>
        </p:txBody>
      </p:sp>
      <p:sp>
        <p:nvSpPr>
          <p:cNvPr id="887" name="Google Shape;887;p9"/>
          <p:cNvSpPr txBox="1"/>
          <p:nvPr/>
        </p:nvSpPr>
        <p:spPr>
          <a:xfrm>
            <a:off x="11119104" y="299923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697</a:t>
            </a:r>
            <a:endParaRPr/>
          </a:p>
        </p:txBody>
      </p:sp>
      <p:sp>
        <p:nvSpPr>
          <p:cNvPr id="888" name="Google Shape;888;p9"/>
          <p:cNvSpPr/>
          <p:nvPr/>
        </p:nvSpPr>
        <p:spPr>
          <a:xfrm>
            <a:off x="6291072" y="3218687"/>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9" name="Google Shape;889;p9"/>
          <p:cNvSpPr txBox="1"/>
          <p:nvPr/>
        </p:nvSpPr>
        <p:spPr>
          <a:xfrm>
            <a:off x="6291072" y="323697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a:t>
            </a:r>
            <a:endParaRPr/>
          </a:p>
        </p:txBody>
      </p:sp>
      <p:sp>
        <p:nvSpPr>
          <p:cNvPr id="890" name="Google Shape;890;p9"/>
          <p:cNvSpPr txBox="1"/>
          <p:nvPr/>
        </p:nvSpPr>
        <p:spPr>
          <a:xfrm>
            <a:off x="6638544" y="323697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891" name="Google Shape;891;p9"/>
          <p:cNvSpPr txBox="1"/>
          <p:nvPr/>
        </p:nvSpPr>
        <p:spPr>
          <a:xfrm>
            <a:off x="7644383" y="323697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DNIS Inc.</a:t>
            </a:r>
            <a:endParaRPr/>
          </a:p>
        </p:txBody>
      </p:sp>
      <p:sp>
        <p:nvSpPr>
          <p:cNvPr id="892" name="Google Shape;892;p9"/>
          <p:cNvSpPr txBox="1"/>
          <p:nvPr/>
        </p:nvSpPr>
        <p:spPr>
          <a:xfrm>
            <a:off x="11119104" y="323697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555</a:t>
            </a:r>
            <a:endParaRPr/>
          </a:p>
        </p:txBody>
      </p:sp>
      <p:sp>
        <p:nvSpPr>
          <p:cNvPr id="893" name="Google Shape;893;p9"/>
          <p:cNvSpPr/>
          <p:nvPr/>
        </p:nvSpPr>
        <p:spPr>
          <a:xfrm>
            <a:off x="6291072" y="3456431"/>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4" name="Google Shape;894;p9"/>
          <p:cNvSpPr txBox="1"/>
          <p:nvPr/>
        </p:nvSpPr>
        <p:spPr>
          <a:xfrm>
            <a:off x="6291072" y="347471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10</a:t>
            </a:r>
            <a:endParaRPr/>
          </a:p>
        </p:txBody>
      </p:sp>
      <p:sp>
        <p:nvSpPr>
          <p:cNvPr id="895" name="Google Shape;895;p9"/>
          <p:cNvSpPr txBox="1"/>
          <p:nvPr/>
        </p:nvSpPr>
        <p:spPr>
          <a:xfrm>
            <a:off x="6638544" y="347471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896" name="Google Shape;896;p9"/>
          <p:cNvSpPr txBox="1"/>
          <p:nvPr/>
        </p:nvSpPr>
        <p:spPr>
          <a:xfrm>
            <a:off x="7644383" y="347471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Prestige International Insurance Group I…</a:t>
            </a:r>
            <a:endParaRPr/>
          </a:p>
        </p:txBody>
      </p:sp>
      <p:sp>
        <p:nvSpPr>
          <p:cNvPr id="897" name="Google Shape;897;p9"/>
          <p:cNvSpPr txBox="1"/>
          <p:nvPr/>
        </p:nvSpPr>
        <p:spPr>
          <a:xfrm>
            <a:off x="11119104" y="347471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452</a:t>
            </a:r>
            <a:endParaRPr/>
          </a:p>
        </p:txBody>
      </p:sp>
      <p:sp>
        <p:nvSpPr>
          <p:cNvPr id="898" name="Google Shape;898;p9"/>
          <p:cNvSpPr/>
          <p:nvPr/>
        </p:nvSpPr>
        <p:spPr>
          <a:xfrm>
            <a:off x="6291072" y="3694175"/>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9" name="Google Shape;899;p9"/>
          <p:cNvSpPr txBox="1"/>
          <p:nvPr/>
        </p:nvSpPr>
        <p:spPr>
          <a:xfrm>
            <a:off x="6291072" y="3712463"/>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a:t>
            </a:r>
            <a:endParaRPr/>
          </a:p>
        </p:txBody>
      </p:sp>
      <p:sp>
        <p:nvSpPr>
          <p:cNvPr id="900" name="Google Shape;900;p9"/>
          <p:cNvSpPr txBox="1"/>
          <p:nvPr/>
        </p:nvSpPr>
        <p:spPr>
          <a:xfrm>
            <a:off x="6638544" y="3712463"/>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901" name="Google Shape;901;p9"/>
          <p:cNvSpPr txBox="1"/>
          <p:nvPr/>
        </p:nvSpPr>
        <p:spPr>
          <a:xfrm>
            <a:off x="7644383" y="3712463"/>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Jagdeep Singh Insurance Agency, Inc</a:t>
            </a:r>
            <a:endParaRPr/>
          </a:p>
        </p:txBody>
      </p:sp>
      <p:sp>
        <p:nvSpPr>
          <p:cNvPr id="902" name="Google Shape;902;p9"/>
          <p:cNvSpPr txBox="1"/>
          <p:nvPr/>
        </p:nvSpPr>
        <p:spPr>
          <a:xfrm>
            <a:off x="11119104" y="3712463"/>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436</a:t>
            </a:r>
            <a:endParaRPr/>
          </a:p>
        </p:txBody>
      </p:sp>
      <p:sp>
        <p:nvSpPr>
          <p:cNvPr id="903" name="Google Shape;903;p9"/>
          <p:cNvSpPr/>
          <p:nvPr/>
        </p:nvSpPr>
        <p:spPr>
          <a:xfrm>
            <a:off x="6291072" y="3931919"/>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4" name="Google Shape;904;p9"/>
          <p:cNvSpPr txBox="1"/>
          <p:nvPr/>
        </p:nvSpPr>
        <p:spPr>
          <a:xfrm>
            <a:off x="6291072" y="395020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a:t>
            </a:r>
            <a:endParaRPr/>
          </a:p>
        </p:txBody>
      </p:sp>
      <p:sp>
        <p:nvSpPr>
          <p:cNvPr id="905" name="Google Shape;905;p9"/>
          <p:cNvSpPr txBox="1"/>
          <p:nvPr/>
        </p:nvSpPr>
        <p:spPr>
          <a:xfrm>
            <a:off x="6638544" y="395020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Kurt B.</a:t>
            </a:r>
            <a:endParaRPr/>
          </a:p>
        </p:txBody>
      </p:sp>
      <p:sp>
        <p:nvSpPr>
          <p:cNvPr id="906" name="Google Shape;906;p9"/>
          <p:cNvSpPr txBox="1"/>
          <p:nvPr/>
        </p:nvSpPr>
        <p:spPr>
          <a:xfrm>
            <a:off x="7644383" y="395020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Justin Robert Insurance Agency LLC</a:t>
            </a:r>
            <a:endParaRPr/>
          </a:p>
        </p:txBody>
      </p:sp>
      <p:sp>
        <p:nvSpPr>
          <p:cNvPr id="907" name="Google Shape;907;p9"/>
          <p:cNvSpPr txBox="1"/>
          <p:nvPr/>
        </p:nvSpPr>
        <p:spPr>
          <a:xfrm>
            <a:off x="11119104" y="395020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391</a:t>
            </a:r>
            <a:endParaRPr/>
          </a:p>
        </p:txBody>
      </p:sp>
      <p:sp>
        <p:nvSpPr>
          <p:cNvPr id="908" name="Google Shape;908;p9"/>
          <p:cNvSpPr/>
          <p:nvPr/>
        </p:nvSpPr>
        <p:spPr>
          <a:xfrm>
            <a:off x="6291072" y="4169663"/>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9" name="Google Shape;909;p9"/>
          <p:cNvSpPr txBox="1"/>
          <p:nvPr/>
        </p:nvSpPr>
        <p:spPr>
          <a:xfrm>
            <a:off x="6291072" y="418795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13</a:t>
            </a:r>
            <a:endParaRPr/>
          </a:p>
        </p:txBody>
      </p:sp>
      <p:sp>
        <p:nvSpPr>
          <p:cNvPr id="910" name="Google Shape;910;p9"/>
          <p:cNvSpPr txBox="1"/>
          <p:nvPr/>
        </p:nvSpPr>
        <p:spPr>
          <a:xfrm>
            <a:off x="6638544" y="418795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Alexis B.</a:t>
            </a:r>
            <a:endParaRPr/>
          </a:p>
        </p:txBody>
      </p:sp>
      <p:sp>
        <p:nvSpPr>
          <p:cNvPr id="911" name="Google Shape;911;p9"/>
          <p:cNvSpPr txBox="1"/>
          <p:nvPr/>
        </p:nvSpPr>
        <p:spPr>
          <a:xfrm>
            <a:off x="7644383" y="418795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A.S.I.A Inc</a:t>
            </a:r>
            <a:endParaRPr/>
          </a:p>
        </p:txBody>
      </p:sp>
      <p:sp>
        <p:nvSpPr>
          <p:cNvPr id="912" name="Google Shape;912;p9"/>
          <p:cNvSpPr txBox="1"/>
          <p:nvPr/>
        </p:nvSpPr>
        <p:spPr>
          <a:xfrm>
            <a:off x="11119104" y="418795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347</a:t>
            </a:r>
            <a:endParaRPr/>
          </a:p>
        </p:txBody>
      </p:sp>
      <p:sp>
        <p:nvSpPr>
          <p:cNvPr id="913" name="Google Shape;913;p9"/>
          <p:cNvSpPr/>
          <p:nvPr/>
        </p:nvSpPr>
        <p:spPr>
          <a:xfrm>
            <a:off x="6291072" y="4407407"/>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4" name="Google Shape;914;p9"/>
          <p:cNvSpPr txBox="1"/>
          <p:nvPr/>
        </p:nvSpPr>
        <p:spPr>
          <a:xfrm>
            <a:off x="6291072" y="442569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14</a:t>
            </a:r>
            <a:endParaRPr/>
          </a:p>
        </p:txBody>
      </p:sp>
      <p:sp>
        <p:nvSpPr>
          <p:cNvPr id="915" name="Google Shape;915;p9"/>
          <p:cNvSpPr txBox="1"/>
          <p:nvPr/>
        </p:nvSpPr>
        <p:spPr>
          <a:xfrm>
            <a:off x="6638544" y="442569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Erika C.</a:t>
            </a:r>
            <a:endParaRPr/>
          </a:p>
        </p:txBody>
      </p:sp>
      <p:sp>
        <p:nvSpPr>
          <p:cNvPr id="916" name="Google Shape;916;p9"/>
          <p:cNvSpPr txBox="1"/>
          <p:nvPr/>
        </p:nvSpPr>
        <p:spPr>
          <a:xfrm>
            <a:off x="7644383" y="442569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Truckers Best Insurance dba Trucker Path…</a:t>
            </a:r>
            <a:endParaRPr/>
          </a:p>
        </p:txBody>
      </p:sp>
      <p:sp>
        <p:nvSpPr>
          <p:cNvPr id="917" name="Google Shape;917;p9"/>
          <p:cNvSpPr txBox="1"/>
          <p:nvPr/>
        </p:nvSpPr>
        <p:spPr>
          <a:xfrm>
            <a:off x="11119104" y="442569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322</a:t>
            </a:r>
            <a:endParaRPr/>
          </a:p>
        </p:txBody>
      </p:sp>
      <p:sp>
        <p:nvSpPr>
          <p:cNvPr id="918" name="Google Shape;918;p9"/>
          <p:cNvSpPr/>
          <p:nvPr/>
        </p:nvSpPr>
        <p:spPr>
          <a:xfrm>
            <a:off x="6291072" y="4645151"/>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9" name="Google Shape;919;p9"/>
          <p:cNvSpPr txBox="1"/>
          <p:nvPr/>
        </p:nvSpPr>
        <p:spPr>
          <a:xfrm>
            <a:off x="6291072" y="466343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15</a:t>
            </a:r>
            <a:endParaRPr/>
          </a:p>
        </p:txBody>
      </p:sp>
      <p:sp>
        <p:nvSpPr>
          <p:cNvPr id="920" name="Google Shape;920;p9"/>
          <p:cNvSpPr txBox="1"/>
          <p:nvPr/>
        </p:nvSpPr>
        <p:spPr>
          <a:xfrm>
            <a:off x="6638544" y="466343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Erika C.</a:t>
            </a:r>
            <a:endParaRPr/>
          </a:p>
        </p:txBody>
      </p:sp>
      <p:sp>
        <p:nvSpPr>
          <p:cNvPr id="921" name="Google Shape;921;p9"/>
          <p:cNvSpPr txBox="1"/>
          <p:nvPr/>
        </p:nvSpPr>
        <p:spPr>
          <a:xfrm>
            <a:off x="7644383" y="466343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Southwestern Insurance Services, Inc.</a:t>
            </a:r>
            <a:endParaRPr/>
          </a:p>
        </p:txBody>
      </p:sp>
      <p:sp>
        <p:nvSpPr>
          <p:cNvPr id="922" name="Google Shape;922;p9"/>
          <p:cNvSpPr txBox="1"/>
          <p:nvPr/>
        </p:nvSpPr>
        <p:spPr>
          <a:xfrm>
            <a:off x="11119104" y="466343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308</a:t>
            </a:r>
            <a:endParaRPr/>
          </a:p>
        </p:txBody>
      </p:sp>
      <p:sp>
        <p:nvSpPr>
          <p:cNvPr id="923" name="Google Shape;923;p9"/>
          <p:cNvSpPr/>
          <p:nvPr/>
        </p:nvSpPr>
        <p:spPr>
          <a:xfrm>
            <a:off x="6291072" y="4882895"/>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4" name="Google Shape;924;p9"/>
          <p:cNvSpPr txBox="1"/>
          <p:nvPr/>
        </p:nvSpPr>
        <p:spPr>
          <a:xfrm>
            <a:off x="6291072" y="4901183"/>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a:t>
            </a:r>
            <a:endParaRPr/>
          </a:p>
        </p:txBody>
      </p:sp>
      <p:sp>
        <p:nvSpPr>
          <p:cNvPr id="925" name="Google Shape;925;p9"/>
          <p:cNvSpPr txBox="1"/>
          <p:nvPr/>
        </p:nvSpPr>
        <p:spPr>
          <a:xfrm>
            <a:off x="6638544" y="4901183"/>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926" name="Google Shape;926;p9"/>
          <p:cNvSpPr txBox="1"/>
          <p:nvPr/>
        </p:nvSpPr>
        <p:spPr>
          <a:xfrm>
            <a:off x="7644383" y="4901183"/>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Ewall Insurance Company</a:t>
            </a:r>
            <a:endParaRPr/>
          </a:p>
        </p:txBody>
      </p:sp>
      <p:sp>
        <p:nvSpPr>
          <p:cNvPr id="927" name="Google Shape;927;p9"/>
          <p:cNvSpPr txBox="1"/>
          <p:nvPr/>
        </p:nvSpPr>
        <p:spPr>
          <a:xfrm>
            <a:off x="11119104" y="4901183"/>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297</a:t>
            </a:r>
            <a:endParaRPr/>
          </a:p>
        </p:txBody>
      </p:sp>
      <p:sp>
        <p:nvSpPr>
          <p:cNvPr id="928" name="Google Shape;928;p9"/>
          <p:cNvSpPr/>
          <p:nvPr/>
        </p:nvSpPr>
        <p:spPr>
          <a:xfrm>
            <a:off x="6291072" y="5120639"/>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9" name="Google Shape;929;p9"/>
          <p:cNvSpPr txBox="1"/>
          <p:nvPr/>
        </p:nvSpPr>
        <p:spPr>
          <a:xfrm>
            <a:off x="6291072" y="5138927"/>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a:t>
            </a:r>
            <a:endParaRPr/>
          </a:p>
        </p:txBody>
      </p:sp>
      <p:sp>
        <p:nvSpPr>
          <p:cNvPr id="930" name="Google Shape;930;p9"/>
          <p:cNvSpPr txBox="1"/>
          <p:nvPr/>
        </p:nvSpPr>
        <p:spPr>
          <a:xfrm>
            <a:off x="6638544" y="5138927"/>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Kurt B.</a:t>
            </a:r>
            <a:endParaRPr/>
          </a:p>
        </p:txBody>
      </p:sp>
      <p:sp>
        <p:nvSpPr>
          <p:cNvPr id="931" name="Google Shape;931;p9"/>
          <p:cNvSpPr txBox="1"/>
          <p:nvPr/>
        </p:nvSpPr>
        <p:spPr>
          <a:xfrm>
            <a:off x="7644383" y="5138927"/>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Rodriguez Insurance Agency LLC</a:t>
            </a:r>
            <a:endParaRPr/>
          </a:p>
        </p:txBody>
      </p:sp>
      <p:sp>
        <p:nvSpPr>
          <p:cNvPr id="932" name="Google Shape;932;p9"/>
          <p:cNvSpPr txBox="1"/>
          <p:nvPr/>
        </p:nvSpPr>
        <p:spPr>
          <a:xfrm>
            <a:off x="11119104" y="5138927"/>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276</a:t>
            </a:r>
            <a:endParaRPr/>
          </a:p>
        </p:txBody>
      </p:sp>
      <p:sp>
        <p:nvSpPr>
          <p:cNvPr id="933" name="Google Shape;933;p9"/>
          <p:cNvSpPr/>
          <p:nvPr/>
        </p:nvSpPr>
        <p:spPr>
          <a:xfrm>
            <a:off x="6291072" y="5358383"/>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4" name="Google Shape;934;p9"/>
          <p:cNvSpPr txBox="1"/>
          <p:nvPr/>
        </p:nvSpPr>
        <p:spPr>
          <a:xfrm>
            <a:off x="6291072" y="5376671"/>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18</a:t>
            </a:r>
            <a:endParaRPr/>
          </a:p>
        </p:txBody>
      </p:sp>
      <p:sp>
        <p:nvSpPr>
          <p:cNvPr id="935" name="Google Shape;935;p9"/>
          <p:cNvSpPr txBox="1"/>
          <p:nvPr/>
        </p:nvSpPr>
        <p:spPr>
          <a:xfrm>
            <a:off x="6638544" y="5376671"/>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Kurt B.</a:t>
            </a:r>
            <a:endParaRPr/>
          </a:p>
        </p:txBody>
      </p:sp>
      <p:sp>
        <p:nvSpPr>
          <p:cNvPr id="936" name="Google Shape;936;p9"/>
          <p:cNvSpPr txBox="1"/>
          <p:nvPr/>
        </p:nvSpPr>
        <p:spPr>
          <a:xfrm>
            <a:off x="7644383" y="5376671"/>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The McClure Agency LLC</a:t>
            </a:r>
            <a:endParaRPr/>
          </a:p>
        </p:txBody>
      </p:sp>
      <p:sp>
        <p:nvSpPr>
          <p:cNvPr id="937" name="Google Shape;937;p9"/>
          <p:cNvSpPr txBox="1"/>
          <p:nvPr/>
        </p:nvSpPr>
        <p:spPr>
          <a:xfrm>
            <a:off x="11119104" y="5376671"/>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273</a:t>
            </a:r>
            <a:endParaRPr/>
          </a:p>
        </p:txBody>
      </p:sp>
      <p:sp>
        <p:nvSpPr>
          <p:cNvPr id="938" name="Google Shape;938;p9"/>
          <p:cNvSpPr/>
          <p:nvPr/>
        </p:nvSpPr>
        <p:spPr>
          <a:xfrm>
            <a:off x="6291072" y="5596127"/>
            <a:ext cx="5742432" cy="237744"/>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9" name="Google Shape;939;p9"/>
          <p:cNvSpPr txBox="1"/>
          <p:nvPr/>
        </p:nvSpPr>
        <p:spPr>
          <a:xfrm>
            <a:off x="6291072" y="5614415"/>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a:t>
            </a:r>
            <a:endParaRPr/>
          </a:p>
        </p:txBody>
      </p:sp>
      <p:sp>
        <p:nvSpPr>
          <p:cNvPr id="940" name="Google Shape;940;p9"/>
          <p:cNvSpPr txBox="1"/>
          <p:nvPr/>
        </p:nvSpPr>
        <p:spPr>
          <a:xfrm>
            <a:off x="6638544" y="5614415"/>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Alexis B.</a:t>
            </a:r>
            <a:endParaRPr/>
          </a:p>
        </p:txBody>
      </p:sp>
      <p:sp>
        <p:nvSpPr>
          <p:cNvPr id="941" name="Google Shape;941;p9"/>
          <p:cNvSpPr txBox="1"/>
          <p:nvPr/>
        </p:nvSpPr>
        <p:spPr>
          <a:xfrm>
            <a:off x="7644383" y="5614415"/>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Stellar Management, Inc</a:t>
            </a:r>
            <a:endParaRPr/>
          </a:p>
        </p:txBody>
      </p:sp>
      <p:sp>
        <p:nvSpPr>
          <p:cNvPr id="942" name="Google Shape;942;p9"/>
          <p:cNvSpPr txBox="1"/>
          <p:nvPr/>
        </p:nvSpPr>
        <p:spPr>
          <a:xfrm>
            <a:off x="11119104" y="5614415"/>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264</a:t>
            </a:r>
            <a:endParaRPr/>
          </a:p>
        </p:txBody>
      </p:sp>
      <p:sp>
        <p:nvSpPr>
          <p:cNvPr id="943" name="Google Shape;943;p9"/>
          <p:cNvSpPr/>
          <p:nvPr/>
        </p:nvSpPr>
        <p:spPr>
          <a:xfrm>
            <a:off x="6291072" y="5833871"/>
            <a:ext cx="5742432" cy="237744"/>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4" name="Google Shape;944;p9"/>
          <p:cNvSpPr txBox="1"/>
          <p:nvPr/>
        </p:nvSpPr>
        <p:spPr>
          <a:xfrm>
            <a:off x="6291072" y="5852159"/>
            <a:ext cx="3474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20</a:t>
            </a:r>
            <a:endParaRPr/>
          </a:p>
        </p:txBody>
      </p:sp>
      <p:sp>
        <p:nvSpPr>
          <p:cNvPr id="945" name="Google Shape;945;p9"/>
          <p:cNvSpPr txBox="1"/>
          <p:nvPr/>
        </p:nvSpPr>
        <p:spPr>
          <a:xfrm>
            <a:off x="6638544" y="5852159"/>
            <a:ext cx="100584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Portia L.</a:t>
            </a:r>
            <a:endParaRPr/>
          </a:p>
        </p:txBody>
      </p:sp>
      <p:sp>
        <p:nvSpPr>
          <p:cNvPr id="946" name="Google Shape;946;p9"/>
          <p:cNvSpPr txBox="1"/>
          <p:nvPr/>
        </p:nvSpPr>
        <p:spPr>
          <a:xfrm>
            <a:off x="7644383" y="5852159"/>
            <a:ext cx="347472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Vantage Ins LLC</a:t>
            </a:r>
            <a:endParaRPr/>
          </a:p>
        </p:txBody>
      </p:sp>
      <p:sp>
        <p:nvSpPr>
          <p:cNvPr id="947" name="Google Shape;947;p9"/>
          <p:cNvSpPr txBox="1"/>
          <p:nvPr/>
        </p:nvSpPr>
        <p:spPr>
          <a:xfrm>
            <a:off x="11119104" y="5852159"/>
            <a:ext cx="914400"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237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2" name="Shape 952"/>
        <p:cNvGrpSpPr/>
        <p:nvPr/>
      </p:nvGrpSpPr>
      <p:grpSpPr>
        <a:xfrm>
          <a:off x="0" y="0"/>
          <a:ext cx="0" cy="0"/>
          <a:chOff x="0" y="0"/>
          <a:chExt cx="0" cy="0"/>
        </a:xfrm>
      </p:grpSpPr>
      <p:sp>
        <p:nvSpPr>
          <p:cNvPr id="953" name="Google Shape;953;p10"/>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4" name="Google Shape;954;p10"/>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Top 40 Individual Agents — Q2 2026  |  Bound Premium</a:t>
            </a:r>
            <a:endParaRPr/>
          </a:p>
        </p:txBody>
      </p:sp>
      <p:sp>
        <p:nvSpPr>
          <p:cNvPr id="955" name="Google Shape;955;p10"/>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Ranked by bound GWP written  ·  Mint-shaded row = new vs last week’s deck  ·  Apr 1–May 12  ·  Individual producers</a:t>
            </a:r>
            <a:endParaRPr/>
          </a:p>
        </p:txBody>
      </p:sp>
      <p:sp>
        <p:nvSpPr>
          <p:cNvPr id="956" name="Google Shape;956;p10"/>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957" name="Google Shape;957;p10"/>
          <p:cNvSpPr txBox="1"/>
          <p:nvPr/>
        </p:nvSpPr>
        <p:spPr>
          <a:xfrm>
            <a:off x="228600" y="841248"/>
            <a:ext cx="4114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Rank</a:t>
            </a:r>
            <a:endParaRPr/>
          </a:p>
        </p:txBody>
      </p:sp>
      <p:sp>
        <p:nvSpPr>
          <p:cNvPr id="958" name="Google Shape;958;p10"/>
          <p:cNvSpPr txBox="1"/>
          <p:nvPr/>
        </p:nvSpPr>
        <p:spPr>
          <a:xfrm>
            <a:off x="640080" y="841248"/>
            <a:ext cx="192024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Agent</a:t>
            </a:r>
            <a:endParaRPr/>
          </a:p>
        </p:txBody>
      </p:sp>
      <p:sp>
        <p:nvSpPr>
          <p:cNvPr id="959" name="Google Shape;959;p10"/>
          <p:cNvSpPr txBox="1"/>
          <p:nvPr/>
        </p:nvSpPr>
        <p:spPr>
          <a:xfrm>
            <a:off x="2560320" y="841248"/>
            <a:ext cx="2459736"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Agency</a:t>
            </a:r>
            <a:endParaRPr/>
          </a:p>
        </p:txBody>
      </p:sp>
      <p:sp>
        <p:nvSpPr>
          <p:cNvPr id="960" name="Google Shape;960;p10"/>
          <p:cNvSpPr txBox="1"/>
          <p:nvPr/>
        </p:nvSpPr>
        <p:spPr>
          <a:xfrm>
            <a:off x="5020056" y="84124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Q2 GWP</a:t>
            </a:r>
            <a:endParaRPr/>
          </a:p>
        </p:txBody>
      </p:sp>
      <p:sp>
        <p:nvSpPr>
          <p:cNvPr id="961" name="Google Shape;961;p10"/>
          <p:cNvSpPr/>
          <p:nvPr/>
        </p:nvSpPr>
        <p:spPr>
          <a:xfrm>
            <a:off x="228600" y="1042416"/>
            <a:ext cx="5705856"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2" name="Google Shape;962;p10"/>
          <p:cNvSpPr/>
          <p:nvPr/>
        </p:nvSpPr>
        <p:spPr>
          <a:xfrm>
            <a:off x="228600" y="1078992"/>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3" name="Google Shape;963;p10"/>
          <p:cNvSpPr txBox="1"/>
          <p:nvPr/>
        </p:nvSpPr>
        <p:spPr>
          <a:xfrm>
            <a:off x="228600" y="109728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a:t>
            </a:r>
            <a:endParaRPr/>
          </a:p>
        </p:txBody>
      </p:sp>
      <p:sp>
        <p:nvSpPr>
          <p:cNvPr id="964" name="Google Shape;964;p10"/>
          <p:cNvSpPr txBox="1"/>
          <p:nvPr/>
        </p:nvSpPr>
        <p:spPr>
          <a:xfrm>
            <a:off x="640080" y="109728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Cover Badger</a:t>
            </a:r>
            <a:endParaRPr/>
          </a:p>
        </p:txBody>
      </p:sp>
      <p:sp>
        <p:nvSpPr>
          <p:cNvPr id="965" name="Google Shape;965;p10"/>
          <p:cNvSpPr txBox="1"/>
          <p:nvPr/>
        </p:nvSpPr>
        <p:spPr>
          <a:xfrm>
            <a:off x="2560320" y="109728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Cover Badger LLC</a:t>
            </a:r>
            <a:endParaRPr/>
          </a:p>
        </p:txBody>
      </p:sp>
      <p:sp>
        <p:nvSpPr>
          <p:cNvPr id="966" name="Google Shape;966;p10"/>
          <p:cNvSpPr txBox="1"/>
          <p:nvPr/>
        </p:nvSpPr>
        <p:spPr>
          <a:xfrm>
            <a:off x="5020056" y="109728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$3.3M</a:t>
            </a:r>
            <a:endParaRPr/>
          </a:p>
        </p:txBody>
      </p:sp>
      <p:sp>
        <p:nvSpPr>
          <p:cNvPr id="967" name="Google Shape;967;p10"/>
          <p:cNvSpPr/>
          <p:nvPr/>
        </p:nvSpPr>
        <p:spPr>
          <a:xfrm>
            <a:off x="228600" y="1335024"/>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8" name="Google Shape;968;p10"/>
          <p:cNvSpPr txBox="1"/>
          <p:nvPr/>
        </p:nvSpPr>
        <p:spPr>
          <a:xfrm>
            <a:off x="228600" y="135331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a:t>
            </a:r>
            <a:endParaRPr/>
          </a:p>
        </p:txBody>
      </p:sp>
      <p:sp>
        <p:nvSpPr>
          <p:cNvPr id="969" name="Google Shape;969;p10"/>
          <p:cNvSpPr txBox="1"/>
          <p:nvPr/>
        </p:nvSpPr>
        <p:spPr>
          <a:xfrm>
            <a:off x="640080" y="135331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John Medina</a:t>
            </a:r>
            <a:endParaRPr/>
          </a:p>
        </p:txBody>
      </p:sp>
      <p:sp>
        <p:nvSpPr>
          <p:cNvPr id="970" name="Google Shape;970;p10"/>
          <p:cNvSpPr txBox="1"/>
          <p:nvPr/>
        </p:nvSpPr>
        <p:spPr>
          <a:xfrm>
            <a:off x="2560320" y="135331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USA SPECIALTY INSURANCE/DBA PREVEN…</a:t>
            </a:r>
            <a:endParaRPr/>
          </a:p>
        </p:txBody>
      </p:sp>
      <p:sp>
        <p:nvSpPr>
          <p:cNvPr id="971" name="Google Shape;971;p10"/>
          <p:cNvSpPr txBox="1"/>
          <p:nvPr/>
        </p:nvSpPr>
        <p:spPr>
          <a:xfrm>
            <a:off x="5020056" y="135331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$2.3M</a:t>
            </a:r>
            <a:endParaRPr/>
          </a:p>
        </p:txBody>
      </p:sp>
      <p:sp>
        <p:nvSpPr>
          <p:cNvPr id="972" name="Google Shape;972;p10"/>
          <p:cNvSpPr/>
          <p:nvPr/>
        </p:nvSpPr>
        <p:spPr>
          <a:xfrm>
            <a:off x="228600" y="1591056"/>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3" name="Google Shape;973;p10"/>
          <p:cNvSpPr txBox="1"/>
          <p:nvPr/>
        </p:nvSpPr>
        <p:spPr>
          <a:xfrm>
            <a:off x="228600" y="160934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a:t>
            </a:r>
            <a:endParaRPr/>
          </a:p>
        </p:txBody>
      </p:sp>
      <p:sp>
        <p:nvSpPr>
          <p:cNvPr id="974" name="Google Shape;974;p10"/>
          <p:cNvSpPr txBox="1"/>
          <p:nvPr/>
        </p:nvSpPr>
        <p:spPr>
          <a:xfrm>
            <a:off x="640080" y="160934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Cecile Awad</a:t>
            </a:r>
            <a:endParaRPr/>
          </a:p>
        </p:txBody>
      </p:sp>
      <p:sp>
        <p:nvSpPr>
          <p:cNvPr id="975" name="Google Shape;975;p10"/>
          <p:cNvSpPr txBox="1"/>
          <p:nvPr/>
        </p:nvSpPr>
        <p:spPr>
          <a:xfrm>
            <a:off x="2560320" y="160934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United Advantage Insurance Service…</a:t>
            </a:r>
            <a:endParaRPr/>
          </a:p>
        </p:txBody>
      </p:sp>
      <p:sp>
        <p:nvSpPr>
          <p:cNvPr id="976" name="Google Shape;976;p10"/>
          <p:cNvSpPr txBox="1"/>
          <p:nvPr/>
        </p:nvSpPr>
        <p:spPr>
          <a:xfrm>
            <a:off x="5020056" y="160934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$1.2M</a:t>
            </a:r>
            <a:endParaRPr/>
          </a:p>
        </p:txBody>
      </p:sp>
      <p:sp>
        <p:nvSpPr>
          <p:cNvPr id="977" name="Google Shape;977;p10"/>
          <p:cNvSpPr/>
          <p:nvPr/>
        </p:nvSpPr>
        <p:spPr>
          <a:xfrm>
            <a:off x="228600" y="1847088"/>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8" name="Google Shape;978;p10"/>
          <p:cNvSpPr txBox="1"/>
          <p:nvPr/>
        </p:nvSpPr>
        <p:spPr>
          <a:xfrm>
            <a:off x="228600" y="186537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4</a:t>
            </a:r>
            <a:endParaRPr/>
          </a:p>
        </p:txBody>
      </p:sp>
      <p:sp>
        <p:nvSpPr>
          <p:cNvPr id="979" name="Google Shape;979;p10"/>
          <p:cNvSpPr txBox="1"/>
          <p:nvPr/>
        </p:nvSpPr>
        <p:spPr>
          <a:xfrm>
            <a:off x="640080" y="186537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David Rodriguez</a:t>
            </a:r>
            <a:endParaRPr/>
          </a:p>
        </p:txBody>
      </p:sp>
      <p:sp>
        <p:nvSpPr>
          <p:cNvPr id="980" name="Google Shape;980;p10"/>
          <p:cNvSpPr txBox="1"/>
          <p:nvPr/>
        </p:nvSpPr>
        <p:spPr>
          <a:xfrm>
            <a:off x="2560320" y="186537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DNIS Inc.</a:t>
            </a:r>
            <a:endParaRPr/>
          </a:p>
        </p:txBody>
      </p:sp>
      <p:sp>
        <p:nvSpPr>
          <p:cNvPr id="981" name="Google Shape;981;p10"/>
          <p:cNvSpPr txBox="1"/>
          <p:nvPr/>
        </p:nvSpPr>
        <p:spPr>
          <a:xfrm>
            <a:off x="5020056" y="186537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$1.1M</a:t>
            </a:r>
            <a:endParaRPr/>
          </a:p>
        </p:txBody>
      </p:sp>
      <p:sp>
        <p:nvSpPr>
          <p:cNvPr id="982" name="Google Shape;982;p10"/>
          <p:cNvSpPr/>
          <p:nvPr/>
        </p:nvSpPr>
        <p:spPr>
          <a:xfrm>
            <a:off x="228600" y="2103120"/>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3" name="Google Shape;983;p10"/>
          <p:cNvSpPr txBox="1"/>
          <p:nvPr/>
        </p:nvSpPr>
        <p:spPr>
          <a:xfrm>
            <a:off x="228600" y="212140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5</a:t>
            </a:r>
            <a:endParaRPr/>
          </a:p>
        </p:txBody>
      </p:sp>
      <p:sp>
        <p:nvSpPr>
          <p:cNvPr id="984" name="Google Shape;984;p10"/>
          <p:cNvSpPr txBox="1"/>
          <p:nvPr/>
        </p:nvSpPr>
        <p:spPr>
          <a:xfrm>
            <a:off x="640080" y="212140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Gurashish Bedi</a:t>
            </a:r>
            <a:endParaRPr/>
          </a:p>
        </p:txBody>
      </p:sp>
      <p:sp>
        <p:nvSpPr>
          <p:cNvPr id="985" name="Google Shape;985;p10"/>
          <p:cNvSpPr txBox="1"/>
          <p:nvPr/>
        </p:nvSpPr>
        <p:spPr>
          <a:xfrm>
            <a:off x="2560320" y="212140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Commercial Trucking Insurance Agen…</a:t>
            </a:r>
            <a:endParaRPr/>
          </a:p>
        </p:txBody>
      </p:sp>
      <p:sp>
        <p:nvSpPr>
          <p:cNvPr id="986" name="Google Shape;986;p10"/>
          <p:cNvSpPr txBox="1"/>
          <p:nvPr/>
        </p:nvSpPr>
        <p:spPr>
          <a:xfrm>
            <a:off x="5020056" y="212140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$1.0M</a:t>
            </a:r>
            <a:endParaRPr/>
          </a:p>
        </p:txBody>
      </p:sp>
      <p:sp>
        <p:nvSpPr>
          <p:cNvPr id="987" name="Google Shape;987;p10"/>
          <p:cNvSpPr/>
          <p:nvPr/>
        </p:nvSpPr>
        <p:spPr>
          <a:xfrm>
            <a:off x="228600" y="2359152"/>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8" name="Google Shape;988;p10"/>
          <p:cNvSpPr txBox="1"/>
          <p:nvPr/>
        </p:nvSpPr>
        <p:spPr>
          <a:xfrm>
            <a:off x="228600" y="237744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6</a:t>
            </a:r>
            <a:endParaRPr/>
          </a:p>
        </p:txBody>
      </p:sp>
      <p:sp>
        <p:nvSpPr>
          <p:cNvPr id="989" name="Google Shape;989;p10"/>
          <p:cNvSpPr txBox="1"/>
          <p:nvPr/>
        </p:nvSpPr>
        <p:spPr>
          <a:xfrm>
            <a:off x="640080" y="237744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Anahit Grigoryan</a:t>
            </a:r>
            <a:endParaRPr/>
          </a:p>
        </p:txBody>
      </p:sp>
      <p:sp>
        <p:nvSpPr>
          <p:cNvPr id="990" name="Google Shape;990;p10"/>
          <p:cNvSpPr txBox="1"/>
          <p:nvPr/>
        </p:nvSpPr>
        <p:spPr>
          <a:xfrm>
            <a:off x="2560320" y="237744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CASCADE INSURANCE SERVICES INC DBA…</a:t>
            </a:r>
            <a:endParaRPr/>
          </a:p>
        </p:txBody>
      </p:sp>
      <p:sp>
        <p:nvSpPr>
          <p:cNvPr id="991" name="Google Shape;991;p10"/>
          <p:cNvSpPr txBox="1"/>
          <p:nvPr/>
        </p:nvSpPr>
        <p:spPr>
          <a:xfrm>
            <a:off x="5020056" y="237744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$875K</a:t>
            </a:r>
            <a:endParaRPr/>
          </a:p>
        </p:txBody>
      </p:sp>
      <p:sp>
        <p:nvSpPr>
          <p:cNvPr id="992" name="Google Shape;992;p10"/>
          <p:cNvSpPr/>
          <p:nvPr/>
        </p:nvSpPr>
        <p:spPr>
          <a:xfrm>
            <a:off x="228600" y="2615184"/>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3" name="Google Shape;993;p10"/>
          <p:cNvSpPr txBox="1"/>
          <p:nvPr/>
        </p:nvSpPr>
        <p:spPr>
          <a:xfrm>
            <a:off x="228600" y="263347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7</a:t>
            </a:r>
            <a:endParaRPr/>
          </a:p>
        </p:txBody>
      </p:sp>
      <p:sp>
        <p:nvSpPr>
          <p:cNvPr id="994" name="Google Shape;994;p10"/>
          <p:cNvSpPr txBox="1"/>
          <p:nvPr/>
        </p:nvSpPr>
        <p:spPr>
          <a:xfrm>
            <a:off x="640080" y="263347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Carlos Ochoa</a:t>
            </a:r>
            <a:endParaRPr/>
          </a:p>
        </p:txBody>
      </p:sp>
      <p:sp>
        <p:nvSpPr>
          <p:cNvPr id="995" name="Google Shape;995;p10"/>
          <p:cNvSpPr txBox="1"/>
          <p:nvPr/>
        </p:nvSpPr>
        <p:spPr>
          <a:xfrm>
            <a:off x="2560320" y="263347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AMC Agents LLC</a:t>
            </a:r>
            <a:endParaRPr/>
          </a:p>
        </p:txBody>
      </p:sp>
      <p:sp>
        <p:nvSpPr>
          <p:cNvPr id="996" name="Google Shape;996;p10"/>
          <p:cNvSpPr txBox="1"/>
          <p:nvPr/>
        </p:nvSpPr>
        <p:spPr>
          <a:xfrm>
            <a:off x="5020056" y="263347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$828K</a:t>
            </a:r>
            <a:endParaRPr/>
          </a:p>
        </p:txBody>
      </p:sp>
      <p:sp>
        <p:nvSpPr>
          <p:cNvPr id="997" name="Google Shape;997;p10"/>
          <p:cNvSpPr/>
          <p:nvPr/>
        </p:nvSpPr>
        <p:spPr>
          <a:xfrm>
            <a:off x="228600" y="2871216"/>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8" name="Google Shape;998;p10"/>
          <p:cNvSpPr txBox="1"/>
          <p:nvPr/>
        </p:nvSpPr>
        <p:spPr>
          <a:xfrm>
            <a:off x="228600" y="288950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8</a:t>
            </a:r>
            <a:endParaRPr/>
          </a:p>
        </p:txBody>
      </p:sp>
      <p:sp>
        <p:nvSpPr>
          <p:cNvPr id="999" name="Google Shape;999;p10"/>
          <p:cNvSpPr txBox="1"/>
          <p:nvPr/>
        </p:nvSpPr>
        <p:spPr>
          <a:xfrm>
            <a:off x="640080" y="288950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Justin Feaster</a:t>
            </a:r>
            <a:endParaRPr/>
          </a:p>
        </p:txBody>
      </p:sp>
      <p:sp>
        <p:nvSpPr>
          <p:cNvPr id="1000" name="Google Shape;1000;p10"/>
          <p:cNvSpPr txBox="1"/>
          <p:nvPr/>
        </p:nvSpPr>
        <p:spPr>
          <a:xfrm>
            <a:off x="2560320" y="288950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American Fleet Insurance</a:t>
            </a:r>
            <a:endParaRPr/>
          </a:p>
        </p:txBody>
      </p:sp>
      <p:sp>
        <p:nvSpPr>
          <p:cNvPr id="1001" name="Google Shape;1001;p10"/>
          <p:cNvSpPr txBox="1"/>
          <p:nvPr/>
        </p:nvSpPr>
        <p:spPr>
          <a:xfrm>
            <a:off x="5020056" y="288950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$803K</a:t>
            </a:r>
            <a:endParaRPr/>
          </a:p>
        </p:txBody>
      </p:sp>
      <p:sp>
        <p:nvSpPr>
          <p:cNvPr id="1002" name="Google Shape;1002;p10"/>
          <p:cNvSpPr/>
          <p:nvPr/>
        </p:nvSpPr>
        <p:spPr>
          <a:xfrm>
            <a:off x="228600" y="3127248"/>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3" name="Google Shape;1003;p10"/>
          <p:cNvSpPr txBox="1"/>
          <p:nvPr/>
        </p:nvSpPr>
        <p:spPr>
          <a:xfrm>
            <a:off x="228600" y="314553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9</a:t>
            </a:r>
            <a:endParaRPr/>
          </a:p>
        </p:txBody>
      </p:sp>
      <p:sp>
        <p:nvSpPr>
          <p:cNvPr id="1004" name="Google Shape;1004;p10"/>
          <p:cNvSpPr txBox="1"/>
          <p:nvPr/>
        </p:nvSpPr>
        <p:spPr>
          <a:xfrm>
            <a:off x="640080" y="314553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Jeremy Huddleston</a:t>
            </a:r>
            <a:endParaRPr/>
          </a:p>
        </p:txBody>
      </p:sp>
      <p:sp>
        <p:nvSpPr>
          <p:cNvPr id="1005" name="Google Shape;1005;p10"/>
          <p:cNvSpPr txBox="1"/>
          <p:nvPr/>
        </p:nvSpPr>
        <p:spPr>
          <a:xfrm>
            <a:off x="2560320" y="314553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ELITE PARTNERS INSURANCE GROUP LLC</a:t>
            </a:r>
            <a:endParaRPr/>
          </a:p>
        </p:txBody>
      </p:sp>
      <p:sp>
        <p:nvSpPr>
          <p:cNvPr id="1006" name="Google Shape;1006;p10"/>
          <p:cNvSpPr txBox="1"/>
          <p:nvPr/>
        </p:nvSpPr>
        <p:spPr>
          <a:xfrm>
            <a:off x="5020056" y="314553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$756K</a:t>
            </a:r>
            <a:endParaRPr/>
          </a:p>
        </p:txBody>
      </p:sp>
      <p:sp>
        <p:nvSpPr>
          <p:cNvPr id="1007" name="Google Shape;1007;p10"/>
          <p:cNvSpPr/>
          <p:nvPr/>
        </p:nvSpPr>
        <p:spPr>
          <a:xfrm>
            <a:off x="228600" y="3383280"/>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8" name="Google Shape;1008;p10"/>
          <p:cNvSpPr txBox="1"/>
          <p:nvPr/>
        </p:nvSpPr>
        <p:spPr>
          <a:xfrm>
            <a:off x="228600" y="340156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10</a:t>
            </a:r>
            <a:endParaRPr/>
          </a:p>
        </p:txBody>
      </p:sp>
      <p:sp>
        <p:nvSpPr>
          <p:cNvPr id="1009" name="Google Shape;1009;p10"/>
          <p:cNvSpPr txBox="1"/>
          <p:nvPr/>
        </p:nvSpPr>
        <p:spPr>
          <a:xfrm>
            <a:off x="640080" y="340156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Oscar Rodriguez</a:t>
            </a:r>
            <a:endParaRPr/>
          </a:p>
        </p:txBody>
      </p:sp>
      <p:sp>
        <p:nvSpPr>
          <p:cNvPr id="1010" name="Google Shape;1010;p10"/>
          <p:cNvSpPr txBox="1"/>
          <p:nvPr/>
        </p:nvSpPr>
        <p:spPr>
          <a:xfrm>
            <a:off x="2560320" y="340156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Fino Services LLC</a:t>
            </a:r>
            <a:endParaRPr/>
          </a:p>
        </p:txBody>
      </p:sp>
      <p:sp>
        <p:nvSpPr>
          <p:cNvPr id="1011" name="Google Shape;1011;p10"/>
          <p:cNvSpPr txBox="1"/>
          <p:nvPr/>
        </p:nvSpPr>
        <p:spPr>
          <a:xfrm>
            <a:off x="5020056" y="340156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$727K</a:t>
            </a:r>
            <a:endParaRPr/>
          </a:p>
        </p:txBody>
      </p:sp>
      <p:sp>
        <p:nvSpPr>
          <p:cNvPr id="1012" name="Google Shape;1012;p10"/>
          <p:cNvSpPr/>
          <p:nvPr/>
        </p:nvSpPr>
        <p:spPr>
          <a:xfrm>
            <a:off x="228600" y="3639312"/>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3" name="Google Shape;1013;p10"/>
          <p:cNvSpPr txBox="1"/>
          <p:nvPr/>
        </p:nvSpPr>
        <p:spPr>
          <a:xfrm>
            <a:off x="228600" y="365760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11</a:t>
            </a:r>
            <a:endParaRPr/>
          </a:p>
        </p:txBody>
      </p:sp>
      <p:sp>
        <p:nvSpPr>
          <p:cNvPr id="1014" name="Google Shape;1014;p10"/>
          <p:cNvSpPr txBox="1"/>
          <p:nvPr/>
        </p:nvSpPr>
        <p:spPr>
          <a:xfrm>
            <a:off x="640080" y="365760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Raj Singh</a:t>
            </a:r>
            <a:endParaRPr/>
          </a:p>
        </p:txBody>
      </p:sp>
      <p:sp>
        <p:nvSpPr>
          <p:cNvPr id="1015" name="Google Shape;1015;p10"/>
          <p:cNvSpPr txBox="1"/>
          <p:nvPr/>
        </p:nvSpPr>
        <p:spPr>
          <a:xfrm>
            <a:off x="2560320" y="365760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Pride Insurance LLC</a:t>
            </a:r>
            <a:endParaRPr/>
          </a:p>
        </p:txBody>
      </p:sp>
      <p:sp>
        <p:nvSpPr>
          <p:cNvPr id="1016" name="Google Shape;1016;p10"/>
          <p:cNvSpPr txBox="1"/>
          <p:nvPr/>
        </p:nvSpPr>
        <p:spPr>
          <a:xfrm>
            <a:off x="5020056" y="365760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$596K</a:t>
            </a:r>
            <a:endParaRPr/>
          </a:p>
        </p:txBody>
      </p:sp>
      <p:sp>
        <p:nvSpPr>
          <p:cNvPr id="1017" name="Google Shape;1017;p10"/>
          <p:cNvSpPr/>
          <p:nvPr/>
        </p:nvSpPr>
        <p:spPr>
          <a:xfrm>
            <a:off x="228600" y="3895344"/>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8" name="Google Shape;1018;p10"/>
          <p:cNvSpPr txBox="1"/>
          <p:nvPr/>
        </p:nvSpPr>
        <p:spPr>
          <a:xfrm>
            <a:off x="228600" y="391363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12</a:t>
            </a:r>
            <a:endParaRPr/>
          </a:p>
        </p:txBody>
      </p:sp>
      <p:sp>
        <p:nvSpPr>
          <p:cNvPr id="1019" name="Google Shape;1019;p10"/>
          <p:cNvSpPr txBox="1"/>
          <p:nvPr/>
        </p:nvSpPr>
        <p:spPr>
          <a:xfrm>
            <a:off x="640080" y="391363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Larisa Davtyan</a:t>
            </a:r>
            <a:endParaRPr/>
          </a:p>
        </p:txBody>
      </p:sp>
      <p:sp>
        <p:nvSpPr>
          <p:cNvPr id="1020" name="Google Shape;1020;p10"/>
          <p:cNvSpPr txBox="1"/>
          <p:nvPr/>
        </p:nvSpPr>
        <p:spPr>
          <a:xfrm>
            <a:off x="2560320" y="391363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Safeline Insurance Agency, Inc.</a:t>
            </a:r>
            <a:endParaRPr/>
          </a:p>
        </p:txBody>
      </p:sp>
      <p:sp>
        <p:nvSpPr>
          <p:cNvPr id="1021" name="Google Shape;1021;p10"/>
          <p:cNvSpPr txBox="1"/>
          <p:nvPr/>
        </p:nvSpPr>
        <p:spPr>
          <a:xfrm>
            <a:off x="5020056" y="391363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$540K</a:t>
            </a:r>
            <a:endParaRPr/>
          </a:p>
        </p:txBody>
      </p:sp>
      <p:sp>
        <p:nvSpPr>
          <p:cNvPr id="1022" name="Google Shape;1022;p10"/>
          <p:cNvSpPr/>
          <p:nvPr/>
        </p:nvSpPr>
        <p:spPr>
          <a:xfrm>
            <a:off x="228600" y="4151376"/>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3" name="Google Shape;1023;p10"/>
          <p:cNvSpPr txBox="1"/>
          <p:nvPr/>
        </p:nvSpPr>
        <p:spPr>
          <a:xfrm>
            <a:off x="228600" y="416966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13</a:t>
            </a:r>
            <a:endParaRPr/>
          </a:p>
        </p:txBody>
      </p:sp>
      <p:sp>
        <p:nvSpPr>
          <p:cNvPr id="1024" name="Google Shape;1024;p10"/>
          <p:cNvSpPr txBox="1"/>
          <p:nvPr/>
        </p:nvSpPr>
        <p:spPr>
          <a:xfrm>
            <a:off x="640080" y="416966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No Name Given Ankush</a:t>
            </a:r>
            <a:endParaRPr/>
          </a:p>
        </p:txBody>
      </p:sp>
      <p:sp>
        <p:nvSpPr>
          <p:cNvPr id="1025" name="Google Shape;1025;p10"/>
          <p:cNvSpPr txBox="1"/>
          <p:nvPr/>
        </p:nvSpPr>
        <p:spPr>
          <a:xfrm>
            <a:off x="2560320" y="416966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Vintage Insurance Agency Inc (The)</a:t>
            </a:r>
            <a:endParaRPr/>
          </a:p>
        </p:txBody>
      </p:sp>
      <p:sp>
        <p:nvSpPr>
          <p:cNvPr id="1026" name="Google Shape;1026;p10"/>
          <p:cNvSpPr txBox="1"/>
          <p:nvPr/>
        </p:nvSpPr>
        <p:spPr>
          <a:xfrm>
            <a:off x="5020056" y="416966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$502K</a:t>
            </a:r>
            <a:endParaRPr/>
          </a:p>
        </p:txBody>
      </p:sp>
      <p:sp>
        <p:nvSpPr>
          <p:cNvPr id="1027" name="Google Shape;1027;p10"/>
          <p:cNvSpPr/>
          <p:nvPr/>
        </p:nvSpPr>
        <p:spPr>
          <a:xfrm>
            <a:off x="228600" y="4407408"/>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8" name="Google Shape;1028;p10"/>
          <p:cNvSpPr txBox="1"/>
          <p:nvPr/>
        </p:nvSpPr>
        <p:spPr>
          <a:xfrm>
            <a:off x="228600" y="442569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14</a:t>
            </a:r>
            <a:endParaRPr/>
          </a:p>
        </p:txBody>
      </p:sp>
      <p:sp>
        <p:nvSpPr>
          <p:cNvPr id="1029" name="Google Shape;1029;p10"/>
          <p:cNvSpPr txBox="1"/>
          <p:nvPr/>
        </p:nvSpPr>
        <p:spPr>
          <a:xfrm>
            <a:off x="640080" y="442569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Shubham Kamra</a:t>
            </a:r>
            <a:endParaRPr/>
          </a:p>
        </p:txBody>
      </p:sp>
      <p:sp>
        <p:nvSpPr>
          <p:cNvPr id="1030" name="Google Shape;1030;p10"/>
          <p:cNvSpPr txBox="1"/>
          <p:nvPr/>
        </p:nvSpPr>
        <p:spPr>
          <a:xfrm>
            <a:off x="2560320" y="442569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A.S.I.A Inc</a:t>
            </a:r>
            <a:endParaRPr/>
          </a:p>
        </p:txBody>
      </p:sp>
      <p:sp>
        <p:nvSpPr>
          <p:cNvPr id="1031" name="Google Shape;1031;p10"/>
          <p:cNvSpPr txBox="1"/>
          <p:nvPr/>
        </p:nvSpPr>
        <p:spPr>
          <a:xfrm>
            <a:off x="5020056" y="442569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$501K</a:t>
            </a:r>
            <a:endParaRPr/>
          </a:p>
        </p:txBody>
      </p:sp>
      <p:sp>
        <p:nvSpPr>
          <p:cNvPr id="1032" name="Google Shape;1032;p10"/>
          <p:cNvSpPr/>
          <p:nvPr/>
        </p:nvSpPr>
        <p:spPr>
          <a:xfrm>
            <a:off x="228600" y="4663440"/>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3" name="Google Shape;1033;p10"/>
          <p:cNvSpPr txBox="1"/>
          <p:nvPr/>
        </p:nvSpPr>
        <p:spPr>
          <a:xfrm>
            <a:off x="228600" y="468172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15</a:t>
            </a:r>
            <a:endParaRPr/>
          </a:p>
        </p:txBody>
      </p:sp>
      <p:sp>
        <p:nvSpPr>
          <p:cNvPr id="1034" name="Google Shape;1034;p10"/>
          <p:cNvSpPr txBox="1"/>
          <p:nvPr/>
        </p:nvSpPr>
        <p:spPr>
          <a:xfrm>
            <a:off x="640080" y="468172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Anastasiya Nabokov</a:t>
            </a:r>
            <a:endParaRPr/>
          </a:p>
        </p:txBody>
      </p:sp>
      <p:sp>
        <p:nvSpPr>
          <p:cNvPr id="1035" name="Google Shape;1035;p10"/>
          <p:cNvSpPr txBox="1"/>
          <p:nvPr/>
        </p:nvSpPr>
        <p:spPr>
          <a:xfrm>
            <a:off x="2560320" y="468172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Drive Safe Group LLC</a:t>
            </a:r>
            <a:endParaRPr/>
          </a:p>
        </p:txBody>
      </p:sp>
      <p:sp>
        <p:nvSpPr>
          <p:cNvPr id="1036" name="Google Shape;1036;p10"/>
          <p:cNvSpPr txBox="1"/>
          <p:nvPr/>
        </p:nvSpPr>
        <p:spPr>
          <a:xfrm>
            <a:off x="5020056" y="468172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$475K</a:t>
            </a:r>
            <a:endParaRPr/>
          </a:p>
        </p:txBody>
      </p:sp>
      <p:sp>
        <p:nvSpPr>
          <p:cNvPr id="1037" name="Google Shape;1037;p10"/>
          <p:cNvSpPr/>
          <p:nvPr/>
        </p:nvSpPr>
        <p:spPr>
          <a:xfrm>
            <a:off x="228600" y="4919472"/>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8" name="Google Shape;1038;p10"/>
          <p:cNvSpPr txBox="1"/>
          <p:nvPr/>
        </p:nvSpPr>
        <p:spPr>
          <a:xfrm>
            <a:off x="228600" y="493776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16</a:t>
            </a:r>
            <a:endParaRPr/>
          </a:p>
        </p:txBody>
      </p:sp>
      <p:sp>
        <p:nvSpPr>
          <p:cNvPr id="1039" name="Google Shape;1039;p10"/>
          <p:cNvSpPr txBox="1"/>
          <p:nvPr/>
        </p:nvSpPr>
        <p:spPr>
          <a:xfrm>
            <a:off x="640080" y="493776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Mary Davis-Spivak</a:t>
            </a:r>
            <a:endParaRPr/>
          </a:p>
        </p:txBody>
      </p:sp>
      <p:sp>
        <p:nvSpPr>
          <p:cNvPr id="1040" name="Google Shape;1040;p10"/>
          <p:cNvSpPr txBox="1"/>
          <p:nvPr/>
        </p:nvSpPr>
        <p:spPr>
          <a:xfrm>
            <a:off x="2560320" y="493776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Valion Security LLC</a:t>
            </a:r>
            <a:endParaRPr/>
          </a:p>
        </p:txBody>
      </p:sp>
      <p:sp>
        <p:nvSpPr>
          <p:cNvPr id="1041" name="Google Shape;1041;p10"/>
          <p:cNvSpPr txBox="1"/>
          <p:nvPr/>
        </p:nvSpPr>
        <p:spPr>
          <a:xfrm>
            <a:off x="5020056" y="493776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$461K</a:t>
            </a:r>
            <a:endParaRPr/>
          </a:p>
        </p:txBody>
      </p:sp>
      <p:sp>
        <p:nvSpPr>
          <p:cNvPr id="1042" name="Google Shape;1042;p10"/>
          <p:cNvSpPr/>
          <p:nvPr/>
        </p:nvSpPr>
        <p:spPr>
          <a:xfrm>
            <a:off x="228600" y="5175504"/>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3" name="Google Shape;1043;p10"/>
          <p:cNvSpPr txBox="1"/>
          <p:nvPr/>
        </p:nvSpPr>
        <p:spPr>
          <a:xfrm>
            <a:off x="228600" y="519379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17</a:t>
            </a:r>
            <a:endParaRPr/>
          </a:p>
        </p:txBody>
      </p:sp>
      <p:sp>
        <p:nvSpPr>
          <p:cNvPr id="1044" name="Google Shape;1044;p10"/>
          <p:cNvSpPr txBox="1"/>
          <p:nvPr/>
        </p:nvSpPr>
        <p:spPr>
          <a:xfrm>
            <a:off x="640080" y="519379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Scott Procops</a:t>
            </a:r>
            <a:endParaRPr/>
          </a:p>
        </p:txBody>
      </p:sp>
      <p:sp>
        <p:nvSpPr>
          <p:cNvPr id="1045" name="Google Shape;1045;p10"/>
          <p:cNvSpPr txBox="1"/>
          <p:nvPr/>
        </p:nvSpPr>
        <p:spPr>
          <a:xfrm>
            <a:off x="2560320" y="519379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Specialty Coverage Insurance Agenc…</a:t>
            </a:r>
            <a:endParaRPr/>
          </a:p>
        </p:txBody>
      </p:sp>
      <p:sp>
        <p:nvSpPr>
          <p:cNvPr id="1046" name="Google Shape;1046;p10"/>
          <p:cNvSpPr txBox="1"/>
          <p:nvPr/>
        </p:nvSpPr>
        <p:spPr>
          <a:xfrm>
            <a:off x="5020056" y="519379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$429K</a:t>
            </a:r>
            <a:endParaRPr/>
          </a:p>
        </p:txBody>
      </p:sp>
      <p:sp>
        <p:nvSpPr>
          <p:cNvPr id="1047" name="Google Shape;1047;p10"/>
          <p:cNvSpPr/>
          <p:nvPr/>
        </p:nvSpPr>
        <p:spPr>
          <a:xfrm>
            <a:off x="228600" y="5431536"/>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8" name="Google Shape;1048;p10"/>
          <p:cNvSpPr txBox="1"/>
          <p:nvPr/>
        </p:nvSpPr>
        <p:spPr>
          <a:xfrm>
            <a:off x="228600" y="544982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18</a:t>
            </a:r>
            <a:endParaRPr/>
          </a:p>
        </p:txBody>
      </p:sp>
      <p:sp>
        <p:nvSpPr>
          <p:cNvPr id="1049" name="Google Shape;1049;p10"/>
          <p:cNvSpPr txBox="1"/>
          <p:nvPr/>
        </p:nvSpPr>
        <p:spPr>
          <a:xfrm>
            <a:off x="640080" y="544982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Gayane Yeghiazaryan</a:t>
            </a:r>
            <a:endParaRPr/>
          </a:p>
        </p:txBody>
      </p:sp>
      <p:sp>
        <p:nvSpPr>
          <p:cNvPr id="1050" name="Google Shape;1050;p10"/>
          <p:cNvSpPr txBox="1"/>
          <p:nvPr/>
        </p:nvSpPr>
        <p:spPr>
          <a:xfrm>
            <a:off x="2560320" y="544982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Limosa Insurance Services Inc</a:t>
            </a:r>
            <a:endParaRPr/>
          </a:p>
        </p:txBody>
      </p:sp>
      <p:sp>
        <p:nvSpPr>
          <p:cNvPr id="1051" name="Google Shape;1051;p10"/>
          <p:cNvSpPr txBox="1"/>
          <p:nvPr/>
        </p:nvSpPr>
        <p:spPr>
          <a:xfrm>
            <a:off x="5020056" y="544982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$428K</a:t>
            </a:r>
            <a:endParaRPr/>
          </a:p>
        </p:txBody>
      </p:sp>
      <p:sp>
        <p:nvSpPr>
          <p:cNvPr id="1052" name="Google Shape;1052;p10"/>
          <p:cNvSpPr/>
          <p:nvPr/>
        </p:nvSpPr>
        <p:spPr>
          <a:xfrm>
            <a:off x="228600" y="5687568"/>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3" name="Google Shape;1053;p10"/>
          <p:cNvSpPr txBox="1"/>
          <p:nvPr/>
        </p:nvSpPr>
        <p:spPr>
          <a:xfrm>
            <a:off x="228600" y="570585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19</a:t>
            </a:r>
            <a:endParaRPr/>
          </a:p>
        </p:txBody>
      </p:sp>
      <p:sp>
        <p:nvSpPr>
          <p:cNvPr id="1054" name="Google Shape;1054;p10"/>
          <p:cNvSpPr txBox="1"/>
          <p:nvPr/>
        </p:nvSpPr>
        <p:spPr>
          <a:xfrm>
            <a:off x="640080" y="570585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Ateetpal Bansal</a:t>
            </a:r>
            <a:endParaRPr/>
          </a:p>
        </p:txBody>
      </p:sp>
      <p:sp>
        <p:nvSpPr>
          <p:cNvPr id="1055" name="Google Shape;1055;p10"/>
          <p:cNvSpPr txBox="1"/>
          <p:nvPr/>
        </p:nvSpPr>
        <p:spPr>
          <a:xfrm>
            <a:off x="2560320" y="570585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Jagdeep Singh Insurance Agency, In…</a:t>
            </a:r>
            <a:endParaRPr/>
          </a:p>
        </p:txBody>
      </p:sp>
      <p:sp>
        <p:nvSpPr>
          <p:cNvPr id="1056" name="Google Shape;1056;p10"/>
          <p:cNvSpPr txBox="1"/>
          <p:nvPr/>
        </p:nvSpPr>
        <p:spPr>
          <a:xfrm>
            <a:off x="5020056" y="570585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$419K</a:t>
            </a:r>
            <a:endParaRPr/>
          </a:p>
        </p:txBody>
      </p:sp>
      <p:sp>
        <p:nvSpPr>
          <p:cNvPr id="1057" name="Google Shape;1057;p10"/>
          <p:cNvSpPr/>
          <p:nvPr/>
        </p:nvSpPr>
        <p:spPr>
          <a:xfrm>
            <a:off x="228600" y="5943600"/>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8" name="Google Shape;1058;p10"/>
          <p:cNvSpPr txBox="1"/>
          <p:nvPr/>
        </p:nvSpPr>
        <p:spPr>
          <a:xfrm>
            <a:off x="228600" y="596188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20</a:t>
            </a:r>
            <a:endParaRPr/>
          </a:p>
        </p:txBody>
      </p:sp>
      <p:sp>
        <p:nvSpPr>
          <p:cNvPr id="1059" name="Google Shape;1059;p10"/>
          <p:cNvSpPr txBox="1"/>
          <p:nvPr/>
        </p:nvSpPr>
        <p:spPr>
          <a:xfrm>
            <a:off x="640080" y="596188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Sapna Kharbanda</a:t>
            </a:r>
            <a:endParaRPr/>
          </a:p>
        </p:txBody>
      </p:sp>
      <p:sp>
        <p:nvSpPr>
          <p:cNvPr id="1060" name="Google Shape;1060;p10"/>
          <p:cNvSpPr txBox="1"/>
          <p:nvPr/>
        </p:nvSpPr>
        <p:spPr>
          <a:xfrm>
            <a:off x="2560320" y="596188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Sedge Insurance Agency LLC</a:t>
            </a:r>
            <a:endParaRPr/>
          </a:p>
        </p:txBody>
      </p:sp>
      <p:sp>
        <p:nvSpPr>
          <p:cNvPr id="1061" name="Google Shape;1061;p10"/>
          <p:cNvSpPr txBox="1"/>
          <p:nvPr/>
        </p:nvSpPr>
        <p:spPr>
          <a:xfrm>
            <a:off x="5020056" y="596188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$395K</a:t>
            </a:r>
            <a:endParaRPr/>
          </a:p>
        </p:txBody>
      </p:sp>
      <p:sp>
        <p:nvSpPr>
          <p:cNvPr id="1062" name="Google Shape;1062;p10"/>
          <p:cNvSpPr txBox="1"/>
          <p:nvPr/>
        </p:nvSpPr>
        <p:spPr>
          <a:xfrm>
            <a:off x="6254496" y="841248"/>
            <a:ext cx="4114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Rank</a:t>
            </a:r>
            <a:endParaRPr/>
          </a:p>
        </p:txBody>
      </p:sp>
      <p:sp>
        <p:nvSpPr>
          <p:cNvPr id="1063" name="Google Shape;1063;p10"/>
          <p:cNvSpPr txBox="1"/>
          <p:nvPr/>
        </p:nvSpPr>
        <p:spPr>
          <a:xfrm>
            <a:off x="6665976" y="841248"/>
            <a:ext cx="192024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Agent</a:t>
            </a:r>
            <a:endParaRPr/>
          </a:p>
        </p:txBody>
      </p:sp>
      <p:sp>
        <p:nvSpPr>
          <p:cNvPr id="1064" name="Google Shape;1064;p10"/>
          <p:cNvSpPr txBox="1"/>
          <p:nvPr/>
        </p:nvSpPr>
        <p:spPr>
          <a:xfrm>
            <a:off x="8586216" y="841248"/>
            <a:ext cx="2459736"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Agency</a:t>
            </a:r>
            <a:endParaRPr/>
          </a:p>
        </p:txBody>
      </p:sp>
      <p:sp>
        <p:nvSpPr>
          <p:cNvPr id="1065" name="Google Shape;1065;p10"/>
          <p:cNvSpPr txBox="1"/>
          <p:nvPr/>
        </p:nvSpPr>
        <p:spPr>
          <a:xfrm>
            <a:off x="11045952" y="841248"/>
            <a:ext cx="91440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Q2 GWP</a:t>
            </a:r>
            <a:endParaRPr/>
          </a:p>
        </p:txBody>
      </p:sp>
      <p:sp>
        <p:nvSpPr>
          <p:cNvPr id="1066" name="Google Shape;1066;p10"/>
          <p:cNvSpPr/>
          <p:nvPr/>
        </p:nvSpPr>
        <p:spPr>
          <a:xfrm>
            <a:off x="6254496" y="1042416"/>
            <a:ext cx="5705856"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7" name="Google Shape;1067;p10"/>
          <p:cNvSpPr/>
          <p:nvPr/>
        </p:nvSpPr>
        <p:spPr>
          <a:xfrm>
            <a:off x="6254496" y="1078992"/>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8" name="Google Shape;1068;p10"/>
          <p:cNvSpPr txBox="1"/>
          <p:nvPr/>
        </p:nvSpPr>
        <p:spPr>
          <a:xfrm>
            <a:off x="6254496" y="109728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21</a:t>
            </a:r>
            <a:endParaRPr/>
          </a:p>
        </p:txBody>
      </p:sp>
      <p:sp>
        <p:nvSpPr>
          <p:cNvPr id="1069" name="Google Shape;1069;p10"/>
          <p:cNvSpPr txBox="1"/>
          <p:nvPr/>
        </p:nvSpPr>
        <p:spPr>
          <a:xfrm>
            <a:off x="6665976" y="109728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Christian Gomez</a:t>
            </a:r>
            <a:endParaRPr/>
          </a:p>
        </p:txBody>
      </p:sp>
      <p:sp>
        <p:nvSpPr>
          <p:cNvPr id="1070" name="Google Shape;1070;p10"/>
          <p:cNvSpPr txBox="1"/>
          <p:nvPr/>
        </p:nvSpPr>
        <p:spPr>
          <a:xfrm>
            <a:off x="8586216" y="109728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Your Truck Shield LLC</a:t>
            </a:r>
            <a:endParaRPr/>
          </a:p>
        </p:txBody>
      </p:sp>
      <p:sp>
        <p:nvSpPr>
          <p:cNvPr id="1071" name="Google Shape;1071;p10"/>
          <p:cNvSpPr txBox="1"/>
          <p:nvPr/>
        </p:nvSpPr>
        <p:spPr>
          <a:xfrm>
            <a:off x="11045952" y="109728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$382K</a:t>
            </a:r>
            <a:endParaRPr/>
          </a:p>
        </p:txBody>
      </p:sp>
      <p:sp>
        <p:nvSpPr>
          <p:cNvPr id="1072" name="Google Shape;1072;p10"/>
          <p:cNvSpPr/>
          <p:nvPr/>
        </p:nvSpPr>
        <p:spPr>
          <a:xfrm>
            <a:off x="6254496" y="1335024"/>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3" name="Google Shape;1073;p10"/>
          <p:cNvSpPr txBox="1"/>
          <p:nvPr/>
        </p:nvSpPr>
        <p:spPr>
          <a:xfrm>
            <a:off x="6254496" y="135331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22</a:t>
            </a:r>
            <a:endParaRPr/>
          </a:p>
        </p:txBody>
      </p:sp>
      <p:sp>
        <p:nvSpPr>
          <p:cNvPr id="1074" name="Google Shape;1074;p10"/>
          <p:cNvSpPr txBox="1"/>
          <p:nvPr/>
        </p:nvSpPr>
        <p:spPr>
          <a:xfrm>
            <a:off x="6665976" y="135331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Diego Giraldo</a:t>
            </a:r>
            <a:endParaRPr/>
          </a:p>
        </p:txBody>
      </p:sp>
      <p:sp>
        <p:nvSpPr>
          <p:cNvPr id="1075" name="Google Shape;1075;p10"/>
          <p:cNvSpPr txBox="1"/>
          <p:nvPr/>
        </p:nvSpPr>
        <p:spPr>
          <a:xfrm>
            <a:off x="8586216" y="135331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Horizons Insurance And Financial S…</a:t>
            </a:r>
            <a:endParaRPr/>
          </a:p>
        </p:txBody>
      </p:sp>
      <p:sp>
        <p:nvSpPr>
          <p:cNvPr id="1076" name="Google Shape;1076;p10"/>
          <p:cNvSpPr txBox="1"/>
          <p:nvPr/>
        </p:nvSpPr>
        <p:spPr>
          <a:xfrm>
            <a:off x="11045952" y="135331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$369K</a:t>
            </a:r>
            <a:endParaRPr/>
          </a:p>
        </p:txBody>
      </p:sp>
      <p:sp>
        <p:nvSpPr>
          <p:cNvPr id="1077" name="Google Shape;1077;p10"/>
          <p:cNvSpPr/>
          <p:nvPr/>
        </p:nvSpPr>
        <p:spPr>
          <a:xfrm>
            <a:off x="6254496" y="1591056"/>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8" name="Google Shape;1078;p10"/>
          <p:cNvSpPr txBox="1"/>
          <p:nvPr/>
        </p:nvSpPr>
        <p:spPr>
          <a:xfrm>
            <a:off x="6254496" y="160934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23</a:t>
            </a:r>
            <a:endParaRPr/>
          </a:p>
        </p:txBody>
      </p:sp>
      <p:sp>
        <p:nvSpPr>
          <p:cNvPr id="1079" name="Google Shape;1079;p10"/>
          <p:cNvSpPr txBox="1"/>
          <p:nvPr/>
        </p:nvSpPr>
        <p:spPr>
          <a:xfrm>
            <a:off x="6665976" y="160934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Daliborka Savovic</a:t>
            </a:r>
            <a:endParaRPr/>
          </a:p>
        </p:txBody>
      </p:sp>
      <p:sp>
        <p:nvSpPr>
          <p:cNvPr id="1080" name="Google Shape;1080;p10"/>
          <p:cNvSpPr txBox="1"/>
          <p:nvPr/>
        </p:nvSpPr>
        <p:spPr>
          <a:xfrm>
            <a:off x="8586216" y="160934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Alpha Trucking Insurance Agency In…</a:t>
            </a:r>
            <a:endParaRPr/>
          </a:p>
        </p:txBody>
      </p:sp>
      <p:sp>
        <p:nvSpPr>
          <p:cNvPr id="1081" name="Google Shape;1081;p10"/>
          <p:cNvSpPr txBox="1"/>
          <p:nvPr/>
        </p:nvSpPr>
        <p:spPr>
          <a:xfrm>
            <a:off x="11045952" y="160934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$366K</a:t>
            </a:r>
            <a:endParaRPr/>
          </a:p>
        </p:txBody>
      </p:sp>
      <p:sp>
        <p:nvSpPr>
          <p:cNvPr id="1082" name="Google Shape;1082;p10"/>
          <p:cNvSpPr/>
          <p:nvPr/>
        </p:nvSpPr>
        <p:spPr>
          <a:xfrm>
            <a:off x="6254496" y="1847088"/>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3" name="Google Shape;1083;p10"/>
          <p:cNvSpPr txBox="1"/>
          <p:nvPr/>
        </p:nvSpPr>
        <p:spPr>
          <a:xfrm>
            <a:off x="6254496" y="186537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24</a:t>
            </a:r>
            <a:endParaRPr/>
          </a:p>
        </p:txBody>
      </p:sp>
      <p:sp>
        <p:nvSpPr>
          <p:cNvPr id="1084" name="Google Shape;1084;p10"/>
          <p:cNvSpPr txBox="1"/>
          <p:nvPr/>
        </p:nvSpPr>
        <p:spPr>
          <a:xfrm>
            <a:off x="6665976" y="186537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Deepak Goswami</a:t>
            </a:r>
            <a:endParaRPr/>
          </a:p>
        </p:txBody>
      </p:sp>
      <p:sp>
        <p:nvSpPr>
          <p:cNvPr id="1085" name="Google Shape;1085;p10"/>
          <p:cNvSpPr txBox="1"/>
          <p:nvPr/>
        </p:nvSpPr>
        <p:spPr>
          <a:xfrm>
            <a:off x="8586216" y="186537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A.S.I.A Inc</a:t>
            </a:r>
            <a:endParaRPr/>
          </a:p>
        </p:txBody>
      </p:sp>
      <p:sp>
        <p:nvSpPr>
          <p:cNvPr id="1086" name="Google Shape;1086;p10"/>
          <p:cNvSpPr txBox="1"/>
          <p:nvPr/>
        </p:nvSpPr>
        <p:spPr>
          <a:xfrm>
            <a:off x="11045952" y="186537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$351K</a:t>
            </a:r>
            <a:endParaRPr/>
          </a:p>
        </p:txBody>
      </p:sp>
      <p:sp>
        <p:nvSpPr>
          <p:cNvPr id="1087" name="Google Shape;1087;p10"/>
          <p:cNvSpPr/>
          <p:nvPr/>
        </p:nvSpPr>
        <p:spPr>
          <a:xfrm>
            <a:off x="6254496" y="2103120"/>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8" name="Google Shape;1088;p10"/>
          <p:cNvSpPr txBox="1"/>
          <p:nvPr/>
        </p:nvSpPr>
        <p:spPr>
          <a:xfrm>
            <a:off x="6254496" y="212140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25</a:t>
            </a:r>
            <a:endParaRPr/>
          </a:p>
        </p:txBody>
      </p:sp>
      <p:sp>
        <p:nvSpPr>
          <p:cNvPr id="1089" name="Google Shape;1089;p10"/>
          <p:cNvSpPr txBox="1"/>
          <p:nvPr/>
        </p:nvSpPr>
        <p:spPr>
          <a:xfrm>
            <a:off x="6665976" y="212140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Patricia Galindoparedes</a:t>
            </a:r>
            <a:endParaRPr/>
          </a:p>
        </p:txBody>
      </p:sp>
      <p:sp>
        <p:nvSpPr>
          <p:cNvPr id="1090" name="Google Shape;1090;p10"/>
          <p:cNvSpPr txBox="1"/>
          <p:nvPr/>
        </p:nvSpPr>
        <p:spPr>
          <a:xfrm>
            <a:off x="8586216" y="212140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Call Patty Insurance Services</a:t>
            </a:r>
            <a:endParaRPr/>
          </a:p>
        </p:txBody>
      </p:sp>
      <p:sp>
        <p:nvSpPr>
          <p:cNvPr id="1091" name="Google Shape;1091;p10"/>
          <p:cNvSpPr txBox="1"/>
          <p:nvPr/>
        </p:nvSpPr>
        <p:spPr>
          <a:xfrm>
            <a:off x="11045952" y="212140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$348K</a:t>
            </a:r>
            <a:endParaRPr/>
          </a:p>
        </p:txBody>
      </p:sp>
      <p:sp>
        <p:nvSpPr>
          <p:cNvPr id="1092" name="Google Shape;1092;p10"/>
          <p:cNvSpPr/>
          <p:nvPr/>
        </p:nvSpPr>
        <p:spPr>
          <a:xfrm>
            <a:off x="6254496" y="2359152"/>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3" name="Google Shape;1093;p10"/>
          <p:cNvSpPr txBox="1"/>
          <p:nvPr/>
        </p:nvSpPr>
        <p:spPr>
          <a:xfrm>
            <a:off x="6254496" y="237744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26</a:t>
            </a:r>
            <a:endParaRPr/>
          </a:p>
        </p:txBody>
      </p:sp>
      <p:sp>
        <p:nvSpPr>
          <p:cNvPr id="1094" name="Google Shape;1094;p10"/>
          <p:cNvSpPr txBox="1"/>
          <p:nvPr/>
        </p:nvSpPr>
        <p:spPr>
          <a:xfrm>
            <a:off x="6665976" y="237744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Michael Su</a:t>
            </a:r>
            <a:endParaRPr/>
          </a:p>
        </p:txBody>
      </p:sp>
      <p:sp>
        <p:nvSpPr>
          <p:cNvPr id="1095" name="Google Shape;1095;p10"/>
          <p:cNvSpPr txBox="1"/>
          <p:nvPr/>
        </p:nvSpPr>
        <p:spPr>
          <a:xfrm>
            <a:off x="8586216" y="237744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Jtc Insurance Agency, Inc.</a:t>
            </a:r>
            <a:endParaRPr/>
          </a:p>
        </p:txBody>
      </p:sp>
      <p:sp>
        <p:nvSpPr>
          <p:cNvPr id="1096" name="Google Shape;1096;p10"/>
          <p:cNvSpPr txBox="1"/>
          <p:nvPr/>
        </p:nvSpPr>
        <p:spPr>
          <a:xfrm>
            <a:off x="11045952" y="237744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$331K</a:t>
            </a:r>
            <a:endParaRPr/>
          </a:p>
        </p:txBody>
      </p:sp>
      <p:sp>
        <p:nvSpPr>
          <p:cNvPr id="1097" name="Google Shape;1097;p10"/>
          <p:cNvSpPr/>
          <p:nvPr/>
        </p:nvSpPr>
        <p:spPr>
          <a:xfrm>
            <a:off x="6254496" y="2615184"/>
            <a:ext cx="5705856" cy="256032"/>
          </a:xfrm>
          <a:prstGeom prst="rect">
            <a:avLst/>
          </a:prstGeom>
          <a:solidFill>
            <a:srgbClr val="D1FA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8" name="Google Shape;1098;p10"/>
          <p:cNvSpPr txBox="1"/>
          <p:nvPr/>
        </p:nvSpPr>
        <p:spPr>
          <a:xfrm>
            <a:off x="6254496" y="263347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27</a:t>
            </a:r>
            <a:endParaRPr/>
          </a:p>
        </p:txBody>
      </p:sp>
      <p:sp>
        <p:nvSpPr>
          <p:cNvPr id="1099" name="Google Shape;1099;p10"/>
          <p:cNvSpPr txBox="1"/>
          <p:nvPr/>
        </p:nvSpPr>
        <p:spPr>
          <a:xfrm>
            <a:off x="6665976" y="263347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Justin Robert</a:t>
            </a:r>
            <a:endParaRPr/>
          </a:p>
        </p:txBody>
      </p:sp>
      <p:sp>
        <p:nvSpPr>
          <p:cNvPr id="1100" name="Google Shape;1100;p10"/>
          <p:cNvSpPr txBox="1"/>
          <p:nvPr/>
        </p:nvSpPr>
        <p:spPr>
          <a:xfrm>
            <a:off x="8586216" y="263347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Justin Robert Insurance Agency LLC</a:t>
            </a:r>
            <a:endParaRPr/>
          </a:p>
        </p:txBody>
      </p:sp>
      <p:sp>
        <p:nvSpPr>
          <p:cNvPr id="1101" name="Google Shape;1101;p10"/>
          <p:cNvSpPr txBox="1"/>
          <p:nvPr/>
        </p:nvSpPr>
        <p:spPr>
          <a:xfrm>
            <a:off x="11045952" y="263347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$320K</a:t>
            </a:r>
            <a:endParaRPr/>
          </a:p>
        </p:txBody>
      </p:sp>
      <p:sp>
        <p:nvSpPr>
          <p:cNvPr id="1102" name="Google Shape;1102;p10"/>
          <p:cNvSpPr/>
          <p:nvPr/>
        </p:nvSpPr>
        <p:spPr>
          <a:xfrm>
            <a:off x="6254496" y="2871216"/>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3" name="Google Shape;1103;p10"/>
          <p:cNvSpPr txBox="1"/>
          <p:nvPr/>
        </p:nvSpPr>
        <p:spPr>
          <a:xfrm>
            <a:off x="6254496" y="288950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28</a:t>
            </a:r>
            <a:endParaRPr/>
          </a:p>
        </p:txBody>
      </p:sp>
      <p:sp>
        <p:nvSpPr>
          <p:cNvPr id="1104" name="Google Shape;1104;p10"/>
          <p:cNvSpPr txBox="1"/>
          <p:nvPr/>
        </p:nvSpPr>
        <p:spPr>
          <a:xfrm>
            <a:off x="6665976" y="288950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Scarlette Mcbrayer</a:t>
            </a:r>
            <a:endParaRPr/>
          </a:p>
        </p:txBody>
      </p:sp>
      <p:sp>
        <p:nvSpPr>
          <p:cNvPr id="1105" name="Google Shape;1105;p10"/>
          <p:cNvSpPr txBox="1"/>
          <p:nvPr/>
        </p:nvSpPr>
        <p:spPr>
          <a:xfrm>
            <a:off x="8586216" y="288950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Reliance Partners, LLC</a:t>
            </a:r>
            <a:endParaRPr/>
          </a:p>
        </p:txBody>
      </p:sp>
      <p:sp>
        <p:nvSpPr>
          <p:cNvPr id="1106" name="Google Shape;1106;p10"/>
          <p:cNvSpPr txBox="1"/>
          <p:nvPr/>
        </p:nvSpPr>
        <p:spPr>
          <a:xfrm>
            <a:off x="11045952" y="288950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$315K</a:t>
            </a:r>
            <a:endParaRPr/>
          </a:p>
        </p:txBody>
      </p:sp>
      <p:sp>
        <p:nvSpPr>
          <p:cNvPr id="1107" name="Google Shape;1107;p10"/>
          <p:cNvSpPr/>
          <p:nvPr/>
        </p:nvSpPr>
        <p:spPr>
          <a:xfrm>
            <a:off x="6254496" y="3127248"/>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8" name="Google Shape;1108;p10"/>
          <p:cNvSpPr txBox="1"/>
          <p:nvPr/>
        </p:nvSpPr>
        <p:spPr>
          <a:xfrm>
            <a:off x="6254496" y="314553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29</a:t>
            </a:r>
            <a:endParaRPr/>
          </a:p>
        </p:txBody>
      </p:sp>
      <p:sp>
        <p:nvSpPr>
          <p:cNvPr id="1109" name="Google Shape;1109;p10"/>
          <p:cNvSpPr txBox="1"/>
          <p:nvPr/>
        </p:nvSpPr>
        <p:spPr>
          <a:xfrm>
            <a:off x="6665976" y="314553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Venizelos Papadopulos</a:t>
            </a:r>
            <a:endParaRPr/>
          </a:p>
        </p:txBody>
      </p:sp>
      <p:sp>
        <p:nvSpPr>
          <p:cNvPr id="1110" name="Google Shape;1110;p10"/>
          <p:cNvSpPr txBox="1"/>
          <p:nvPr/>
        </p:nvSpPr>
        <p:spPr>
          <a:xfrm>
            <a:off x="8586216" y="314553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Exclusive Financial Services, Inc</a:t>
            </a:r>
            <a:endParaRPr/>
          </a:p>
        </p:txBody>
      </p:sp>
      <p:sp>
        <p:nvSpPr>
          <p:cNvPr id="1111" name="Google Shape;1111;p10"/>
          <p:cNvSpPr txBox="1"/>
          <p:nvPr/>
        </p:nvSpPr>
        <p:spPr>
          <a:xfrm>
            <a:off x="11045952" y="314553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$308K</a:t>
            </a:r>
            <a:endParaRPr/>
          </a:p>
        </p:txBody>
      </p:sp>
      <p:sp>
        <p:nvSpPr>
          <p:cNvPr id="1112" name="Google Shape;1112;p10"/>
          <p:cNvSpPr/>
          <p:nvPr/>
        </p:nvSpPr>
        <p:spPr>
          <a:xfrm>
            <a:off x="6254496" y="3383280"/>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3" name="Google Shape;1113;p10"/>
          <p:cNvSpPr txBox="1"/>
          <p:nvPr/>
        </p:nvSpPr>
        <p:spPr>
          <a:xfrm>
            <a:off x="6254496" y="340156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30</a:t>
            </a:r>
            <a:endParaRPr/>
          </a:p>
        </p:txBody>
      </p:sp>
      <p:sp>
        <p:nvSpPr>
          <p:cNvPr id="1114" name="Google Shape;1114;p10"/>
          <p:cNvSpPr txBox="1"/>
          <p:nvPr/>
        </p:nvSpPr>
        <p:spPr>
          <a:xfrm>
            <a:off x="6665976" y="340156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Raul Fernandez</a:t>
            </a:r>
            <a:endParaRPr/>
          </a:p>
        </p:txBody>
      </p:sp>
      <p:sp>
        <p:nvSpPr>
          <p:cNvPr id="1115" name="Google Shape;1115;p10"/>
          <p:cNvSpPr txBox="1"/>
          <p:nvPr/>
        </p:nvSpPr>
        <p:spPr>
          <a:xfrm>
            <a:off x="8586216" y="340156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Ewall Insurance Company</a:t>
            </a:r>
            <a:endParaRPr/>
          </a:p>
        </p:txBody>
      </p:sp>
      <p:sp>
        <p:nvSpPr>
          <p:cNvPr id="1116" name="Google Shape;1116;p10"/>
          <p:cNvSpPr txBox="1"/>
          <p:nvPr/>
        </p:nvSpPr>
        <p:spPr>
          <a:xfrm>
            <a:off x="11045952" y="340156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$296K</a:t>
            </a:r>
            <a:endParaRPr/>
          </a:p>
        </p:txBody>
      </p:sp>
      <p:sp>
        <p:nvSpPr>
          <p:cNvPr id="1117" name="Google Shape;1117;p10"/>
          <p:cNvSpPr/>
          <p:nvPr/>
        </p:nvSpPr>
        <p:spPr>
          <a:xfrm>
            <a:off x="6254496" y="3639312"/>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8" name="Google Shape;1118;p10"/>
          <p:cNvSpPr txBox="1"/>
          <p:nvPr/>
        </p:nvSpPr>
        <p:spPr>
          <a:xfrm>
            <a:off x="6254496" y="365760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31</a:t>
            </a:r>
            <a:endParaRPr/>
          </a:p>
        </p:txBody>
      </p:sp>
      <p:sp>
        <p:nvSpPr>
          <p:cNvPr id="1119" name="Google Shape;1119;p10"/>
          <p:cNvSpPr txBox="1"/>
          <p:nvPr/>
        </p:nvSpPr>
        <p:spPr>
          <a:xfrm>
            <a:off x="6665976" y="365760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Rubjot Singh</a:t>
            </a:r>
            <a:endParaRPr/>
          </a:p>
        </p:txBody>
      </p:sp>
      <p:sp>
        <p:nvSpPr>
          <p:cNvPr id="1120" name="Google Shape;1120;p10"/>
          <p:cNvSpPr txBox="1"/>
          <p:nvPr/>
        </p:nvSpPr>
        <p:spPr>
          <a:xfrm>
            <a:off x="8586216" y="365760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Indi Insurance LLC</a:t>
            </a:r>
            <a:endParaRPr/>
          </a:p>
        </p:txBody>
      </p:sp>
      <p:sp>
        <p:nvSpPr>
          <p:cNvPr id="1121" name="Google Shape;1121;p10"/>
          <p:cNvSpPr txBox="1"/>
          <p:nvPr/>
        </p:nvSpPr>
        <p:spPr>
          <a:xfrm>
            <a:off x="11045952" y="365760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$296K</a:t>
            </a:r>
            <a:endParaRPr/>
          </a:p>
        </p:txBody>
      </p:sp>
      <p:sp>
        <p:nvSpPr>
          <p:cNvPr id="1122" name="Google Shape;1122;p10"/>
          <p:cNvSpPr/>
          <p:nvPr/>
        </p:nvSpPr>
        <p:spPr>
          <a:xfrm>
            <a:off x="6254496" y="3895344"/>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3" name="Google Shape;1123;p10"/>
          <p:cNvSpPr txBox="1"/>
          <p:nvPr/>
        </p:nvSpPr>
        <p:spPr>
          <a:xfrm>
            <a:off x="6254496" y="391363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32</a:t>
            </a:r>
            <a:endParaRPr/>
          </a:p>
        </p:txBody>
      </p:sp>
      <p:sp>
        <p:nvSpPr>
          <p:cNvPr id="1124" name="Google Shape;1124;p10"/>
          <p:cNvSpPr txBox="1"/>
          <p:nvPr/>
        </p:nvSpPr>
        <p:spPr>
          <a:xfrm>
            <a:off x="6665976" y="391363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Ibrahim Mammo</a:t>
            </a:r>
            <a:endParaRPr/>
          </a:p>
        </p:txBody>
      </p:sp>
      <p:sp>
        <p:nvSpPr>
          <p:cNvPr id="1125" name="Google Shape;1125;p10"/>
          <p:cNvSpPr txBox="1"/>
          <p:nvPr/>
        </p:nvSpPr>
        <p:spPr>
          <a:xfrm>
            <a:off x="8586216" y="391363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Surefire Insurance Agency Corp.</a:t>
            </a:r>
            <a:endParaRPr/>
          </a:p>
        </p:txBody>
      </p:sp>
      <p:sp>
        <p:nvSpPr>
          <p:cNvPr id="1126" name="Google Shape;1126;p10"/>
          <p:cNvSpPr txBox="1"/>
          <p:nvPr/>
        </p:nvSpPr>
        <p:spPr>
          <a:xfrm>
            <a:off x="11045952" y="391363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$295K</a:t>
            </a:r>
            <a:endParaRPr/>
          </a:p>
        </p:txBody>
      </p:sp>
      <p:sp>
        <p:nvSpPr>
          <p:cNvPr id="1127" name="Google Shape;1127;p10"/>
          <p:cNvSpPr/>
          <p:nvPr/>
        </p:nvSpPr>
        <p:spPr>
          <a:xfrm>
            <a:off x="6254496" y="4151376"/>
            <a:ext cx="5705856"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8" name="Google Shape;1128;p10"/>
          <p:cNvSpPr txBox="1"/>
          <p:nvPr/>
        </p:nvSpPr>
        <p:spPr>
          <a:xfrm>
            <a:off x="6254496" y="416966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33</a:t>
            </a:r>
            <a:endParaRPr/>
          </a:p>
        </p:txBody>
      </p:sp>
      <p:sp>
        <p:nvSpPr>
          <p:cNvPr id="1129" name="Google Shape;1129;p10"/>
          <p:cNvSpPr txBox="1"/>
          <p:nvPr/>
        </p:nvSpPr>
        <p:spPr>
          <a:xfrm>
            <a:off x="6665976" y="416966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Nicholas Banks</a:t>
            </a:r>
            <a:endParaRPr/>
          </a:p>
        </p:txBody>
      </p:sp>
      <p:sp>
        <p:nvSpPr>
          <p:cNvPr id="1130" name="Google Shape;1130;p10"/>
          <p:cNvSpPr txBox="1"/>
          <p:nvPr/>
        </p:nvSpPr>
        <p:spPr>
          <a:xfrm>
            <a:off x="8586216" y="416966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Reliance Partners, LLC</a:t>
            </a:r>
            <a:endParaRPr/>
          </a:p>
        </p:txBody>
      </p:sp>
      <p:sp>
        <p:nvSpPr>
          <p:cNvPr id="1131" name="Google Shape;1131;p10"/>
          <p:cNvSpPr txBox="1"/>
          <p:nvPr/>
        </p:nvSpPr>
        <p:spPr>
          <a:xfrm>
            <a:off x="11045952" y="416966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$292K</a:t>
            </a:r>
            <a:endParaRPr/>
          </a:p>
        </p:txBody>
      </p:sp>
      <p:sp>
        <p:nvSpPr>
          <p:cNvPr id="1132" name="Google Shape;1132;p10"/>
          <p:cNvSpPr/>
          <p:nvPr/>
        </p:nvSpPr>
        <p:spPr>
          <a:xfrm>
            <a:off x="6254496" y="4407408"/>
            <a:ext cx="5705856" cy="256032"/>
          </a:xfrm>
          <a:prstGeom prst="rect">
            <a:avLst/>
          </a:prstGeom>
          <a:solidFill>
            <a:srgbClr val="D1FA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3" name="Google Shape;1133;p10"/>
          <p:cNvSpPr txBox="1"/>
          <p:nvPr/>
        </p:nvSpPr>
        <p:spPr>
          <a:xfrm>
            <a:off x="6254496" y="442569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34</a:t>
            </a:r>
            <a:endParaRPr/>
          </a:p>
        </p:txBody>
      </p:sp>
      <p:sp>
        <p:nvSpPr>
          <p:cNvPr id="1134" name="Google Shape;1134;p10"/>
          <p:cNvSpPr txBox="1"/>
          <p:nvPr/>
        </p:nvSpPr>
        <p:spPr>
          <a:xfrm>
            <a:off x="6665976" y="442569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Salman Arzu</a:t>
            </a:r>
            <a:endParaRPr/>
          </a:p>
        </p:txBody>
      </p:sp>
      <p:sp>
        <p:nvSpPr>
          <p:cNvPr id="1135" name="Google Shape;1135;p10"/>
          <p:cNvSpPr txBox="1"/>
          <p:nvPr/>
        </p:nvSpPr>
        <p:spPr>
          <a:xfrm>
            <a:off x="8586216" y="442569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Statewide Risk Management I</a:t>
            </a:r>
            <a:endParaRPr/>
          </a:p>
        </p:txBody>
      </p:sp>
      <p:sp>
        <p:nvSpPr>
          <p:cNvPr id="1136" name="Google Shape;1136;p10"/>
          <p:cNvSpPr txBox="1"/>
          <p:nvPr/>
        </p:nvSpPr>
        <p:spPr>
          <a:xfrm>
            <a:off x="11045952" y="442569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$291K</a:t>
            </a:r>
            <a:endParaRPr/>
          </a:p>
        </p:txBody>
      </p:sp>
      <p:sp>
        <p:nvSpPr>
          <p:cNvPr id="1137" name="Google Shape;1137;p10"/>
          <p:cNvSpPr/>
          <p:nvPr/>
        </p:nvSpPr>
        <p:spPr>
          <a:xfrm>
            <a:off x="6254496" y="4663440"/>
            <a:ext cx="5705856" cy="256032"/>
          </a:xfrm>
          <a:prstGeom prst="rect">
            <a:avLst/>
          </a:prstGeom>
          <a:solidFill>
            <a:srgbClr val="D1FA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8" name="Google Shape;1138;p10"/>
          <p:cNvSpPr txBox="1"/>
          <p:nvPr/>
        </p:nvSpPr>
        <p:spPr>
          <a:xfrm>
            <a:off x="6254496" y="468172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35</a:t>
            </a:r>
            <a:endParaRPr/>
          </a:p>
        </p:txBody>
      </p:sp>
      <p:sp>
        <p:nvSpPr>
          <p:cNvPr id="1139" name="Google Shape;1139;p10"/>
          <p:cNvSpPr txBox="1"/>
          <p:nvPr/>
        </p:nvSpPr>
        <p:spPr>
          <a:xfrm>
            <a:off x="6665976" y="468172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Omar Elmanzalawy</a:t>
            </a:r>
            <a:endParaRPr/>
          </a:p>
        </p:txBody>
      </p:sp>
      <p:sp>
        <p:nvSpPr>
          <p:cNvPr id="1140" name="Google Shape;1140;p10"/>
          <p:cNvSpPr txBox="1"/>
          <p:nvPr/>
        </p:nvSpPr>
        <p:spPr>
          <a:xfrm>
            <a:off x="8586216" y="468172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First Connect Insurance</a:t>
            </a:r>
            <a:endParaRPr/>
          </a:p>
        </p:txBody>
      </p:sp>
      <p:sp>
        <p:nvSpPr>
          <p:cNvPr id="1141" name="Google Shape;1141;p10"/>
          <p:cNvSpPr txBox="1"/>
          <p:nvPr/>
        </p:nvSpPr>
        <p:spPr>
          <a:xfrm>
            <a:off x="11045952" y="468172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$291K</a:t>
            </a:r>
            <a:endParaRPr/>
          </a:p>
        </p:txBody>
      </p:sp>
      <p:sp>
        <p:nvSpPr>
          <p:cNvPr id="1142" name="Google Shape;1142;p10"/>
          <p:cNvSpPr/>
          <p:nvPr/>
        </p:nvSpPr>
        <p:spPr>
          <a:xfrm>
            <a:off x="6254496" y="4919472"/>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3" name="Google Shape;1143;p10"/>
          <p:cNvSpPr txBox="1"/>
          <p:nvPr/>
        </p:nvSpPr>
        <p:spPr>
          <a:xfrm>
            <a:off x="6254496" y="4937760"/>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36</a:t>
            </a:r>
            <a:endParaRPr/>
          </a:p>
        </p:txBody>
      </p:sp>
      <p:sp>
        <p:nvSpPr>
          <p:cNvPr id="1144" name="Google Shape;1144;p10"/>
          <p:cNvSpPr txBox="1"/>
          <p:nvPr/>
        </p:nvSpPr>
        <p:spPr>
          <a:xfrm>
            <a:off x="6665976" y="4937760"/>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Michelle Malkhasyan</a:t>
            </a:r>
            <a:endParaRPr/>
          </a:p>
        </p:txBody>
      </p:sp>
      <p:sp>
        <p:nvSpPr>
          <p:cNvPr id="1145" name="Google Shape;1145;p10"/>
          <p:cNvSpPr txBox="1"/>
          <p:nvPr/>
        </p:nvSpPr>
        <p:spPr>
          <a:xfrm>
            <a:off x="8586216" y="4937760"/>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Truck Secure Insurance Services, I…</a:t>
            </a:r>
            <a:endParaRPr/>
          </a:p>
        </p:txBody>
      </p:sp>
      <p:sp>
        <p:nvSpPr>
          <p:cNvPr id="1146" name="Google Shape;1146;p10"/>
          <p:cNvSpPr txBox="1"/>
          <p:nvPr/>
        </p:nvSpPr>
        <p:spPr>
          <a:xfrm>
            <a:off x="11045952" y="4937760"/>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$286K</a:t>
            </a:r>
            <a:endParaRPr/>
          </a:p>
        </p:txBody>
      </p:sp>
      <p:sp>
        <p:nvSpPr>
          <p:cNvPr id="1147" name="Google Shape;1147;p10"/>
          <p:cNvSpPr/>
          <p:nvPr/>
        </p:nvSpPr>
        <p:spPr>
          <a:xfrm>
            <a:off x="6254496" y="5175504"/>
            <a:ext cx="5705856" cy="256032"/>
          </a:xfrm>
          <a:prstGeom prst="rect">
            <a:avLst/>
          </a:prstGeom>
          <a:solidFill>
            <a:srgbClr val="D1FA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8" name="Google Shape;1148;p10"/>
          <p:cNvSpPr txBox="1"/>
          <p:nvPr/>
        </p:nvSpPr>
        <p:spPr>
          <a:xfrm>
            <a:off x="6254496" y="5193792"/>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37</a:t>
            </a:r>
            <a:endParaRPr/>
          </a:p>
        </p:txBody>
      </p:sp>
      <p:sp>
        <p:nvSpPr>
          <p:cNvPr id="1149" name="Google Shape;1149;p10"/>
          <p:cNvSpPr txBox="1"/>
          <p:nvPr/>
        </p:nvSpPr>
        <p:spPr>
          <a:xfrm>
            <a:off x="6665976" y="5193792"/>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Vladimir Tesler</a:t>
            </a:r>
            <a:endParaRPr/>
          </a:p>
        </p:txBody>
      </p:sp>
      <p:sp>
        <p:nvSpPr>
          <p:cNvPr id="1150" name="Google Shape;1150;p10"/>
          <p:cNvSpPr txBox="1"/>
          <p:nvPr/>
        </p:nvSpPr>
        <p:spPr>
          <a:xfrm>
            <a:off x="8586216" y="5193792"/>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Insurance Planet</a:t>
            </a:r>
            <a:endParaRPr/>
          </a:p>
        </p:txBody>
      </p:sp>
      <p:sp>
        <p:nvSpPr>
          <p:cNvPr id="1151" name="Google Shape;1151;p10"/>
          <p:cNvSpPr txBox="1"/>
          <p:nvPr/>
        </p:nvSpPr>
        <p:spPr>
          <a:xfrm>
            <a:off x="11045952" y="5193792"/>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$269K</a:t>
            </a:r>
            <a:endParaRPr/>
          </a:p>
        </p:txBody>
      </p:sp>
      <p:sp>
        <p:nvSpPr>
          <p:cNvPr id="1152" name="Google Shape;1152;p10"/>
          <p:cNvSpPr/>
          <p:nvPr/>
        </p:nvSpPr>
        <p:spPr>
          <a:xfrm>
            <a:off x="6254496" y="5431536"/>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3" name="Google Shape;1153;p10"/>
          <p:cNvSpPr txBox="1"/>
          <p:nvPr/>
        </p:nvSpPr>
        <p:spPr>
          <a:xfrm>
            <a:off x="6254496" y="5449824"/>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38</a:t>
            </a:r>
            <a:endParaRPr/>
          </a:p>
        </p:txBody>
      </p:sp>
      <p:sp>
        <p:nvSpPr>
          <p:cNvPr id="1154" name="Google Shape;1154;p10"/>
          <p:cNvSpPr txBox="1"/>
          <p:nvPr/>
        </p:nvSpPr>
        <p:spPr>
          <a:xfrm>
            <a:off x="6665976" y="5449824"/>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Damandeep Singh</a:t>
            </a:r>
            <a:endParaRPr/>
          </a:p>
        </p:txBody>
      </p:sp>
      <p:sp>
        <p:nvSpPr>
          <p:cNvPr id="1155" name="Google Shape;1155;p10"/>
          <p:cNvSpPr txBox="1"/>
          <p:nvPr/>
        </p:nvSpPr>
        <p:spPr>
          <a:xfrm>
            <a:off x="8586216" y="5449824"/>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Mayflower Insurance Services</a:t>
            </a:r>
            <a:endParaRPr/>
          </a:p>
        </p:txBody>
      </p:sp>
      <p:sp>
        <p:nvSpPr>
          <p:cNvPr id="1156" name="Google Shape;1156;p10"/>
          <p:cNvSpPr txBox="1"/>
          <p:nvPr/>
        </p:nvSpPr>
        <p:spPr>
          <a:xfrm>
            <a:off x="11045952" y="5449824"/>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$257K</a:t>
            </a:r>
            <a:endParaRPr/>
          </a:p>
        </p:txBody>
      </p:sp>
      <p:sp>
        <p:nvSpPr>
          <p:cNvPr id="1157" name="Google Shape;1157;p10"/>
          <p:cNvSpPr/>
          <p:nvPr/>
        </p:nvSpPr>
        <p:spPr>
          <a:xfrm>
            <a:off x="6254496" y="5687568"/>
            <a:ext cx="5705856" cy="256032"/>
          </a:xfrm>
          <a:prstGeom prst="rect">
            <a:avLst/>
          </a:prstGeom>
          <a:solidFill>
            <a:srgbClr val="D1FA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8" name="Google Shape;1158;p10"/>
          <p:cNvSpPr txBox="1"/>
          <p:nvPr/>
        </p:nvSpPr>
        <p:spPr>
          <a:xfrm>
            <a:off x="6254496" y="5705856"/>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39</a:t>
            </a:r>
            <a:endParaRPr/>
          </a:p>
        </p:txBody>
      </p:sp>
      <p:sp>
        <p:nvSpPr>
          <p:cNvPr id="1159" name="Google Shape;1159;p10"/>
          <p:cNvSpPr txBox="1"/>
          <p:nvPr/>
        </p:nvSpPr>
        <p:spPr>
          <a:xfrm>
            <a:off x="6665976" y="5705856"/>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Nick Lobodiuk</a:t>
            </a:r>
            <a:endParaRPr/>
          </a:p>
        </p:txBody>
      </p:sp>
      <p:sp>
        <p:nvSpPr>
          <p:cNvPr id="1160" name="Google Shape;1160;p10"/>
          <p:cNvSpPr txBox="1"/>
          <p:nvPr/>
        </p:nvSpPr>
        <p:spPr>
          <a:xfrm>
            <a:off x="8586216" y="5705856"/>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Aic Insurance Agency LLC</a:t>
            </a:r>
            <a:endParaRPr/>
          </a:p>
        </p:txBody>
      </p:sp>
      <p:sp>
        <p:nvSpPr>
          <p:cNvPr id="1161" name="Google Shape;1161;p10"/>
          <p:cNvSpPr txBox="1"/>
          <p:nvPr/>
        </p:nvSpPr>
        <p:spPr>
          <a:xfrm>
            <a:off x="11045952" y="5705856"/>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$253K</a:t>
            </a:r>
            <a:endParaRPr/>
          </a:p>
        </p:txBody>
      </p:sp>
      <p:sp>
        <p:nvSpPr>
          <p:cNvPr id="1162" name="Google Shape;1162;p10"/>
          <p:cNvSpPr/>
          <p:nvPr/>
        </p:nvSpPr>
        <p:spPr>
          <a:xfrm>
            <a:off x="6254496" y="5943600"/>
            <a:ext cx="5705856"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3" name="Google Shape;1163;p10"/>
          <p:cNvSpPr txBox="1"/>
          <p:nvPr/>
        </p:nvSpPr>
        <p:spPr>
          <a:xfrm>
            <a:off x="6254496" y="5961888"/>
            <a:ext cx="41148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6B7280"/>
                </a:solidFill>
                <a:latin typeface="Calibri"/>
                <a:ea typeface="Calibri"/>
                <a:cs typeface="Calibri"/>
                <a:sym typeface="Calibri"/>
              </a:rPr>
              <a:t>40</a:t>
            </a:r>
            <a:endParaRPr/>
          </a:p>
        </p:txBody>
      </p:sp>
      <p:sp>
        <p:nvSpPr>
          <p:cNvPr id="1164" name="Google Shape;1164;p10"/>
          <p:cNvSpPr txBox="1"/>
          <p:nvPr/>
        </p:nvSpPr>
        <p:spPr>
          <a:xfrm>
            <a:off x="6665976" y="5961888"/>
            <a:ext cx="19202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111827"/>
                </a:solidFill>
                <a:latin typeface="Calibri"/>
                <a:ea typeface="Calibri"/>
                <a:cs typeface="Calibri"/>
                <a:sym typeface="Calibri"/>
              </a:rPr>
              <a:t>Zebo Karimberdieva</a:t>
            </a:r>
            <a:endParaRPr/>
          </a:p>
        </p:txBody>
      </p:sp>
      <p:sp>
        <p:nvSpPr>
          <p:cNvPr id="1165" name="Google Shape;1165;p10"/>
          <p:cNvSpPr txBox="1"/>
          <p:nvPr/>
        </p:nvSpPr>
        <p:spPr>
          <a:xfrm>
            <a:off x="8586216" y="5961888"/>
            <a:ext cx="245973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6B7280"/>
                </a:solidFill>
                <a:latin typeface="Calibri"/>
                <a:ea typeface="Calibri"/>
                <a:cs typeface="Calibri"/>
                <a:sym typeface="Calibri"/>
              </a:rPr>
              <a:t>Get Logan Inc</a:t>
            </a:r>
            <a:endParaRPr/>
          </a:p>
        </p:txBody>
      </p:sp>
      <p:sp>
        <p:nvSpPr>
          <p:cNvPr id="1166" name="Google Shape;1166;p10"/>
          <p:cNvSpPr txBox="1"/>
          <p:nvPr/>
        </p:nvSpPr>
        <p:spPr>
          <a:xfrm>
            <a:off x="11045952" y="5961888"/>
            <a:ext cx="91440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$251K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1" name="Shape 1171"/>
        <p:cNvGrpSpPr/>
        <p:nvPr/>
      </p:nvGrpSpPr>
      <p:grpSpPr>
        <a:xfrm>
          <a:off x="0" y="0"/>
          <a:ext cx="0" cy="0"/>
          <a:chOff x="0" y="0"/>
          <a:chExt cx="0" cy="0"/>
        </a:xfrm>
      </p:grpSpPr>
      <p:sp>
        <p:nvSpPr>
          <p:cNvPr id="1172" name="Google Shape;1172;p11"/>
          <p:cNvSpPr/>
          <p:nvPr/>
        </p:nvSpPr>
        <p:spPr>
          <a:xfrm>
            <a:off x="0" y="0"/>
            <a:ext cx="12191695" cy="685800"/>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3" name="Google Shape;1173;p11"/>
          <p:cNvSpPr txBox="1"/>
          <p:nvPr/>
        </p:nvSpPr>
        <p:spPr>
          <a:xfrm>
            <a:off x="365760" y="73152"/>
            <a:ext cx="822960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Georgia"/>
                <a:ea typeface="Georgia"/>
                <a:cs typeface="Georgia"/>
                <a:sym typeface="Georgia"/>
              </a:rPr>
              <a:t>Team Wins — Top Fleet Binds Q2 2026</a:t>
            </a:r>
            <a:endParaRPr/>
          </a:p>
        </p:txBody>
      </p:sp>
      <p:sp>
        <p:nvSpPr>
          <p:cNvPr id="1174" name="Google Shape;1174;p11"/>
          <p:cNvSpPr txBox="1"/>
          <p:nvPr/>
        </p:nvSpPr>
        <p:spPr>
          <a:xfrm>
            <a:off x="365760" y="402336"/>
            <a:ext cx="109728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C4B5FD"/>
                </a:solidFill>
                <a:latin typeface="Calibri"/>
                <a:ea typeface="Calibri"/>
                <a:cs typeface="Calibri"/>
                <a:sym typeface="Calibri"/>
              </a:rPr>
              <a:t>Largest fleet policies written Apr 1–May 12  ·  Ranked by premium  ·  Fleet = 4+ power units</a:t>
            </a:r>
            <a:endParaRPr/>
          </a:p>
        </p:txBody>
      </p:sp>
      <p:sp>
        <p:nvSpPr>
          <p:cNvPr id="1175" name="Google Shape;1175;p11"/>
          <p:cNvSpPr txBox="1"/>
          <p:nvPr/>
        </p:nvSpPr>
        <p:spPr>
          <a:xfrm>
            <a:off x="9601200" y="73152"/>
            <a:ext cx="2468880" cy="23774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50" u="none" cap="none" strike="noStrike">
                <a:solidFill>
                  <a:srgbClr val="C4B5FD"/>
                </a:solidFill>
                <a:latin typeface="Calibri"/>
                <a:ea typeface="Calibri"/>
                <a:cs typeface="Calibri"/>
                <a:sym typeface="Calibri"/>
              </a:rPr>
              <a:t>Generated May 12, 2026</a:t>
            </a:r>
            <a:endParaRPr/>
          </a:p>
        </p:txBody>
      </p:sp>
      <p:sp>
        <p:nvSpPr>
          <p:cNvPr id="1176" name="Google Shape;1176;p11"/>
          <p:cNvSpPr txBox="1"/>
          <p:nvPr/>
        </p:nvSpPr>
        <p:spPr>
          <a:xfrm>
            <a:off x="274320" y="841248"/>
            <a:ext cx="5029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Rank</a:t>
            </a:r>
            <a:endParaRPr/>
          </a:p>
        </p:txBody>
      </p:sp>
      <p:sp>
        <p:nvSpPr>
          <p:cNvPr id="1177" name="Google Shape;1177;p11"/>
          <p:cNvSpPr txBox="1"/>
          <p:nvPr/>
        </p:nvSpPr>
        <p:spPr>
          <a:xfrm>
            <a:off x="777240" y="841248"/>
            <a:ext cx="164592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Rep</a:t>
            </a:r>
            <a:endParaRPr/>
          </a:p>
        </p:txBody>
      </p:sp>
      <p:sp>
        <p:nvSpPr>
          <p:cNvPr id="1178" name="Google Shape;1178;p11"/>
          <p:cNvSpPr txBox="1"/>
          <p:nvPr/>
        </p:nvSpPr>
        <p:spPr>
          <a:xfrm>
            <a:off x="2423160" y="841248"/>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50" u="none" cap="none" strike="noStrike">
                <a:solidFill>
                  <a:srgbClr val="6B7280"/>
                </a:solidFill>
                <a:latin typeface="Calibri"/>
                <a:ea typeface="Calibri"/>
                <a:cs typeface="Calibri"/>
                <a:sym typeface="Calibri"/>
              </a:rPr>
              <a:t>Agency</a:t>
            </a:r>
            <a:endParaRPr/>
          </a:p>
        </p:txBody>
      </p:sp>
      <p:sp>
        <p:nvSpPr>
          <p:cNvPr id="1179" name="Google Shape;1179;p11"/>
          <p:cNvSpPr txBox="1"/>
          <p:nvPr/>
        </p:nvSpPr>
        <p:spPr>
          <a:xfrm>
            <a:off x="7909560" y="841248"/>
            <a:ext cx="14630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Premium</a:t>
            </a:r>
            <a:endParaRPr/>
          </a:p>
        </p:txBody>
      </p:sp>
      <p:sp>
        <p:nvSpPr>
          <p:cNvPr id="1180" name="Google Shape;1180;p11"/>
          <p:cNvSpPr txBox="1"/>
          <p:nvPr/>
        </p:nvSpPr>
        <p:spPr>
          <a:xfrm>
            <a:off x="9372600" y="841248"/>
            <a:ext cx="82296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u="none" cap="none" strike="noStrike">
                <a:solidFill>
                  <a:srgbClr val="6B7280"/>
                </a:solidFill>
                <a:latin typeface="Calibri"/>
                <a:ea typeface="Calibri"/>
                <a:cs typeface="Calibri"/>
                <a:sym typeface="Calibri"/>
              </a:rPr>
              <a:t>Units</a:t>
            </a:r>
            <a:endParaRPr/>
          </a:p>
        </p:txBody>
      </p:sp>
      <p:sp>
        <p:nvSpPr>
          <p:cNvPr id="1181" name="Google Shape;1181;p11"/>
          <p:cNvSpPr/>
          <p:nvPr/>
        </p:nvSpPr>
        <p:spPr>
          <a:xfrm>
            <a:off x="274320" y="1042416"/>
            <a:ext cx="9921240" cy="9144"/>
          </a:xfrm>
          <a:prstGeom prst="rect">
            <a:avLst/>
          </a:prstGeom>
          <a:solidFill>
            <a:srgbClr val="E5E7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2" name="Google Shape;1182;p11"/>
          <p:cNvSpPr/>
          <p:nvPr/>
        </p:nvSpPr>
        <p:spPr>
          <a:xfrm>
            <a:off x="274320" y="1078992"/>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3" name="Google Shape;1183;p11"/>
          <p:cNvSpPr txBox="1"/>
          <p:nvPr/>
        </p:nvSpPr>
        <p:spPr>
          <a:xfrm>
            <a:off x="274320" y="1097280"/>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a:t>
            </a:r>
            <a:endParaRPr/>
          </a:p>
        </p:txBody>
      </p:sp>
      <p:sp>
        <p:nvSpPr>
          <p:cNvPr id="1184" name="Google Shape;1184;p11"/>
          <p:cNvSpPr txBox="1"/>
          <p:nvPr/>
        </p:nvSpPr>
        <p:spPr>
          <a:xfrm>
            <a:off x="777240" y="1097280"/>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1185" name="Google Shape;1185;p11"/>
          <p:cNvSpPr txBox="1"/>
          <p:nvPr/>
        </p:nvSpPr>
        <p:spPr>
          <a:xfrm>
            <a:off x="2423160" y="1097280"/>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Velocity Insurance Multiservices LLC</a:t>
            </a:r>
            <a:endParaRPr/>
          </a:p>
        </p:txBody>
      </p:sp>
      <p:sp>
        <p:nvSpPr>
          <p:cNvPr id="1186" name="Google Shape;1186;p11"/>
          <p:cNvSpPr txBox="1"/>
          <p:nvPr/>
        </p:nvSpPr>
        <p:spPr>
          <a:xfrm>
            <a:off x="7909560" y="1097280"/>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$429K</a:t>
            </a:r>
            <a:endParaRPr/>
          </a:p>
        </p:txBody>
      </p:sp>
      <p:sp>
        <p:nvSpPr>
          <p:cNvPr id="1187" name="Google Shape;1187;p11"/>
          <p:cNvSpPr txBox="1"/>
          <p:nvPr/>
        </p:nvSpPr>
        <p:spPr>
          <a:xfrm>
            <a:off x="9372600" y="1097280"/>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18</a:t>
            </a:r>
            <a:endParaRPr/>
          </a:p>
        </p:txBody>
      </p:sp>
      <p:sp>
        <p:nvSpPr>
          <p:cNvPr id="1188" name="Google Shape;1188;p11"/>
          <p:cNvSpPr/>
          <p:nvPr/>
        </p:nvSpPr>
        <p:spPr>
          <a:xfrm>
            <a:off x="274320" y="1335024"/>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9" name="Google Shape;1189;p11"/>
          <p:cNvSpPr txBox="1"/>
          <p:nvPr/>
        </p:nvSpPr>
        <p:spPr>
          <a:xfrm>
            <a:off x="274320" y="1353312"/>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a:t>
            </a:r>
            <a:endParaRPr/>
          </a:p>
        </p:txBody>
      </p:sp>
      <p:sp>
        <p:nvSpPr>
          <p:cNvPr id="1190" name="Google Shape;1190;p11"/>
          <p:cNvSpPr txBox="1"/>
          <p:nvPr/>
        </p:nvSpPr>
        <p:spPr>
          <a:xfrm>
            <a:off x="777240" y="1353312"/>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191" name="Google Shape;1191;p11"/>
          <p:cNvSpPr txBox="1"/>
          <p:nvPr/>
        </p:nvSpPr>
        <p:spPr>
          <a:xfrm>
            <a:off x="2423160" y="1353312"/>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Jagdeep Singh Insurance Agency, Inc</a:t>
            </a:r>
            <a:endParaRPr/>
          </a:p>
        </p:txBody>
      </p:sp>
      <p:sp>
        <p:nvSpPr>
          <p:cNvPr id="1192" name="Google Shape;1192;p11"/>
          <p:cNvSpPr txBox="1"/>
          <p:nvPr/>
        </p:nvSpPr>
        <p:spPr>
          <a:xfrm>
            <a:off x="7909560" y="1353312"/>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$329K</a:t>
            </a:r>
            <a:endParaRPr/>
          </a:p>
        </p:txBody>
      </p:sp>
      <p:sp>
        <p:nvSpPr>
          <p:cNvPr id="1193" name="Google Shape;1193;p11"/>
          <p:cNvSpPr txBox="1"/>
          <p:nvPr/>
        </p:nvSpPr>
        <p:spPr>
          <a:xfrm>
            <a:off x="9372600" y="1353312"/>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17</a:t>
            </a:r>
            <a:endParaRPr/>
          </a:p>
        </p:txBody>
      </p:sp>
      <p:sp>
        <p:nvSpPr>
          <p:cNvPr id="1194" name="Google Shape;1194;p11"/>
          <p:cNvSpPr/>
          <p:nvPr/>
        </p:nvSpPr>
        <p:spPr>
          <a:xfrm>
            <a:off x="274320" y="1591056"/>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5" name="Google Shape;1195;p11"/>
          <p:cNvSpPr txBox="1"/>
          <p:nvPr/>
        </p:nvSpPr>
        <p:spPr>
          <a:xfrm>
            <a:off x="274320" y="1609344"/>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a:t>
            </a:r>
            <a:endParaRPr/>
          </a:p>
        </p:txBody>
      </p:sp>
      <p:sp>
        <p:nvSpPr>
          <p:cNvPr id="1196" name="Google Shape;1196;p11"/>
          <p:cNvSpPr txBox="1"/>
          <p:nvPr/>
        </p:nvSpPr>
        <p:spPr>
          <a:xfrm>
            <a:off x="777240" y="1609344"/>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197" name="Google Shape;1197;p11"/>
          <p:cNvSpPr txBox="1"/>
          <p:nvPr/>
        </p:nvSpPr>
        <p:spPr>
          <a:xfrm>
            <a:off x="2423160" y="1609344"/>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Jtc Insurance Agency, Inc.</a:t>
            </a:r>
            <a:endParaRPr/>
          </a:p>
        </p:txBody>
      </p:sp>
      <p:sp>
        <p:nvSpPr>
          <p:cNvPr id="1198" name="Google Shape;1198;p11"/>
          <p:cNvSpPr txBox="1"/>
          <p:nvPr/>
        </p:nvSpPr>
        <p:spPr>
          <a:xfrm>
            <a:off x="7909560" y="1609344"/>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$318K</a:t>
            </a:r>
            <a:endParaRPr/>
          </a:p>
        </p:txBody>
      </p:sp>
      <p:sp>
        <p:nvSpPr>
          <p:cNvPr id="1199" name="Google Shape;1199;p11"/>
          <p:cNvSpPr txBox="1"/>
          <p:nvPr/>
        </p:nvSpPr>
        <p:spPr>
          <a:xfrm>
            <a:off x="9372600" y="1609344"/>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21</a:t>
            </a:r>
            <a:endParaRPr/>
          </a:p>
        </p:txBody>
      </p:sp>
      <p:sp>
        <p:nvSpPr>
          <p:cNvPr id="1200" name="Google Shape;1200;p11"/>
          <p:cNvSpPr/>
          <p:nvPr/>
        </p:nvSpPr>
        <p:spPr>
          <a:xfrm>
            <a:off x="274320" y="1847088"/>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1" name="Google Shape;1201;p11"/>
          <p:cNvSpPr txBox="1"/>
          <p:nvPr/>
        </p:nvSpPr>
        <p:spPr>
          <a:xfrm>
            <a:off x="274320" y="1865376"/>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4</a:t>
            </a:r>
            <a:endParaRPr/>
          </a:p>
        </p:txBody>
      </p:sp>
      <p:sp>
        <p:nvSpPr>
          <p:cNvPr id="1202" name="Google Shape;1202;p11"/>
          <p:cNvSpPr txBox="1"/>
          <p:nvPr/>
        </p:nvSpPr>
        <p:spPr>
          <a:xfrm>
            <a:off x="777240" y="1865376"/>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1203" name="Google Shape;1203;p11"/>
          <p:cNvSpPr txBox="1"/>
          <p:nvPr/>
        </p:nvSpPr>
        <p:spPr>
          <a:xfrm>
            <a:off x="2423160" y="1865376"/>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The Dorfman Organization, Ltd.</a:t>
            </a:r>
            <a:endParaRPr/>
          </a:p>
        </p:txBody>
      </p:sp>
      <p:sp>
        <p:nvSpPr>
          <p:cNvPr id="1204" name="Google Shape;1204;p11"/>
          <p:cNvSpPr txBox="1"/>
          <p:nvPr/>
        </p:nvSpPr>
        <p:spPr>
          <a:xfrm>
            <a:off x="7909560" y="1865376"/>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$308K</a:t>
            </a:r>
            <a:endParaRPr/>
          </a:p>
        </p:txBody>
      </p:sp>
      <p:sp>
        <p:nvSpPr>
          <p:cNvPr id="1205" name="Google Shape;1205;p11"/>
          <p:cNvSpPr txBox="1"/>
          <p:nvPr/>
        </p:nvSpPr>
        <p:spPr>
          <a:xfrm>
            <a:off x="9372600" y="1865376"/>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22</a:t>
            </a:r>
            <a:endParaRPr/>
          </a:p>
        </p:txBody>
      </p:sp>
      <p:sp>
        <p:nvSpPr>
          <p:cNvPr id="1206" name="Google Shape;1206;p11"/>
          <p:cNvSpPr/>
          <p:nvPr/>
        </p:nvSpPr>
        <p:spPr>
          <a:xfrm>
            <a:off x="274320" y="2103120"/>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7" name="Google Shape;1207;p11"/>
          <p:cNvSpPr txBox="1"/>
          <p:nvPr/>
        </p:nvSpPr>
        <p:spPr>
          <a:xfrm>
            <a:off x="274320" y="2121408"/>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5</a:t>
            </a:r>
            <a:endParaRPr/>
          </a:p>
        </p:txBody>
      </p:sp>
      <p:sp>
        <p:nvSpPr>
          <p:cNvPr id="1208" name="Google Shape;1208;p11"/>
          <p:cNvSpPr txBox="1"/>
          <p:nvPr/>
        </p:nvSpPr>
        <p:spPr>
          <a:xfrm>
            <a:off x="777240" y="2121408"/>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09" name="Google Shape;1209;p11"/>
          <p:cNvSpPr txBox="1"/>
          <p:nvPr/>
        </p:nvSpPr>
        <p:spPr>
          <a:xfrm>
            <a:off x="2423160" y="2121408"/>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Reliance Partners, LLC</a:t>
            </a:r>
            <a:endParaRPr/>
          </a:p>
        </p:txBody>
      </p:sp>
      <p:sp>
        <p:nvSpPr>
          <p:cNvPr id="1210" name="Google Shape;1210;p11"/>
          <p:cNvSpPr txBox="1"/>
          <p:nvPr/>
        </p:nvSpPr>
        <p:spPr>
          <a:xfrm>
            <a:off x="7909560" y="2121408"/>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$270K</a:t>
            </a:r>
            <a:endParaRPr/>
          </a:p>
        </p:txBody>
      </p:sp>
      <p:sp>
        <p:nvSpPr>
          <p:cNvPr id="1211" name="Google Shape;1211;p11"/>
          <p:cNvSpPr txBox="1"/>
          <p:nvPr/>
        </p:nvSpPr>
        <p:spPr>
          <a:xfrm>
            <a:off x="9372600" y="2121408"/>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13</a:t>
            </a:r>
            <a:endParaRPr/>
          </a:p>
        </p:txBody>
      </p:sp>
      <p:sp>
        <p:nvSpPr>
          <p:cNvPr id="1212" name="Google Shape;1212;p11"/>
          <p:cNvSpPr/>
          <p:nvPr/>
        </p:nvSpPr>
        <p:spPr>
          <a:xfrm>
            <a:off x="274320" y="2359152"/>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3" name="Google Shape;1213;p11"/>
          <p:cNvSpPr txBox="1"/>
          <p:nvPr/>
        </p:nvSpPr>
        <p:spPr>
          <a:xfrm>
            <a:off x="274320" y="2377440"/>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6</a:t>
            </a:r>
            <a:endParaRPr/>
          </a:p>
        </p:txBody>
      </p:sp>
      <p:sp>
        <p:nvSpPr>
          <p:cNvPr id="1214" name="Google Shape;1214;p11"/>
          <p:cNvSpPr txBox="1"/>
          <p:nvPr/>
        </p:nvSpPr>
        <p:spPr>
          <a:xfrm>
            <a:off x="777240" y="2377440"/>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1215" name="Google Shape;1215;p11"/>
          <p:cNvSpPr txBox="1"/>
          <p:nvPr/>
        </p:nvSpPr>
        <p:spPr>
          <a:xfrm>
            <a:off x="2423160" y="2377440"/>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Lone Star Direct Insurance Agency LLC</a:t>
            </a:r>
            <a:endParaRPr/>
          </a:p>
        </p:txBody>
      </p:sp>
      <p:sp>
        <p:nvSpPr>
          <p:cNvPr id="1216" name="Google Shape;1216;p11"/>
          <p:cNvSpPr txBox="1"/>
          <p:nvPr/>
        </p:nvSpPr>
        <p:spPr>
          <a:xfrm>
            <a:off x="7909560" y="2377440"/>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$254K</a:t>
            </a:r>
            <a:endParaRPr/>
          </a:p>
        </p:txBody>
      </p:sp>
      <p:sp>
        <p:nvSpPr>
          <p:cNvPr id="1217" name="Google Shape;1217;p11"/>
          <p:cNvSpPr txBox="1"/>
          <p:nvPr/>
        </p:nvSpPr>
        <p:spPr>
          <a:xfrm>
            <a:off x="9372600" y="2377440"/>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21</a:t>
            </a:r>
            <a:endParaRPr/>
          </a:p>
        </p:txBody>
      </p:sp>
      <p:sp>
        <p:nvSpPr>
          <p:cNvPr id="1218" name="Google Shape;1218;p11"/>
          <p:cNvSpPr/>
          <p:nvPr/>
        </p:nvSpPr>
        <p:spPr>
          <a:xfrm>
            <a:off x="274320" y="2615184"/>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9" name="Google Shape;1219;p11"/>
          <p:cNvSpPr txBox="1"/>
          <p:nvPr/>
        </p:nvSpPr>
        <p:spPr>
          <a:xfrm>
            <a:off x="274320" y="2633472"/>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7</a:t>
            </a:r>
            <a:endParaRPr/>
          </a:p>
        </p:txBody>
      </p:sp>
      <p:sp>
        <p:nvSpPr>
          <p:cNvPr id="1220" name="Google Shape;1220;p11"/>
          <p:cNvSpPr txBox="1"/>
          <p:nvPr/>
        </p:nvSpPr>
        <p:spPr>
          <a:xfrm>
            <a:off x="777240" y="2633472"/>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1221" name="Google Shape;1221;p11"/>
          <p:cNvSpPr txBox="1"/>
          <p:nvPr/>
        </p:nvSpPr>
        <p:spPr>
          <a:xfrm>
            <a:off x="2423160" y="2633472"/>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TR Insurance Agency Inc</a:t>
            </a:r>
            <a:endParaRPr/>
          </a:p>
        </p:txBody>
      </p:sp>
      <p:sp>
        <p:nvSpPr>
          <p:cNvPr id="1222" name="Google Shape;1222;p11"/>
          <p:cNvSpPr txBox="1"/>
          <p:nvPr/>
        </p:nvSpPr>
        <p:spPr>
          <a:xfrm>
            <a:off x="7909560" y="2633472"/>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$241K</a:t>
            </a:r>
            <a:endParaRPr/>
          </a:p>
        </p:txBody>
      </p:sp>
      <p:sp>
        <p:nvSpPr>
          <p:cNvPr id="1223" name="Google Shape;1223;p11"/>
          <p:cNvSpPr txBox="1"/>
          <p:nvPr/>
        </p:nvSpPr>
        <p:spPr>
          <a:xfrm>
            <a:off x="9372600" y="2633472"/>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12</a:t>
            </a:r>
            <a:endParaRPr/>
          </a:p>
        </p:txBody>
      </p:sp>
      <p:sp>
        <p:nvSpPr>
          <p:cNvPr id="1224" name="Google Shape;1224;p11"/>
          <p:cNvSpPr/>
          <p:nvPr/>
        </p:nvSpPr>
        <p:spPr>
          <a:xfrm>
            <a:off x="274320" y="2871216"/>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5" name="Google Shape;1225;p11"/>
          <p:cNvSpPr txBox="1"/>
          <p:nvPr/>
        </p:nvSpPr>
        <p:spPr>
          <a:xfrm>
            <a:off x="274320" y="2889504"/>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8</a:t>
            </a:r>
            <a:endParaRPr/>
          </a:p>
        </p:txBody>
      </p:sp>
      <p:sp>
        <p:nvSpPr>
          <p:cNvPr id="1226" name="Google Shape;1226;p11"/>
          <p:cNvSpPr txBox="1"/>
          <p:nvPr/>
        </p:nvSpPr>
        <p:spPr>
          <a:xfrm>
            <a:off x="777240" y="2889504"/>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27" name="Google Shape;1227;p11"/>
          <p:cNvSpPr txBox="1"/>
          <p:nvPr/>
        </p:nvSpPr>
        <p:spPr>
          <a:xfrm>
            <a:off x="2423160" y="2889504"/>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Reliance Partners, LLC</a:t>
            </a:r>
            <a:endParaRPr/>
          </a:p>
        </p:txBody>
      </p:sp>
      <p:sp>
        <p:nvSpPr>
          <p:cNvPr id="1228" name="Google Shape;1228;p11"/>
          <p:cNvSpPr txBox="1"/>
          <p:nvPr/>
        </p:nvSpPr>
        <p:spPr>
          <a:xfrm>
            <a:off x="7909560" y="2889504"/>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$231K</a:t>
            </a:r>
            <a:endParaRPr/>
          </a:p>
        </p:txBody>
      </p:sp>
      <p:sp>
        <p:nvSpPr>
          <p:cNvPr id="1229" name="Google Shape;1229;p11"/>
          <p:cNvSpPr txBox="1"/>
          <p:nvPr/>
        </p:nvSpPr>
        <p:spPr>
          <a:xfrm>
            <a:off x="9372600" y="2889504"/>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13</a:t>
            </a:r>
            <a:endParaRPr/>
          </a:p>
        </p:txBody>
      </p:sp>
      <p:sp>
        <p:nvSpPr>
          <p:cNvPr id="1230" name="Google Shape;1230;p11"/>
          <p:cNvSpPr/>
          <p:nvPr/>
        </p:nvSpPr>
        <p:spPr>
          <a:xfrm>
            <a:off x="274320" y="3127248"/>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1" name="Google Shape;1231;p11"/>
          <p:cNvSpPr txBox="1"/>
          <p:nvPr/>
        </p:nvSpPr>
        <p:spPr>
          <a:xfrm>
            <a:off x="274320" y="3145536"/>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9</a:t>
            </a:r>
            <a:endParaRPr/>
          </a:p>
        </p:txBody>
      </p:sp>
      <p:sp>
        <p:nvSpPr>
          <p:cNvPr id="1232" name="Google Shape;1232;p11"/>
          <p:cNvSpPr txBox="1"/>
          <p:nvPr/>
        </p:nvSpPr>
        <p:spPr>
          <a:xfrm>
            <a:off x="777240" y="3145536"/>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33" name="Google Shape;1233;p11"/>
          <p:cNvSpPr txBox="1"/>
          <p:nvPr/>
        </p:nvSpPr>
        <p:spPr>
          <a:xfrm>
            <a:off x="2423160" y="3145536"/>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Surefire Insurance Agency Corp.</a:t>
            </a:r>
            <a:endParaRPr/>
          </a:p>
        </p:txBody>
      </p:sp>
      <p:sp>
        <p:nvSpPr>
          <p:cNvPr id="1234" name="Google Shape;1234;p11"/>
          <p:cNvSpPr txBox="1"/>
          <p:nvPr/>
        </p:nvSpPr>
        <p:spPr>
          <a:xfrm>
            <a:off x="7909560" y="3145536"/>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$216K</a:t>
            </a:r>
            <a:endParaRPr/>
          </a:p>
        </p:txBody>
      </p:sp>
      <p:sp>
        <p:nvSpPr>
          <p:cNvPr id="1235" name="Google Shape;1235;p11"/>
          <p:cNvSpPr txBox="1"/>
          <p:nvPr/>
        </p:nvSpPr>
        <p:spPr>
          <a:xfrm>
            <a:off x="9372600" y="3145536"/>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17</a:t>
            </a:r>
            <a:endParaRPr/>
          </a:p>
        </p:txBody>
      </p:sp>
      <p:sp>
        <p:nvSpPr>
          <p:cNvPr id="1236" name="Google Shape;1236;p11"/>
          <p:cNvSpPr/>
          <p:nvPr/>
        </p:nvSpPr>
        <p:spPr>
          <a:xfrm>
            <a:off x="274320" y="3383280"/>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7" name="Google Shape;1237;p11"/>
          <p:cNvSpPr txBox="1"/>
          <p:nvPr/>
        </p:nvSpPr>
        <p:spPr>
          <a:xfrm>
            <a:off x="274320" y="3401568"/>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10</a:t>
            </a:r>
            <a:endParaRPr/>
          </a:p>
        </p:txBody>
      </p:sp>
      <p:sp>
        <p:nvSpPr>
          <p:cNvPr id="1238" name="Google Shape;1238;p11"/>
          <p:cNvSpPr txBox="1"/>
          <p:nvPr/>
        </p:nvSpPr>
        <p:spPr>
          <a:xfrm>
            <a:off x="777240" y="3401568"/>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1239" name="Google Shape;1239;p11"/>
          <p:cNvSpPr txBox="1"/>
          <p:nvPr/>
        </p:nvSpPr>
        <p:spPr>
          <a:xfrm>
            <a:off x="2423160" y="3401568"/>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Eagle National Insurance Services, Inc.</a:t>
            </a:r>
            <a:endParaRPr/>
          </a:p>
        </p:txBody>
      </p:sp>
      <p:sp>
        <p:nvSpPr>
          <p:cNvPr id="1240" name="Google Shape;1240;p11"/>
          <p:cNvSpPr txBox="1"/>
          <p:nvPr/>
        </p:nvSpPr>
        <p:spPr>
          <a:xfrm>
            <a:off x="7909560" y="3401568"/>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$202K</a:t>
            </a:r>
            <a:endParaRPr/>
          </a:p>
        </p:txBody>
      </p:sp>
      <p:sp>
        <p:nvSpPr>
          <p:cNvPr id="1241" name="Google Shape;1241;p11"/>
          <p:cNvSpPr txBox="1"/>
          <p:nvPr/>
        </p:nvSpPr>
        <p:spPr>
          <a:xfrm>
            <a:off x="9372600" y="3401568"/>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8</a:t>
            </a:r>
            <a:endParaRPr/>
          </a:p>
        </p:txBody>
      </p:sp>
      <p:sp>
        <p:nvSpPr>
          <p:cNvPr id="1242" name="Google Shape;1242;p11"/>
          <p:cNvSpPr/>
          <p:nvPr/>
        </p:nvSpPr>
        <p:spPr>
          <a:xfrm>
            <a:off x="274320" y="3639312"/>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3" name="Google Shape;1243;p11"/>
          <p:cNvSpPr txBox="1"/>
          <p:nvPr/>
        </p:nvSpPr>
        <p:spPr>
          <a:xfrm>
            <a:off x="274320" y="3657600"/>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11</a:t>
            </a:r>
            <a:endParaRPr/>
          </a:p>
        </p:txBody>
      </p:sp>
      <p:sp>
        <p:nvSpPr>
          <p:cNvPr id="1244" name="Google Shape;1244;p11"/>
          <p:cNvSpPr txBox="1"/>
          <p:nvPr/>
        </p:nvSpPr>
        <p:spPr>
          <a:xfrm>
            <a:off x="777240" y="3657600"/>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45" name="Google Shape;1245;p11"/>
          <p:cNvSpPr txBox="1"/>
          <p:nvPr/>
        </p:nvSpPr>
        <p:spPr>
          <a:xfrm>
            <a:off x="2423160" y="3657600"/>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Jagdeep Singh Insurance Agency, Inc</a:t>
            </a:r>
            <a:endParaRPr/>
          </a:p>
        </p:txBody>
      </p:sp>
      <p:sp>
        <p:nvSpPr>
          <p:cNvPr id="1246" name="Google Shape;1246;p11"/>
          <p:cNvSpPr txBox="1"/>
          <p:nvPr/>
        </p:nvSpPr>
        <p:spPr>
          <a:xfrm>
            <a:off x="7909560" y="3657600"/>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$198K</a:t>
            </a:r>
            <a:endParaRPr/>
          </a:p>
        </p:txBody>
      </p:sp>
      <p:sp>
        <p:nvSpPr>
          <p:cNvPr id="1247" name="Google Shape;1247;p11"/>
          <p:cNvSpPr txBox="1"/>
          <p:nvPr/>
        </p:nvSpPr>
        <p:spPr>
          <a:xfrm>
            <a:off x="9372600" y="3657600"/>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10</a:t>
            </a:r>
            <a:endParaRPr/>
          </a:p>
        </p:txBody>
      </p:sp>
      <p:sp>
        <p:nvSpPr>
          <p:cNvPr id="1248" name="Google Shape;1248;p11"/>
          <p:cNvSpPr/>
          <p:nvPr/>
        </p:nvSpPr>
        <p:spPr>
          <a:xfrm>
            <a:off x="274320" y="3895344"/>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9" name="Google Shape;1249;p11"/>
          <p:cNvSpPr txBox="1"/>
          <p:nvPr/>
        </p:nvSpPr>
        <p:spPr>
          <a:xfrm>
            <a:off x="274320" y="3913632"/>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12</a:t>
            </a:r>
            <a:endParaRPr/>
          </a:p>
        </p:txBody>
      </p:sp>
      <p:sp>
        <p:nvSpPr>
          <p:cNvPr id="1250" name="Google Shape;1250;p11"/>
          <p:cNvSpPr txBox="1"/>
          <p:nvPr/>
        </p:nvSpPr>
        <p:spPr>
          <a:xfrm>
            <a:off x="777240" y="3913632"/>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Derrick L.</a:t>
            </a:r>
            <a:endParaRPr/>
          </a:p>
        </p:txBody>
      </p:sp>
      <p:sp>
        <p:nvSpPr>
          <p:cNvPr id="1251" name="Google Shape;1251;p11"/>
          <p:cNvSpPr txBox="1"/>
          <p:nvPr/>
        </p:nvSpPr>
        <p:spPr>
          <a:xfrm>
            <a:off x="2423160" y="3913632"/>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Justin Wilson</a:t>
            </a:r>
            <a:endParaRPr/>
          </a:p>
        </p:txBody>
      </p:sp>
      <p:sp>
        <p:nvSpPr>
          <p:cNvPr id="1252" name="Google Shape;1252;p11"/>
          <p:cNvSpPr txBox="1"/>
          <p:nvPr/>
        </p:nvSpPr>
        <p:spPr>
          <a:xfrm>
            <a:off x="7909560" y="3913632"/>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$194K</a:t>
            </a:r>
            <a:endParaRPr/>
          </a:p>
        </p:txBody>
      </p:sp>
      <p:sp>
        <p:nvSpPr>
          <p:cNvPr id="1253" name="Google Shape;1253;p11"/>
          <p:cNvSpPr txBox="1"/>
          <p:nvPr/>
        </p:nvSpPr>
        <p:spPr>
          <a:xfrm>
            <a:off x="9372600" y="3913632"/>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9</a:t>
            </a:r>
            <a:endParaRPr/>
          </a:p>
        </p:txBody>
      </p:sp>
      <p:sp>
        <p:nvSpPr>
          <p:cNvPr id="1254" name="Google Shape;1254;p11"/>
          <p:cNvSpPr/>
          <p:nvPr/>
        </p:nvSpPr>
        <p:spPr>
          <a:xfrm>
            <a:off x="274320" y="4151376"/>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5" name="Google Shape;1255;p11"/>
          <p:cNvSpPr txBox="1"/>
          <p:nvPr/>
        </p:nvSpPr>
        <p:spPr>
          <a:xfrm>
            <a:off x="274320" y="4169664"/>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13</a:t>
            </a:r>
            <a:endParaRPr/>
          </a:p>
        </p:txBody>
      </p:sp>
      <p:sp>
        <p:nvSpPr>
          <p:cNvPr id="1256" name="Google Shape;1256;p11"/>
          <p:cNvSpPr txBox="1"/>
          <p:nvPr/>
        </p:nvSpPr>
        <p:spPr>
          <a:xfrm>
            <a:off x="777240" y="4169664"/>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57" name="Google Shape;1257;p11"/>
          <p:cNvSpPr txBox="1"/>
          <p:nvPr/>
        </p:nvSpPr>
        <p:spPr>
          <a:xfrm>
            <a:off x="2423160" y="4169664"/>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Reliance Partners, LLC</a:t>
            </a:r>
            <a:endParaRPr/>
          </a:p>
        </p:txBody>
      </p:sp>
      <p:sp>
        <p:nvSpPr>
          <p:cNvPr id="1258" name="Google Shape;1258;p11"/>
          <p:cNvSpPr txBox="1"/>
          <p:nvPr/>
        </p:nvSpPr>
        <p:spPr>
          <a:xfrm>
            <a:off x="7909560" y="4169664"/>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$190K</a:t>
            </a:r>
            <a:endParaRPr/>
          </a:p>
        </p:txBody>
      </p:sp>
      <p:sp>
        <p:nvSpPr>
          <p:cNvPr id="1259" name="Google Shape;1259;p11"/>
          <p:cNvSpPr txBox="1"/>
          <p:nvPr/>
        </p:nvSpPr>
        <p:spPr>
          <a:xfrm>
            <a:off x="9372600" y="4169664"/>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9</a:t>
            </a:r>
            <a:endParaRPr/>
          </a:p>
        </p:txBody>
      </p:sp>
      <p:sp>
        <p:nvSpPr>
          <p:cNvPr id="1260" name="Google Shape;1260;p11"/>
          <p:cNvSpPr/>
          <p:nvPr/>
        </p:nvSpPr>
        <p:spPr>
          <a:xfrm>
            <a:off x="274320" y="4407408"/>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1" name="Google Shape;1261;p11"/>
          <p:cNvSpPr txBox="1"/>
          <p:nvPr/>
        </p:nvSpPr>
        <p:spPr>
          <a:xfrm>
            <a:off x="274320" y="4425696"/>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14</a:t>
            </a:r>
            <a:endParaRPr/>
          </a:p>
        </p:txBody>
      </p:sp>
      <p:sp>
        <p:nvSpPr>
          <p:cNvPr id="1262" name="Google Shape;1262;p11"/>
          <p:cNvSpPr txBox="1"/>
          <p:nvPr/>
        </p:nvSpPr>
        <p:spPr>
          <a:xfrm>
            <a:off x="777240" y="4425696"/>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63" name="Google Shape;1263;p11"/>
          <p:cNvSpPr txBox="1"/>
          <p:nvPr/>
        </p:nvSpPr>
        <p:spPr>
          <a:xfrm>
            <a:off x="2423160" y="4425696"/>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Swan Insurance Sales, LLC</a:t>
            </a:r>
            <a:endParaRPr/>
          </a:p>
        </p:txBody>
      </p:sp>
      <p:sp>
        <p:nvSpPr>
          <p:cNvPr id="1264" name="Google Shape;1264;p11"/>
          <p:cNvSpPr txBox="1"/>
          <p:nvPr/>
        </p:nvSpPr>
        <p:spPr>
          <a:xfrm>
            <a:off x="7909560" y="4425696"/>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$190K</a:t>
            </a:r>
            <a:endParaRPr/>
          </a:p>
        </p:txBody>
      </p:sp>
      <p:sp>
        <p:nvSpPr>
          <p:cNvPr id="1265" name="Google Shape;1265;p11"/>
          <p:cNvSpPr txBox="1"/>
          <p:nvPr/>
        </p:nvSpPr>
        <p:spPr>
          <a:xfrm>
            <a:off x="9372600" y="4425696"/>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10</a:t>
            </a:r>
            <a:endParaRPr/>
          </a:p>
        </p:txBody>
      </p:sp>
      <p:sp>
        <p:nvSpPr>
          <p:cNvPr id="1266" name="Google Shape;1266;p11"/>
          <p:cNvSpPr/>
          <p:nvPr/>
        </p:nvSpPr>
        <p:spPr>
          <a:xfrm>
            <a:off x="274320" y="4663440"/>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7" name="Google Shape;1267;p11"/>
          <p:cNvSpPr txBox="1"/>
          <p:nvPr/>
        </p:nvSpPr>
        <p:spPr>
          <a:xfrm>
            <a:off x="274320" y="4681728"/>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15</a:t>
            </a:r>
            <a:endParaRPr/>
          </a:p>
        </p:txBody>
      </p:sp>
      <p:sp>
        <p:nvSpPr>
          <p:cNvPr id="1268" name="Google Shape;1268;p11"/>
          <p:cNvSpPr txBox="1"/>
          <p:nvPr/>
        </p:nvSpPr>
        <p:spPr>
          <a:xfrm>
            <a:off x="777240" y="4681728"/>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Alexis B.</a:t>
            </a:r>
            <a:endParaRPr/>
          </a:p>
        </p:txBody>
      </p:sp>
      <p:sp>
        <p:nvSpPr>
          <p:cNvPr id="1269" name="Google Shape;1269;p11"/>
          <p:cNvSpPr txBox="1"/>
          <p:nvPr/>
        </p:nvSpPr>
        <p:spPr>
          <a:xfrm>
            <a:off x="2423160" y="4681728"/>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Stellar Management, Inc</a:t>
            </a:r>
            <a:endParaRPr/>
          </a:p>
        </p:txBody>
      </p:sp>
      <p:sp>
        <p:nvSpPr>
          <p:cNvPr id="1270" name="Google Shape;1270;p11"/>
          <p:cNvSpPr txBox="1"/>
          <p:nvPr/>
        </p:nvSpPr>
        <p:spPr>
          <a:xfrm>
            <a:off x="7909560" y="4681728"/>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$187K</a:t>
            </a:r>
            <a:endParaRPr/>
          </a:p>
        </p:txBody>
      </p:sp>
      <p:sp>
        <p:nvSpPr>
          <p:cNvPr id="1271" name="Google Shape;1271;p11"/>
          <p:cNvSpPr txBox="1"/>
          <p:nvPr/>
        </p:nvSpPr>
        <p:spPr>
          <a:xfrm>
            <a:off x="9372600" y="4681728"/>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13</a:t>
            </a:r>
            <a:endParaRPr/>
          </a:p>
        </p:txBody>
      </p:sp>
      <p:sp>
        <p:nvSpPr>
          <p:cNvPr id="1272" name="Google Shape;1272;p11"/>
          <p:cNvSpPr/>
          <p:nvPr/>
        </p:nvSpPr>
        <p:spPr>
          <a:xfrm>
            <a:off x="274320" y="4919472"/>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3" name="Google Shape;1273;p11"/>
          <p:cNvSpPr txBox="1"/>
          <p:nvPr/>
        </p:nvSpPr>
        <p:spPr>
          <a:xfrm>
            <a:off x="274320" y="4937760"/>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a:t>
            </a:r>
            <a:endParaRPr/>
          </a:p>
        </p:txBody>
      </p:sp>
      <p:sp>
        <p:nvSpPr>
          <p:cNvPr id="1274" name="Google Shape;1274;p11"/>
          <p:cNvSpPr txBox="1"/>
          <p:nvPr/>
        </p:nvSpPr>
        <p:spPr>
          <a:xfrm>
            <a:off x="777240" y="4937760"/>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Derek J.</a:t>
            </a:r>
            <a:endParaRPr/>
          </a:p>
        </p:txBody>
      </p:sp>
      <p:sp>
        <p:nvSpPr>
          <p:cNvPr id="1275" name="Google Shape;1275;p11"/>
          <p:cNvSpPr txBox="1"/>
          <p:nvPr/>
        </p:nvSpPr>
        <p:spPr>
          <a:xfrm>
            <a:off x="2423160" y="4937760"/>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Paramount Exclusive Insurance Services, Inc.</a:t>
            </a:r>
            <a:endParaRPr/>
          </a:p>
        </p:txBody>
      </p:sp>
      <p:sp>
        <p:nvSpPr>
          <p:cNvPr id="1276" name="Google Shape;1276;p11"/>
          <p:cNvSpPr txBox="1"/>
          <p:nvPr/>
        </p:nvSpPr>
        <p:spPr>
          <a:xfrm>
            <a:off x="7909560" y="4937760"/>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$185K</a:t>
            </a:r>
            <a:endParaRPr/>
          </a:p>
        </p:txBody>
      </p:sp>
      <p:sp>
        <p:nvSpPr>
          <p:cNvPr id="1277" name="Google Shape;1277;p11"/>
          <p:cNvSpPr txBox="1"/>
          <p:nvPr/>
        </p:nvSpPr>
        <p:spPr>
          <a:xfrm>
            <a:off x="9372600" y="4937760"/>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9</a:t>
            </a:r>
            <a:endParaRPr/>
          </a:p>
        </p:txBody>
      </p:sp>
      <p:sp>
        <p:nvSpPr>
          <p:cNvPr id="1278" name="Google Shape;1278;p11"/>
          <p:cNvSpPr/>
          <p:nvPr/>
        </p:nvSpPr>
        <p:spPr>
          <a:xfrm>
            <a:off x="274320" y="5175504"/>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9" name="Google Shape;1279;p11"/>
          <p:cNvSpPr txBox="1"/>
          <p:nvPr/>
        </p:nvSpPr>
        <p:spPr>
          <a:xfrm>
            <a:off x="274320" y="5193792"/>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a:t>
            </a:r>
            <a:endParaRPr/>
          </a:p>
        </p:txBody>
      </p:sp>
      <p:sp>
        <p:nvSpPr>
          <p:cNvPr id="1280" name="Google Shape;1280;p11"/>
          <p:cNvSpPr txBox="1"/>
          <p:nvPr/>
        </p:nvSpPr>
        <p:spPr>
          <a:xfrm>
            <a:off x="777240" y="5193792"/>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Ron D.</a:t>
            </a:r>
            <a:endParaRPr/>
          </a:p>
        </p:txBody>
      </p:sp>
      <p:sp>
        <p:nvSpPr>
          <p:cNvPr id="1281" name="Google Shape;1281;p11"/>
          <p:cNvSpPr txBox="1"/>
          <p:nvPr/>
        </p:nvSpPr>
        <p:spPr>
          <a:xfrm>
            <a:off x="2423160" y="5193792"/>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USA SPECIALTY INSURANCE/DBA PREVENTTY</a:t>
            </a:r>
            <a:endParaRPr/>
          </a:p>
        </p:txBody>
      </p:sp>
      <p:sp>
        <p:nvSpPr>
          <p:cNvPr id="1282" name="Google Shape;1282;p11"/>
          <p:cNvSpPr txBox="1"/>
          <p:nvPr/>
        </p:nvSpPr>
        <p:spPr>
          <a:xfrm>
            <a:off x="7909560" y="5193792"/>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$179K</a:t>
            </a:r>
            <a:endParaRPr/>
          </a:p>
        </p:txBody>
      </p:sp>
      <p:sp>
        <p:nvSpPr>
          <p:cNvPr id="1283" name="Google Shape;1283;p11"/>
          <p:cNvSpPr txBox="1"/>
          <p:nvPr/>
        </p:nvSpPr>
        <p:spPr>
          <a:xfrm>
            <a:off x="9372600" y="5193792"/>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11</a:t>
            </a:r>
            <a:endParaRPr/>
          </a:p>
        </p:txBody>
      </p:sp>
      <p:sp>
        <p:nvSpPr>
          <p:cNvPr id="1284" name="Google Shape;1284;p11"/>
          <p:cNvSpPr/>
          <p:nvPr/>
        </p:nvSpPr>
        <p:spPr>
          <a:xfrm>
            <a:off x="274320" y="5431536"/>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5" name="Google Shape;1285;p11"/>
          <p:cNvSpPr txBox="1"/>
          <p:nvPr/>
        </p:nvSpPr>
        <p:spPr>
          <a:xfrm>
            <a:off x="274320" y="5449824"/>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18</a:t>
            </a:r>
            <a:endParaRPr/>
          </a:p>
        </p:txBody>
      </p:sp>
      <p:sp>
        <p:nvSpPr>
          <p:cNvPr id="1286" name="Google Shape;1286;p11"/>
          <p:cNvSpPr txBox="1"/>
          <p:nvPr/>
        </p:nvSpPr>
        <p:spPr>
          <a:xfrm>
            <a:off x="777240" y="5449824"/>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Alexis B.</a:t>
            </a:r>
            <a:endParaRPr/>
          </a:p>
        </p:txBody>
      </p:sp>
      <p:sp>
        <p:nvSpPr>
          <p:cNvPr id="1287" name="Google Shape;1287;p11"/>
          <p:cNvSpPr txBox="1"/>
          <p:nvPr/>
        </p:nvSpPr>
        <p:spPr>
          <a:xfrm>
            <a:off x="2423160" y="5449824"/>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MST INSURANCE SERVICES INC</a:t>
            </a:r>
            <a:endParaRPr/>
          </a:p>
        </p:txBody>
      </p:sp>
      <p:sp>
        <p:nvSpPr>
          <p:cNvPr id="1288" name="Google Shape;1288;p11"/>
          <p:cNvSpPr txBox="1"/>
          <p:nvPr/>
        </p:nvSpPr>
        <p:spPr>
          <a:xfrm>
            <a:off x="7909560" y="5449824"/>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$175K</a:t>
            </a:r>
            <a:endParaRPr/>
          </a:p>
        </p:txBody>
      </p:sp>
      <p:sp>
        <p:nvSpPr>
          <p:cNvPr id="1289" name="Google Shape;1289;p11"/>
          <p:cNvSpPr txBox="1"/>
          <p:nvPr/>
        </p:nvSpPr>
        <p:spPr>
          <a:xfrm>
            <a:off x="9372600" y="5449824"/>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9</a:t>
            </a:r>
            <a:endParaRPr/>
          </a:p>
        </p:txBody>
      </p:sp>
      <p:sp>
        <p:nvSpPr>
          <p:cNvPr id="1290" name="Google Shape;1290;p11"/>
          <p:cNvSpPr/>
          <p:nvPr/>
        </p:nvSpPr>
        <p:spPr>
          <a:xfrm>
            <a:off x="274320" y="5687568"/>
            <a:ext cx="9921240" cy="256032"/>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1" name="Google Shape;1291;p11"/>
          <p:cNvSpPr txBox="1"/>
          <p:nvPr/>
        </p:nvSpPr>
        <p:spPr>
          <a:xfrm>
            <a:off x="274320" y="5705856"/>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19</a:t>
            </a:r>
            <a:endParaRPr/>
          </a:p>
        </p:txBody>
      </p:sp>
      <p:sp>
        <p:nvSpPr>
          <p:cNvPr id="1292" name="Google Shape;1292;p11"/>
          <p:cNvSpPr txBox="1"/>
          <p:nvPr/>
        </p:nvSpPr>
        <p:spPr>
          <a:xfrm>
            <a:off x="777240" y="5705856"/>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Christopher H.</a:t>
            </a:r>
            <a:endParaRPr/>
          </a:p>
        </p:txBody>
      </p:sp>
      <p:sp>
        <p:nvSpPr>
          <p:cNvPr id="1293" name="Google Shape;1293;p11"/>
          <p:cNvSpPr txBox="1"/>
          <p:nvPr/>
        </p:nvSpPr>
        <p:spPr>
          <a:xfrm>
            <a:off x="2423160" y="5705856"/>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Get Logan Inc</a:t>
            </a:r>
            <a:endParaRPr/>
          </a:p>
        </p:txBody>
      </p:sp>
      <p:sp>
        <p:nvSpPr>
          <p:cNvPr id="1294" name="Google Shape;1294;p11"/>
          <p:cNvSpPr txBox="1"/>
          <p:nvPr/>
        </p:nvSpPr>
        <p:spPr>
          <a:xfrm>
            <a:off x="7909560" y="5705856"/>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$171K</a:t>
            </a:r>
            <a:endParaRPr/>
          </a:p>
        </p:txBody>
      </p:sp>
      <p:sp>
        <p:nvSpPr>
          <p:cNvPr id="1295" name="Google Shape;1295;p11"/>
          <p:cNvSpPr txBox="1"/>
          <p:nvPr/>
        </p:nvSpPr>
        <p:spPr>
          <a:xfrm>
            <a:off x="9372600" y="5705856"/>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6</a:t>
            </a:r>
            <a:endParaRPr/>
          </a:p>
        </p:txBody>
      </p:sp>
      <p:sp>
        <p:nvSpPr>
          <p:cNvPr id="1296" name="Google Shape;1296;p11"/>
          <p:cNvSpPr/>
          <p:nvPr/>
        </p:nvSpPr>
        <p:spPr>
          <a:xfrm>
            <a:off x="274320" y="5943600"/>
            <a:ext cx="9921240" cy="256032"/>
          </a:xfrm>
          <a:prstGeom prst="rect">
            <a:avLst/>
          </a:prstGeom>
          <a:solidFill>
            <a:srgbClr val="F9FA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7" name="Google Shape;1297;p11"/>
          <p:cNvSpPr txBox="1"/>
          <p:nvPr/>
        </p:nvSpPr>
        <p:spPr>
          <a:xfrm>
            <a:off x="274320" y="5961888"/>
            <a:ext cx="502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20</a:t>
            </a:r>
            <a:endParaRPr/>
          </a:p>
        </p:txBody>
      </p:sp>
      <p:sp>
        <p:nvSpPr>
          <p:cNvPr id="1298" name="Google Shape;1298;p11"/>
          <p:cNvSpPr txBox="1"/>
          <p:nvPr/>
        </p:nvSpPr>
        <p:spPr>
          <a:xfrm>
            <a:off x="777240" y="5961888"/>
            <a:ext cx="164592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Westy M.</a:t>
            </a:r>
            <a:endParaRPr/>
          </a:p>
        </p:txBody>
      </p:sp>
      <p:sp>
        <p:nvSpPr>
          <p:cNvPr id="1299" name="Google Shape;1299;p11"/>
          <p:cNvSpPr txBox="1"/>
          <p:nvPr/>
        </p:nvSpPr>
        <p:spPr>
          <a:xfrm>
            <a:off x="2423160" y="5961888"/>
            <a:ext cx="54864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111827"/>
                </a:solidFill>
                <a:latin typeface="Calibri"/>
                <a:ea typeface="Calibri"/>
                <a:cs typeface="Calibri"/>
                <a:sym typeface="Calibri"/>
              </a:rPr>
              <a:t>Acrisure LLC DBA RRL Insurance Agency</a:t>
            </a:r>
            <a:endParaRPr/>
          </a:p>
        </p:txBody>
      </p:sp>
      <p:sp>
        <p:nvSpPr>
          <p:cNvPr id="1300" name="Google Shape;1300;p11"/>
          <p:cNvSpPr txBox="1"/>
          <p:nvPr/>
        </p:nvSpPr>
        <p:spPr>
          <a:xfrm>
            <a:off x="7909560" y="5961888"/>
            <a:ext cx="146304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111827"/>
                </a:solidFill>
                <a:latin typeface="Calibri"/>
                <a:ea typeface="Calibri"/>
                <a:cs typeface="Calibri"/>
                <a:sym typeface="Calibri"/>
              </a:rPr>
              <a:t>$169K</a:t>
            </a:r>
            <a:endParaRPr/>
          </a:p>
        </p:txBody>
      </p:sp>
      <p:sp>
        <p:nvSpPr>
          <p:cNvPr id="1301" name="Google Shape;1301;p11"/>
          <p:cNvSpPr txBox="1"/>
          <p:nvPr/>
        </p:nvSpPr>
        <p:spPr>
          <a:xfrm>
            <a:off x="9372600" y="5961888"/>
            <a:ext cx="8229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E6BA0"/>
                </a:solidFill>
                <a:latin typeface="Calibri"/>
                <a:ea typeface="Calibri"/>
                <a:cs typeface="Calibri"/>
                <a:sym typeface="Calibri"/>
              </a:rPr>
              <a:t>7</a:t>
            </a:r>
            <a:endParaRPr/>
          </a:p>
        </p:txBody>
      </p:sp>
      <p:sp>
        <p:nvSpPr>
          <p:cNvPr id="1302" name="Google Shape;1302;p11"/>
          <p:cNvSpPr/>
          <p:nvPr/>
        </p:nvSpPr>
        <p:spPr>
          <a:xfrm>
            <a:off x="274320" y="6327648"/>
            <a:ext cx="9921240" cy="347472"/>
          </a:xfrm>
          <a:prstGeom prst="rect">
            <a:avLst/>
          </a:prstGeom>
          <a:solidFill>
            <a:srgbClr val="1E07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3" name="Google Shape;1303;p11"/>
          <p:cNvSpPr txBox="1"/>
          <p:nvPr/>
        </p:nvSpPr>
        <p:spPr>
          <a:xfrm>
            <a:off x="384048" y="6419088"/>
            <a:ext cx="9701784"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Q2 Fleet Total: 193 fleet binds  ·  $18.2M bound premium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