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71" r:id="rId23"/>
    <p:sldId id="264" r:id="rId16"/>
    <p:sldId id="259" r:id="rId11"/>
    <p:sldId id="260" r:id="rId12"/>
    <p:sldId id="267" r:id="rId19"/>
    <p:sldId id="268" r:id="rId20"/>
    <p:sldId id="265" r:id="rId17"/>
    <p:sldId id="270" r:id="rId22"/>
    <p:sldId id="273" r:id="rId25"/>
    <p:sldId id="275" r:id="rId27"/>
    <p:sldId id="261" r:id="rId13"/>
    <p:sldId id="272" r:id="rId24"/>
    <p:sldId id="262" r:id="rId14"/>
    <p:sldId id="263" r:id="rId15"/>
    <p:sldId id="269" r:id="rId21"/>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The opening snapshot — four KPI tiles that tell you at a glance whether the team is ahead, on pace, or behind for Q2. Use it as the launchpad before drilling into the rep-level matrices.</a:t>
            </a:r>
          </a:p>
          <a:p/>
          <a:p>
            <a:r>
              <a:t>WHAT TO LOOK FOR</a:t>
            </a:r>
          </a:p>
          <a:p>
            <a:r>
              <a:t>- Team GWP Q2 YTD: Is the pace badge green (on track to beat Q1)? Amber means we're close but need to accelerate. Red means we're trending below last quarter.</a:t>
            </a:r>
          </a:p>
          <a:p>
            <a:r>
              <a:t>- Activity Compliance %: Are reps hitting their weekly call and meeting targets? This is the most controllable metric — low compliance is an early warning sign.</a:t>
            </a:r>
          </a:p>
          <a:p>
            <a:r>
              <a:t>- Submissions Q2 YTD: More submissions now = more revenue in 60-90 days. Watch for YOY growth or decline. NOTE: this figure only counts submissions from agencies assigned to Growth Team reps — it will be lower than the company-wide total.</a:t>
            </a:r>
          </a:p>
          <a:p>
            <a:r>
              <a:t>- Net New Agencies: Goal is 4 per BDM per quarter (24 team total). Any rep at zero by mid-quarter needs a coaching conversation.</a:t>
            </a:r>
          </a:p>
          <a:p>
            <a:r>
              <a:t>- Q2 MIX strip (purple): breaks Q2 GWP into New Business / Renewals / Endorsements with $ amount and % of total. If endorsements lead, the GWP is being carried by existing-book activity rather than new wins.</a:t>
            </a:r>
          </a:p>
          <a:p>
            <a:r>
              <a:t>- Q1 Final strip (gray): Q1 full-quarter actuals for each KPI — use as the benchmark. Q2 should be equal to or better than Q1.</a:t>
            </a:r>
          </a:p>
          <a:p/>
          <a:p>
            <a:r>
              <a:t>NEXT IN THE DECK</a:t>
            </a:r>
          </a:p>
          <a:p>
            <a:r>
              <a:t>- Slide M1 (Pace vs Budget) and Slide M2 (Coaching Watchlist) immediately follow — those are the manager-only views that turn this snapshot into a weekly action list.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Answers the manager's first question: are we going to hit our number this month?</a:t>
            </a:r>
          </a:p>
          <a:p/>
          <a:p>
            <a:r>
              <a:t>KEY READS</a:t>
            </a:r>
          </a:p>
          <a:p>
            <a:r>
              <a:t>- Top tiles: team-level pace vs monthly budget, required daily run rate, days remaining, dollar gap.</a:t>
            </a:r>
          </a:p>
          <a:p>
            <a:r>
              <a:t>- Required vs Current $/day: if Required &gt; Current, we are behind pace and need to accelerate. The badge shows the daily gap.</a:t>
            </a:r>
          </a:p>
          <a:p>
            <a:r>
              <a:t>- Per-rep table sorted with weakest pace at top — these are the reps most at risk of missing their monthly target.</a:t>
            </a:r>
          </a:p>
          <a:p/>
          <a:p>
            <a:r>
              <a:t>HOW THE NUMBERS ARE CALCULATED</a:t>
            </a:r>
          </a:p>
          <a:p>
            <a:r>
              <a:t>- Monthly budget per rep = (prior-year full GWP * 1.20) / 12.</a:t>
            </a:r>
          </a:p>
          <a:p>
            <a:r>
              <a:t>- MTD GWP per rep = sum of New + Renewal + Endorsement bound in May 2026.</a:t>
            </a:r>
          </a:p>
          <a:p>
            <a:r>
              <a:t>- $/Day Current = MTD GWP / business days elapsed.</a:t>
            </a:r>
          </a:p>
          <a:p>
            <a:r>
              <a:t>- $/Day Required = (Monthly Budget - MTD GWP) / business days remaining.</a:t>
            </a:r>
          </a:p>
          <a:p>
            <a:r>
              <a:t>- Pace % = MTD GWP / Monthly Budget. Status: Green ≥100%, Amber ≥80%, Red &lt;80%.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Tells you who needs a coaching conversation this week and why — in priority order.</a:t>
            </a:r>
          </a:p>
          <a:p/>
          <a:p>
            <a:r>
              <a:t>TRIGGERS</a:t>
            </a:r>
          </a:p>
          <a:p>
            <a:r>
              <a:t>- Activity below 70%: rep is missing their weekly call/meeting goal materially. Severity scales with how far below.</a:t>
            </a:r>
          </a:p>
          <a:p>
            <a:r>
              <a:t>- Zero new producing agencies in Q2 (BDMs only): on track to miss the 4/quarter OKR. Critical by mid-quarter.</a:t>
            </a:r>
          </a:p>
          <a:p>
            <a:r>
              <a:t>- Q2 GWP trajectory below 85% of Q1 pace: production is regressing meaningfully.</a:t>
            </a:r>
          </a:p>
          <a:p>
            <a:r>
              <a:t>- Q2 quota below 85%: rep is materially behind their individual quota.</a:t>
            </a:r>
          </a:p>
          <a:p>
            <a:r>
              <a:t>- Q2 submissions below 75% of Q1 pace: leading indicator of weaker Q3.</a:t>
            </a:r>
          </a:p>
          <a:p/>
          <a:p>
            <a:r>
              <a:t>HOW TO USE</a:t>
            </a:r>
          </a:p>
          <a:p>
            <a:r>
              <a:t>- Critical (red) before High (amber). One coaching conversation should cover all the rep's flags, not one per trigger.</a:t>
            </a:r>
          </a:p>
          <a:p>
            <a:r>
              <a:t>- A rep showing on multiple triggers needs structured coaching, not a single check-in.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slide ranks BDMs head-to-head across all four Q2 goals so you can immediately see who is driving and who needs support.</a:t>
            </a:r>
          </a:p>
          <a:p/>
          <a:p>
            <a:r>
              <a:t>WHAT TO LOOK FOR</a:t>
            </a:r>
          </a:p>
          <a:p>
            <a:r>
              <a:t>- Overall composite score: reps are sorted highest to lowest — the top performers are on the left, those falling behind are on the right.</a:t>
            </a:r>
          </a:p>
          <a:p>
            <a:r>
              <a:t>- Color coding: Green = on or above target, Amber = within reach but at risk, Red = behind and needs attention now.</a:t>
            </a:r>
          </a:p>
          <a:p>
            <a:r>
              <a:t>- Arrows show Q1-to-Q2 direction — a rep with a red score but an upward arrow is improving; a green score with a downward arrow is a warning.</a:t>
            </a:r>
          </a:p>
          <a:p>
            <a:r>
              <a:t>- All numbers are pace-adjusted for the 42 days elapsed so far in Q2, so you're comparing apples to apples.</a:t>
            </a:r>
          </a:p>
          <a:p>
            <a:r>
              <a:t>- Any rep who is red on both Activity and Subs YOY at the same time is the highest coaching priority.</a:t>
            </a:r>
          </a:p>
          <a:p/>
          <a:p>
            <a:r>
              <a:t>SCORING GUIDE</a:t>
            </a:r>
          </a:p>
          <a:p>
            <a:r>
              <a:t>- OKR 1 (Subs YOY): goal is +100% over last year. Score is 0-100 based on how close they are.</a:t>
            </a:r>
          </a:p>
          <a:p>
            <a:r>
              <a:t>- OKR 2 (Activity): goal is 40 calls + meetings per week. Score is % of weeks at goal.</a:t>
            </a:r>
          </a:p>
          <a:p>
            <a:r>
              <a:t>- OKR 3 (Portfolio Active): goal is 100% of assigned agencies submitting. Active = any 2026 submission on the agency from any source. Score is active agencies / total portfolio.</a:t>
            </a:r>
          </a:p>
          <a:p>
            <a:r>
              <a:t>- OKR 4 (New Agencies): goal is 4 true new appointments per quarter. Counts NNA-pipeline Activated-Won deals whose name starts with "Appointed - " (excludes "Already appointed", "No deal received", "Duplicate", and pending paperwork tags).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Same layout as the BDM matrix but scoped to BDAs, who have different goals reflecting their development stage.</a:t>
            </a:r>
          </a:p>
          <a:p/>
          <a:p>
            <a:r>
              <a:t>WHAT TO LOOK FOR</a:t>
            </a:r>
          </a:p>
          <a:p>
            <a:r>
              <a:t>- BDA goals are lower than BDM goals by design: Subs +50% YOY (vs +100%), Activity 50 acts/wk (vs 40), Portfolio 70% active (vs 100%). Green/Amber/Red thresholds are calibrated accordingly.</a:t>
            </a:r>
          </a:p>
          <a:p>
            <a:r>
              <a:t>- BDAs do not have an OKR 4 (new agencies) — their composite is based on three OKRs only.</a:t>
            </a:r>
          </a:p>
          <a:p>
            <a:r>
              <a:t>- Arrows show Q1-to-Q2 trend — early Q2 momentum matters most for newer reps.</a:t>
            </a:r>
          </a:p>
          <a:p>
            <a:r>
              <a:t>- Any BDA who is red on Activity in Q2 is the most urgent coaching conversation, since activity volume is the foundation everything else builds on.</a:t>
            </a:r>
          </a:p>
          <a:p>
            <a:r>
              <a:t>- Note: Some BDAs' Q2 accountability started mid-April — gray cells indicate weeks before their quota start date.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is the completed Q1 scorecard for BDMs — the definitive, final result for January through March 2026 with no adjustments needed.</a:t>
            </a:r>
          </a:p>
          <a:p/>
          <a:p>
            <a:r>
              <a:t>WHAT TO LOOK FOR</a:t>
            </a:r>
          </a:p>
          <a:p>
            <a:r>
              <a:t>- These are locked final scores — use this as the baseline when discussing Q2 progress on the live matrix slide.</a:t>
            </a:r>
          </a:p>
          <a:p>
            <a:r>
              <a:t>- Any BDM who finished Q1 in red on multiple OKRs is likely still carrying that deficit into Q2.</a:t>
            </a:r>
          </a:p>
          <a:p>
            <a:r>
              <a:t>- Compare individual Q1 scores to the Q2 matrix to identify who is improving and who is sliding.</a:t>
            </a:r>
          </a:p>
          <a:p>
            <a:r>
              <a:t>- OKR 4 (new agencies) is especially important here — reps who missed Q1 need to catch up, not just keep pace.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is the completed Q1 scorecard for BDAs — the definitive, final result for January through March 2026.</a:t>
            </a:r>
          </a:p>
          <a:p/>
          <a:p>
            <a:r>
              <a:t>WHAT TO LOOK FOR</a:t>
            </a:r>
          </a:p>
          <a:p>
            <a:r>
              <a:t>- BDA Q1 final scores show who started Q2 from a position of strength versus who is playing catch-up.</a:t>
            </a:r>
          </a:p>
          <a:p>
            <a:r>
              <a:t>- BDA goals: Subs +50% YOY, Activity 50 acts/wk, Portfolio 70% active.</a:t>
            </a:r>
          </a:p>
          <a:p>
            <a:r>
              <a:t>- Use this alongside the live Q2 BDA matrix to discuss trajectory — is each BDA tracking better or worse than where they finished Q1?</a:t>
            </a:r>
          </a:p>
          <a:p>
            <a:r>
              <a:t>- BDAs who were consistently red in Q1 and have not shown improvement early in Q2 need a structured development plan, not just a coaching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slide gives a one-row-per-rep narrative summary so you can talk through each person's Q2 story without flipping between other slides.</a:t>
            </a:r>
          </a:p>
          <a:p/>
          <a:p>
            <a:r>
              <a:t>WHAT TO LOOK FOR</a:t>
            </a:r>
          </a:p>
          <a:p>
            <a:r>
              <a:t>- Reps are sorted by composite OKR score — highest performers at the top.</a:t>
            </a:r>
          </a:p>
          <a:p>
            <a:r>
              <a:t>- Each rep's row has three bullet points covering their biggest strength, their biggest gap, and a specific action item.</a:t>
            </a:r>
          </a:p>
          <a:p>
            <a:r>
              <a:t>- Green badge = on target across all OKRs. Amber = at risk on at least one. Red = behind on two or more.</a:t>
            </a:r>
          </a:p>
          <a:p>
            <a:r>
              <a:t>- Pay close attention to any rep where Activity is falling AND Subs YOY is also declining — that's a compounding problem.</a:t>
            </a:r>
          </a:p>
          <a:p>
            <a:r>
              <a:t>- The header bar shows the team's overall Q2 GWP gap: how much revenue per week the team needs to close to hit the quarterly goal.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slide tracks the team's most important growth metric — how many brand-new agencies each BDM has brought into production this quarter.</a:t>
            </a:r>
          </a:p>
          <a:p/>
          <a:p>
            <a:r>
              <a:t>WHAT TO LOOK FOR</a:t>
            </a:r>
          </a:p>
          <a:p>
            <a:r>
              <a:t>- Goal is 4 new activated agencies per BDM per quarter (20 team total). This is the pipeline for future GWP.</a:t>
            </a:r>
          </a:p>
          <a:p>
            <a:r>
              <a:t>- Green = at or above goal. Amber = 2-3 agencies (partial progress). Red = 0-1, which is a red flag at any point in the quarter.</a:t>
            </a:r>
          </a:p>
          <a:p>
            <a:r>
              <a:t>- The agency names listed under each rep are the new accounts — these are conversation starters for the meeting ("who is Derek's new agency? How did that come together?").</a:t>
            </a:r>
          </a:p>
          <a:p>
            <a:r>
              <a:t>- We are 42 days into a 91-day quarter. A rep with 0 new agencies by day 30+ needs a pipeline review.</a:t>
            </a:r>
          </a:p>
          <a:p>
            <a:r>
              <a:t>- Q1 final reference is in the Appendix — compare Q1 actuals to Q2 progress to spot reps who are improving vs. repeating a miss.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Appendix reference showing the final Q1 2026 new agency count per BDM — a completed quarter with no pace adjustments.</a:t>
            </a:r>
          </a:p>
          <a:p/>
          <a:p>
            <a:r>
              <a:t>WHAT TO LOOK FOR</a:t>
            </a:r>
          </a:p>
          <a:p>
            <a:r>
              <a:t>- Use this to benchmark Q2 progress: if a BDM got 3 new agencies in Q1, are they on pace for 4 in Q2?</a:t>
            </a:r>
          </a:p>
          <a:p>
            <a:r>
              <a:t>- Reps who hit the goal in Q1 (green) should be asked what worked. Reps who missed (red) need a different approach in Q2.</a:t>
            </a:r>
          </a:p>
          <a:p>
            <a:r>
              <a:t>- Agency names listed are the actual new partners brought in during Q1 — useful for tracking which relationships are maturing into Q2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slide shows week-by-week activity discipline for BDMs — the single most controllable input to revenue performance.</a:t>
            </a:r>
          </a:p>
          <a:p/>
          <a:p>
            <a:r>
              <a:t>WHAT TO LOOK FOR</a:t>
            </a:r>
          </a:p>
          <a:p>
            <a:r>
              <a:t>- Goal is 40 calls and meetings combined per week, per BDM. Emails do not count.</a:t>
            </a:r>
          </a:p>
          <a:p>
            <a:r>
              <a:t>- Color per cell: Green = at or above 40. Amber = 30-39 (75-99% of goal). Red = below 30. Gray = zero activity logged.</a:t>
            </a:r>
          </a:p>
          <a:p>
            <a:r>
              <a:t>- Look for consecutive red or gray weeks — that's a pattern, not a one-off, and needs a direct conversation.</a:t>
            </a:r>
          </a:p>
          <a:p>
            <a:r>
              <a:t>- The Avg % column on the right is the most important number: it tells you each rep's Q2 compliance rate at a glance.</a:t>
            </a:r>
          </a:p>
          <a:p>
            <a:r>
              <a:t>- A rep with a high Avg % is building pipeline. A rep with a low Avg % is not, regardless of what their GWP looks like right now.</a:t>
            </a:r>
          </a:p>
          <a:p>
            <a:r>
              <a:t>- BDA Activity Dashboard is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Same activity heatmap as the BDM slide but for BDAs, who have a higher weekly goal reflecting their outbound-focused role.</a:t>
            </a:r>
          </a:p>
          <a:p/>
          <a:p>
            <a:r>
              <a:t>WHAT TO LOOK FOR</a:t>
            </a:r>
          </a:p>
          <a:p>
            <a:r>
              <a:t>- BDA goal is 50 calls and meetings per week. Green = at or above 50. Amber = 37-49. Red = below 37. Gray = zero.</a:t>
            </a:r>
          </a:p>
          <a:p>
            <a:r>
              <a:t>- Some BDAs have gray cells in early April — that is expected, as their Q2 accountability started the week of April 20.</a:t>
            </a:r>
          </a:p>
          <a:p>
            <a:r>
              <a:t>- BDAs who are consistently amber or red in their first full weeks of accountability need immediate attention — early habits set the trajectory for the quarter.</a:t>
            </a:r>
          </a:p>
          <a:p>
            <a:r>
              <a:t>- The summary table below the heatmap shows total calls, meetings, and overall % to goal for each BDA.</a:t>
            </a:r>
          </a:p>
          <a:p>
            <a:r>
              <a:t>- BDM Activity Dashboard is on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Appendix reference showing the completed Q1 activity record for all reps — useful context when discussing whether Q2 activity levels represent improvement or regression.</a:t>
            </a:r>
          </a:p>
          <a:p/>
          <a:p>
            <a:r>
              <a:t>WHAT TO LOOK FOR</a:t>
            </a:r>
          </a:p>
          <a:p>
            <a:r>
              <a:t>- These are final, closed-quarter numbers — no pace adjustment. What you see is what happened in Q1.</a:t>
            </a:r>
          </a:p>
          <a:p>
            <a:r>
              <a:t>- Compare any rep's Q1 Avg % to their current Q2 Avg % to determine if their discipline is improving.</a:t>
            </a:r>
          </a:p>
          <a:p>
            <a:r>
              <a:t>- Reps who were green all quarter in Q1 set a high bar — are they sustaining that in Q2?</a:t>
            </a:r>
          </a:p>
          <a:p>
            <a:r>
              <a:t>- Reps who were frequently red in Q1 and are starting Q2 the same way have a behavioral pattern, not just a bad week.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slide answers one question: how well is each rep actually working their assigned book? An agency that is assigned but not submitting is a missed opportunity — this slide quantifies that gap in dollars.</a:t>
            </a:r>
          </a:p>
          <a:p/>
          <a:p>
            <a:r>
              <a:t>WHAT TO LOOK FOR</a:t>
            </a:r>
          </a:p>
          <a:p>
            <a:r>
              <a:t>- Eng. % (Engagement): this is the most important column. Green = 75%+ of assigned agencies actively submitting. Amber = 50-74%. Red = below 50%. A rep with low engagement has dormant relationships that should be producing revenue.</a:t>
            </a:r>
          </a:p>
          <a:p>
            <a:r>
              <a:t>- Dormant count: agencies assigned to this rep that have NOT submitted any quotes in Q1 2026. These are the engagement gaps to close.</a:t>
            </a:r>
          </a:p>
          <a:p>
            <a:r>
              <a:t>- No Q2 Contact: agencies in the rep's portfolio with no HubSpot activity logged since Apr 1. Red = any uncontacted accounts exist — these are the first outreach targets.</a:t>
            </a:r>
          </a:p>
          <a:p>
            <a:r>
              <a:t>- Unassigned row at the bottom: submissions coming from agencies with no rep owner. That is revenue with nobody managing it — those agencies need to be assigned.</a:t>
            </a:r>
          </a:p>
          <a:p>
            <a:r>
              <a:t>- Compare each rep's active count to their total portfolio to find the biggest engagement gaps.</a:t>
            </a:r>
          </a:p>
          <a:p/>
          <a:p>
            <a:r>
              <a:t>COLUMN GUIDE</a:t>
            </a:r>
          </a:p>
          <a:p>
            <a:r>
              <a:t>- Portfolio: total agencies assigned to this rep.</a:t>
            </a:r>
          </a:p>
          <a:p>
            <a:r>
              <a:t>- Active: submitted at least once in Q1 2026.</a:t>
            </a:r>
          </a:p>
          <a:p>
            <a:r>
              <a:t>- Dormant: assigned to this rep but have NOT submitted any quotes in Q1 2026 — regardless of prior year history.</a:t>
            </a:r>
          </a:p>
          <a:p>
            <a:r>
              <a:t>- Eng. %: Active divided by Portfolio.</a:t>
            </a:r>
          </a:p>
          <a:p>
            <a:r>
              <a:t>- Q1 GWP / Q1 Subs / Q1 Binds: Q1 2026 production metrics.</a:t>
            </a:r>
          </a:p>
          <a:p>
            <a:r>
              <a:t>- Q2 Subs / Q2 Binds: submission and bind counts for Q2 2026 to date (since Apr 1). Only includes agencies assigned to this rep — excludes unassigned agencies, which is why the team total is lower than the company-wide figure.</a:t>
            </a:r>
          </a:p>
          <a:p>
            <a:r>
              <a:t>- No Q2 Contact: count of assigned agencies with no HubSpot activity (call, meeting, note, email) recorded since April 1, 2026.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is the automated "so what" slide — it reads all the data and converts it into plain-English findings and recommended actions, so you always have something specific to say in the meeting.</a:t>
            </a:r>
          </a:p>
          <a:p/>
          <a:p>
            <a:r>
              <a:t>WHAT TO LOOK FOR</a:t>
            </a:r>
          </a:p>
          <a:p>
            <a:r>
              <a:t>- Start with the RED rows — those are the issues that need immediate action. Read the Finding column to understand what's happening, then read the Action column to know what to do about it.</a:t>
            </a:r>
          </a:p>
          <a:p>
            <a:r>
              <a:t>- AMBER rows are watch items — not on fire yet, but trending the wrong way. Assign owners and check next week.</a:t>
            </a:r>
          </a:p>
          <a:p>
            <a:r>
              <a:t>- GREEN rows are the wins — worth calling out briefly to reinforce what's working.</a:t>
            </a:r>
          </a:p>
          <a:p>
            <a:r>
              <a:t>- Bottom strip shows the overall scorecard: how many of the 7 key dimensions are green, amber, or red, and how many reps are on track vs. need attention.</a:t>
            </a:r>
          </a:p>
          <a:p/>
          <a:p>
            <a:r>
              <a:t>THE 7 DIMENSIONS (in plain English)</a:t>
            </a:r>
          </a:p>
          <a:p>
            <a:r>
              <a:t>- GWP Growth (YOY): is the team writing more premium than this time last year? Target is +20%. Green = yes, on track. Red = declining.</a:t>
            </a:r>
          </a:p>
          <a:p>
            <a:r>
              <a:t>- Activity Compliance: are reps making their weekly call and meeting targets? The most controllable indicator. Red here is a management action item, not just a data point.</a:t>
            </a:r>
          </a:p>
          <a:p>
            <a:r>
              <a:t>- Submission Hit Ratio: of every quote we submit, how many bind? This is a quality signal — too low means we're submitting bad risks or pricing poorly. Based on Q1 final.</a:t>
            </a:r>
          </a:p>
          <a:p>
            <a:r>
              <a:t>- Submission Growth (YOY): are we sending more quotes than last year? Today's submissions are next quarter's GWP.</a:t>
            </a:r>
          </a:p>
          <a:p>
            <a:r>
              <a:t>- Portfolio Engagement: what % of assigned agencies are actively submitting? Low engagement = untapped book.</a:t>
            </a:r>
          </a:p>
          <a:p>
            <a:r>
              <a:t>- Agency Coverage: are there agencies submitting with no rep assigned? Unowned relationships are revenue at risk.</a:t>
            </a:r>
          </a:p>
          <a:p>
            <a:r>
              <a:t>- Pipeline Coverage: does the team have enough pipeline to hit Q2 goals? Green = 2x+ monthly goal covered.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Q1 final summary by rep — the locked-in baseline used to gauge improvement or regression in Q2.</a:t>
            </a:r>
          </a:p>
          <a:p/>
          <a:p>
            <a:r>
              <a:t>WHAT TO LOOK FOR</a:t>
            </a:r>
          </a:p>
          <a:p>
            <a:r>
              <a:t>- Reps are sorted by Q1 composite score, highest first.</a:t>
            </a:r>
          </a:p>
          <a:p>
            <a:r>
              <a:t>- Use this as the historical reference when discussing Q2 progress.</a:t>
            </a:r>
          </a:p>
          <a:p>
            <a:r>
              <a:t>- Reps with red bullets here on multiple OKRs likely carry that pattern into Q2 unless a behavior change occurred.</a:t>
            </a:r>
          </a:p>
          <a:p>
            <a:r>
              <a:t>- Compare each rep's Q1 row here to their Q2 row earlier in the deck — flat or declining means no improvement; rising means coaching is working.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slide shows how each rep's book of business is structured by agency quality tier, revealing whether reps are over-reliant on a handful of top accounts or have a healthy spread.</a:t>
            </a:r>
          </a:p>
          <a:p/>
          <a:p>
            <a:r>
              <a:t>WHAT TO LOOK FOR</a:t>
            </a:r>
          </a:p>
          <a:p>
            <a:r>
              <a:t>- Top 3 Conc%: if a rep's top three agencies make up more than 60% of their Q1 GWP, that's a concentration risk — losing one of those agencies would significantly hurt their numbers. Red = 60%+, Amber = 40-59%, Green = below 40%.</a:t>
            </a:r>
          </a:p>
          <a:p>
            <a:r>
              <a:t>- Tier 1 count: reps with more Tier 1 agencies have higher-value relationships. Compare Tier 1 counts across the team.</a:t>
            </a:r>
          </a:p>
          <a:p>
            <a:r>
              <a:t>- Untiered count: agencies without a tier assigned haven't been fully onboarded in our system. High untiered numbers mean incomplete account data.</a:t>
            </a:r>
          </a:p>
          <a:p>
            <a:r>
              <a:t>- Top Agency and Top Agency GWP: the single biggest account for each rep — useful to know going into any rep conversation.</a:t>
            </a:r>
          </a:p>
          <a:p/>
          <a:p>
            <a:r>
              <a:t>COLUMN GUIDE</a:t>
            </a:r>
          </a:p>
          <a:p>
            <a:r>
              <a:t>- Tier 1-5: count of agencies at each quality tier (1 = highest value, 5 = lowest).</a:t>
            </a:r>
          </a:p>
          <a:p>
            <a:r>
              <a:t>- Untiered: agencies assigned to the rep but not yet classified by tier.</a:t>
            </a:r>
          </a:p>
          <a:p>
            <a:r>
              <a:t>- Total: total agencies in the rep's portfolio.</a:t>
            </a:r>
          </a:p>
          <a:p>
            <a:r>
              <a:t>- Top 3 Conc%: percentage of the rep's Q1 GWP coming from their top three agencies.</a:t>
            </a:r>
          </a:p>
          <a:p>
            <a:r>
              <a:t>- Top Agency / Top Agency GWP: the single agency generating the most Q1 revenue for that rep.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slide answers "where are we headed?" — showing GWP trajectory by rep, how far each BDM is from their Q2 goal, and how the BDA-to-BDM pipeline is converting.</a:t>
            </a:r>
          </a:p>
          <a:p/>
          <a:p>
            <a:r>
              <a:t>WHAT TO LOOK FOR</a:t>
            </a:r>
          </a:p>
          <a:p>
            <a:r>
              <a:t>- 6-Month GWP Trend (top chart): look for reps whose lines are flattening or declining over the past two months — that's a warning before it shows up in the quarterly number. An upward slope means momentum.</a:t>
            </a:r>
          </a:p>
          <a:p>
            <a:r>
              <a:t>- Q2 Goal Gap table: the Gap column shows exactly how much revenue each rep still needs to write to hit their Q2 goal. Projected Q2 column shows where they're likely to land if current pace holds.</a:t>
            </a:r>
          </a:p>
          <a:p>
            <a:r>
              <a:t>- BDA-to-BDM Pipeline (bottom section): this shows agencies that a BDA has onboarded and a BDM now manages. Active = already generating Q2 revenue. Warm = produced in Q1 but quiet so far in Q2. Developing = no revenue yet. "Warm" agencies are the nearest-term opportunity.</a:t>
            </a:r>
          </a:p>
          <a:p>
            <a:r>
              <a:t>- Any rep with a large Gap and a flat or declining trend line needs a specific plan, not just encouragement.</a:t>
            </a:r>
          </a:p>
          <a:p/>
          <a:p>
            <a:r>
              <a:t>COLUMN GUIDE (Q2 Goal Gap table)</a:t>
            </a:r>
          </a:p>
          <a:p>
            <a:r>
              <a:t>- Q2 Full Goal: the rep's full-quarter revenue target.</a:t>
            </a:r>
          </a:p>
          <a:p>
            <a:r>
              <a:t>- Q2 YTD: actual GWP written in Q2 so far.</a:t>
            </a:r>
          </a:p>
          <a:p>
            <a:r>
              <a:t>- Gap: how much more revenue is needed to hit the goal.</a:t>
            </a:r>
          </a:p>
          <a:p>
            <a:r>
              <a:t>- Proj. Q2: pace-adjusted projection for where they will finish if current rate holds.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This is the efficiency deep-dive — it shows not just whether reps are active, but whether their activity is converting into revenue. Use this slide to identify who is working smart vs. who is working hard without results.</a:t>
            </a:r>
          </a:p>
          <a:p/>
          <a:p>
            <a:r>
              <a:t>WHAT TO LOOK FOR</a:t>
            </a:r>
          </a:p>
          <a:p>
            <a:r>
              <a:t>- Acts per Bind: how many calls and meetings does it take for each rep to write one policy? A very high number means lots of effort with low conversion — the issue might be prospect quality, not effort.</a:t>
            </a:r>
          </a:p>
          <a:p>
            <a:r>
              <a:t>- GWP per Activity: how many dollars of premium does each touch generate on average? Higher is better. Compare reps in the same role.</a:t>
            </a:r>
          </a:p>
          <a:p>
            <a:r>
              <a:t>- Signal quadrant (Section 2 right side): the most actionable column on this slide.</a:t>
            </a:r>
          </a:p>
          <a:p>
            <a:r>
              <a:t>  - "Converting" = high activity AND strong GWP growth. This rep is doing everything right.</a:t>
            </a:r>
          </a:p>
          <a:p>
            <a:r>
              <a:t>  - "Qual Gap" = high activity but GWP declining. They're making the calls but something is wrong with what they're pitching or who they're calling.</a:t>
            </a:r>
          </a:p>
          <a:p>
            <a:r>
              <a:t>  - "Efficient" = lower activity but GWP is growing. Lucky or smart — worth understanding why.</a:t>
            </a:r>
          </a:p>
          <a:p>
            <a:r>
              <a:t>  - "At Risk" = low activity AND declining GWP. This is the urgent intervention category.</a:t>
            </a:r>
          </a:p>
          <a:p>
            <a:r>
              <a:t>- Auto-generated insight boxes at the bottom surface the three most important data-driven callouts for the week.</a:t>
            </a:r>
          </a:p>
          <a:p/>
          <a:p>
            <a:r>
              <a:t>COLUMN GUIDE (Section 1 — Conversion Funnel)</a:t>
            </a:r>
          </a:p>
          <a:p>
            <a:r>
              <a:t>- Q2 Comp%: percentage of Q2 weeks the rep hit their activity goal.</a:t>
            </a:r>
          </a:p>
          <a:p>
            <a:r>
              <a:t>- Acts/Wk: average weekly activities (calls + meetings) in Q2.</a:t>
            </a:r>
          </a:p>
          <a:p>
            <a:r>
              <a:t>- Q2 Subs / Q2 Binds: total quotes submitted and policies bound in Q2.</a:t>
            </a:r>
          </a:p>
          <a:p>
            <a:r>
              <a:t>- Bind Rate: binds divided by submissions — what percentage of quotes result in a policy.</a:t>
            </a:r>
          </a:p>
          <a:p>
            <a:r>
              <a:t>- Avg GWP/Bind: average premium per policy written.</a:t>
            </a:r>
          </a:p>
          <a:p>
            <a:r>
              <a:t>- Acts per Bind: total activities divided by total binds — the "cost" in touches to write a policy.</a:t>
            </a:r>
          </a:p>
          <a:p>
            <a:r>
              <a:t>- GWP per Activity: total Q2 GWP divided by total activities — revenue generated per touch.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Growth Team Sales Dashboard — Q2 2026</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YTD  |  Apr 1 – May 12, 2026  |  Generated May 12, 2026  |  Source: HubSpot + Metabase</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Rounded Rectangle 5"/>
          <p:cNvSpPr/>
          <p:nvPr/>
        </p:nvSpPr>
        <p:spPr>
          <a:xfrm>
            <a:off x="457200" y="1572768"/>
            <a:ext cx="2743200" cy="164592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664208"/>
            <a:ext cx="2596896" cy="594360"/>
          </a:xfrm>
          <a:prstGeom prst="rect">
            <a:avLst/>
          </a:prstGeom>
          <a:noFill/>
        </p:spPr>
        <p:txBody>
          <a:bodyPr wrap="square">
            <a:spAutoFit/>
          </a:bodyPr>
          <a:lstStyle/>
          <a:p>
            <a:pPr algn="ctr">
              <a:defRPr sz="2600" b="1">
                <a:solidFill>
                  <a:srgbClr val="111827"/>
                </a:solidFill>
                <a:latin typeface="Calibri"/>
              </a:defRPr>
            </a:pPr>
            <a:r>
              <a:t>$31.8M</a:t>
            </a:r>
          </a:p>
        </p:txBody>
      </p:sp>
      <p:sp>
        <p:nvSpPr>
          <p:cNvPr id="8" name="TextBox 7"/>
          <p:cNvSpPr txBox="1"/>
          <p:nvPr/>
        </p:nvSpPr>
        <p:spPr>
          <a:xfrm>
            <a:off x="530352" y="2286000"/>
            <a:ext cx="2596896" cy="274320"/>
          </a:xfrm>
          <a:prstGeom prst="rect">
            <a:avLst/>
          </a:prstGeom>
          <a:noFill/>
        </p:spPr>
        <p:txBody>
          <a:bodyPr wrap="square">
            <a:spAutoFit/>
          </a:bodyPr>
          <a:lstStyle/>
          <a:p>
            <a:pPr algn="ctr">
              <a:defRPr sz="950" b="0">
                <a:solidFill>
                  <a:srgbClr val="6B7280"/>
                </a:solidFill>
                <a:latin typeface="Calibri"/>
              </a:defRPr>
            </a:pPr>
            <a:r>
              <a:t>Team GWP Q2 YTD  |  Proj. $68.8M</a:t>
            </a:r>
          </a:p>
        </p:txBody>
      </p:sp>
      <p:sp>
        <p:nvSpPr>
          <p:cNvPr id="9" name="Rectangle 8"/>
          <p:cNvSpPr/>
          <p:nvPr/>
        </p:nvSpPr>
        <p:spPr>
          <a:xfrm>
            <a:off x="685800" y="2651760"/>
            <a:ext cx="2286000" cy="2926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670048"/>
            <a:ext cx="2286000" cy="256032"/>
          </a:xfrm>
          <a:prstGeom prst="rect">
            <a:avLst/>
          </a:prstGeom>
          <a:noFill/>
        </p:spPr>
        <p:txBody>
          <a:bodyPr wrap="square">
            <a:spAutoFit/>
          </a:bodyPr>
          <a:lstStyle/>
          <a:p>
            <a:pPr algn="ctr">
              <a:defRPr sz="950" b="1">
                <a:solidFill>
                  <a:srgbClr val="FFFFFF"/>
                </a:solidFill>
                <a:latin typeface="Calibri"/>
              </a:defRPr>
            </a:pPr>
            <a:r>
              <a:t>Pacing 113% of Q1 Final</a:t>
            </a:r>
          </a:p>
        </p:txBody>
      </p:sp>
      <p:sp>
        <p:nvSpPr>
          <p:cNvPr id="11" name="Rounded Rectangle 10"/>
          <p:cNvSpPr/>
          <p:nvPr/>
        </p:nvSpPr>
        <p:spPr>
          <a:xfrm>
            <a:off x="3301898" y="1572768"/>
            <a:ext cx="2743200" cy="164592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75050" y="1664208"/>
            <a:ext cx="2596896" cy="594360"/>
          </a:xfrm>
          <a:prstGeom prst="rect">
            <a:avLst/>
          </a:prstGeom>
          <a:noFill/>
        </p:spPr>
        <p:txBody>
          <a:bodyPr wrap="square">
            <a:spAutoFit/>
          </a:bodyPr>
          <a:lstStyle/>
          <a:p>
            <a:pPr algn="ctr">
              <a:defRPr sz="2600" b="1">
                <a:solidFill>
                  <a:srgbClr val="111827"/>
                </a:solidFill>
                <a:latin typeface="Calibri"/>
              </a:defRPr>
            </a:pPr>
            <a:r>
              <a:t>77%</a:t>
            </a:r>
          </a:p>
        </p:txBody>
      </p:sp>
      <p:sp>
        <p:nvSpPr>
          <p:cNvPr id="13" name="TextBox 12"/>
          <p:cNvSpPr txBox="1"/>
          <p:nvPr/>
        </p:nvSpPr>
        <p:spPr>
          <a:xfrm>
            <a:off x="3375050" y="2286000"/>
            <a:ext cx="2596896" cy="274320"/>
          </a:xfrm>
          <a:prstGeom prst="rect">
            <a:avLst/>
          </a:prstGeom>
          <a:noFill/>
        </p:spPr>
        <p:txBody>
          <a:bodyPr wrap="square">
            <a:spAutoFit/>
          </a:bodyPr>
          <a:lstStyle/>
          <a:p>
            <a:pPr algn="ctr">
              <a:defRPr sz="950" b="0">
                <a:solidFill>
                  <a:srgbClr val="6B7280"/>
                </a:solidFill>
                <a:latin typeface="Calibri"/>
              </a:defRPr>
            </a:pPr>
            <a:r>
              <a:t>Activity Compliance Q2</a:t>
            </a:r>
          </a:p>
        </p:txBody>
      </p:sp>
      <p:sp>
        <p:nvSpPr>
          <p:cNvPr id="14" name="Rectangle 13"/>
          <p:cNvSpPr/>
          <p:nvPr/>
        </p:nvSpPr>
        <p:spPr>
          <a:xfrm>
            <a:off x="3530498" y="2651760"/>
            <a:ext cx="2286000"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0498" y="2670048"/>
            <a:ext cx="2286000" cy="256032"/>
          </a:xfrm>
          <a:prstGeom prst="rect">
            <a:avLst/>
          </a:prstGeom>
          <a:noFill/>
        </p:spPr>
        <p:txBody>
          <a:bodyPr wrap="square">
            <a:spAutoFit/>
          </a:bodyPr>
          <a:lstStyle/>
          <a:p>
            <a:pPr algn="ctr">
              <a:defRPr sz="950" b="1">
                <a:solidFill>
                  <a:srgbClr val="FFFFFF"/>
                </a:solidFill>
                <a:latin typeface="Calibri"/>
              </a:defRPr>
            </a:pPr>
            <a:r>
              <a:t>AT RISK</a:t>
            </a:r>
          </a:p>
        </p:txBody>
      </p:sp>
      <p:sp>
        <p:nvSpPr>
          <p:cNvPr id="16" name="Rounded Rectangle 15"/>
          <p:cNvSpPr/>
          <p:nvPr/>
        </p:nvSpPr>
        <p:spPr>
          <a:xfrm>
            <a:off x="6146596" y="1572768"/>
            <a:ext cx="2743200" cy="164592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9748" y="1664208"/>
            <a:ext cx="2596896" cy="594360"/>
          </a:xfrm>
          <a:prstGeom prst="rect">
            <a:avLst/>
          </a:prstGeom>
          <a:noFill/>
        </p:spPr>
        <p:txBody>
          <a:bodyPr wrap="square">
            <a:spAutoFit/>
          </a:bodyPr>
          <a:lstStyle/>
          <a:p>
            <a:pPr algn="ctr">
              <a:defRPr sz="2600" b="1">
                <a:solidFill>
                  <a:srgbClr val="111827"/>
                </a:solidFill>
                <a:latin typeface="Calibri"/>
              </a:defRPr>
            </a:pPr>
            <a:r>
              <a:t>23,808</a:t>
            </a:r>
          </a:p>
        </p:txBody>
      </p:sp>
      <p:sp>
        <p:nvSpPr>
          <p:cNvPr id="18" name="TextBox 17"/>
          <p:cNvSpPr txBox="1"/>
          <p:nvPr/>
        </p:nvSpPr>
        <p:spPr>
          <a:xfrm>
            <a:off x="6219748" y="2286000"/>
            <a:ext cx="2596896" cy="274320"/>
          </a:xfrm>
          <a:prstGeom prst="rect">
            <a:avLst/>
          </a:prstGeom>
          <a:noFill/>
        </p:spPr>
        <p:txBody>
          <a:bodyPr wrap="square">
            <a:spAutoFit/>
          </a:bodyPr>
          <a:lstStyle/>
          <a:p>
            <a:pPr algn="ctr">
              <a:defRPr sz="950" b="0">
                <a:solidFill>
                  <a:srgbClr val="6B7280"/>
                </a:solidFill>
                <a:latin typeface="Calibri"/>
              </a:defRPr>
            </a:pPr>
            <a:r>
              <a:t>Submissions Q2 YTD</a:t>
            </a:r>
          </a:p>
        </p:txBody>
      </p:sp>
      <p:sp>
        <p:nvSpPr>
          <p:cNvPr id="19" name="Rectangle 18"/>
          <p:cNvSpPr/>
          <p:nvPr/>
        </p:nvSpPr>
        <p:spPr>
          <a:xfrm>
            <a:off x="6375196" y="2651760"/>
            <a:ext cx="2286000" cy="2926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5196" y="2670048"/>
            <a:ext cx="2286000" cy="256032"/>
          </a:xfrm>
          <a:prstGeom prst="rect">
            <a:avLst/>
          </a:prstGeom>
          <a:noFill/>
        </p:spPr>
        <p:txBody>
          <a:bodyPr wrap="square">
            <a:spAutoFit/>
          </a:bodyPr>
          <a:lstStyle/>
          <a:p>
            <a:pPr algn="ctr">
              <a:defRPr sz="950" b="1">
                <a:solidFill>
                  <a:srgbClr val="FFFFFF"/>
                </a:solidFill>
                <a:latin typeface="Calibri"/>
              </a:defRPr>
            </a:pPr>
            <a:r>
              <a:t>Pacing 112% of Q1 Final</a:t>
            </a:r>
          </a:p>
        </p:txBody>
      </p:sp>
      <p:sp>
        <p:nvSpPr>
          <p:cNvPr id="21" name="Rounded Rectangle 20"/>
          <p:cNvSpPr/>
          <p:nvPr/>
        </p:nvSpPr>
        <p:spPr>
          <a:xfrm>
            <a:off x="8991295" y="1572768"/>
            <a:ext cx="2743200" cy="164592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64447" y="1664208"/>
            <a:ext cx="2596896" cy="594360"/>
          </a:xfrm>
          <a:prstGeom prst="rect">
            <a:avLst/>
          </a:prstGeom>
          <a:noFill/>
        </p:spPr>
        <p:txBody>
          <a:bodyPr wrap="square">
            <a:spAutoFit/>
          </a:bodyPr>
          <a:lstStyle/>
          <a:p>
            <a:pPr algn="ctr">
              <a:defRPr sz="2600" b="1">
                <a:solidFill>
                  <a:srgbClr val="111827"/>
                </a:solidFill>
                <a:latin typeface="Calibri"/>
              </a:defRPr>
            </a:pPr>
            <a:r>
              <a:t>9</a:t>
            </a:r>
          </a:p>
        </p:txBody>
      </p:sp>
      <p:sp>
        <p:nvSpPr>
          <p:cNvPr id="23" name="TextBox 22"/>
          <p:cNvSpPr txBox="1"/>
          <p:nvPr/>
        </p:nvSpPr>
        <p:spPr>
          <a:xfrm>
            <a:off x="9064447" y="2286000"/>
            <a:ext cx="2596896" cy="274320"/>
          </a:xfrm>
          <a:prstGeom prst="rect">
            <a:avLst/>
          </a:prstGeom>
          <a:noFill/>
        </p:spPr>
        <p:txBody>
          <a:bodyPr wrap="square">
            <a:spAutoFit/>
          </a:bodyPr>
          <a:lstStyle/>
          <a:p>
            <a:pPr algn="ctr">
              <a:defRPr sz="950" b="0">
                <a:solidFill>
                  <a:srgbClr val="6B7280"/>
                </a:solidFill>
                <a:latin typeface="Calibri"/>
              </a:defRPr>
            </a:pPr>
            <a:r>
              <a:t>Net New Agencies Appointed</a:t>
            </a:r>
          </a:p>
        </p:txBody>
      </p:sp>
      <p:sp>
        <p:nvSpPr>
          <p:cNvPr id="24" name="Rectangle 23"/>
          <p:cNvSpPr/>
          <p:nvPr/>
        </p:nvSpPr>
        <p:spPr>
          <a:xfrm>
            <a:off x="9219895" y="2651760"/>
            <a:ext cx="2286000" cy="2926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19895" y="2670048"/>
            <a:ext cx="2286000" cy="256032"/>
          </a:xfrm>
          <a:prstGeom prst="rect">
            <a:avLst/>
          </a:prstGeom>
          <a:noFill/>
        </p:spPr>
        <p:txBody>
          <a:bodyPr wrap="square">
            <a:spAutoFit/>
          </a:bodyPr>
          <a:lstStyle/>
          <a:p>
            <a:pPr algn="ctr">
              <a:defRPr sz="950" b="1">
                <a:solidFill>
                  <a:srgbClr val="FFFFFF"/>
                </a:solidFill>
                <a:latin typeface="Calibri"/>
              </a:defRPr>
            </a:pPr>
            <a:r>
              <a:t>38% of Goal  |  9 / 24 target</a:t>
            </a:r>
          </a:p>
        </p:txBody>
      </p:sp>
      <p:sp>
        <p:nvSpPr>
          <p:cNvPr id="26" name="Rectangle 25"/>
          <p:cNvSpPr/>
          <p:nvPr/>
        </p:nvSpPr>
        <p:spPr>
          <a:xfrm>
            <a:off x="457200" y="3310128"/>
            <a:ext cx="11277295" cy="502920"/>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3310128"/>
            <a:ext cx="11277295" cy="18288"/>
          </a:xfrm>
          <a:prstGeom prst="rect">
            <a:avLst/>
          </a:prstGeom>
          <a:solidFill>
            <a:srgbClr val="DDD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 y="3364992"/>
            <a:ext cx="1005840" cy="402336"/>
          </a:xfrm>
          <a:prstGeom prst="rect">
            <a:avLst/>
          </a:prstGeom>
          <a:noFill/>
        </p:spPr>
        <p:txBody>
          <a:bodyPr wrap="square">
            <a:spAutoFit/>
          </a:bodyPr>
          <a:lstStyle/>
          <a:p>
            <a:pPr algn="ctr">
              <a:defRPr sz="850" b="1">
                <a:solidFill>
                  <a:srgbClr val="6D28D9"/>
                </a:solidFill>
                <a:latin typeface="Calibri"/>
              </a:defRPr>
            </a:pPr>
            <a:r>
              <a:t>Q2</a:t>
            </a:r>
            <a:br/>
            <a:r>
              <a:t>MIX</a:t>
            </a:r>
          </a:p>
        </p:txBody>
      </p:sp>
      <p:sp>
        <p:nvSpPr>
          <p:cNvPr id="29" name="Rectangle 28"/>
          <p:cNvSpPr/>
          <p:nvPr/>
        </p:nvSpPr>
        <p:spPr>
          <a:xfrm>
            <a:off x="1508760" y="3383280"/>
            <a:ext cx="18288" cy="356616"/>
          </a:xfrm>
          <a:prstGeom prst="rect">
            <a:avLst/>
          </a:prstGeom>
          <a:solidFill>
            <a:srgbClr val="C4B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08760" y="3346704"/>
            <a:ext cx="3408578" cy="256032"/>
          </a:xfrm>
          <a:prstGeom prst="rect">
            <a:avLst/>
          </a:prstGeom>
          <a:noFill/>
        </p:spPr>
        <p:txBody>
          <a:bodyPr wrap="square">
            <a:spAutoFit/>
          </a:bodyPr>
          <a:lstStyle/>
          <a:p>
            <a:pPr algn="ctr">
              <a:defRPr sz="1300" b="1">
                <a:solidFill>
                  <a:srgbClr val="111827"/>
                </a:solidFill>
                <a:latin typeface="Calibri"/>
              </a:defRPr>
            </a:pPr>
            <a:r>
              <a:t>$20.5M</a:t>
            </a:r>
          </a:p>
        </p:txBody>
      </p:sp>
      <p:sp>
        <p:nvSpPr>
          <p:cNvPr id="31" name="TextBox 30"/>
          <p:cNvSpPr txBox="1"/>
          <p:nvPr/>
        </p:nvSpPr>
        <p:spPr>
          <a:xfrm>
            <a:off x="1508760" y="3602736"/>
            <a:ext cx="3408578" cy="182880"/>
          </a:xfrm>
          <a:prstGeom prst="rect">
            <a:avLst/>
          </a:prstGeom>
          <a:noFill/>
        </p:spPr>
        <p:txBody>
          <a:bodyPr wrap="square">
            <a:spAutoFit/>
          </a:bodyPr>
          <a:lstStyle/>
          <a:p>
            <a:pPr algn="ctr">
              <a:defRPr sz="850" b="0">
                <a:solidFill>
                  <a:srgbClr val="6B7280"/>
                </a:solidFill>
                <a:latin typeface="Calibri"/>
              </a:defRPr>
            </a:pPr>
            <a:r>
              <a:t>New Business (65%)</a:t>
            </a:r>
          </a:p>
        </p:txBody>
      </p:sp>
      <p:sp>
        <p:nvSpPr>
          <p:cNvPr id="32" name="TextBox 31"/>
          <p:cNvSpPr txBox="1"/>
          <p:nvPr/>
        </p:nvSpPr>
        <p:spPr>
          <a:xfrm>
            <a:off x="4917338" y="3346704"/>
            <a:ext cx="3408578" cy="256032"/>
          </a:xfrm>
          <a:prstGeom prst="rect">
            <a:avLst/>
          </a:prstGeom>
          <a:noFill/>
        </p:spPr>
        <p:txBody>
          <a:bodyPr wrap="square">
            <a:spAutoFit/>
          </a:bodyPr>
          <a:lstStyle/>
          <a:p>
            <a:pPr algn="ctr">
              <a:defRPr sz="1300" b="1">
                <a:solidFill>
                  <a:srgbClr val="111827"/>
                </a:solidFill>
                <a:latin typeface="Calibri"/>
              </a:defRPr>
            </a:pPr>
            <a:r>
              <a:t>$6.1M</a:t>
            </a:r>
          </a:p>
        </p:txBody>
      </p:sp>
      <p:sp>
        <p:nvSpPr>
          <p:cNvPr id="33" name="TextBox 32"/>
          <p:cNvSpPr txBox="1"/>
          <p:nvPr/>
        </p:nvSpPr>
        <p:spPr>
          <a:xfrm>
            <a:off x="4917338" y="3602736"/>
            <a:ext cx="3408578" cy="182880"/>
          </a:xfrm>
          <a:prstGeom prst="rect">
            <a:avLst/>
          </a:prstGeom>
          <a:noFill/>
        </p:spPr>
        <p:txBody>
          <a:bodyPr wrap="square">
            <a:spAutoFit/>
          </a:bodyPr>
          <a:lstStyle/>
          <a:p>
            <a:pPr algn="ctr">
              <a:defRPr sz="850" b="0">
                <a:solidFill>
                  <a:srgbClr val="6B7280"/>
                </a:solidFill>
                <a:latin typeface="Calibri"/>
              </a:defRPr>
            </a:pPr>
            <a:r>
              <a:t>Renewals (19%)</a:t>
            </a:r>
          </a:p>
        </p:txBody>
      </p:sp>
      <p:sp>
        <p:nvSpPr>
          <p:cNvPr id="34" name="TextBox 33"/>
          <p:cNvSpPr txBox="1"/>
          <p:nvPr/>
        </p:nvSpPr>
        <p:spPr>
          <a:xfrm>
            <a:off x="8325916" y="3346704"/>
            <a:ext cx="3408578" cy="256032"/>
          </a:xfrm>
          <a:prstGeom prst="rect">
            <a:avLst/>
          </a:prstGeom>
          <a:noFill/>
        </p:spPr>
        <p:txBody>
          <a:bodyPr wrap="square">
            <a:spAutoFit/>
          </a:bodyPr>
          <a:lstStyle/>
          <a:p>
            <a:pPr algn="ctr">
              <a:defRPr sz="1300" b="1">
                <a:solidFill>
                  <a:srgbClr val="111827"/>
                </a:solidFill>
                <a:latin typeface="Calibri"/>
              </a:defRPr>
            </a:pPr>
            <a:r>
              <a:t>$5.2M</a:t>
            </a:r>
          </a:p>
        </p:txBody>
      </p:sp>
      <p:sp>
        <p:nvSpPr>
          <p:cNvPr id="35" name="TextBox 34"/>
          <p:cNvSpPr txBox="1"/>
          <p:nvPr/>
        </p:nvSpPr>
        <p:spPr>
          <a:xfrm>
            <a:off x="8325916" y="3602736"/>
            <a:ext cx="3408578" cy="182880"/>
          </a:xfrm>
          <a:prstGeom prst="rect">
            <a:avLst/>
          </a:prstGeom>
          <a:noFill/>
        </p:spPr>
        <p:txBody>
          <a:bodyPr wrap="square">
            <a:spAutoFit/>
          </a:bodyPr>
          <a:lstStyle/>
          <a:p>
            <a:pPr algn="ctr">
              <a:defRPr sz="850" b="0">
                <a:solidFill>
                  <a:srgbClr val="6B7280"/>
                </a:solidFill>
                <a:latin typeface="Calibri"/>
              </a:defRPr>
            </a:pPr>
            <a:r>
              <a:t>Endorsements (16%)</a:t>
            </a:r>
          </a:p>
        </p:txBody>
      </p:sp>
      <p:sp>
        <p:nvSpPr>
          <p:cNvPr id="36" name="Rectangle 35"/>
          <p:cNvSpPr/>
          <p:nvPr/>
        </p:nvSpPr>
        <p:spPr>
          <a:xfrm>
            <a:off x="457200" y="3886200"/>
            <a:ext cx="11277295" cy="5486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 y="3886200"/>
            <a:ext cx="11277295"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488" y="3959352"/>
            <a:ext cx="1005840" cy="402336"/>
          </a:xfrm>
          <a:prstGeom prst="rect">
            <a:avLst/>
          </a:prstGeom>
          <a:noFill/>
        </p:spPr>
        <p:txBody>
          <a:bodyPr wrap="square">
            <a:spAutoFit/>
          </a:bodyPr>
          <a:lstStyle/>
          <a:p>
            <a:pPr algn="ctr">
              <a:defRPr sz="850" b="1">
                <a:solidFill>
                  <a:srgbClr val="6B7280"/>
                </a:solidFill>
                <a:latin typeface="Calibri"/>
              </a:defRPr>
            </a:pPr>
            <a:r>
              <a:t>Q1</a:t>
            </a:r>
            <a:br/>
            <a:r>
              <a:t>FINAL</a:t>
            </a:r>
          </a:p>
        </p:txBody>
      </p:sp>
      <p:sp>
        <p:nvSpPr>
          <p:cNvPr id="39" name="Rectangle 38"/>
          <p:cNvSpPr/>
          <p:nvPr/>
        </p:nvSpPr>
        <p:spPr>
          <a:xfrm>
            <a:off x="1508760" y="3959352"/>
            <a:ext cx="18288" cy="402335"/>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922776"/>
            <a:ext cx="2743200" cy="274320"/>
          </a:xfrm>
          <a:prstGeom prst="rect">
            <a:avLst/>
          </a:prstGeom>
          <a:noFill/>
        </p:spPr>
        <p:txBody>
          <a:bodyPr wrap="square">
            <a:spAutoFit/>
          </a:bodyPr>
          <a:lstStyle/>
          <a:p>
            <a:pPr algn="ctr">
              <a:defRPr sz="1300" b="1">
                <a:solidFill>
                  <a:srgbClr val="111827"/>
                </a:solidFill>
                <a:latin typeface="Calibri"/>
              </a:defRPr>
            </a:pPr>
            <a:r>
              <a:t>$60.7M</a:t>
            </a:r>
          </a:p>
        </p:txBody>
      </p:sp>
      <p:sp>
        <p:nvSpPr>
          <p:cNvPr id="41" name="TextBox 40"/>
          <p:cNvSpPr txBox="1"/>
          <p:nvPr/>
        </p:nvSpPr>
        <p:spPr>
          <a:xfrm>
            <a:off x="457200" y="4197096"/>
            <a:ext cx="2743200" cy="182880"/>
          </a:xfrm>
          <a:prstGeom prst="rect">
            <a:avLst/>
          </a:prstGeom>
          <a:noFill/>
        </p:spPr>
        <p:txBody>
          <a:bodyPr wrap="square">
            <a:spAutoFit/>
          </a:bodyPr>
          <a:lstStyle/>
          <a:p>
            <a:pPr algn="ctr">
              <a:defRPr sz="850" b="0">
                <a:solidFill>
                  <a:srgbClr val="6B7280"/>
                </a:solidFill>
                <a:latin typeface="Calibri"/>
              </a:defRPr>
            </a:pPr>
            <a:r>
              <a:t>GWP</a:t>
            </a:r>
          </a:p>
        </p:txBody>
      </p:sp>
      <p:sp>
        <p:nvSpPr>
          <p:cNvPr id="42" name="TextBox 41"/>
          <p:cNvSpPr txBox="1"/>
          <p:nvPr/>
        </p:nvSpPr>
        <p:spPr>
          <a:xfrm>
            <a:off x="3301898" y="3922776"/>
            <a:ext cx="2743200" cy="274320"/>
          </a:xfrm>
          <a:prstGeom prst="rect">
            <a:avLst/>
          </a:prstGeom>
          <a:noFill/>
        </p:spPr>
        <p:txBody>
          <a:bodyPr wrap="square">
            <a:spAutoFit/>
          </a:bodyPr>
          <a:lstStyle/>
          <a:p>
            <a:pPr algn="ctr">
              <a:defRPr sz="1300" b="1">
                <a:solidFill>
                  <a:srgbClr val="111827"/>
                </a:solidFill>
                <a:latin typeface="Calibri"/>
              </a:defRPr>
            </a:pPr>
            <a:r>
              <a:t>48%</a:t>
            </a:r>
          </a:p>
        </p:txBody>
      </p:sp>
      <p:sp>
        <p:nvSpPr>
          <p:cNvPr id="43" name="TextBox 42"/>
          <p:cNvSpPr txBox="1"/>
          <p:nvPr/>
        </p:nvSpPr>
        <p:spPr>
          <a:xfrm>
            <a:off x="3301898" y="4197096"/>
            <a:ext cx="2743200" cy="182880"/>
          </a:xfrm>
          <a:prstGeom prst="rect">
            <a:avLst/>
          </a:prstGeom>
          <a:noFill/>
        </p:spPr>
        <p:txBody>
          <a:bodyPr wrap="square">
            <a:spAutoFit/>
          </a:bodyPr>
          <a:lstStyle/>
          <a:p>
            <a:pPr algn="ctr">
              <a:defRPr sz="850" b="0">
                <a:solidFill>
                  <a:srgbClr val="6B7280"/>
                </a:solidFill>
                <a:latin typeface="Calibri"/>
              </a:defRPr>
            </a:pPr>
            <a:r>
              <a:t>Activity</a:t>
            </a:r>
          </a:p>
        </p:txBody>
      </p:sp>
      <p:sp>
        <p:nvSpPr>
          <p:cNvPr id="44" name="TextBox 43"/>
          <p:cNvSpPr txBox="1"/>
          <p:nvPr/>
        </p:nvSpPr>
        <p:spPr>
          <a:xfrm>
            <a:off x="6146596" y="3922776"/>
            <a:ext cx="2743200" cy="274320"/>
          </a:xfrm>
          <a:prstGeom prst="rect">
            <a:avLst/>
          </a:prstGeom>
          <a:noFill/>
        </p:spPr>
        <p:txBody>
          <a:bodyPr wrap="square">
            <a:spAutoFit/>
          </a:bodyPr>
          <a:lstStyle/>
          <a:p>
            <a:pPr algn="ctr">
              <a:defRPr sz="1300" b="1">
                <a:solidFill>
                  <a:srgbClr val="111827"/>
                </a:solidFill>
                <a:latin typeface="Calibri"/>
              </a:defRPr>
            </a:pPr>
            <a:r>
              <a:t>45,952</a:t>
            </a:r>
          </a:p>
        </p:txBody>
      </p:sp>
      <p:sp>
        <p:nvSpPr>
          <p:cNvPr id="45" name="TextBox 44"/>
          <p:cNvSpPr txBox="1"/>
          <p:nvPr/>
        </p:nvSpPr>
        <p:spPr>
          <a:xfrm>
            <a:off x="6146596" y="4197096"/>
            <a:ext cx="2743200" cy="182880"/>
          </a:xfrm>
          <a:prstGeom prst="rect">
            <a:avLst/>
          </a:prstGeom>
          <a:noFill/>
        </p:spPr>
        <p:txBody>
          <a:bodyPr wrap="square">
            <a:spAutoFit/>
          </a:bodyPr>
          <a:lstStyle/>
          <a:p>
            <a:pPr algn="ctr">
              <a:defRPr sz="850" b="0">
                <a:solidFill>
                  <a:srgbClr val="6B7280"/>
                </a:solidFill>
                <a:latin typeface="Calibri"/>
              </a:defRPr>
            </a:pPr>
            <a:r>
              <a:t>Submissions</a:t>
            </a:r>
          </a:p>
        </p:txBody>
      </p:sp>
      <p:sp>
        <p:nvSpPr>
          <p:cNvPr id="46" name="TextBox 45"/>
          <p:cNvSpPr txBox="1"/>
          <p:nvPr/>
        </p:nvSpPr>
        <p:spPr>
          <a:xfrm>
            <a:off x="8991295" y="3922776"/>
            <a:ext cx="2743200" cy="274320"/>
          </a:xfrm>
          <a:prstGeom prst="rect">
            <a:avLst/>
          </a:prstGeom>
          <a:noFill/>
        </p:spPr>
        <p:txBody>
          <a:bodyPr wrap="square">
            <a:spAutoFit/>
          </a:bodyPr>
          <a:lstStyle/>
          <a:p>
            <a:pPr algn="ctr">
              <a:defRPr sz="1300" b="1">
                <a:solidFill>
                  <a:srgbClr val="111827"/>
                </a:solidFill>
                <a:latin typeface="Calibri"/>
              </a:defRPr>
            </a:pPr>
            <a:r>
              <a:t>5</a:t>
            </a:r>
          </a:p>
        </p:txBody>
      </p:sp>
      <p:sp>
        <p:nvSpPr>
          <p:cNvPr id="47" name="TextBox 46"/>
          <p:cNvSpPr txBox="1"/>
          <p:nvPr/>
        </p:nvSpPr>
        <p:spPr>
          <a:xfrm>
            <a:off x="8991295" y="4197096"/>
            <a:ext cx="2743200" cy="182880"/>
          </a:xfrm>
          <a:prstGeom prst="rect">
            <a:avLst/>
          </a:prstGeom>
          <a:noFill/>
        </p:spPr>
        <p:txBody>
          <a:bodyPr wrap="square">
            <a:spAutoFit/>
          </a:bodyPr>
          <a:lstStyle/>
          <a:p>
            <a:pPr algn="ctr">
              <a:defRPr sz="850" b="0">
                <a:solidFill>
                  <a:srgbClr val="6B7280"/>
                </a:solidFill>
                <a:latin typeface="Calibri"/>
              </a:defRPr>
            </a:pPr>
            <a:r>
              <a:t>Agencies Appointed</a:t>
            </a:r>
          </a:p>
        </p:txBody>
      </p:sp>
      <p:sp>
        <p:nvSpPr>
          <p:cNvPr id="48" name="Rectangle 47"/>
          <p:cNvSpPr/>
          <p:nvPr/>
        </p:nvSpPr>
        <p:spPr>
          <a:xfrm>
            <a:off x="457200" y="4599431"/>
            <a:ext cx="11277295" cy="256032"/>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4636007"/>
            <a:ext cx="5303520" cy="182880"/>
          </a:xfrm>
          <a:prstGeom prst="rect">
            <a:avLst/>
          </a:prstGeom>
          <a:noFill/>
        </p:spPr>
        <p:txBody>
          <a:bodyPr wrap="square">
            <a:spAutoFit/>
          </a:bodyPr>
          <a:lstStyle/>
          <a:p>
            <a:pPr algn="l">
              <a:defRPr sz="1000" b="1">
                <a:solidFill>
                  <a:srgbClr val="FFFFFF"/>
                </a:solidFill>
                <a:latin typeface="Calibri"/>
              </a:defRPr>
            </a:pPr>
            <a:r>
              <a:t>TEAM TRENDS  Q1 → Q2</a:t>
            </a:r>
          </a:p>
        </p:txBody>
      </p:sp>
      <p:sp>
        <p:nvSpPr>
          <p:cNvPr id="50" name="TextBox 49"/>
          <p:cNvSpPr txBox="1"/>
          <p:nvPr/>
        </p:nvSpPr>
        <p:spPr>
          <a:xfrm>
            <a:off x="6446520" y="4636007"/>
            <a:ext cx="5303520" cy="182880"/>
          </a:xfrm>
          <a:prstGeom prst="rect">
            <a:avLst/>
          </a:prstGeom>
          <a:noFill/>
        </p:spPr>
        <p:txBody>
          <a:bodyPr wrap="square">
            <a:spAutoFit/>
          </a:bodyPr>
          <a:lstStyle/>
          <a:p>
            <a:pPr algn="l">
              <a:defRPr sz="1000" b="1">
                <a:solidFill>
                  <a:srgbClr val="FFFFFF"/>
                </a:solidFill>
                <a:latin typeface="Calibri"/>
              </a:defRPr>
            </a:pPr>
            <a:r>
              <a:t>REP SPOTLIGHTS</a:t>
            </a:r>
          </a:p>
        </p:txBody>
      </p:sp>
      <p:sp>
        <p:nvSpPr>
          <p:cNvPr id="51" name="Rectangle 50"/>
          <p:cNvSpPr/>
          <p:nvPr/>
        </p:nvSpPr>
        <p:spPr>
          <a:xfrm>
            <a:off x="6309360" y="4599431"/>
            <a:ext cx="13716"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75488" y="5029199"/>
            <a:ext cx="91440" cy="256031"/>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5010912"/>
            <a:ext cx="256032" cy="310896"/>
          </a:xfrm>
          <a:prstGeom prst="rect">
            <a:avLst/>
          </a:prstGeom>
          <a:noFill/>
        </p:spPr>
        <p:txBody>
          <a:bodyPr wrap="square">
            <a:spAutoFit/>
          </a:bodyPr>
          <a:lstStyle/>
          <a:p>
            <a:pPr algn="ctr">
              <a:defRPr sz="1000" b="1">
                <a:solidFill>
                  <a:srgbClr val="059669"/>
                </a:solidFill>
                <a:latin typeface="Calibri"/>
              </a:defRPr>
            </a:pPr>
            <a:r>
              <a:t>▲</a:t>
            </a:r>
          </a:p>
        </p:txBody>
      </p:sp>
      <p:sp>
        <p:nvSpPr>
          <p:cNvPr id="54" name="TextBox 53"/>
          <p:cNvSpPr txBox="1"/>
          <p:nvPr/>
        </p:nvSpPr>
        <p:spPr>
          <a:xfrm>
            <a:off x="868680" y="5065775"/>
            <a:ext cx="5074920" cy="237744"/>
          </a:xfrm>
          <a:prstGeom prst="rect">
            <a:avLst/>
          </a:prstGeom>
          <a:noFill/>
        </p:spPr>
        <p:txBody>
          <a:bodyPr wrap="square">
            <a:spAutoFit/>
          </a:bodyPr>
          <a:lstStyle/>
          <a:p>
            <a:pPr algn="l">
              <a:defRPr sz="1000" b="0">
                <a:solidFill>
                  <a:srgbClr val="111827"/>
                </a:solidFill>
                <a:latin typeface="Calibri"/>
              </a:defRPr>
            </a:pPr>
            <a:r>
              <a:t>GWP pacing 113% of Q1 Final  •  $31.8M YTD  →  projected $68.8M</a:t>
            </a:r>
          </a:p>
        </p:txBody>
      </p:sp>
      <p:sp>
        <p:nvSpPr>
          <p:cNvPr id="55" name="Rectangle 54"/>
          <p:cNvSpPr/>
          <p:nvPr/>
        </p:nvSpPr>
        <p:spPr>
          <a:xfrm>
            <a:off x="475488" y="5413247"/>
            <a:ext cx="91440" cy="256031"/>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94360" y="5394959"/>
            <a:ext cx="256032" cy="310896"/>
          </a:xfrm>
          <a:prstGeom prst="rect">
            <a:avLst/>
          </a:prstGeom>
          <a:noFill/>
        </p:spPr>
        <p:txBody>
          <a:bodyPr wrap="square">
            <a:spAutoFit/>
          </a:bodyPr>
          <a:lstStyle/>
          <a:p>
            <a:pPr algn="ctr">
              <a:defRPr sz="1000" b="1">
                <a:solidFill>
                  <a:srgbClr val="D97706"/>
                </a:solidFill>
                <a:latin typeface="Calibri"/>
              </a:defRPr>
            </a:pPr>
            <a:r>
              <a:t>▼</a:t>
            </a:r>
          </a:p>
        </p:txBody>
      </p:sp>
      <p:sp>
        <p:nvSpPr>
          <p:cNvPr id="57" name="TextBox 56"/>
          <p:cNvSpPr txBox="1"/>
          <p:nvPr/>
        </p:nvSpPr>
        <p:spPr>
          <a:xfrm>
            <a:off x="868680" y="5449823"/>
            <a:ext cx="5074920" cy="237744"/>
          </a:xfrm>
          <a:prstGeom prst="rect">
            <a:avLst/>
          </a:prstGeom>
          <a:noFill/>
        </p:spPr>
        <p:txBody>
          <a:bodyPr wrap="square">
            <a:spAutoFit/>
          </a:bodyPr>
          <a:lstStyle/>
          <a:p>
            <a:pPr algn="l">
              <a:defRPr sz="1000" b="0">
                <a:solidFill>
                  <a:srgbClr val="111827"/>
                </a:solidFill>
                <a:latin typeface="Calibri"/>
              </a:defRPr>
            </a:pPr>
            <a:r>
              <a:t>Q2 Gap: need $5.7M/wk to close $39.6M shortfall  •  current pace $5.3M/wk  •  7 wks remaining</a:t>
            </a:r>
          </a:p>
        </p:txBody>
      </p:sp>
      <p:sp>
        <p:nvSpPr>
          <p:cNvPr id="58" name="Rectangle 57"/>
          <p:cNvSpPr/>
          <p:nvPr/>
        </p:nvSpPr>
        <p:spPr>
          <a:xfrm>
            <a:off x="475488" y="5797295"/>
            <a:ext cx="91440" cy="256031"/>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4360" y="5779007"/>
            <a:ext cx="256032" cy="310896"/>
          </a:xfrm>
          <a:prstGeom prst="rect">
            <a:avLst/>
          </a:prstGeom>
          <a:noFill/>
        </p:spPr>
        <p:txBody>
          <a:bodyPr wrap="square">
            <a:spAutoFit/>
          </a:bodyPr>
          <a:lstStyle/>
          <a:p>
            <a:pPr algn="ctr">
              <a:defRPr sz="1000" b="1">
                <a:solidFill>
                  <a:srgbClr val="D97706"/>
                </a:solidFill>
                <a:latin typeface="Calibri"/>
              </a:defRPr>
            </a:pPr>
            <a:r>
              <a:t>▲</a:t>
            </a:r>
          </a:p>
        </p:txBody>
      </p:sp>
      <p:sp>
        <p:nvSpPr>
          <p:cNvPr id="60" name="TextBox 59"/>
          <p:cNvSpPr txBox="1"/>
          <p:nvPr/>
        </p:nvSpPr>
        <p:spPr>
          <a:xfrm>
            <a:off x="868680" y="5833871"/>
            <a:ext cx="5074920" cy="237744"/>
          </a:xfrm>
          <a:prstGeom prst="rect">
            <a:avLst/>
          </a:prstGeom>
          <a:noFill/>
        </p:spPr>
        <p:txBody>
          <a:bodyPr wrap="square">
            <a:spAutoFit/>
          </a:bodyPr>
          <a:lstStyle/>
          <a:p>
            <a:pPr algn="l">
              <a:defRPr sz="1000" b="0">
                <a:solidFill>
                  <a:srgbClr val="111827"/>
                </a:solidFill>
                <a:latin typeface="Calibri"/>
              </a:defRPr>
            </a:pPr>
            <a:r>
              <a:t>Team activity Q1 48%  →  Q2 77%  (+29pp)</a:t>
            </a:r>
          </a:p>
        </p:txBody>
      </p:sp>
      <p:sp>
        <p:nvSpPr>
          <p:cNvPr id="61" name="Rectangle 60"/>
          <p:cNvSpPr/>
          <p:nvPr/>
        </p:nvSpPr>
        <p:spPr>
          <a:xfrm>
            <a:off x="475488" y="6181343"/>
            <a:ext cx="91440" cy="256031"/>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4360" y="6163055"/>
            <a:ext cx="256032" cy="310896"/>
          </a:xfrm>
          <a:prstGeom prst="rect">
            <a:avLst/>
          </a:prstGeom>
          <a:noFill/>
        </p:spPr>
        <p:txBody>
          <a:bodyPr wrap="square">
            <a:spAutoFit/>
          </a:bodyPr>
          <a:lstStyle/>
          <a:p>
            <a:pPr algn="ctr">
              <a:defRPr sz="1000" b="1">
                <a:solidFill>
                  <a:srgbClr val="059669"/>
                </a:solidFill>
                <a:latin typeface="Calibri"/>
              </a:defRPr>
            </a:pPr>
            <a:r>
              <a:t>▲</a:t>
            </a:r>
          </a:p>
        </p:txBody>
      </p:sp>
      <p:sp>
        <p:nvSpPr>
          <p:cNvPr id="63" name="TextBox 62"/>
          <p:cNvSpPr txBox="1"/>
          <p:nvPr/>
        </p:nvSpPr>
        <p:spPr>
          <a:xfrm>
            <a:off x="868680" y="6217919"/>
            <a:ext cx="5074920" cy="237744"/>
          </a:xfrm>
          <a:prstGeom prst="rect">
            <a:avLst/>
          </a:prstGeom>
          <a:noFill/>
        </p:spPr>
        <p:txBody>
          <a:bodyPr wrap="square">
            <a:spAutoFit/>
          </a:bodyPr>
          <a:lstStyle/>
          <a:p>
            <a:pPr algn="l">
              <a:defRPr sz="1000" b="0">
                <a:solidFill>
                  <a:srgbClr val="111827"/>
                </a:solidFill>
                <a:latin typeface="Calibri"/>
              </a:defRPr>
            </a:pPr>
            <a:r>
              <a:t>Submissions pacing 112% of Q1  •  23,808 YTD  →  projected 51,584</a:t>
            </a:r>
          </a:p>
        </p:txBody>
      </p:sp>
      <p:sp>
        <p:nvSpPr>
          <p:cNvPr id="64" name="Rectangle 63"/>
          <p:cNvSpPr/>
          <p:nvPr/>
        </p:nvSpPr>
        <p:spPr>
          <a:xfrm>
            <a:off x="475488" y="6565391"/>
            <a:ext cx="91440" cy="25603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4360" y="6547103"/>
            <a:ext cx="256032" cy="310896"/>
          </a:xfrm>
          <a:prstGeom prst="rect">
            <a:avLst/>
          </a:prstGeom>
          <a:noFill/>
        </p:spPr>
        <p:txBody>
          <a:bodyPr wrap="square">
            <a:spAutoFit/>
          </a:bodyPr>
          <a:lstStyle/>
          <a:p>
            <a:pPr algn="ctr">
              <a:defRPr sz="1000" b="1">
                <a:solidFill>
                  <a:srgbClr val="DC2626"/>
                </a:solidFill>
                <a:latin typeface="Calibri"/>
              </a:defRPr>
            </a:pPr>
            <a:r>
              <a:t>▲</a:t>
            </a:r>
          </a:p>
        </p:txBody>
      </p:sp>
      <p:sp>
        <p:nvSpPr>
          <p:cNvPr id="66" name="TextBox 65"/>
          <p:cNvSpPr txBox="1"/>
          <p:nvPr/>
        </p:nvSpPr>
        <p:spPr>
          <a:xfrm>
            <a:off x="868680" y="6601967"/>
            <a:ext cx="5074920" cy="237744"/>
          </a:xfrm>
          <a:prstGeom prst="rect">
            <a:avLst/>
          </a:prstGeom>
          <a:noFill/>
        </p:spPr>
        <p:txBody>
          <a:bodyPr wrap="square">
            <a:spAutoFit/>
          </a:bodyPr>
          <a:lstStyle/>
          <a:p>
            <a:pPr algn="l">
              <a:defRPr sz="1000" b="0">
                <a:solidFill>
                  <a:srgbClr val="111827"/>
                </a:solidFill>
                <a:latin typeface="Calibri"/>
              </a:defRPr>
            </a:pPr>
            <a:r>
              <a:t>Net New Agencies  Q1 5  →  Q2 9 YTD  (team goal: 24/quarter)</a:t>
            </a:r>
          </a:p>
        </p:txBody>
      </p:sp>
      <p:sp>
        <p:nvSpPr>
          <p:cNvPr id="67" name="Rectangle 66"/>
          <p:cNvSpPr/>
          <p:nvPr/>
        </p:nvSpPr>
        <p:spPr>
          <a:xfrm>
            <a:off x="6309360" y="4855464"/>
            <a:ext cx="13716" cy="204825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345936" y="5029199"/>
            <a:ext cx="91440" cy="256031"/>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92240" y="5010912"/>
            <a:ext cx="256032" cy="310896"/>
          </a:xfrm>
          <a:prstGeom prst="rect">
            <a:avLst/>
          </a:prstGeom>
          <a:noFill/>
        </p:spPr>
        <p:txBody>
          <a:bodyPr wrap="square">
            <a:spAutoFit/>
          </a:bodyPr>
          <a:lstStyle/>
          <a:p>
            <a:pPr algn="ctr">
              <a:defRPr sz="1000" b="1">
                <a:solidFill>
                  <a:srgbClr val="059669"/>
                </a:solidFill>
                <a:latin typeface="Calibri"/>
              </a:defRPr>
            </a:pPr>
            <a:r>
              <a:t>★</a:t>
            </a:r>
          </a:p>
        </p:txBody>
      </p:sp>
      <p:sp>
        <p:nvSpPr>
          <p:cNvPr id="70" name="TextBox 69"/>
          <p:cNvSpPr txBox="1"/>
          <p:nvPr/>
        </p:nvSpPr>
        <p:spPr>
          <a:xfrm>
            <a:off x="6766560" y="5065775"/>
            <a:ext cx="5166360" cy="237744"/>
          </a:xfrm>
          <a:prstGeom prst="rect">
            <a:avLst/>
          </a:prstGeom>
          <a:noFill/>
        </p:spPr>
        <p:txBody>
          <a:bodyPr wrap="square">
            <a:spAutoFit/>
          </a:bodyPr>
          <a:lstStyle/>
          <a:p>
            <a:pPr algn="l">
              <a:defRPr sz="1000" b="0">
                <a:solidFill>
                  <a:srgbClr val="111827"/>
                </a:solidFill>
                <a:latin typeface="Calibri"/>
              </a:defRPr>
            </a:pPr>
            <a:r>
              <a:t>D.Janssen  —  Q2 GWP leader  $10.3M YTD</a:t>
            </a:r>
          </a:p>
        </p:txBody>
      </p:sp>
      <p:sp>
        <p:nvSpPr>
          <p:cNvPr id="71" name="Rectangle 70"/>
          <p:cNvSpPr/>
          <p:nvPr/>
        </p:nvSpPr>
        <p:spPr>
          <a:xfrm>
            <a:off x="6345936" y="5413247"/>
            <a:ext cx="91440" cy="256031"/>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92240" y="5394959"/>
            <a:ext cx="256032" cy="310896"/>
          </a:xfrm>
          <a:prstGeom prst="rect">
            <a:avLst/>
          </a:prstGeom>
          <a:noFill/>
        </p:spPr>
        <p:txBody>
          <a:bodyPr wrap="square">
            <a:spAutoFit/>
          </a:bodyPr>
          <a:lstStyle/>
          <a:p>
            <a:pPr algn="ctr">
              <a:defRPr sz="1000" b="1">
                <a:solidFill>
                  <a:srgbClr val="059669"/>
                </a:solidFill>
                <a:latin typeface="Calibri"/>
              </a:defRPr>
            </a:pPr>
            <a:r>
              <a:t>★</a:t>
            </a:r>
          </a:p>
        </p:txBody>
      </p:sp>
      <p:sp>
        <p:nvSpPr>
          <p:cNvPr id="73" name="TextBox 72"/>
          <p:cNvSpPr txBox="1"/>
          <p:nvPr/>
        </p:nvSpPr>
        <p:spPr>
          <a:xfrm>
            <a:off x="6766560" y="5449823"/>
            <a:ext cx="5166360" cy="237744"/>
          </a:xfrm>
          <a:prstGeom prst="rect">
            <a:avLst/>
          </a:prstGeom>
          <a:noFill/>
        </p:spPr>
        <p:txBody>
          <a:bodyPr wrap="square">
            <a:spAutoFit/>
          </a:bodyPr>
          <a:lstStyle/>
          <a:p>
            <a:pPr algn="l">
              <a:defRPr sz="1000" b="0">
                <a:solidFill>
                  <a:srgbClr val="111827"/>
                </a:solidFill>
                <a:latin typeface="Calibri"/>
              </a:defRPr>
            </a:pPr>
            <a:r>
              <a:t>D.Janssen  —  Highest activity compliance  160%</a:t>
            </a:r>
          </a:p>
        </p:txBody>
      </p:sp>
      <p:sp>
        <p:nvSpPr>
          <p:cNvPr id="74" name="Rectangle 73"/>
          <p:cNvSpPr/>
          <p:nvPr/>
        </p:nvSpPr>
        <p:spPr>
          <a:xfrm>
            <a:off x="6345936" y="5797295"/>
            <a:ext cx="91440" cy="256031"/>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492240" y="5779007"/>
            <a:ext cx="256032" cy="310896"/>
          </a:xfrm>
          <a:prstGeom prst="rect">
            <a:avLst/>
          </a:prstGeom>
          <a:noFill/>
        </p:spPr>
        <p:txBody>
          <a:bodyPr wrap="square">
            <a:spAutoFit/>
          </a:bodyPr>
          <a:lstStyle/>
          <a:p>
            <a:pPr algn="ctr">
              <a:defRPr sz="1000" b="1">
                <a:solidFill>
                  <a:srgbClr val="059669"/>
                </a:solidFill>
                <a:latin typeface="Calibri"/>
              </a:defRPr>
            </a:pPr>
            <a:r>
              <a:t>▲</a:t>
            </a:r>
          </a:p>
        </p:txBody>
      </p:sp>
      <p:sp>
        <p:nvSpPr>
          <p:cNvPr id="76" name="TextBox 75"/>
          <p:cNvSpPr txBox="1"/>
          <p:nvPr/>
        </p:nvSpPr>
        <p:spPr>
          <a:xfrm>
            <a:off x="6766560" y="5833871"/>
            <a:ext cx="5166360" cy="237744"/>
          </a:xfrm>
          <a:prstGeom prst="rect">
            <a:avLst/>
          </a:prstGeom>
          <a:noFill/>
        </p:spPr>
        <p:txBody>
          <a:bodyPr wrap="square">
            <a:spAutoFit/>
          </a:bodyPr>
          <a:lstStyle/>
          <a:p>
            <a:pPr algn="l">
              <a:defRPr sz="1000" b="0">
                <a:solidFill>
                  <a:srgbClr val="111827"/>
                </a:solidFill>
                <a:latin typeface="Calibri"/>
              </a:defRPr>
            </a:pPr>
            <a:r>
              <a:t>A.Berry-Smith  —  Best Q2 GWP trajectory  +92% YOY (pace-adj)</a:t>
            </a:r>
          </a:p>
        </p:txBody>
      </p:sp>
      <p:sp>
        <p:nvSpPr>
          <p:cNvPr id="77" name="Rectangle 76"/>
          <p:cNvSpPr/>
          <p:nvPr/>
        </p:nvSpPr>
        <p:spPr>
          <a:xfrm>
            <a:off x="6345936" y="6181343"/>
            <a:ext cx="91440" cy="256031"/>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492240" y="6163055"/>
            <a:ext cx="256032" cy="310896"/>
          </a:xfrm>
          <a:prstGeom prst="rect">
            <a:avLst/>
          </a:prstGeom>
          <a:noFill/>
        </p:spPr>
        <p:txBody>
          <a:bodyPr wrap="square">
            <a:spAutoFit/>
          </a:bodyPr>
          <a:lstStyle/>
          <a:p>
            <a:pPr algn="ctr">
              <a:defRPr sz="1000" b="1">
                <a:solidFill>
                  <a:srgbClr val="DC2626"/>
                </a:solidFill>
                <a:latin typeface="Calibri"/>
              </a:defRPr>
            </a:pPr>
            <a:r>
              <a:t>⚠</a:t>
            </a:r>
          </a:p>
        </p:txBody>
      </p:sp>
      <p:sp>
        <p:nvSpPr>
          <p:cNvPr id="79" name="TextBox 78"/>
          <p:cNvSpPr txBox="1"/>
          <p:nvPr/>
        </p:nvSpPr>
        <p:spPr>
          <a:xfrm>
            <a:off x="6766560" y="6217919"/>
            <a:ext cx="5166360" cy="237744"/>
          </a:xfrm>
          <a:prstGeom prst="rect">
            <a:avLst/>
          </a:prstGeom>
          <a:noFill/>
        </p:spPr>
        <p:txBody>
          <a:bodyPr wrap="square">
            <a:spAutoFit/>
          </a:bodyPr>
          <a:lstStyle/>
          <a:p>
            <a:pPr algn="l">
              <a:defRPr sz="1000" b="0">
                <a:solidFill>
                  <a:srgbClr val="111827"/>
                </a:solidFill>
                <a:latin typeface="Calibri"/>
              </a:defRPr>
            </a:pPr>
            <a:r>
              <a:t>A.Berry-Smith  —  Activity at 18%  —  coaching focus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Pace vs Budget — May 2026</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Business days 8/21  |  13 remaining  |  Team monthly budget $23.8M  |  MTD pace 31%</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Rounded Rectangle 5"/>
          <p:cNvSpPr/>
          <p:nvPr/>
        </p:nvSpPr>
        <p:spPr>
          <a:xfrm>
            <a:off x="457200" y="960120"/>
            <a:ext cx="2743200" cy="150876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051560"/>
            <a:ext cx="2596896" cy="502920"/>
          </a:xfrm>
          <a:prstGeom prst="rect">
            <a:avLst/>
          </a:prstGeom>
          <a:noFill/>
        </p:spPr>
        <p:txBody>
          <a:bodyPr wrap="square">
            <a:spAutoFit/>
          </a:bodyPr>
          <a:lstStyle/>
          <a:p>
            <a:pPr algn="ctr">
              <a:defRPr sz="2400" b="1">
                <a:solidFill>
                  <a:srgbClr val="111827"/>
                </a:solidFill>
                <a:latin typeface="Calibri"/>
              </a:defRPr>
            </a:pPr>
            <a:r>
              <a:t>$7.5M</a:t>
            </a:r>
          </a:p>
        </p:txBody>
      </p:sp>
      <p:sp>
        <p:nvSpPr>
          <p:cNvPr id="8" name="TextBox 7"/>
          <p:cNvSpPr txBox="1"/>
          <p:nvPr/>
        </p:nvSpPr>
        <p:spPr>
          <a:xfrm>
            <a:off x="530352" y="1600200"/>
            <a:ext cx="2596896" cy="274320"/>
          </a:xfrm>
          <a:prstGeom prst="rect">
            <a:avLst/>
          </a:prstGeom>
          <a:noFill/>
        </p:spPr>
        <p:txBody>
          <a:bodyPr wrap="square">
            <a:spAutoFit/>
          </a:bodyPr>
          <a:lstStyle/>
          <a:p>
            <a:pPr algn="ctr">
              <a:defRPr sz="950" b="0">
                <a:solidFill>
                  <a:srgbClr val="6B7280"/>
                </a:solidFill>
                <a:latin typeface="Calibri"/>
              </a:defRPr>
            </a:pPr>
            <a:r>
              <a:t>MTD GWP  |  Budget $23.8M</a:t>
            </a:r>
          </a:p>
        </p:txBody>
      </p:sp>
      <p:sp>
        <p:nvSpPr>
          <p:cNvPr id="9" name="Rectangle 8"/>
          <p:cNvSpPr/>
          <p:nvPr/>
        </p:nvSpPr>
        <p:spPr>
          <a:xfrm>
            <a:off x="640080" y="1938528"/>
            <a:ext cx="2377440" cy="274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56816"/>
            <a:ext cx="2377440" cy="237744"/>
          </a:xfrm>
          <a:prstGeom prst="rect">
            <a:avLst/>
          </a:prstGeom>
          <a:noFill/>
        </p:spPr>
        <p:txBody>
          <a:bodyPr wrap="square">
            <a:spAutoFit/>
          </a:bodyPr>
          <a:lstStyle/>
          <a:p>
            <a:pPr algn="ctr">
              <a:defRPr sz="950" b="1">
                <a:solidFill>
                  <a:srgbClr val="FFFFFF"/>
                </a:solidFill>
                <a:latin typeface="Calibri"/>
              </a:defRPr>
            </a:pPr>
            <a:r>
              <a:t>31% of monthly budget</a:t>
            </a:r>
          </a:p>
        </p:txBody>
      </p:sp>
      <p:sp>
        <p:nvSpPr>
          <p:cNvPr id="11" name="TextBox 10"/>
          <p:cNvSpPr txBox="1"/>
          <p:nvPr/>
        </p:nvSpPr>
        <p:spPr>
          <a:xfrm>
            <a:off x="530352" y="2240280"/>
            <a:ext cx="2596896" cy="201168"/>
          </a:xfrm>
          <a:prstGeom prst="rect">
            <a:avLst/>
          </a:prstGeom>
          <a:noFill/>
        </p:spPr>
        <p:txBody>
          <a:bodyPr wrap="square">
            <a:spAutoFit/>
          </a:bodyPr>
          <a:lstStyle/>
          <a:p>
            <a:pPr algn="ctr">
              <a:defRPr sz="850" b="0">
                <a:solidFill>
                  <a:srgbClr val="6B7280"/>
                </a:solidFill>
                <a:latin typeface="Calibri"/>
              </a:defRPr>
            </a:pPr>
            <a:r>
              <a:t>BEHIND</a:t>
            </a:r>
          </a:p>
        </p:txBody>
      </p:sp>
      <p:sp>
        <p:nvSpPr>
          <p:cNvPr id="12" name="Rounded Rectangle 11"/>
          <p:cNvSpPr/>
          <p:nvPr/>
        </p:nvSpPr>
        <p:spPr>
          <a:xfrm>
            <a:off x="3301898" y="960120"/>
            <a:ext cx="2743200" cy="150876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75050" y="1051560"/>
            <a:ext cx="2596896" cy="502920"/>
          </a:xfrm>
          <a:prstGeom prst="rect">
            <a:avLst/>
          </a:prstGeom>
          <a:noFill/>
        </p:spPr>
        <p:txBody>
          <a:bodyPr wrap="square">
            <a:spAutoFit/>
          </a:bodyPr>
          <a:lstStyle/>
          <a:p>
            <a:pPr algn="ctr">
              <a:defRPr sz="2400" b="1">
                <a:solidFill>
                  <a:srgbClr val="111827"/>
                </a:solidFill>
                <a:latin typeface="Calibri"/>
              </a:defRPr>
            </a:pPr>
            <a:r>
              <a:t>$1,256K</a:t>
            </a:r>
          </a:p>
        </p:txBody>
      </p:sp>
      <p:sp>
        <p:nvSpPr>
          <p:cNvPr id="14" name="TextBox 13"/>
          <p:cNvSpPr txBox="1"/>
          <p:nvPr/>
        </p:nvSpPr>
        <p:spPr>
          <a:xfrm>
            <a:off x="3375050" y="1600200"/>
            <a:ext cx="2596896" cy="274320"/>
          </a:xfrm>
          <a:prstGeom prst="rect">
            <a:avLst/>
          </a:prstGeom>
          <a:noFill/>
        </p:spPr>
        <p:txBody>
          <a:bodyPr wrap="square">
            <a:spAutoFit/>
          </a:bodyPr>
          <a:lstStyle/>
          <a:p>
            <a:pPr algn="ctr">
              <a:defRPr sz="950" b="0">
                <a:solidFill>
                  <a:srgbClr val="6B7280"/>
                </a:solidFill>
                <a:latin typeface="Calibri"/>
              </a:defRPr>
            </a:pPr>
            <a:r>
              <a:t>Required Daily Rate  |  Current $931K/day</a:t>
            </a:r>
          </a:p>
        </p:txBody>
      </p:sp>
      <p:sp>
        <p:nvSpPr>
          <p:cNvPr id="15" name="Rectangle 14"/>
          <p:cNvSpPr/>
          <p:nvPr/>
        </p:nvSpPr>
        <p:spPr>
          <a:xfrm>
            <a:off x="3484778" y="1938528"/>
            <a:ext cx="2377440" cy="274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84778" y="1956816"/>
            <a:ext cx="2377440" cy="237744"/>
          </a:xfrm>
          <a:prstGeom prst="rect">
            <a:avLst/>
          </a:prstGeom>
          <a:noFill/>
        </p:spPr>
        <p:txBody>
          <a:bodyPr wrap="square">
            <a:spAutoFit/>
          </a:bodyPr>
          <a:lstStyle/>
          <a:p>
            <a:pPr algn="ctr">
              <a:defRPr sz="950" b="1">
                <a:solidFill>
                  <a:srgbClr val="FFFFFF"/>
                </a:solidFill>
                <a:latin typeface="Calibri"/>
              </a:defRPr>
            </a:pPr>
            <a:r>
              <a:t>▲ $324K/day gap</a:t>
            </a:r>
          </a:p>
        </p:txBody>
      </p:sp>
      <p:sp>
        <p:nvSpPr>
          <p:cNvPr id="17" name="TextBox 16"/>
          <p:cNvSpPr txBox="1"/>
          <p:nvPr/>
        </p:nvSpPr>
        <p:spPr>
          <a:xfrm>
            <a:off x="3375050" y="2240280"/>
            <a:ext cx="2596896" cy="201168"/>
          </a:xfrm>
          <a:prstGeom prst="rect">
            <a:avLst/>
          </a:prstGeom>
          <a:noFill/>
        </p:spPr>
        <p:txBody>
          <a:bodyPr wrap="square">
            <a:spAutoFit/>
          </a:bodyPr>
          <a:lstStyle/>
          <a:p>
            <a:pPr algn="ctr">
              <a:defRPr sz="850" b="0">
                <a:solidFill>
                  <a:srgbClr val="6B7280"/>
                </a:solidFill>
                <a:latin typeface="Calibri"/>
              </a:defRPr>
            </a:pPr>
            <a:r>
              <a:t>to hit $23.8M budget</a:t>
            </a:r>
          </a:p>
        </p:txBody>
      </p:sp>
      <p:sp>
        <p:nvSpPr>
          <p:cNvPr id="18" name="Rounded Rectangle 17"/>
          <p:cNvSpPr/>
          <p:nvPr/>
        </p:nvSpPr>
        <p:spPr>
          <a:xfrm>
            <a:off x="6146596" y="960120"/>
            <a:ext cx="2743200" cy="150876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9748" y="1051560"/>
            <a:ext cx="2596896" cy="502920"/>
          </a:xfrm>
          <a:prstGeom prst="rect">
            <a:avLst/>
          </a:prstGeom>
          <a:noFill/>
        </p:spPr>
        <p:txBody>
          <a:bodyPr wrap="square">
            <a:spAutoFit/>
          </a:bodyPr>
          <a:lstStyle/>
          <a:p>
            <a:pPr algn="ctr">
              <a:defRPr sz="2400" b="1">
                <a:solidFill>
                  <a:srgbClr val="111827"/>
                </a:solidFill>
                <a:latin typeface="Calibri"/>
              </a:defRPr>
            </a:pPr>
            <a:r>
              <a:t>13</a:t>
            </a:r>
          </a:p>
        </p:txBody>
      </p:sp>
      <p:sp>
        <p:nvSpPr>
          <p:cNvPr id="20" name="TextBox 19"/>
          <p:cNvSpPr txBox="1"/>
          <p:nvPr/>
        </p:nvSpPr>
        <p:spPr>
          <a:xfrm>
            <a:off x="6219748" y="1600200"/>
            <a:ext cx="2596896" cy="274320"/>
          </a:xfrm>
          <a:prstGeom prst="rect">
            <a:avLst/>
          </a:prstGeom>
          <a:noFill/>
        </p:spPr>
        <p:txBody>
          <a:bodyPr wrap="square">
            <a:spAutoFit/>
          </a:bodyPr>
          <a:lstStyle/>
          <a:p>
            <a:pPr algn="ctr">
              <a:defRPr sz="950" b="0">
                <a:solidFill>
                  <a:srgbClr val="6B7280"/>
                </a:solidFill>
                <a:latin typeface="Calibri"/>
              </a:defRPr>
            </a:pPr>
            <a:r>
              <a:t>Business Days Remaining</a:t>
            </a:r>
          </a:p>
        </p:txBody>
      </p:sp>
      <p:sp>
        <p:nvSpPr>
          <p:cNvPr id="21" name="Rectangle 20"/>
          <p:cNvSpPr/>
          <p:nvPr/>
        </p:nvSpPr>
        <p:spPr>
          <a:xfrm>
            <a:off x="6329476" y="1938528"/>
            <a:ext cx="2377440" cy="27432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9476" y="1956816"/>
            <a:ext cx="2377440" cy="237744"/>
          </a:xfrm>
          <a:prstGeom prst="rect">
            <a:avLst/>
          </a:prstGeom>
          <a:noFill/>
        </p:spPr>
        <p:txBody>
          <a:bodyPr wrap="square">
            <a:spAutoFit/>
          </a:bodyPr>
          <a:lstStyle/>
          <a:p>
            <a:pPr algn="ctr">
              <a:defRPr sz="950" b="1">
                <a:solidFill>
                  <a:srgbClr val="FFFFFF"/>
                </a:solidFill>
                <a:latin typeface="Calibri"/>
              </a:defRPr>
            </a:pPr>
            <a:r>
              <a:t>8 of 21 elapsed</a:t>
            </a:r>
          </a:p>
        </p:txBody>
      </p:sp>
      <p:sp>
        <p:nvSpPr>
          <p:cNvPr id="23" name="TextBox 22"/>
          <p:cNvSpPr txBox="1"/>
          <p:nvPr/>
        </p:nvSpPr>
        <p:spPr>
          <a:xfrm>
            <a:off x="6219748" y="2240280"/>
            <a:ext cx="2596896" cy="201168"/>
          </a:xfrm>
          <a:prstGeom prst="rect">
            <a:avLst/>
          </a:prstGeom>
          <a:noFill/>
        </p:spPr>
        <p:txBody>
          <a:bodyPr wrap="square">
            <a:spAutoFit/>
          </a:bodyPr>
          <a:lstStyle/>
          <a:p>
            <a:pPr algn="ctr">
              <a:defRPr sz="850" b="0">
                <a:solidFill>
                  <a:srgbClr val="6B7280"/>
                </a:solidFill>
                <a:latin typeface="Calibri"/>
              </a:defRPr>
            </a:pPr>
            <a:r>
              <a:t>thru May 31</a:t>
            </a:r>
          </a:p>
        </p:txBody>
      </p:sp>
      <p:sp>
        <p:nvSpPr>
          <p:cNvPr id="24" name="Rounded Rectangle 23"/>
          <p:cNvSpPr/>
          <p:nvPr/>
        </p:nvSpPr>
        <p:spPr>
          <a:xfrm>
            <a:off x="8991295" y="960120"/>
            <a:ext cx="2743200" cy="1508760"/>
          </a:xfrm>
          <a:prstGeom prst="roundRect">
            <a:avLst/>
          </a:prstGeom>
          <a:solidFill>
            <a:srgbClr val="F9FAFB"/>
          </a:solidFill>
          <a:ln w="9144">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64447" y="1051560"/>
            <a:ext cx="2596896" cy="502920"/>
          </a:xfrm>
          <a:prstGeom prst="rect">
            <a:avLst/>
          </a:prstGeom>
          <a:noFill/>
        </p:spPr>
        <p:txBody>
          <a:bodyPr wrap="square">
            <a:spAutoFit/>
          </a:bodyPr>
          <a:lstStyle/>
          <a:p>
            <a:pPr algn="ctr">
              <a:defRPr sz="2400" b="1">
                <a:solidFill>
                  <a:srgbClr val="111827"/>
                </a:solidFill>
                <a:latin typeface="Calibri"/>
              </a:defRPr>
            </a:pPr>
            <a:r>
              <a:t>$16.3M</a:t>
            </a:r>
          </a:p>
        </p:txBody>
      </p:sp>
      <p:sp>
        <p:nvSpPr>
          <p:cNvPr id="26" name="TextBox 25"/>
          <p:cNvSpPr txBox="1"/>
          <p:nvPr/>
        </p:nvSpPr>
        <p:spPr>
          <a:xfrm>
            <a:off x="9064447" y="1600200"/>
            <a:ext cx="2596896" cy="274320"/>
          </a:xfrm>
          <a:prstGeom prst="rect">
            <a:avLst/>
          </a:prstGeom>
          <a:noFill/>
        </p:spPr>
        <p:txBody>
          <a:bodyPr wrap="square">
            <a:spAutoFit/>
          </a:bodyPr>
          <a:lstStyle/>
          <a:p>
            <a:pPr algn="ctr">
              <a:defRPr sz="950" b="0">
                <a:solidFill>
                  <a:srgbClr val="6B7280"/>
                </a:solidFill>
                <a:latin typeface="Calibri"/>
              </a:defRPr>
            </a:pPr>
            <a:r>
              <a:t>Gap to Monthly Budget</a:t>
            </a:r>
          </a:p>
        </p:txBody>
      </p:sp>
      <p:sp>
        <p:nvSpPr>
          <p:cNvPr id="27" name="Rectangle 26"/>
          <p:cNvSpPr/>
          <p:nvPr/>
        </p:nvSpPr>
        <p:spPr>
          <a:xfrm>
            <a:off x="9174175" y="1938528"/>
            <a:ext cx="2377440" cy="274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74175" y="1956816"/>
            <a:ext cx="2377440" cy="237744"/>
          </a:xfrm>
          <a:prstGeom prst="rect">
            <a:avLst/>
          </a:prstGeom>
          <a:noFill/>
        </p:spPr>
        <p:txBody>
          <a:bodyPr wrap="square">
            <a:spAutoFit/>
          </a:bodyPr>
          <a:lstStyle/>
          <a:p>
            <a:pPr algn="ctr">
              <a:defRPr sz="950" b="1">
                <a:solidFill>
                  <a:srgbClr val="FFFFFF"/>
                </a:solidFill>
                <a:latin typeface="Calibri"/>
              </a:defRPr>
            </a:pPr>
            <a:r>
              <a:t>69% remaining</a:t>
            </a:r>
          </a:p>
        </p:txBody>
      </p:sp>
      <p:sp>
        <p:nvSpPr>
          <p:cNvPr id="29" name="TextBox 28"/>
          <p:cNvSpPr txBox="1"/>
          <p:nvPr/>
        </p:nvSpPr>
        <p:spPr>
          <a:xfrm>
            <a:off x="9064447" y="2240280"/>
            <a:ext cx="2596896" cy="201168"/>
          </a:xfrm>
          <a:prstGeom prst="rect">
            <a:avLst/>
          </a:prstGeom>
          <a:noFill/>
        </p:spPr>
        <p:txBody>
          <a:bodyPr wrap="square">
            <a:spAutoFit/>
          </a:bodyPr>
          <a:lstStyle/>
          <a:p>
            <a:pPr algn="ctr">
              <a:defRPr sz="850" b="0">
                <a:solidFill>
                  <a:srgbClr val="6B7280"/>
                </a:solidFill>
                <a:latin typeface="Calibri"/>
              </a:defRPr>
            </a:pPr>
            <a:r>
              <a:t>projected finish $19.3M</a:t>
            </a:r>
          </a:p>
        </p:txBody>
      </p:sp>
      <p:sp>
        <p:nvSpPr>
          <p:cNvPr id="30" name="Rectangle 29"/>
          <p:cNvSpPr/>
          <p:nvPr/>
        </p:nvSpPr>
        <p:spPr>
          <a:xfrm>
            <a:off x="457200" y="2743200"/>
            <a:ext cx="11277295" cy="292608"/>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2788920"/>
            <a:ext cx="2011680" cy="219456"/>
          </a:xfrm>
          <a:prstGeom prst="rect">
            <a:avLst/>
          </a:prstGeom>
          <a:noFill/>
        </p:spPr>
        <p:txBody>
          <a:bodyPr wrap="square">
            <a:spAutoFit/>
          </a:bodyPr>
          <a:lstStyle/>
          <a:p>
            <a:pPr algn="l">
              <a:defRPr sz="1000" b="1">
                <a:solidFill>
                  <a:srgbClr val="FFFFFF"/>
                </a:solidFill>
                <a:latin typeface="Calibri"/>
              </a:defRPr>
            </a:pPr>
            <a:r>
              <a:t>Rep</a:t>
            </a:r>
          </a:p>
        </p:txBody>
      </p:sp>
      <p:sp>
        <p:nvSpPr>
          <p:cNvPr id="32" name="TextBox 31"/>
          <p:cNvSpPr txBox="1"/>
          <p:nvPr/>
        </p:nvSpPr>
        <p:spPr>
          <a:xfrm>
            <a:off x="2514600" y="2788920"/>
            <a:ext cx="731520" cy="219456"/>
          </a:xfrm>
          <a:prstGeom prst="rect">
            <a:avLst/>
          </a:prstGeom>
          <a:noFill/>
        </p:spPr>
        <p:txBody>
          <a:bodyPr wrap="square">
            <a:spAutoFit/>
          </a:bodyPr>
          <a:lstStyle/>
          <a:p>
            <a:pPr algn="ctr">
              <a:defRPr sz="1000" b="1">
                <a:solidFill>
                  <a:srgbClr val="FFFFFF"/>
                </a:solidFill>
                <a:latin typeface="Calibri"/>
              </a:defRPr>
            </a:pPr>
            <a:r>
              <a:t>Role</a:t>
            </a:r>
          </a:p>
        </p:txBody>
      </p:sp>
      <p:sp>
        <p:nvSpPr>
          <p:cNvPr id="33" name="TextBox 32"/>
          <p:cNvSpPr txBox="1"/>
          <p:nvPr/>
        </p:nvSpPr>
        <p:spPr>
          <a:xfrm>
            <a:off x="3246120" y="2788920"/>
            <a:ext cx="1417320" cy="219456"/>
          </a:xfrm>
          <a:prstGeom prst="rect">
            <a:avLst/>
          </a:prstGeom>
          <a:noFill/>
        </p:spPr>
        <p:txBody>
          <a:bodyPr wrap="square">
            <a:spAutoFit/>
          </a:bodyPr>
          <a:lstStyle/>
          <a:p>
            <a:pPr algn="ctr">
              <a:defRPr sz="1000" b="1">
                <a:solidFill>
                  <a:srgbClr val="FFFFFF"/>
                </a:solidFill>
                <a:latin typeface="Calibri"/>
              </a:defRPr>
            </a:pPr>
            <a:r>
              <a:t>MTD GWP</a:t>
            </a:r>
          </a:p>
        </p:txBody>
      </p:sp>
      <p:sp>
        <p:nvSpPr>
          <p:cNvPr id="34" name="TextBox 33"/>
          <p:cNvSpPr txBox="1"/>
          <p:nvPr/>
        </p:nvSpPr>
        <p:spPr>
          <a:xfrm>
            <a:off x="4663440" y="2788920"/>
            <a:ext cx="1600200" cy="219456"/>
          </a:xfrm>
          <a:prstGeom prst="rect">
            <a:avLst/>
          </a:prstGeom>
          <a:noFill/>
        </p:spPr>
        <p:txBody>
          <a:bodyPr wrap="square">
            <a:spAutoFit/>
          </a:bodyPr>
          <a:lstStyle/>
          <a:p>
            <a:pPr algn="ctr">
              <a:defRPr sz="1000" b="1">
                <a:solidFill>
                  <a:srgbClr val="FFFFFF"/>
                </a:solidFill>
                <a:latin typeface="Calibri"/>
              </a:defRPr>
            </a:pPr>
            <a:r>
              <a:t>Monthly Budget</a:t>
            </a:r>
          </a:p>
        </p:txBody>
      </p:sp>
      <p:sp>
        <p:nvSpPr>
          <p:cNvPr id="35" name="TextBox 34"/>
          <p:cNvSpPr txBox="1"/>
          <p:nvPr/>
        </p:nvSpPr>
        <p:spPr>
          <a:xfrm>
            <a:off x="6263640" y="2788920"/>
            <a:ext cx="1005840" cy="219456"/>
          </a:xfrm>
          <a:prstGeom prst="rect">
            <a:avLst/>
          </a:prstGeom>
          <a:noFill/>
        </p:spPr>
        <p:txBody>
          <a:bodyPr wrap="square">
            <a:spAutoFit/>
          </a:bodyPr>
          <a:lstStyle/>
          <a:p>
            <a:pPr algn="ctr">
              <a:defRPr sz="1000" b="1">
                <a:solidFill>
                  <a:srgbClr val="FFFFFF"/>
                </a:solidFill>
                <a:latin typeface="Calibri"/>
              </a:defRPr>
            </a:pPr>
            <a:r>
              <a:t>Pace %</a:t>
            </a:r>
          </a:p>
        </p:txBody>
      </p:sp>
      <p:sp>
        <p:nvSpPr>
          <p:cNvPr id="36" name="TextBox 35"/>
          <p:cNvSpPr txBox="1"/>
          <p:nvPr/>
        </p:nvSpPr>
        <p:spPr>
          <a:xfrm>
            <a:off x="7269479" y="2788920"/>
            <a:ext cx="1417320" cy="219456"/>
          </a:xfrm>
          <a:prstGeom prst="rect">
            <a:avLst/>
          </a:prstGeom>
          <a:noFill/>
        </p:spPr>
        <p:txBody>
          <a:bodyPr wrap="square">
            <a:spAutoFit/>
          </a:bodyPr>
          <a:lstStyle/>
          <a:p>
            <a:pPr algn="ctr">
              <a:defRPr sz="1000" b="1">
                <a:solidFill>
                  <a:srgbClr val="FFFFFF"/>
                </a:solidFill>
                <a:latin typeface="Calibri"/>
              </a:defRPr>
            </a:pPr>
            <a:r>
              <a:t>$/Day Current</a:t>
            </a:r>
          </a:p>
        </p:txBody>
      </p:sp>
      <p:sp>
        <p:nvSpPr>
          <p:cNvPr id="37" name="TextBox 36"/>
          <p:cNvSpPr txBox="1"/>
          <p:nvPr/>
        </p:nvSpPr>
        <p:spPr>
          <a:xfrm>
            <a:off x="8686800" y="2788920"/>
            <a:ext cx="1417320" cy="219456"/>
          </a:xfrm>
          <a:prstGeom prst="rect">
            <a:avLst/>
          </a:prstGeom>
          <a:noFill/>
        </p:spPr>
        <p:txBody>
          <a:bodyPr wrap="square">
            <a:spAutoFit/>
          </a:bodyPr>
          <a:lstStyle/>
          <a:p>
            <a:pPr algn="ctr">
              <a:defRPr sz="1000" b="1">
                <a:solidFill>
                  <a:srgbClr val="FFFFFF"/>
                </a:solidFill>
                <a:latin typeface="Calibri"/>
              </a:defRPr>
            </a:pPr>
            <a:r>
              <a:t>$/Day Required</a:t>
            </a:r>
          </a:p>
        </p:txBody>
      </p:sp>
      <p:sp>
        <p:nvSpPr>
          <p:cNvPr id="38" name="TextBox 37"/>
          <p:cNvSpPr txBox="1"/>
          <p:nvPr/>
        </p:nvSpPr>
        <p:spPr>
          <a:xfrm>
            <a:off x="10104120" y="2788920"/>
            <a:ext cx="1691640" cy="219456"/>
          </a:xfrm>
          <a:prstGeom prst="rect">
            <a:avLst/>
          </a:prstGeom>
          <a:noFill/>
        </p:spPr>
        <p:txBody>
          <a:bodyPr wrap="square">
            <a:spAutoFit/>
          </a:bodyPr>
          <a:lstStyle/>
          <a:p>
            <a:pPr algn="ctr">
              <a:defRPr sz="1000" b="1">
                <a:solidFill>
                  <a:srgbClr val="FFFFFF"/>
                </a:solidFill>
                <a:latin typeface="Calibri"/>
              </a:defRPr>
            </a:pPr>
            <a:r>
              <a:t>Status</a:t>
            </a:r>
          </a:p>
        </p:txBody>
      </p:sp>
      <p:sp>
        <p:nvSpPr>
          <p:cNvPr id="39" name="TextBox 38"/>
          <p:cNvSpPr txBox="1"/>
          <p:nvPr/>
        </p:nvSpPr>
        <p:spPr>
          <a:xfrm>
            <a:off x="502920" y="3081527"/>
            <a:ext cx="2011680" cy="201168"/>
          </a:xfrm>
          <a:prstGeom prst="rect">
            <a:avLst/>
          </a:prstGeom>
          <a:noFill/>
        </p:spPr>
        <p:txBody>
          <a:bodyPr wrap="square">
            <a:spAutoFit/>
          </a:bodyPr>
          <a:lstStyle/>
          <a:p>
            <a:pPr algn="l">
              <a:defRPr sz="950" b="1">
                <a:solidFill>
                  <a:srgbClr val="111827"/>
                </a:solidFill>
                <a:latin typeface="Calibri"/>
              </a:defRPr>
            </a:pPr>
            <a:r>
              <a:t>Westy McLaughlin</a:t>
            </a:r>
          </a:p>
        </p:txBody>
      </p:sp>
      <p:sp>
        <p:nvSpPr>
          <p:cNvPr id="40" name="TextBox 39"/>
          <p:cNvSpPr txBox="1"/>
          <p:nvPr/>
        </p:nvSpPr>
        <p:spPr>
          <a:xfrm>
            <a:off x="2514600" y="3081527"/>
            <a:ext cx="731520" cy="201168"/>
          </a:xfrm>
          <a:prstGeom prst="rect">
            <a:avLst/>
          </a:prstGeom>
          <a:noFill/>
        </p:spPr>
        <p:txBody>
          <a:bodyPr wrap="square">
            <a:spAutoFit/>
          </a:bodyPr>
          <a:lstStyle/>
          <a:p>
            <a:pPr algn="ctr">
              <a:defRPr sz="950" b="0">
                <a:solidFill>
                  <a:srgbClr val="6B7280"/>
                </a:solidFill>
                <a:latin typeface="Calibri"/>
              </a:defRPr>
            </a:pPr>
            <a:r>
              <a:t>BDM</a:t>
            </a:r>
          </a:p>
        </p:txBody>
      </p:sp>
      <p:sp>
        <p:nvSpPr>
          <p:cNvPr id="41" name="TextBox 40"/>
          <p:cNvSpPr txBox="1"/>
          <p:nvPr/>
        </p:nvSpPr>
        <p:spPr>
          <a:xfrm>
            <a:off x="3246120" y="3081527"/>
            <a:ext cx="1417320" cy="201168"/>
          </a:xfrm>
          <a:prstGeom prst="rect">
            <a:avLst/>
          </a:prstGeom>
          <a:noFill/>
        </p:spPr>
        <p:txBody>
          <a:bodyPr wrap="square">
            <a:spAutoFit/>
          </a:bodyPr>
          <a:lstStyle/>
          <a:p>
            <a:pPr algn="r">
              <a:defRPr sz="950" b="0">
                <a:solidFill>
                  <a:srgbClr val="111827"/>
                </a:solidFill>
                <a:latin typeface="Calibri"/>
              </a:defRPr>
            </a:pPr>
            <a:r>
              <a:t>$-63</a:t>
            </a:r>
          </a:p>
        </p:txBody>
      </p:sp>
      <p:sp>
        <p:nvSpPr>
          <p:cNvPr id="42" name="TextBox 41"/>
          <p:cNvSpPr txBox="1"/>
          <p:nvPr/>
        </p:nvSpPr>
        <p:spPr>
          <a:xfrm>
            <a:off x="4663440" y="3081527"/>
            <a:ext cx="1600200" cy="201168"/>
          </a:xfrm>
          <a:prstGeom prst="rect">
            <a:avLst/>
          </a:prstGeom>
          <a:noFill/>
        </p:spPr>
        <p:txBody>
          <a:bodyPr wrap="square">
            <a:spAutoFit/>
          </a:bodyPr>
          <a:lstStyle/>
          <a:p>
            <a:pPr algn="r">
              <a:defRPr sz="950" b="0">
                <a:solidFill>
                  <a:srgbClr val="111827"/>
                </a:solidFill>
                <a:latin typeface="Calibri"/>
              </a:defRPr>
            </a:pPr>
            <a:r>
              <a:t>$290K</a:t>
            </a:r>
          </a:p>
        </p:txBody>
      </p:sp>
      <p:sp>
        <p:nvSpPr>
          <p:cNvPr id="43" name="TextBox 42"/>
          <p:cNvSpPr txBox="1"/>
          <p:nvPr/>
        </p:nvSpPr>
        <p:spPr>
          <a:xfrm>
            <a:off x="6263640" y="3081527"/>
            <a:ext cx="1005840" cy="201168"/>
          </a:xfrm>
          <a:prstGeom prst="rect">
            <a:avLst/>
          </a:prstGeom>
          <a:noFill/>
        </p:spPr>
        <p:txBody>
          <a:bodyPr wrap="square">
            <a:spAutoFit/>
          </a:bodyPr>
          <a:lstStyle/>
          <a:p>
            <a:pPr algn="ctr">
              <a:defRPr sz="950" b="1">
                <a:solidFill>
                  <a:srgbClr val="DC2626"/>
                </a:solidFill>
                <a:latin typeface="Calibri"/>
              </a:defRPr>
            </a:pPr>
            <a:r>
              <a:t>-0%</a:t>
            </a:r>
          </a:p>
        </p:txBody>
      </p:sp>
      <p:sp>
        <p:nvSpPr>
          <p:cNvPr id="44" name="TextBox 43"/>
          <p:cNvSpPr txBox="1"/>
          <p:nvPr/>
        </p:nvSpPr>
        <p:spPr>
          <a:xfrm>
            <a:off x="7269479" y="3081527"/>
            <a:ext cx="1417320" cy="201168"/>
          </a:xfrm>
          <a:prstGeom prst="rect">
            <a:avLst/>
          </a:prstGeom>
          <a:noFill/>
        </p:spPr>
        <p:txBody>
          <a:bodyPr wrap="square">
            <a:spAutoFit/>
          </a:bodyPr>
          <a:lstStyle/>
          <a:p>
            <a:pPr algn="r">
              <a:defRPr sz="950" b="0">
                <a:solidFill>
                  <a:srgbClr val="111827"/>
                </a:solidFill>
                <a:latin typeface="Calibri"/>
              </a:defRPr>
            </a:pPr>
            <a:r>
              <a:t>$-8/d</a:t>
            </a:r>
          </a:p>
        </p:txBody>
      </p:sp>
      <p:sp>
        <p:nvSpPr>
          <p:cNvPr id="45" name="TextBox 44"/>
          <p:cNvSpPr txBox="1"/>
          <p:nvPr/>
        </p:nvSpPr>
        <p:spPr>
          <a:xfrm>
            <a:off x="8686800" y="3081527"/>
            <a:ext cx="1417320" cy="201168"/>
          </a:xfrm>
          <a:prstGeom prst="rect">
            <a:avLst/>
          </a:prstGeom>
          <a:noFill/>
        </p:spPr>
        <p:txBody>
          <a:bodyPr wrap="square">
            <a:spAutoFit/>
          </a:bodyPr>
          <a:lstStyle/>
          <a:p>
            <a:pPr algn="r">
              <a:defRPr sz="950" b="1">
                <a:solidFill>
                  <a:srgbClr val="DC2626"/>
                </a:solidFill>
                <a:latin typeface="Calibri"/>
              </a:defRPr>
            </a:pPr>
            <a:r>
              <a:t>$22K/d</a:t>
            </a:r>
          </a:p>
        </p:txBody>
      </p:sp>
      <p:sp>
        <p:nvSpPr>
          <p:cNvPr id="46" name="TextBox 45"/>
          <p:cNvSpPr txBox="1"/>
          <p:nvPr/>
        </p:nvSpPr>
        <p:spPr>
          <a:xfrm>
            <a:off x="10104120" y="3081527"/>
            <a:ext cx="1691640" cy="201168"/>
          </a:xfrm>
          <a:prstGeom prst="rect">
            <a:avLst/>
          </a:prstGeom>
          <a:noFill/>
        </p:spPr>
        <p:txBody>
          <a:bodyPr wrap="square">
            <a:spAutoFit/>
          </a:bodyPr>
          <a:lstStyle/>
          <a:p>
            <a:pPr algn="ctr">
              <a:defRPr sz="950" b="1">
                <a:solidFill>
                  <a:srgbClr val="DC2626"/>
                </a:solidFill>
                <a:latin typeface="Calibri"/>
              </a:defRPr>
            </a:pPr>
            <a:r>
              <a:t>BEHIND</a:t>
            </a:r>
          </a:p>
        </p:txBody>
      </p:sp>
      <p:sp>
        <p:nvSpPr>
          <p:cNvPr id="47" name="Rectangle 46"/>
          <p:cNvSpPr/>
          <p:nvPr/>
        </p:nvSpPr>
        <p:spPr>
          <a:xfrm>
            <a:off x="457200" y="3291839"/>
            <a:ext cx="11277295"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2920" y="3319271"/>
            <a:ext cx="2011680" cy="201168"/>
          </a:xfrm>
          <a:prstGeom prst="rect">
            <a:avLst/>
          </a:prstGeom>
          <a:noFill/>
        </p:spPr>
        <p:txBody>
          <a:bodyPr wrap="square">
            <a:spAutoFit/>
          </a:bodyPr>
          <a:lstStyle/>
          <a:p>
            <a:pPr algn="l">
              <a:defRPr sz="950" b="1">
                <a:solidFill>
                  <a:srgbClr val="111827"/>
                </a:solidFill>
                <a:latin typeface="Calibri"/>
              </a:defRPr>
            </a:pPr>
            <a:r>
              <a:t>Taylor Sloan</a:t>
            </a:r>
          </a:p>
        </p:txBody>
      </p:sp>
      <p:sp>
        <p:nvSpPr>
          <p:cNvPr id="49" name="TextBox 48"/>
          <p:cNvSpPr txBox="1"/>
          <p:nvPr/>
        </p:nvSpPr>
        <p:spPr>
          <a:xfrm>
            <a:off x="2514600" y="3319271"/>
            <a:ext cx="731520" cy="201168"/>
          </a:xfrm>
          <a:prstGeom prst="rect">
            <a:avLst/>
          </a:prstGeom>
          <a:noFill/>
        </p:spPr>
        <p:txBody>
          <a:bodyPr wrap="square">
            <a:spAutoFit/>
          </a:bodyPr>
          <a:lstStyle/>
          <a:p>
            <a:pPr algn="ctr">
              <a:defRPr sz="950" b="0">
                <a:solidFill>
                  <a:srgbClr val="6B7280"/>
                </a:solidFill>
                <a:latin typeface="Calibri"/>
              </a:defRPr>
            </a:pPr>
            <a:r>
              <a:t>BDA</a:t>
            </a:r>
          </a:p>
        </p:txBody>
      </p:sp>
      <p:sp>
        <p:nvSpPr>
          <p:cNvPr id="50" name="TextBox 49"/>
          <p:cNvSpPr txBox="1"/>
          <p:nvPr/>
        </p:nvSpPr>
        <p:spPr>
          <a:xfrm>
            <a:off x="3246120" y="3319271"/>
            <a:ext cx="1417320" cy="201168"/>
          </a:xfrm>
          <a:prstGeom prst="rect">
            <a:avLst/>
          </a:prstGeom>
          <a:noFill/>
        </p:spPr>
        <p:txBody>
          <a:bodyPr wrap="square">
            <a:spAutoFit/>
          </a:bodyPr>
          <a:lstStyle/>
          <a:p>
            <a:pPr algn="r">
              <a:defRPr sz="950" b="0">
                <a:solidFill>
                  <a:srgbClr val="111827"/>
                </a:solidFill>
                <a:latin typeface="Calibri"/>
              </a:defRPr>
            </a:pPr>
            <a:r>
              <a:t>$43K</a:t>
            </a:r>
          </a:p>
        </p:txBody>
      </p:sp>
      <p:sp>
        <p:nvSpPr>
          <p:cNvPr id="51" name="TextBox 50"/>
          <p:cNvSpPr txBox="1"/>
          <p:nvPr/>
        </p:nvSpPr>
        <p:spPr>
          <a:xfrm>
            <a:off x="4663440" y="3319271"/>
            <a:ext cx="1600200" cy="201168"/>
          </a:xfrm>
          <a:prstGeom prst="rect">
            <a:avLst/>
          </a:prstGeom>
          <a:noFill/>
        </p:spPr>
        <p:txBody>
          <a:bodyPr wrap="square">
            <a:spAutoFit/>
          </a:bodyPr>
          <a:lstStyle/>
          <a:p>
            <a:pPr algn="r">
              <a:defRPr sz="950" b="0">
                <a:solidFill>
                  <a:srgbClr val="111827"/>
                </a:solidFill>
                <a:latin typeface="Calibri"/>
              </a:defRPr>
            </a:pPr>
            <a:r>
              <a:t>$237K</a:t>
            </a:r>
          </a:p>
        </p:txBody>
      </p:sp>
      <p:sp>
        <p:nvSpPr>
          <p:cNvPr id="52" name="TextBox 51"/>
          <p:cNvSpPr txBox="1"/>
          <p:nvPr/>
        </p:nvSpPr>
        <p:spPr>
          <a:xfrm>
            <a:off x="6263640" y="3319271"/>
            <a:ext cx="1005840" cy="201168"/>
          </a:xfrm>
          <a:prstGeom prst="rect">
            <a:avLst/>
          </a:prstGeom>
          <a:noFill/>
        </p:spPr>
        <p:txBody>
          <a:bodyPr wrap="square">
            <a:spAutoFit/>
          </a:bodyPr>
          <a:lstStyle/>
          <a:p>
            <a:pPr algn="ctr">
              <a:defRPr sz="950" b="1">
                <a:solidFill>
                  <a:srgbClr val="DC2626"/>
                </a:solidFill>
                <a:latin typeface="Calibri"/>
              </a:defRPr>
            </a:pPr>
            <a:r>
              <a:t>18%</a:t>
            </a:r>
          </a:p>
        </p:txBody>
      </p:sp>
      <p:sp>
        <p:nvSpPr>
          <p:cNvPr id="53" name="TextBox 52"/>
          <p:cNvSpPr txBox="1"/>
          <p:nvPr/>
        </p:nvSpPr>
        <p:spPr>
          <a:xfrm>
            <a:off x="7269479" y="3319271"/>
            <a:ext cx="1417320" cy="201168"/>
          </a:xfrm>
          <a:prstGeom prst="rect">
            <a:avLst/>
          </a:prstGeom>
          <a:noFill/>
        </p:spPr>
        <p:txBody>
          <a:bodyPr wrap="square">
            <a:spAutoFit/>
          </a:bodyPr>
          <a:lstStyle/>
          <a:p>
            <a:pPr algn="r">
              <a:defRPr sz="950" b="0">
                <a:solidFill>
                  <a:srgbClr val="111827"/>
                </a:solidFill>
                <a:latin typeface="Calibri"/>
              </a:defRPr>
            </a:pPr>
            <a:r>
              <a:t>$5K/d</a:t>
            </a:r>
          </a:p>
        </p:txBody>
      </p:sp>
      <p:sp>
        <p:nvSpPr>
          <p:cNvPr id="54" name="TextBox 53"/>
          <p:cNvSpPr txBox="1"/>
          <p:nvPr/>
        </p:nvSpPr>
        <p:spPr>
          <a:xfrm>
            <a:off x="8686800" y="3319271"/>
            <a:ext cx="1417320" cy="201168"/>
          </a:xfrm>
          <a:prstGeom prst="rect">
            <a:avLst/>
          </a:prstGeom>
          <a:noFill/>
        </p:spPr>
        <p:txBody>
          <a:bodyPr wrap="square">
            <a:spAutoFit/>
          </a:bodyPr>
          <a:lstStyle/>
          <a:p>
            <a:pPr algn="r">
              <a:defRPr sz="950" b="1">
                <a:solidFill>
                  <a:srgbClr val="DC2626"/>
                </a:solidFill>
                <a:latin typeface="Calibri"/>
              </a:defRPr>
            </a:pPr>
            <a:r>
              <a:t>$15K/d</a:t>
            </a:r>
          </a:p>
        </p:txBody>
      </p:sp>
      <p:sp>
        <p:nvSpPr>
          <p:cNvPr id="55" name="TextBox 54"/>
          <p:cNvSpPr txBox="1"/>
          <p:nvPr/>
        </p:nvSpPr>
        <p:spPr>
          <a:xfrm>
            <a:off x="10104120" y="3319271"/>
            <a:ext cx="1691640" cy="201168"/>
          </a:xfrm>
          <a:prstGeom prst="rect">
            <a:avLst/>
          </a:prstGeom>
          <a:noFill/>
        </p:spPr>
        <p:txBody>
          <a:bodyPr wrap="square">
            <a:spAutoFit/>
          </a:bodyPr>
          <a:lstStyle/>
          <a:p>
            <a:pPr algn="ctr">
              <a:defRPr sz="950" b="1">
                <a:solidFill>
                  <a:srgbClr val="DC2626"/>
                </a:solidFill>
                <a:latin typeface="Calibri"/>
              </a:defRPr>
            </a:pPr>
            <a:r>
              <a:t>BEHIND</a:t>
            </a:r>
          </a:p>
        </p:txBody>
      </p:sp>
      <p:sp>
        <p:nvSpPr>
          <p:cNvPr id="56" name="TextBox 55"/>
          <p:cNvSpPr txBox="1"/>
          <p:nvPr/>
        </p:nvSpPr>
        <p:spPr>
          <a:xfrm>
            <a:off x="502920" y="3557015"/>
            <a:ext cx="2011680" cy="201168"/>
          </a:xfrm>
          <a:prstGeom prst="rect">
            <a:avLst/>
          </a:prstGeom>
          <a:noFill/>
        </p:spPr>
        <p:txBody>
          <a:bodyPr wrap="square">
            <a:spAutoFit/>
          </a:bodyPr>
          <a:lstStyle/>
          <a:p>
            <a:pPr algn="l">
              <a:defRPr sz="950" b="1">
                <a:solidFill>
                  <a:srgbClr val="111827"/>
                </a:solidFill>
                <a:latin typeface="Calibri"/>
              </a:defRPr>
            </a:pPr>
            <a:r>
              <a:t>Derrick Leroy</a:t>
            </a:r>
          </a:p>
        </p:txBody>
      </p:sp>
      <p:sp>
        <p:nvSpPr>
          <p:cNvPr id="57" name="TextBox 56"/>
          <p:cNvSpPr txBox="1"/>
          <p:nvPr/>
        </p:nvSpPr>
        <p:spPr>
          <a:xfrm>
            <a:off x="2514600" y="3557015"/>
            <a:ext cx="731520" cy="201168"/>
          </a:xfrm>
          <a:prstGeom prst="rect">
            <a:avLst/>
          </a:prstGeom>
          <a:noFill/>
        </p:spPr>
        <p:txBody>
          <a:bodyPr wrap="square">
            <a:spAutoFit/>
          </a:bodyPr>
          <a:lstStyle/>
          <a:p>
            <a:pPr algn="ctr">
              <a:defRPr sz="950" b="0">
                <a:solidFill>
                  <a:srgbClr val="6B7280"/>
                </a:solidFill>
                <a:latin typeface="Calibri"/>
              </a:defRPr>
            </a:pPr>
            <a:r>
              <a:t>BDM</a:t>
            </a:r>
          </a:p>
        </p:txBody>
      </p:sp>
      <p:sp>
        <p:nvSpPr>
          <p:cNvPr id="58" name="TextBox 57"/>
          <p:cNvSpPr txBox="1"/>
          <p:nvPr/>
        </p:nvSpPr>
        <p:spPr>
          <a:xfrm>
            <a:off x="3246120" y="3557015"/>
            <a:ext cx="1417320" cy="201168"/>
          </a:xfrm>
          <a:prstGeom prst="rect">
            <a:avLst/>
          </a:prstGeom>
          <a:noFill/>
        </p:spPr>
        <p:txBody>
          <a:bodyPr wrap="square">
            <a:spAutoFit/>
          </a:bodyPr>
          <a:lstStyle/>
          <a:p>
            <a:pPr algn="r">
              <a:defRPr sz="950" b="0">
                <a:solidFill>
                  <a:srgbClr val="111827"/>
                </a:solidFill>
                <a:latin typeface="Calibri"/>
              </a:defRPr>
            </a:pPr>
            <a:r>
              <a:t>$604K</a:t>
            </a:r>
          </a:p>
        </p:txBody>
      </p:sp>
      <p:sp>
        <p:nvSpPr>
          <p:cNvPr id="59" name="TextBox 58"/>
          <p:cNvSpPr txBox="1"/>
          <p:nvPr/>
        </p:nvSpPr>
        <p:spPr>
          <a:xfrm>
            <a:off x="4663440" y="3557015"/>
            <a:ext cx="1600200" cy="201168"/>
          </a:xfrm>
          <a:prstGeom prst="rect">
            <a:avLst/>
          </a:prstGeom>
          <a:noFill/>
        </p:spPr>
        <p:txBody>
          <a:bodyPr wrap="square">
            <a:spAutoFit/>
          </a:bodyPr>
          <a:lstStyle/>
          <a:p>
            <a:pPr algn="r">
              <a:defRPr sz="950" b="0">
                <a:solidFill>
                  <a:srgbClr val="111827"/>
                </a:solidFill>
                <a:latin typeface="Calibri"/>
              </a:defRPr>
            </a:pPr>
            <a:r>
              <a:t>$3.3M</a:t>
            </a:r>
          </a:p>
        </p:txBody>
      </p:sp>
      <p:sp>
        <p:nvSpPr>
          <p:cNvPr id="60" name="TextBox 59"/>
          <p:cNvSpPr txBox="1"/>
          <p:nvPr/>
        </p:nvSpPr>
        <p:spPr>
          <a:xfrm>
            <a:off x="6263640" y="3557015"/>
            <a:ext cx="1005840" cy="201168"/>
          </a:xfrm>
          <a:prstGeom prst="rect">
            <a:avLst/>
          </a:prstGeom>
          <a:noFill/>
        </p:spPr>
        <p:txBody>
          <a:bodyPr wrap="square">
            <a:spAutoFit/>
          </a:bodyPr>
          <a:lstStyle/>
          <a:p>
            <a:pPr algn="ctr">
              <a:defRPr sz="950" b="1">
                <a:solidFill>
                  <a:srgbClr val="DC2626"/>
                </a:solidFill>
                <a:latin typeface="Calibri"/>
              </a:defRPr>
            </a:pPr>
            <a:r>
              <a:t>18%</a:t>
            </a:r>
          </a:p>
        </p:txBody>
      </p:sp>
      <p:sp>
        <p:nvSpPr>
          <p:cNvPr id="61" name="TextBox 60"/>
          <p:cNvSpPr txBox="1"/>
          <p:nvPr/>
        </p:nvSpPr>
        <p:spPr>
          <a:xfrm>
            <a:off x="7269479" y="3557015"/>
            <a:ext cx="1417320" cy="201168"/>
          </a:xfrm>
          <a:prstGeom prst="rect">
            <a:avLst/>
          </a:prstGeom>
          <a:noFill/>
        </p:spPr>
        <p:txBody>
          <a:bodyPr wrap="square">
            <a:spAutoFit/>
          </a:bodyPr>
          <a:lstStyle/>
          <a:p>
            <a:pPr algn="r">
              <a:defRPr sz="950" b="0">
                <a:solidFill>
                  <a:srgbClr val="111827"/>
                </a:solidFill>
                <a:latin typeface="Calibri"/>
              </a:defRPr>
            </a:pPr>
            <a:r>
              <a:t>$75K/d</a:t>
            </a:r>
          </a:p>
        </p:txBody>
      </p:sp>
      <p:sp>
        <p:nvSpPr>
          <p:cNvPr id="62" name="TextBox 61"/>
          <p:cNvSpPr txBox="1"/>
          <p:nvPr/>
        </p:nvSpPr>
        <p:spPr>
          <a:xfrm>
            <a:off x="8686800" y="3557015"/>
            <a:ext cx="1417320" cy="201168"/>
          </a:xfrm>
          <a:prstGeom prst="rect">
            <a:avLst/>
          </a:prstGeom>
          <a:noFill/>
        </p:spPr>
        <p:txBody>
          <a:bodyPr wrap="square">
            <a:spAutoFit/>
          </a:bodyPr>
          <a:lstStyle/>
          <a:p>
            <a:pPr algn="r">
              <a:defRPr sz="950" b="1">
                <a:solidFill>
                  <a:srgbClr val="DC2626"/>
                </a:solidFill>
                <a:latin typeface="Calibri"/>
              </a:defRPr>
            </a:pPr>
            <a:r>
              <a:t>$210K/d</a:t>
            </a:r>
          </a:p>
        </p:txBody>
      </p:sp>
      <p:sp>
        <p:nvSpPr>
          <p:cNvPr id="63" name="TextBox 62"/>
          <p:cNvSpPr txBox="1"/>
          <p:nvPr/>
        </p:nvSpPr>
        <p:spPr>
          <a:xfrm>
            <a:off x="10104120" y="3557015"/>
            <a:ext cx="1691640" cy="201168"/>
          </a:xfrm>
          <a:prstGeom prst="rect">
            <a:avLst/>
          </a:prstGeom>
          <a:noFill/>
        </p:spPr>
        <p:txBody>
          <a:bodyPr wrap="square">
            <a:spAutoFit/>
          </a:bodyPr>
          <a:lstStyle/>
          <a:p>
            <a:pPr algn="ctr">
              <a:defRPr sz="950" b="1">
                <a:solidFill>
                  <a:srgbClr val="DC2626"/>
                </a:solidFill>
                <a:latin typeface="Calibri"/>
              </a:defRPr>
            </a:pPr>
            <a:r>
              <a:t>BEHIND</a:t>
            </a:r>
          </a:p>
        </p:txBody>
      </p:sp>
      <p:sp>
        <p:nvSpPr>
          <p:cNvPr id="64" name="Rectangle 63"/>
          <p:cNvSpPr/>
          <p:nvPr/>
        </p:nvSpPr>
        <p:spPr>
          <a:xfrm>
            <a:off x="457200" y="3767328"/>
            <a:ext cx="11277295"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2920" y="3794760"/>
            <a:ext cx="2011680" cy="201168"/>
          </a:xfrm>
          <a:prstGeom prst="rect">
            <a:avLst/>
          </a:prstGeom>
          <a:noFill/>
        </p:spPr>
        <p:txBody>
          <a:bodyPr wrap="square">
            <a:spAutoFit/>
          </a:bodyPr>
          <a:lstStyle/>
          <a:p>
            <a:pPr algn="l">
              <a:defRPr sz="950" b="1">
                <a:solidFill>
                  <a:srgbClr val="111827"/>
                </a:solidFill>
                <a:latin typeface="Calibri"/>
              </a:defRPr>
            </a:pPr>
            <a:r>
              <a:t>Cameron Brader</a:t>
            </a:r>
          </a:p>
        </p:txBody>
      </p:sp>
      <p:sp>
        <p:nvSpPr>
          <p:cNvPr id="66" name="TextBox 65"/>
          <p:cNvSpPr txBox="1"/>
          <p:nvPr/>
        </p:nvSpPr>
        <p:spPr>
          <a:xfrm>
            <a:off x="2514600" y="3794760"/>
            <a:ext cx="731520" cy="201168"/>
          </a:xfrm>
          <a:prstGeom prst="rect">
            <a:avLst/>
          </a:prstGeom>
          <a:noFill/>
        </p:spPr>
        <p:txBody>
          <a:bodyPr wrap="square">
            <a:spAutoFit/>
          </a:bodyPr>
          <a:lstStyle/>
          <a:p>
            <a:pPr algn="ctr">
              <a:defRPr sz="950" b="0">
                <a:solidFill>
                  <a:srgbClr val="6B7280"/>
                </a:solidFill>
                <a:latin typeface="Calibri"/>
              </a:defRPr>
            </a:pPr>
            <a:r>
              <a:t>BDA</a:t>
            </a:r>
          </a:p>
        </p:txBody>
      </p:sp>
      <p:sp>
        <p:nvSpPr>
          <p:cNvPr id="67" name="TextBox 66"/>
          <p:cNvSpPr txBox="1"/>
          <p:nvPr/>
        </p:nvSpPr>
        <p:spPr>
          <a:xfrm>
            <a:off x="3246120" y="3794760"/>
            <a:ext cx="1417320" cy="201168"/>
          </a:xfrm>
          <a:prstGeom prst="rect">
            <a:avLst/>
          </a:prstGeom>
          <a:noFill/>
        </p:spPr>
        <p:txBody>
          <a:bodyPr wrap="square">
            <a:spAutoFit/>
          </a:bodyPr>
          <a:lstStyle/>
          <a:p>
            <a:pPr algn="r">
              <a:defRPr sz="950" b="0">
                <a:solidFill>
                  <a:srgbClr val="111827"/>
                </a:solidFill>
                <a:latin typeface="Calibri"/>
              </a:defRPr>
            </a:pPr>
            <a:r>
              <a:t>$237K</a:t>
            </a:r>
          </a:p>
        </p:txBody>
      </p:sp>
      <p:sp>
        <p:nvSpPr>
          <p:cNvPr id="68" name="TextBox 67"/>
          <p:cNvSpPr txBox="1"/>
          <p:nvPr/>
        </p:nvSpPr>
        <p:spPr>
          <a:xfrm>
            <a:off x="4663440" y="3794760"/>
            <a:ext cx="1600200" cy="201168"/>
          </a:xfrm>
          <a:prstGeom prst="rect">
            <a:avLst/>
          </a:prstGeom>
          <a:noFill/>
        </p:spPr>
        <p:txBody>
          <a:bodyPr wrap="square">
            <a:spAutoFit/>
          </a:bodyPr>
          <a:lstStyle/>
          <a:p>
            <a:pPr algn="r">
              <a:defRPr sz="950" b="0">
                <a:solidFill>
                  <a:srgbClr val="111827"/>
                </a:solidFill>
                <a:latin typeface="Calibri"/>
              </a:defRPr>
            </a:pPr>
            <a:r>
              <a:t>$1.1M</a:t>
            </a:r>
          </a:p>
        </p:txBody>
      </p:sp>
      <p:sp>
        <p:nvSpPr>
          <p:cNvPr id="69" name="TextBox 68"/>
          <p:cNvSpPr txBox="1"/>
          <p:nvPr/>
        </p:nvSpPr>
        <p:spPr>
          <a:xfrm>
            <a:off x="6263640" y="3794760"/>
            <a:ext cx="1005840" cy="201168"/>
          </a:xfrm>
          <a:prstGeom prst="rect">
            <a:avLst/>
          </a:prstGeom>
          <a:noFill/>
        </p:spPr>
        <p:txBody>
          <a:bodyPr wrap="square">
            <a:spAutoFit/>
          </a:bodyPr>
          <a:lstStyle/>
          <a:p>
            <a:pPr algn="ctr">
              <a:defRPr sz="950" b="1">
                <a:solidFill>
                  <a:srgbClr val="DC2626"/>
                </a:solidFill>
                <a:latin typeface="Calibri"/>
              </a:defRPr>
            </a:pPr>
            <a:r>
              <a:t>21%</a:t>
            </a:r>
          </a:p>
        </p:txBody>
      </p:sp>
      <p:sp>
        <p:nvSpPr>
          <p:cNvPr id="70" name="TextBox 69"/>
          <p:cNvSpPr txBox="1"/>
          <p:nvPr/>
        </p:nvSpPr>
        <p:spPr>
          <a:xfrm>
            <a:off x="7269479" y="3794760"/>
            <a:ext cx="1417320" cy="201168"/>
          </a:xfrm>
          <a:prstGeom prst="rect">
            <a:avLst/>
          </a:prstGeom>
          <a:noFill/>
        </p:spPr>
        <p:txBody>
          <a:bodyPr wrap="square">
            <a:spAutoFit/>
          </a:bodyPr>
          <a:lstStyle/>
          <a:p>
            <a:pPr algn="r">
              <a:defRPr sz="950" b="0">
                <a:solidFill>
                  <a:srgbClr val="111827"/>
                </a:solidFill>
                <a:latin typeface="Calibri"/>
              </a:defRPr>
            </a:pPr>
            <a:r>
              <a:t>$30K/d</a:t>
            </a:r>
          </a:p>
        </p:txBody>
      </p:sp>
      <p:sp>
        <p:nvSpPr>
          <p:cNvPr id="71" name="TextBox 70"/>
          <p:cNvSpPr txBox="1"/>
          <p:nvPr/>
        </p:nvSpPr>
        <p:spPr>
          <a:xfrm>
            <a:off x="8686800" y="3794760"/>
            <a:ext cx="1417320" cy="201168"/>
          </a:xfrm>
          <a:prstGeom prst="rect">
            <a:avLst/>
          </a:prstGeom>
          <a:noFill/>
        </p:spPr>
        <p:txBody>
          <a:bodyPr wrap="square">
            <a:spAutoFit/>
          </a:bodyPr>
          <a:lstStyle/>
          <a:p>
            <a:pPr algn="r">
              <a:defRPr sz="950" b="1">
                <a:solidFill>
                  <a:srgbClr val="DC2626"/>
                </a:solidFill>
                <a:latin typeface="Calibri"/>
              </a:defRPr>
            </a:pPr>
            <a:r>
              <a:t>$69K/d</a:t>
            </a:r>
          </a:p>
        </p:txBody>
      </p:sp>
      <p:sp>
        <p:nvSpPr>
          <p:cNvPr id="72" name="TextBox 71"/>
          <p:cNvSpPr txBox="1"/>
          <p:nvPr/>
        </p:nvSpPr>
        <p:spPr>
          <a:xfrm>
            <a:off x="10104120" y="3794760"/>
            <a:ext cx="1691640" cy="201168"/>
          </a:xfrm>
          <a:prstGeom prst="rect">
            <a:avLst/>
          </a:prstGeom>
          <a:noFill/>
        </p:spPr>
        <p:txBody>
          <a:bodyPr wrap="square">
            <a:spAutoFit/>
          </a:bodyPr>
          <a:lstStyle/>
          <a:p>
            <a:pPr algn="ctr">
              <a:defRPr sz="950" b="1">
                <a:solidFill>
                  <a:srgbClr val="DC2626"/>
                </a:solidFill>
                <a:latin typeface="Calibri"/>
              </a:defRPr>
            </a:pPr>
            <a:r>
              <a:t>BEHIND</a:t>
            </a:r>
          </a:p>
        </p:txBody>
      </p:sp>
      <p:sp>
        <p:nvSpPr>
          <p:cNvPr id="73" name="TextBox 72"/>
          <p:cNvSpPr txBox="1"/>
          <p:nvPr/>
        </p:nvSpPr>
        <p:spPr>
          <a:xfrm>
            <a:off x="502920" y="4032504"/>
            <a:ext cx="2011680" cy="201168"/>
          </a:xfrm>
          <a:prstGeom prst="rect">
            <a:avLst/>
          </a:prstGeom>
          <a:noFill/>
        </p:spPr>
        <p:txBody>
          <a:bodyPr wrap="square">
            <a:spAutoFit/>
          </a:bodyPr>
          <a:lstStyle/>
          <a:p>
            <a:pPr algn="l">
              <a:defRPr sz="950" b="1">
                <a:solidFill>
                  <a:srgbClr val="111827"/>
                </a:solidFill>
                <a:latin typeface="Calibri"/>
              </a:defRPr>
            </a:pPr>
            <a:r>
              <a:t>Derek Janssen</a:t>
            </a:r>
          </a:p>
        </p:txBody>
      </p:sp>
      <p:sp>
        <p:nvSpPr>
          <p:cNvPr id="74" name="TextBox 73"/>
          <p:cNvSpPr txBox="1"/>
          <p:nvPr/>
        </p:nvSpPr>
        <p:spPr>
          <a:xfrm>
            <a:off x="2514600" y="4032504"/>
            <a:ext cx="731520" cy="201168"/>
          </a:xfrm>
          <a:prstGeom prst="rect">
            <a:avLst/>
          </a:prstGeom>
          <a:noFill/>
        </p:spPr>
        <p:txBody>
          <a:bodyPr wrap="square">
            <a:spAutoFit/>
          </a:bodyPr>
          <a:lstStyle/>
          <a:p>
            <a:pPr algn="ctr">
              <a:defRPr sz="950" b="0">
                <a:solidFill>
                  <a:srgbClr val="6B7280"/>
                </a:solidFill>
                <a:latin typeface="Calibri"/>
              </a:defRPr>
            </a:pPr>
            <a:r>
              <a:t>BDM</a:t>
            </a:r>
          </a:p>
        </p:txBody>
      </p:sp>
      <p:sp>
        <p:nvSpPr>
          <p:cNvPr id="75" name="TextBox 74"/>
          <p:cNvSpPr txBox="1"/>
          <p:nvPr/>
        </p:nvSpPr>
        <p:spPr>
          <a:xfrm>
            <a:off x="3246120" y="4032504"/>
            <a:ext cx="1417320" cy="201168"/>
          </a:xfrm>
          <a:prstGeom prst="rect">
            <a:avLst/>
          </a:prstGeom>
          <a:noFill/>
        </p:spPr>
        <p:txBody>
          <a:bodyPr wrap="square">
            <a:spAutoFit/>
          </a:bodyPr>
          <a:lstStyle/>
          <a:p>
            <a:pPr algn="r">
              <a:defRPr sz="950" b="0">
                <a:solidFill>
                  <a:srgbClr val="111827"/>
                </a:solidFill>
                <a:latin typeface="Calibri"/>
              </a:defRPr>
            </a:pPr>
            <a:r>
              <a:t>$2.2M</a:t>
            </a:r>
          </a:p>
        </p:txBody>
      </p:sp>
      <p:sp>
        <p:nvSpPr>
          <p:cNvPr id="76" name="TextBox 75"/>
          <p:cNvSpPr txBox="1"/>
          <p:nvPr/>
        </p:nvSpPr>
        <p:spPr>
          <a:xfrm>
            <a:off x="4663440" y="4032504"/>
            <a:ext cx="1600200" cy="201168"/>
          </a:xfrm>
          <a:prstGeom prst="rect">
            <a:avLst/>
          </a:prstGeom>
          <a:noFill/>
        </p:spPr>
        <p:txBody>
          <a:bodyPr wrap="square">
            <a:spAutoFit/>
          </a:bodyPr>
          <a:lstStyle/>
          <a:p>
            <a:pPr algn="r">
              <a:defRPr sz="950" b="0">
                <a:solidFill>
                  <a:srgbClr val="111827"/>
                </a:solidFill>
                <a:latin typeface="Calibri"/>
              </a:defRPr>
            </a:pPr>
            <a:r>
              <a:t>$8.7M</a:t>
            </a:r>
          </a:p>
        </p:txBody>
      </p:sp>
      <p:sp>
        <p:nvSpPr>
          <p:cNvPr id="77" name="TextBox 76"/>
          <p:cNvSpPr txBox="1"/>
          <p:nvPr/>
        </p:nvSpPr>
        <p:spPr>
          <a:xfrm>
            <a:off x="6263640" y="4032504"/>
            <a:ext cx="1005840" cy="201168"/>
          </a:xfrm>
          <a:prstGeom prst="rect">
            <a:avLst/>
          </a:prstGeom>
          <a:noFill/>
        </p:spPr>
        <p:txBody>
          <a:bodyPr wrap="square">
            <a:spAutoFit/>
          </a:bodyPr>
          <a:lstStyle/>
          <a:p>
            <a:pPr algn="ctr">
              <a:defRPr sz="950" b="1">
                <a:solidFill>
                  <a:srgbClr val="DC2626"/>
                </a:solidFill>
                <a:latin typeface="Calibri"/>
              </a:defRPr>
            </a:pPr>
            <a:r>
              <a:t>26%</a:t>
            </a:r>
          </a:p>
        </p:txBody>
      </p:sp>
      <p:sp>
        <p:nvSpPr>
          <p:cNvPr id="78" name="TextBox 77"/>
          <p:cNvSpPr txBox="1"/>
          <p:nvPr/>
        </p:nvSpPr>
        <p:spPr>
          <a:xfrm>
            <a:off x="7269479" y="4032504"/>
            <a:ext cx="1417320" cy="201168"/>
          </a:xfrm>
          <a:prstGeom prst="rect">
            <a:avLst/>
          </a:prstGeom>
          <a:noFill/>
        </p:spPr>
        <p:txBody>
          <a:bodyPr wrap="square">
            <a:spAutoFit/>
          </a:bodyPr>
          <a:lstStyle/>
          <a:p>
            <a:pPr algn="r">
              <a:defRPr sz="950" b="0">
                <a:solidFill>
                  <a:srgbClr val="111827"/>
                </a:solidFill>
                <a:latin typeface="Calibri"/>
              </a:defRPr>
            </a:pPr>
            <a:r>
              <a:t>$281K/d</a:t>
            </a:r>
          </a:p>
        </p:txBody>
      </p:sp>
      <p:sp>
        <p:nvSpPr>
          <p:cNvPr id="79" name="TextBox 78"/>
          <p:cNvSpPr txBox="1"/>
          <p:nvPr/>
        </p:nvSpPr>
        <p:spPr>
          <a:xfrm>
            <a:off x="8686800" y="4032504"/>
            <a:ext cx="1417320" cy="201168"/>
          </a:xfrm>
          <a:prstGeom prst="rect">
            <a:avLst/>
          </a:prstGeom>
          <a:noFill/>
        </p:spPr>
        <p:txBody>
          <a:bodyPr wrap="square">
            <a:spAutoFit/>
          </a:bodyPr>
          <a:lstStyle/>
          <a:p>
            <a:pPr algn="r">
              <a:defRPr sz="950" b="1">
                <a:solidFill>
                  <a:srgbClr val="DC2626"/>
                </a:solidFill>
                <a:latin typeface="Calibri"/>
              </a:defRPr>
            </a:pPr>
            <a:r>
              <a:t>$497K/d</a:t>
            </a:r>
          </a:p>
        </p:txBody>
      </p:sp>
      <p:sp>
        <p:nvSpPr>
          <p:cNvPr id="80" name="TextBox 79"/>
          <p:cNvSpPr txBox="1"/>
          <p:nvPr/>
        </p:nvSpPr>
        <p:spPr>
          <a:xfrm>
            <a:off x="10104120" y="4032504"/>
            <a:ext cx="1691640" cy="201168"/>
          </a:xfrm>
          <a:prstGeom prst="rect">
            <a:avLst/>
          </a:prstGeom>
          <a:noFill/>
        </p:spPr>
        <p:txBody>
          <a:bodyPr wrap="square">
            <a:spAutoFit/>
          </a:bodyPr>
          <a:lstStyle/>
          <a:p>
            <a:pPr algn="ctr">
              <a:defRPr sz="950" b="1">
                <a:solidFill>
                  <a:srgbClr val="DC2626"/>
                </a:solidFill>
                <a:latin typeface="Calibri"/>
              </a:defRPr>
            </a:pPr>
            <a:r>
              <a:t>BEHIND</a:t>
            </a:r>
          </a:p>
        </p:txBody>
      </p:sp>
      <p:sp>
        <p:nvSpPr>
          <p:cNvPr id="81" name="Rectangle 80"/>
          <p:cNvSpPr/>
          <p:nvPr/>
        </p:nvSpPr>
        <p:spPr>
          <a:xfrm>
            <a:off x="457200" y="4242816"/>
            <a:ext cx="11277295"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02920" y="4270248"/>
            <a:ext cx="2011680" cy="201168"/>
          </a:xfrm>
          <a:prstGeom prst="rect">
            <a:avLst/>
          </a:prstGeom>
          <a:noFill/>
        </p:spPr>
        <p:txBody>
          <a:bodyPr wrap="square">
            <a:spAutoFit/>
          </a:bodyPr>
          <a:lstStyle/>
          <a:p>
            <a:pPr algn="l">
              <a:defRPr sz="950" b="1">
                <a:solidFill>
                  <a:srgbClr val="111827"/>
                </a:solidFill>
                <a:latin typeface="Calibri"/>
              </a:defRPr>
            </a:pPr>
            <a:r>
              <a:t>Christopher Hayes</a:t>
            </a:r>
          </a:p>
        </p:txBody>
      </p:sp>
      <p:sp>
        <p:nvSpPr>
          <p:cNvPr id="83" name="TextBox 82"/>
          <p:cNvSpPr txBox="1"/>
          <p:nvPr/>
        </p:nvSpPr>
        <p:spPr>
          <a:xfrm>
            <a:off x="2514600" y="4270248"/>
            <a:ext cx="731520" cy="201168"/>
          </a:xfrm>
          <a:prstGeom prst="rect">
            <a:avLst/>
          </a:prstGeom>
          <a:noFill/>
        </p:spPr>
        <p:txBody>
          <a:bodyPr wrap="square">
            <a:spAutoFit/>
          </a:bodyPr>
          <a:lstStyle/>
          <a:p>
            <a:pPr algn="ctr">
              <a:defRPr sz="950" b="0">
                <a:solidFill>
                  <a:srgbClr val="6B7280"/>
                </a:solidFill>
                <a:latin typeface="Calibri"/>
              </a:defRPr>
            </a:pPr>
            <a:r>
              <a:t>BDM</a:t>
            </a:r>
          </a:p>
        </p:txBody>
      </p:sp>
      <p:sp>
        <p:nvSpPr>
          <p:cNvPr id="84" name="TextBox 83"/>
          <p:cNvSpPr txBox="1"/>
          <p:nvPr/>
        </p:nvSpPr>
        <p:spPr>
          <a:xfrm>
            <a:off x="3246120" y="4270248"/>
            <a:ext cx="1417320" cy="201168"/>
          </a:xfrm>
          <a:prstGeom prst="rect">
            <a:avLst/>
          </a:prstGeom>
          <a:noFill/>
        </p:spPr>
        <p:txBody>
          <a:bodyPr wrap="square">
            <a:spAutoFit/>
          </a:bodyPr>
          <a:lstStyle/>
          <a:p>
            <a:pPr algn="r">
              <a:defRPr sz="950" b="0">
                <a:solidFill>
                  <a:srgbClr val="111827"/>
                </a:solidFill>
                <a:latin typeface="Calibri"/>
              </a:defRPr>
            </a:pPr>
            <a:r>
              <a:t>$1.4M</a:t>
            </a:r>
          </a:p>
        </p:txBody>
      </p:sp>
      <p:sp>
        <p:nvSpPr>
          <p:cNvPr id="85" name="TextBox 84"/>
          <p:cNvSpPr txBox="1"/>
          <p:nvPr/>
        </p:nvSpPr>
        <p:spPr>
          <a:xfrm>
            <a:off x="4663440" y="4270248"/>
            <a:ext cx="1600200" cy="201168"/>
          </a:xfrm>
          <a:prstGeom prst="rect">
            <a:avLst/>
          </a:prstGeom>
          <a:noFill/>
        </p:spPr>
        <p:txBody>
          <a:bodyPr wrap="square">
            <a:spAutoFit/>
          </a:bodyPr>
          <a:lstStyle/>
          <a:p>
            <a:pPr algn="r">
              <a:defRPr sz="950" b="0">
                <a:solidFill>
                  <a:srgbClr val="111827"/>
                </a:solidFill>
                <a:latin typeface="Calibri"/>
              </a:defRPr>
            </a:pPr>
            <a:r>
              <a:t>$4.2M</a:t>
            </a:r>
          </a:p>
        </p:txBody>
      </p:sp>
      <p:sp>
        <p:nvSpPr>
          <p:cNvPr id="86" name="TextBox 85"/>
          <p:cNvSpPr txBox="1"/>
          <p:nvPr/>
        </p:nvSpPr>
        <p:spPr>
          <a:xfrm>
            <a:off x="6263640" y="4270248"/>
            <a:ext cx="1005840" cy="201168"/>
          </a:xfrm>
          <a:prstGeom prst="rect">
            <a:avLst/>
          </a:prstGeom>
          <a:noFill/>
        </p:spPr>
        <p:txBody>
          <a:bodyPr wrap="square">
            <a:spAutoFit/>
          </a:bodyPr>
          <a:lstStyle/>
          <a:p>
            <a:pPr algn="ctr">
              <a:defRPr sz="950" b="1">
                <a:solidFill>
                  <a:srgbClr val="DC2626"/>
                </a:solidFill>
                <a:latin typeface="Calibri"/>
              </a:defRPr>
            </a:pPr>
            <a:r>
              <a:t>33%</a:t>
            </a:r>
          </a:p>
        </p:txBody>
      </p:sp>
      <p:sp>
        <p:nvSpPr>
          <p:cNvPr id="87" name="TextBox 86"/>
          <p:cNvSpPr txBox="1"/>
          <p:nvPr/>
        </p:nvSpPr>
        <p:spPr>
          <a:xfrm>
            <a:off x="7269479" y="4270248"/>
            <a:ext cx="1417320" cy="201168"/>
          </a:xfrm>
          <a:prstGeom prst="rect">
            <a:avLst/>
          </a:prstGeom>
          <a:noFill/>
        </p:spPr>
        <p:txBody>
          <a:bodyPr wrap="square">
            <a:spAutoFit/>
          </a:bodyPr>
          <a:lstStyle/>
          <a:p>
            <a:pPr algn="r">
              <a:defRPr sz="950" b="0">
                <a:solidFill>
                  <a:srgbClr val="111827"/>
                </a:solidFill>
                <a:latin typeface="Calibri"/>
              </a:defRPr>
            </a:pPr>
            <a:r>
              <a:t>$172K/d</a:t>
            </a:r>
          </a:p>
        </p:txBody>
      </p:sp>
      <p:sp>
        <p:nvSpPr>
          <p:cNvPr id="88" name="TextBox 87"/>
          <p:cNvSpPr txBox="1"/>
          <p:nvPr/>
        </p:nvSpPr>
        <p:spPr>
          <a:xfrm>
            <a:off x="8686800" y="4270248"/>
            <a:ext cx="1417320" cy="201168"/>
          </a:xfrm>
          <a:prstGeom prst="rect">
            <a:avLst/>
          </a:prstGeom>
          <a:noFill/>
        </p:spPr>
        <p:txBody>
          <a:bodyPr wrap="square">
            <a:spAutoFit/>
          </a:bodyPr>
          <a:lstStyle/>
          <a:p>
            <a:pPr algn="r">
              <a:defRPr sz="950" b="1">
                <a:solidFill>
                  <a:srgbClr val="DC2626"/>
                </a:solidFill>
                <a:latin typeface="Calibri"/>
              </a:defRPr>
            </a:pPr>
            <a:r>
              <a:t>$219K/d</a:t>
            </a:r>
          </a:p>
        </p:txBody>
      </p:sp>
      <p:sp>
        <p:nvSpPr>
          <p:cNvPr id="89" name="TextBox 88"/>
          <p:cNvSpPr txBox="1"/>
          <p:nvPr/>
        </p:nvSpPr>
        <p:spPr>
          <a:xfrm>
            <a:off x="10104120" y="4270248"/>
            <a:ext cx="1691640" cy="201168"/>
          </a:xfrm>
          <a:prstGeom prst="rect">
            <a:avLst/>
          </a:prstGeom>
          <a:noFill/>
        </p:spPr>
        <p:txBody>
          <a:bodyPr wrap="square">
            <a:spAutoFit/>
          </a:bodyPr>
          <a:lstStyle/>
          <a:p>
            <a:pPr algn="ctr">
              <a:defRPr sz="950" b="1">
                <a:solidFill>
                  <a:srgbClr val="DC2626"/>
                </a:solidFill>
                <a:latin typeface="Calibri"/>
              </a:defRPr>
            </a:pPr>
            <a:r>
              <a:t>BEHIND</a:t>
            </a:r>
          </a:p>
        </p:txBody>
      </p:sp>
      <p:sp>
        <p:nvSpPr>
          <p:cNvPr id="90" name="TextBox 89"/>
          <p:cNvSpPr txBox="1"/>
          <p:nvPr/>
        </p:nvSpPr>
        <p:spPr>
          <a:xfrm>
            <a:off x="502920" y="4507992"/>
            <a:ext cx="2011680" cy="201168"/>
          </a:xfrm>
          <a:prstGeom prst="rect">
            <a:avLst/>
          </a:prstGeom>
          <a:noFill/>
        </p:spPr>
        <p:txBody>
          <a:bodyPr wrap="square">
            <a:spAutoFit/>
          </a:bodyPr>
          <a:lstStyle/>
          <a:p>
            <a:pPr algn="l">
              <a:defRPr sz="950" b="1">
                <a:solidFill>
                  <a:srgbClr val="111827"/>
                </a:solidFill>
                <a:latin typeface="Calibri"/>
              </a:defRPr>
            </a:pPr>
            <a:r>
              <a:t>Ron Douglas</a:t>
            </a:r>
          </a:p>
        </p:txBody>
      </p:sp>
      <p:sp>
        <p:nvSpPr>
          <p:cNvPr id="91" name="TextBox 90"/>
          <p:cNvSpPr txBox="1"/>
          <p:nvPr/>
        </p:nvSpPr>
        <p:spPr>
          <a:xfrm>
            <a:off x="2514600" y="4507992"/>
            <a:ext cx="731520" cy="201168"/>
          </a:xfrm>
          <a:prstGeom prst="rect">
            <a:avLst/>
          </a:prstGeom>
          <a:noFill/>
        </p:spPr>
        <p:txBody>
          <a:bodyPr wrap="square">
            <a:spAutoFit/>
          </a:bodyPr>
          <a:lstStyle/>
          <a:p>
            <a:pPr algn="ctr">
              <a:defRPr sz="950" b="0">
                <a:solidFill>
                  <a:srgbClr val="6B7280"/>
                </a:solidFill>
                <a:latin typeface="Calibri"/>
              </a:defRPr>
            </a:pPr>
            <a:r>
              <a:t>BDM</a:t>
            </a:r>
          </a:p>
        </p:txBody>
      </p:sp>
      <p:sp>
        <p:nvSpPr>
          <p:cNvPr id="92" name="TextBox 91"/>
          <p:cNvSpPr txBox="1"/>
          <p:nvPr/>
        </p:nvSpPr>
        <p:spPr>
          <a:xfrm>
            <a:off x="3246120" y="4507992"/>
            <a:ext cx="1417320" cy="201168"/>
          </a:xfrm>
          <a:prstGeom prst="rect">
            <a:avLst/>
          </a:prstGeom>
          <a:noFill/>
        </p:spPr>
        <p:txBody>
          <a:bodyPr wrap="square">
            <a:spAutoFit/>
          </a:bodyPr>
          <a:lstStyle/>
          <a:p>
            <a:pPr algn="r">
              <a:defRPr sz="950" b="0">
                <a:solidFill>
                  <a:srgbClr val="111827"/>
                </a:solidFill>
                <a:latin typeface="Calibri"/>
              </a:defRPr>
            </a:pPr>
            <a:r>
              <a:t>$1.6M</a:t>
            </a:r>
          </a:p>
        </p:txBody>
      </p:sp>
      <p:sp>
        <p:nvSpPr>
          <p:cNvPr id="93" name="TextBox 92"/>
          <p:cNvSpPr txBox="1"/>
          <p:nvPr/>
        </p:nvSpPr>
        <p:spPr>
          <a:xfrm>
            <a:off x="4663440" y="4507992"/>
            <a:ext cx="1600200" cy="201168"/>
          </a:xfrm>
          <a:prstGeom prst="rect">
            <a:avLst/>
          </a:prstGeom>
          <a:noFill/>
        </p:spPr>
        <p:txBody>
          <a:bodyPr wrap="square">
            <a:spAutoFit/>
          </a:bodyPr>
          <a:lstStyle/>
          <a:p>
            <a:pPr algn="r">
              <a:defRPr sz="950" b="0">
                <a:solidFill>
                  <a:srgbClr val="111827"/>
                </a:solidFill>
                <a:latin typeface="Calibri"/>
              </a:defRPr>
            </a:pPr>
            <a:r>
              <a:t>$4.0M</a:t>
            </a:r>
          </a:p>
        </p:txBody>
      </p:sp>
      <p:sp>
        <p:nvSpPr>
          <p:cNvPr id="94" name="TextBox 93"/>
          <p:cNvSpPr txBox="1"/>
          <p:nvPr/>
        </p:nvSpPr>
        <p:spPr>
          <a:xfrm>
            <a:off x="6263640" y="4507992"/>
            <a:ext cx="1005840" cy="201168"/>
          </a:xfrm>
          <a:prstGeom prst="rect">
            <a:avLst/>
          </a:prstGeom>
          <a:noFill/>
        </p:spPr>
        <p:txBody>
          <a:bodyPr wrap="square">
            <a:spAutoFit/>
          </a:bodyPr>
          <a:lstStyle/>
          <a:p>
            <a:pPr algn="ctr">
              <a:defRPr sz="950" b="1">
                <a:solidFill>
                  <a:srgbClr val="DC2626"/>
                </a:solidFill>
                <a:latin typeface="Calibri"/>
              </a:defRPr>
            </a:pPr>
            <a:r>
              <a:t>39%</a:t>
            </a:r>
          </a:p>
        </p:txBody>
      </p:sp>
      <p:sp>
        <p:nvSpPr>
          <p:cNvPr id="95" name="TextBox 94"/>
          <p:cNvSpPr txBox="1"/>
          <p:nvPr/>
        </p:nvSpPr>
        <p:spPr>
          <a:xfrm>
            <a:off x="7269479" y="4507992"/>
            <a:ext cx="1417320" cy="201168"/>
          </a:xfrm>
          <a:prstGeom prst="rect">
            <a:avLst/>
          </a:prstGeom>
          <a:noFill/>
        </p:spPr>
        <p:txBody>
          <a:bodyPr wrap="square">
            <a:spAutoFit/>
          </a:bodyPr>
          <a:lstStyle/>
          <a:p>
            <a:pPr algn="r">
              <a:defRPr sz="950" b="0">
                <a:solidFill>
                  <a:srgbClr val="111827"/>
                </a:solidFill>
                <a:latin typeface="Calibri"/>
              </a:defRPr>
            </a:pPr>
            <a:r>
              <a:t>$196K/d</a:t>
            </a:r>
          </a:p>
        </p:txBody>
      </p:sp>
      <p:sp>
        <p:nvSpPr>
          <p:cNvPr id="96" name="TextBox 95"/>
          <p:cNvSpPr txBox="1"/>
          <p:nvPr/>
        </p:nvSpPr>
        <p:spPr>
          <a:xfrm>
            <a:off x="8686800" y="4507992"/>
            <a:ext cx="1417320" cy="201168"/>
          </a:xfrm>
          <a:prstGeom prst="rect">
            <a:avLst/>
          </a:prstGeom>
          <a:noFill/>
        </p:spPr>
        <p:txBody>
          <a:bodyPr wrap="square">
            <a:spAutoFit/>
          </a:bodyPr>
          <a:lstStyle/>
          <a:p>
            <a:pPr algn="r">
              <a:defRPr sz="950" b="1">
                <a:solidFill>
                  <a:srgbClr val="DC2626"/>
                </a:solidFill>
                <a:latin typeface="Calibri"/>
              </a:defRPr>
            </a:pPr>
            <a:r>
              <a:t>$186K/d</a:t>
            </a:r>
          </a:p>
        </p:txBody>
      </p:sp>
      <p:sp>
        <p:nvSpPr>
          <p:cNvPr id="97" name="TextBox 96"/>
          <p:cNvSpPr txBox="1"/>
          <p:nvPr/>
        </p:nvSpPr>
        <p:spPr>
          <a:xfrm>
            <a:off x="10104120" y="4507992"/>
            <a:ext cx="1691640" cy="201168"/>
          </a:xfrm>
          <a:prstGeom prst="rect">
            <a:avLst/>
          </a:prstGeom>
          <a:noFill/>
        </p:spPr>
        <p:txBody>
          <a:bodyPr wrap="square">
            <a:spAutoFit/>
          </a:bodyPr>
          <a:lstStyle/>
          <a:p>
            <a:pPr algn="ctr">
              <a:defRPr sz="950" b="1">
                <a:solidFill>
                  <a:srgbClr val="DC2626"/>
                </a:solidFill>
                <a:latin typeface="Calibri"/>
              </a:defRPr>
            </a:pPr>
            <a:r>
              <a:t>BEHIND</a:t>
            </a:r>
          </a:p>
        </p:txBody>
      </p:sp>
      <p:sp>
        <p:nvSpPr>
          <p:cNvPr id="98" name="Rectangle 97"/>
          <p:cNvSpPr/>
          <p:nvPr/>
        </p:nvSpPr>
        <p:spPr>
          <a:xfrm>
            <a:off x="457200" y="4718304"/>
            <a:ext cx="11277295"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02920" y="4745736"/>
            <a:ext cx="2011680" cy="201168"/>
          </a:xfrm>
          <a:prstGeom prst="rect">
            <a:avLst/>
          </a:prstGeom>
          <a:noFill/>
        </p:spPr>
        <p:txBody>
          <a:bodyPr wrap="square">
            <a:spAutoFit/>
          </a:bodyPr>
          <a:lstStyle/>
          <a:p>
            <a:pPr algn="l">
              <a:defRPr sz="950" b="1">
                <a:solidFill>
                  <a:srgbClr val="111827"/>
                </a:solidFill>
                <a:latin typeface="Calibri"/>
              </a:defRPr>
            </a:pPr>
            <a:r>
              <a:t>Portia Lewis</a:t>
            </a:r>
          </a:p>
        </p:txBody>
      </p:sp>
      <p:sp>
        <p:nvSpPr>
          <p:cNvPr id="100" name="TextBox 99"/>
          <p:cNvSpPr txBox="1"/>
          <p:nvPr/>
        </p:nvSpPr>
        <p:spPr>
          <a:xfrm>
            <a:off x="2514600" y="4745736"/>
            <a:ext cx="731520" cy="201168"/>
          </a:xfrm>
          <a:prstGeom prst="rect">
            <a:avLst/>
          </a:prstGeom>
          <a:noFill/>
        </p:spPr>
        <p:txBody>
          <a:bodyPr wrap="square">
            <a:spAutoFit/>
          </a:bodyPr>
          <a:lstStyle/>
          <a:p>
            <a:pPr algn="ctr">
              <a:defRPr sz="950" b="0">
                <a:solidFill>
                  <a:srgbClr val="6B7280"/>
                </a:solidFill>
                <a:latin typeface="Calibri"/>
              </a:defRPr>
            </a:pPr>
            <a:r>
              <a:t>BDA</a:t>
            </a:r>
          </a:p>
        </p:txBody>
      </p:sp>
      <p:sp>
        <p:nvSpPr>
          <p:cNvPr id="101" name="TextBox 100"/>
          <p:cNvSpPr txBox="1"/>
          <p:nvPr/>
        </p:nvSpPr>
        <p:spPr>
          <a:xfrm>
            <a:off x="3246120" y="4745736"/>
            <a:ext cx="1417320" cy="201168"/>
          </a:xfrm>
          <a:prstGeom prst="rect">
            <a:avLst/>
          </a:prstGeom>
          <a:noFill/>
        </p:spPr>
        <p:txBody>
          <a:bodyPr wrap="square">
            <a:spAutoFit/>
          </a:bodyPr>
          <a:lstStyle/>
          <a:p>
            <a:pPr algn="r">
              <a:defRPr sz="950" b="0">
                <a:solidFill>
                  <a:srgbClr val="111827"/>
                </a:solidFill>
                <a:latin typeface="Calibri"/>
              </a:defRPr>
            </a:pPr>
            <a:r>
              <a:t>$78K</a:t>
            </a:r>
          </a:p>
        </p:txBody>
      </p:sp>
      <p:sp>
        <p:nvSpPr>
          <p:cNvPr id="102" name="TextBox 101"/>
          <p:cNvSpPr txBox="1"/>
          <p:nvPr/>
        </p:nvSpPr>
        <p:spPr>
          <a:xfrm>
            <a:off x="4663440" y="4745736"/>
            <a:ext cx="1600200" cy="201168"/>
          </a:xfrm>
          <a:prstGeom prst="rect">
            <a:avLst/>
          </a:prstGeom>
          <a:noFill/>
        </p:spPr>
        <p:txBody>
          <a:bodyPr wrap="square">
            <a:spAutoFit/>
          </a:bodyPr>
          <a:lstStyle/>
          <a:p>
            <a:pPr algn="r">
              <a:defRPr sz="950" b="0">
                <a:solidFill>
                  <a:srgbClr val="111827"/>
                </a:solidFill>
                <a:latin typeface="Calibri"/>
              </a:defRPr>
            </a:pPr>
            <a:r>
              <a:t>$158K</a:t>
            </a:r>
          </a:p>
        </p:txBody>
      </p:sp>
      <p:sp>
        <p:nvSpPr>
          <p:cNvPr id="103" name="TextBox 102"/>
          <p:cNvSpPr txBox="1"/>
          <p:nvPr/>
        </p:nvSpPr>
        <p:spPr>
          <a:xfrm>
            <a:off x="6263640" y="4745736"/>
            <a:ext cx="1005840" cy="201168"/>
          </a:xfrm>
          <a:prstGeom prst="rect">
            <a:avLst/>
          </a:prstGeom>
          <a:noFill/>
        </p:spPr>
        <p:txBody>
          <a:bodyPr wrap="square">
            <a:spAutoFit/>
          </a:bodyPr>
          <a:lstStyle/>
          <a:p>
            <a:pPr algn="ctr">
              <a:defRPr sz="950" b="1">
                <a:solidFill>
                  <a:srgbClr val="DC2626"/>
                </a:solidFill>
                <a:latin typeface="Calibri"/>
              </a:defRPr>
            </a:pPr>
            <a:r>
              <a:t>49%</a:t>
            </a:r>
          </a:p>
        </p:txBody>
      </p:sp>
      <p:sp>
        <p:nvSpPr>
          <p:cNvPr id="104" name="TextBox 103"/>
          <p:cNvSpPr txBox="1"/>
          <p:nvPr/>
        </p:nvSpPr>
        <p:spPr>
          <a:xfrm>
            <a:off x="7269479" y="4745736"/>
            <a:ext cx="1417320" cy="201168"/>
          </a:xfrm>
          <a:prstGeom prst="rect">
            <a:avLst/>
          </a:prstGeom>
          <a:noFill/>
        </p:spPr>
        <p:txBody>
          <a:bodyPr wrap="square">
            <a:spAutoFit/>
          </a:bodyPr>
          <a:lstStyle/>
          <a:p>
            <a:pPr algn="r">
              <a:defRPr sz="950" b="0">
                <a:solidFill>
                  <a:srgbClr val="111827"/>
                </a:solidFill>
                <a:latin typeface="Calibri"/>
              </a:defRPr>
            </a:pPr>
            <a:r>
              <a:t>$10K/d</a:t>
            </a:r>
          </a:p>
        </p:txBody>
      </p:sp>
      <p:sp>
        <p:nvSpPr>
          <p:cNvPr id="105" name="TextBox 104"/>
          <p:cNvSpPr txBox="1"/>
          <p:nvPr/>
        </p:nvSpPr>
        <p:spPr>
          <a:xfrm>
            <a:off x="8686800" y="4745736"/>
            <a:ext cx="1417320" cy="201168"/>
          </a:xfrm>
          <a:prstGeom prst="rect">
            <a:avLst/>
          </a:prstGeom>
          <a:noFill/>
        </p:spPr>
        <p:txBody>
          <a:bodyPr wrap="square">
            <a:spAutoFit/>
          </a:bodyPr>
          <a:lstStyle/>
          <a:p>
            <a:pPr algn="r">
              <a:defRPr sz="950" b="1">
                <a:solidFill>
                  <a:srgbClr val="DC2626"/>
                </a:solidFill>
                <a:latin typeface="Calibri"/>
              </a:defRPr>
            </a:pPr>
            <a:r>
              <a:t>$6K/d</a:t>
            </a:r>
          </a:p>
        </p:txBody>
      </p:sp>
      <p:sp>
        <p:nvSpPr>
          <p:cNvPr id="106" name="TextBox 105"/>
          <p:cNvSpPr txBox="1"/>
          <p:nvPr/>
        </p:nvSpPr>
        <p:spPr>
          <a:xfrm>
            <a:off x="10104120" y="4745736"/>
            <a:ext cx="1691640" cy="201168"/>
          </a:xfrm>
          <a:prstGeom prst="rect">
            <a:avLst/>
          </a:prstGeom>
          <a:noFill/>
        </p:spPr>
        <p:txBody>
          <a:bodyPr wrap="square">
            <a:spAutoFit/>
          </a:bodyPr>
          <a:lstStyle/>
          <a:p>
            <a:pPr algn="ctr">
              <a:defRPr sz="950" b="1">
                <a:solidFill>
                  <a:srgbClr val="DC2626"/>
                </a:solidFill>
                <a:latin typeface="Calibri"/>
              </a:defRPr>
            </a:pPr>
            <a:r>
              <a:t>BEHIND</a:t>
            </a:r>
          </a:p>
        </p:txBody>
      </p:sp>
      <p:sp>
        <p:nvSpPr>
          <p:cNvPr id="107" name="TextBox 106"/>
          <p:cNvSpPr txBox="1"/>
          <p:nvPr/>
        </p:nvSpPr>
        <p:spPr>
          <a:xfrm>
            <a:off x="502920" y="4983480"/>
            <a:ext cx="2011680" cy="201168"/>
          </a:xfrm>
          <a:prstGeom prst="rect">
            <a:avLst/>
          </a:prstGeom>
          <a:noFill/>
        </p:spPr>
        <p:txBody>
          <a:bodyPr wrap="square">
            <a:spAutoFit/>
          </a:bodyPr>
          <a:lstStyle/>
          <a:p>
            <a:pPr algn="l">
              <a:defRPr sz="950" b="1">
                <a:solidFill>
                  <a:srgbClr val="111827"/>
                </a:solidFill>
                <a:latin typeface="Calibri"/>
              </a:defRPr>
            </a:pPr>
            <a:r>
              <a:t>Kurt Butterfield</a:t>
            </a:r>
          </a:p>
        </p:txBody>
      </p:sp>
      <p:sp>
        <p:nvSpPr>
          <p:cNvPr id="108" name="TextBox 107"/>
          <p:cNvSpPr txBox="1"/>
          <p:nvPr/>
        </p:nvSpPr>
        <p:spPr>
          <a:xfrm>
            <a:off x="2514600" y="4983480"/>
            <a:ext cx="731520" cy="201168"/>
          </a:xfrm>
          <a:prstGeom prst="rect">
            <a:avLst/>
          </a:prstGeom>
          <a:noFill/>
        </p:spPr>
        <p:txBody>
          <a:bodyPr wrap="square">
            <a:spAutoFit/>
          </a:bodyPr>
          <a:lstStyle/>
          <a:p>
            <a:pPr algn="ctr">
              <a:defRPr sz="950" b="0">
                <a:solidFill>
                  <a:srgbClr val="6B7280"/>
                </a:solidFill>
                <a:latin typeface="Calibri"/>
              </a:defRPr>
            </a:pPr>
            <a:r>
              <a:t>BDA</a:t>
            </a:r>
          </a:p>
        </p:txBody>
      </p:sp>
      <p:sp>
        <p:nvSpPr>
          <p:cNvPr id="109" name="TextBox 108"/>
          <p:cNvSpPr txBox="1"/>
          <p:nvPr/>
        </p:nvSpPr>
        <p:spPr>
          <a:xfrm>
            <a:off x="3246120" y="4983480"/>
            <a:ext cx="1417320" cy="201168"/>
          </a:xfrm>
          <a:prstGeom prst="rect">
            <a:avLst/>
          </a:prstGeom>
          <a:noFill/>
        </p:spPr>
        <p:txBody>
          <a:bodyPr wrap="square">
            <a:spAutoFit/>
          </a:bodyPr>
          <a:lstStyle/>
          <a:p>
            <a:pPr algn="r">
              <a:defRPr sz="950" b="0">
                <a:solidFill>
                  <a:srgbClr val="111827"/>
                </a:solidFill>
                <a:latin typeface="Calibri"/>
              </a:defRPr>
            </a:pPr>
            <a:r>
              <a:t>$572K</a:t>
            </a:r>
          </a:p>
        </p:txBody>
      </p:sp>
      <p:sp>
        <p:nvSpPr>
          <p:cNvPr id="110" name="TextBox 109"/>
          <p:cNvSpPr txBox="1"/>
          <p:nvPr/>
        </p:nvSpPr>
        <p:spPr>
          <a:xfrm>
            <a:off x="4663440" y="4983480"/>
            <a:ext cx="1600200" cy="201168"/>
          </a:xfrm>
          <a:prstGeom prst="rect">
            <a:avLst/>
          </a:prstGeom>
          <a:noFill/>
        </p:spPr>
        <p:txBody>
          <a:bodyPr wrap="square">
            <a:spAutoFit/>
          </a:bodyPr>
          <a:lstStyle/>
          <a:p>
            <a:pPr algn="r">
              <a:defRPr sz="950" b="0">
                <a:solidFill>
                  <a:srgbClr val="111827"/>
                </a:solidFill>
                <a:latin typeface="Calibri"/>
              </a:defRPr>
            </a:pPr>
            <a:r>
              <a:t>$1.0M</a:t>
            </a:r>
          </a:p>
        </p:txBody>
      </p:sp>
      <p:sp>
        <p:nvSpPr>
          <p:cNvPr id="111" name="TextBox 110"/>
          <p:cNvSpPr txBox="1"/>
          <p:nvPr/>
        </p:nvSpPr>
        <p:spPr>
          <a:xfrm>
            <a:off x="6263640" y="4983480"/>
            <a:ext cx="1005840" cy="201168"/>
          </a:xfrm>
          <a:prstGeom prst="rect">
            <a:avLst/>
          </a:prstGeom>
          <a:noFill/>
        </p:spPr>
        <p:txBody>
          <a:bodyPr wrap="square">
            <a:spAutoFit/>
          </a:bodyPr>
          <a:lstStyle/>
          <a:p>
            <a:pPr algn="ctr">
              <a:defRPr sz="950" b="1">
                <a:solidFill>
                  <a:srgbClr val="DC2626"/>
                </a:solidFill>
                <a:latin typeface="Calibri"/>
              </a:defRPr>
            </a:pPr>
            <a:r>
              <a:t>55%</a:t>
            </a:r>
          </a:p>
        </p:txBody>
      </p:sp>
      <p:sp>
        <p:nvSpPr>
          <p:cNvPr id="112" name="TextBox 111"/>
          <p:cNvSpPr txBox="1"/>
          <p:nvPr/>
        </p:nvSpPr>
        <p:spPr>
          <a:xfrm>
            <a:off x="7269479" y="4983480"/>
            <a:ext cx="1417320" cy="201168"/>
          </a:xfrm>
          <a:prstGeom prst="rect">
            <a:avLst/>
          </a:prstGeom>
          <a:noFill/>
        </p:spPr>
        <p:txBody>
          <a:bodyPr wrap="square">
            <a:spAutoFit/>
          </a:bodyPr>
          <a:lstStyle/>
          <a:p>
            <a:pPr algn="r">
              <a:defRPr sz="950" b="0">
                <a:solidFill>
                  <a:srgbClr val="111827"/>
                </a:solidFill>
                <a:latin typeface="Calibri"/>
              </a:defRPr>
            </a:pPr>
            <a:r>
              <a:t>$72K/d</a:t>
            </a:r>
          </a:p>
        </p:txBody>
      </p:sp>
      <p:sp>
        <p:nvSpPr>
          <p:cNvPr id="113" name="TextBox 112"/>
          <p:cNvSpPr txBox="1"/>
          <p:nvPr/>
        </p:nvSpPr>
        <p:spPr>
          <a:xfrm>
            <a:off x="8686800" y="4983480"/>
            <a:ext cx="1417320" cy="201168"/>
          </a:xfrm>
          <a:prstGeom prst="rect">
            <a:avLst/>
          </a:prstGeom>
          <a:noFill/>
        </p:spPr>
        <p:txBody>
          <a:bodyPr wrap="square">
            <a:spAutoFit/>
          </a:bodyPr>
          <a:lstStyle/>
          <a:p>
            <a:pPr algn="r">
              <a:defRPr sz="950" b="1">
                <a:solidFill>
                  <a:srgbClr val="DC2626"/>
                </a:solidFill>
                <a:latin typeface="Calibri"/>
              </a:defRPr>
            </a:pPr>
            <a:r>
              <a:t>$37K/d</a:t>
            </a:r>
          </a:p>
        </p:txBody>
      </p:sp>
      <p:sp>
        <p:nvSpPr>
          <p:cNvPr id="114" name="TextBox 113"/>
          <p:cNvSpPr txBox="1"/>
          <p:nvPr/>
        </p:nvSpPr>
        <p:spPr>
          <a:xfrm>
            <a:off x="10104120" y="4983480"/>
            <a:ext cx="1691640" cy="201168"/>
          </a:xfrm>
          <a:prstGeom prst="rect">
            <a:avLst/>
          </a:prstGeom>
          <a:noFill/>
        </p:spPr>
        <p:txBody>
          <a:bodyPr wrap="square">
            <a:spAutoFit/>
          </a:bodyPr>
          <a:lstStyle/>
          <a:p>
            <a:pPr algn="ctr">
              <a:defRPr sz="950" b="1">
                <a:solidFill>
                  <a:srgbClr val="DC2626"/>
                </a:solidFill>
                <a:latin typeface="Calibri"/>
              </a:defRPr>
            </a:pPr>
            <a:r>
              <a:t>BEHIND</a:t>
            </a:r>
          </a:p>
        </p:txBody>
      </p:sp>
      <p:sp>
        <p:nvSpPr>
          <p:cNvPr id="115" name="Rectangle 114"/>
          <p:cNvSpPr/>
          <p:nvPr/>
        </p:nvSpPr>
        <p:spPr>
          <a:xfrm>
            <a:off x="457200" y="5193792"/>
            <a:ext cx="11277295"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502920" y="5221224"/>
            <a:ext cx="2011680" cy="201168"/>
          </a:xfrm>
          <a:prstGeom prst="rect">
            <a:avLst/>
          </a:prstGeom>
          <a:noFill/>
        </p:spPr>
        <p:txBody>
          <a:bodyPr wrap="square">
            <a:spAutoFit/>
          </a:bodyPr>
          <a:lstStyle/>
          <a:p>
            <a:pPr algn="l">
              <a:defRPr sz="950" b="1">
                <a:solidFill>
                  <a:srgbClr val="111827"/>
                </a:solidFill>
                <a:latin typeface="Calibri"/>
              </a:defRPr>
            </a:pPr>
            <a:r>
              <a:t>Alexis Berry-Smith</a:t>
            </a:r>
          </a:p>
        </p:txBody>
      </p:sp>
      <p:sp>
        <p:nvSpPr>
          <p:cNvPr id="117" name="TextBox 116"/>
          <p:cNvSpPr txBox="1"/>
          <p:nvPr/>
        </p:nvSpPr>
        <p:spPr>
          <a:xfrm>
            <a:off x="2514600" y="5221224"/>
            <a:ext cx="731520" cy="201168"/>
          </a:xfrm>
          <a:prstGeom prst="rect">
            <a:avLst/>
          </a:prstGeom>
          <a:noFill/>
        </p:spPr>
        <p:txBody>
          <a:bodyPr wrap="square">
            <a:spAutoFit/>
          </a:bodyPr>
          <a:lstStyle/>
          <a:p>
            <a:pPr algn="ctr">
              <a:defRPr sz="950" b="0">
                <a:solidFill>
                  <a:srgbClr val="6B7280"/>
                </a:solidFill>
                <a:latin typeface="Calibri"/>
              </a:defRPr>
            </a:pPr>
            <a:r>
              <a:t>BDM</a:t>
            </a:r>
          </a:p>
        </p:txBody>
      </p:sp>
      <p:sp>
        <p:nvSpPr>
          <p:cNvPr id="118" name="TextBox 117"/>
          <p:cNvSpPr txBox="1"/>
          <p:nvPr/>
        </p:nvSpPr>
        <p:spPr>
          <a:xfrm>
            <a:off x="3246120" y="5221224"/>
            <a:ext cx="1417320" cy="201168"/>
          </a:xfrm>
          <a:prstGeom prst="rect">
            <a:avLst/>
          </a:prstGeom>
          <a:noFill/>
        </p:spPr>
        <p:txBody>
          <a:bodyPr wrap="square">
            <a:spAutoFit/>
          </a:bodyPr>
          <a:lstStyle/>
          <a:p>
            <a:pPr algn="r">
              <a:defRPr sz="950" b="0">
                <a:solidFill>
                  <a:srgbClr val="111827"/>
                </a:solidFill>
                <a:latin typeface="Calibri"/>
              </a:defRPr>
            </a:pPr>
            <a:r>
              <a:t>$649K</a:t>
            </a:r>
          </a:p>
        </p:txBody>
      </p:sp>
      <p:sp>
        <p:nvSpPr>
          <p:cNvPr id="119" name="TextBox 118"/>
          <p:cNvSpPr txBox="1"/>
          <p:nvPr/>
        </p:nvSpPr>
        <p:spPr>
          <a:xfrm>
            <a:off x="4663440" y="5221224"/>
            <a:ext cx="1600200" cy="201168"/>
          </a:xfrm>
          <a:prstGeom prst="rect">
            <a:avLst/>
          </a:prstGeom>
          <a:noFill/>
        </p:spPr>
        <p:txBody>
          <a:bodyPr wrap="square">
            <a:spAutoFit/>
          </a:bodyPr>
          <a:lstStyle/>
          <a:p>
            <a:pPr algn="r">
              <a:defRPr sz="950" b="0">
                <a:solidFill>
                  <a:srgbClr val="111827"/>
                </a:solidFill>
                <a:latin typeface="Calibri"/>
              </a:defRPr>
            </a:pPr>
            <a:r>
              <a:t>$593K</a:t>
            </a:r>
          </a:p>
        </p:txBody>
      </p:sp>
      <p:sp>
        <p:nvSpPr>
          <p:cNvPr id="120" name="TextBox 119"/>
          <p:cNvSpPr txBox="1"/>
          <p:nvPr/>
        </p:nvSpPr>
        <p:spPr>
          <a:xfrm>
            <a:off x="6263640" y="5221224"/>
            <a:ext cx="1005840" cy="201168"/>
          </a:xfrm>
          <a:prstGeom prst="rect">
            <a:avLst/>
          </a:prstGeom>
          <a:noFill/>
        </p:spPr>
        <p:txBody>
          <a:bodyPr wrap="square">
            <a:spAutoFit/>
          </a:bodyPr>
          <a:lstStyle/>
          <a:p>
            <a:pPr algn="ctr">
              <a:defRPr sz="950" b="1">
                <a:solidFill>
                  <a:srgbClr val="059669"/>
                </a:solidFill>
                <a:latin typeface="Calibri"/>
              </a:defRPr>
            </a:pPr>
            <a:r>
              <a:t>110%</a:t>
            </a:r>
          </a:p>
        </p:txBody>
      </p:sp>
      <p:sp>
        <p:nvSpPr>
          <p:cNvPr id="121" name="TextBox 120"/>
          <p:cNvSpPr txBox="1"/>
          <p:nvPr/>
        </p:nvSpPr>
        <p:spPr>
          <a:xfrm>
            <a:off x="7269479" y="5221224"/>
            <a:ext cx="1417320" cy="201168"/>
          </a:xfrm>
          <a:prstGeom prst="rect">
            <a:avLst/>
          </a:prstGeom>
          <a:noFill/>
        </p:spPr>
        <p:txBody>
          <a:bodyPr wrap="square">
            <a:spAutoFit/>
          </a:bodyPr>
          <a:lstStyle/>
          <a:p>
            <a:pPr algn="r">
              <a:defRPr sz="950" b="0">
                <a:solidFill>
                  <a:srgbClr val="111827"/>
                </a:solidFill>
                <a:latin typeface="Calibri"/>
              </a:defRPr>
            </a:pPr>
            <a:r>
              <a:t>$81K/d</a:t>
            </a:r>
          </a:p>
        </p:txBody>
      </p:sp>
      <p:sp>
        <p:nvSpPr>
          <p:cNvPr id="122" name="TextBox 121"/>
          <p:cNvSpPr txBox="1"/>
          <p:nvPr/>
        </p:nvSpPr>
        <p:spPr>
          <a:xfrm>
            <a:off x="8686800" y="5221224"/>
            <a:ext cx="1417320" cy="201168"/>
          </a:xfrm>
          <a:prstGeom prst="rect">
            <a:avLst/>
          </a:prstGeom>
          <a:noFill/>
        </p:spPr>
        <p:txBody>
          <a:bodyPr wrap="square">
            <a:spAutoFit/>
          </a:bodyPr>
          <a:lstStyle/>
          <a:p>
            <a:pPr algn="r">
              <a:defRPr sz="950" b="1">
                <a:solidFill>
                  <a:srgbClr val="059669"/>
                </a:solidFill>
                <a:latin typeface="Calibri"/>
              </a:defRPr>
            </a:pPr>
            <a:r>
              <a:t>$0/d</a:t>
            </a:r>
          </a:p>
        </p:txBody>
      </p:sp>
      <p:sp>
        <p:nvSpPr>
          <p:cNvPr id="123" name="TextBox 122"/>
          <p:cNvSpPr txBox="1"/>
          <p:nvPr/>
        </p:nvSpPr>
        <p:spPr>
          <a:xfrm>
            <a:off x="10104120" y="5221224"/>
            <a:ext cx="1691640" cy="201168"/>
          </a:xfrm>
          <a:prstGeom prst="rect">
            <a:avLst/>
          </a:prstGeom>
          <a:noFill/>
        </p:spPr>
        <p:txBody>
          <a:bodyPr wrap="square">
            <a:spAutoFit/>
          </a:bodyPr>
          <a:lstStyle/>
          <a:p>
            <a:pPr algn="ctr">
              <a:defRPr sz="950" b="1">
                <a:solidFill>
                  <a:srgbClr val="059669"/>
                </a:solidFill>
                <a:latin typeface="Calibri"/>
              </a:defRPr>
            </a:pPr>
            <a:r>
              <a:t>ON PACE</a:t>
            </a:r>
          </a:p>
        </p:txBody>
      </p:sp>
      <p:sp>
        <p:nvSpPr>
          <p:cNvPr id="124" name="TextBox 123"/>
          <p:cNvSpPr txBox="1"/>
          <p:nvPr/>
        </p:nvSpPr>
        <p:spPr>
          <a:xfrm>
            <a:off x="502920" y="5458968"/>
            <a:ext cx="2011680" cy="201168"/>
          </a:xfrm>
          <a:prstGeom prst="rect">
            <a:avLst/>
          </a:prstGeom>
          <a:noFill/>
        </p:spPr>
        <p:txBody>
          <a:bodyPr wrap="square">
            <a:spAutoFit/>
          </a:bodyPr>
          <a:lstStyle/>
          <a:p>
            <a:pPr algn="l">
              <a:defRPr sz="950" b="1">
                <a:solidFill>
                  <a:srgbClr val="111827"/>
                </a:solidFill>
                <a:latin typeface="Calibri"/>
              </a:defRPr>
            </a:pPr>
            <a:r>
              <a:t>Erika Cabrera</a:t>
            </a:r>
          </a:p>
        </p:txBody>
      </p:sp>
      <p:sp>
        <p:nvSpPr>
          <p:cNvPr id="125" name="TextBox 124"/>
          <p:cNvSpPr txBox="1"/>
          <p:nvPr/>
        </p:nvSpPr>
        <p:spPr>
          <a:xfrm>
            <a:off x="2514600" y="5458968"/>
            <a:ext cx="731520" cy="201168"/>
          </a:xfrm>
          <a:prstGeom prst="rect">
            <a:avLst/>
          </a:prstGeom>
          <a:noFill/>
        </p:spPr>
        <p:txBody>
          <a:bodyPr wrap="square">
            <a:spAutoFit/>
          </a:bodyPr>
          <a:lstStyle/>
          <a:p>
            <a:pPr algn="ctr">
              <a:defRPr sz="950" b="0">
                <a:solidFill>
                  <a:srgbClr val="6B7280"/>
                </a:solidFill>
                <a:latin typeface="Calibri"/>
              </a:defRPr>
            </a:pPr>
            <a:r>
              <a:t>BDA</a:t>
            </a:r>
          </a:p>
        </p:txBody>
      </p:sp>
      <p:sp>
        <p:nvSpPr>
          <p:cNvPr id="126" name="TextBox 125"/>
          <p:cNvSpPr txBox="1"/>
          <p:nvPr/>
        </p:nvSpPr>
        <p:spPr>
          <a:xfrm>
            <a:off x="3246120" y="5458968"/>
            <a:ext cx="1417320" cy="201168"/>
          </a:xfrm>
          <a:prstGeom prst="rect">
            <a:avLst/>
          </a:prstGeom>
          <a:noFill/>
        </p:spPr>
        <p:txBody>
          <a:bodyPr wrap="square">
            <a:spAutoFit/>
          </a:bodyPr>
          <a:lstStyle/>
          <a:p>
            <a:pPr algn="r">
              <a:defRPr sz="950" b="0">
                <a:solidFill>
                  <a:srgbClr val="111827"/>
                </a:solidFill>
                <a:latin typeface="Calibri"/>
              </a:defRPr>
            </a:pPr>
            <a:r>
              <a:t>$79K</a:t>
            </a:r>
          </a:p>
        </p:txBody>
      </p:sp>
      <p:sp>
        <p:nvSpPr>
          <p:cNvPr id="127" name="TextBox 126"/>
          <p:cNvSpPr txBox="1"/>
          <p:nvPr/>
        </p:nvSpPr>
        <p:spPr>
          <a:xfrm>
            <a:off x="4663440" y="5458968"/>
            <a:ext cx="1600200" cy="201168"/>
          </a:xfrm>
          <a:prstGeom prst="rect">
            <a:avLst/>
          </a:prstGeom>
          <a:noFill/>
        </p:spPr>
        <p:txBody>
          <a:bodyPr wrap="square">
            <a:spAutoFit/>
          </a:bodyPr>
          <a:lstStyle/>
          <a:p>
            <a:pPr algn="r">
              <a:defRPr sz="950" b="0">
                <a:solidFill>
                  <a:srgbClr val="111827"/>
                </a:solidFill>
                <a:latin typeface="Calibri"/>
              </a:defRPr>
            </a:pPr>
            <a:r>
              <a:t>$54K</a:t>
            </a:r>
          </a:p>
        </p:txBody>
      </p:sp>
      <p:sp>
        <p:nvSpPr>
          <p:cNvPr id="128" name="TextBox 127"/>
          <p:cNvSpPr txBox="1"/>
          <p:nvPr/>
        </p:nvSpPr>
        <p:spPr>
          <a:xfrm>
            <a:off x="6263640" y="5458968"/>
            <a:ext cx="1005840" cy="201168"/>
          </a:xfrm>
          <a:prstGeom prst="rect">
            <a:avLst/>
          </a:prstGeom>
          <a:noFill/>
        </p:spPr>
        <p:txBody>
          <a:bodyPr wrap="square">
            <a:spAutoFit/>
          </a:bodyPr>
          <a:lstStyle/>
          <a:p>
            <a:pPr algn="ctr">
              <a:defRPr sz="950" b="1">
                <a:solidFill>
                  <a:srgbClr val="059669"/>
                </a:solidFill>
                <a:latin typeface="Calibri"/>
              </a:defRPr>
            </a:pPr>
            <a:r>
              <a:t>147%</a:t>
            </a:r>
          </a:p>
        </p:txBody>
      </p:sp>
      <p:sp>
        <p:nvSpPr>
          <p:cNvPr id="129" name="TextBox 128"/>
          <p:cNvSpPr txBox="1"/>
          <p:nvPr/>
        </p:nvSpPr>
        <p:spPr>
          <a:xfrm>
            <a:off x="7269479" y="5458968"/>
            <a:ext cx="1417320" cy="201168"/>
          </a:xfrm>
          <a:prstGeom prst="rect">
            <a:avLst/>
          </a:prstGeom>
          <a:noFill/>
        </p:spPr>
        <p:txBody>
          <a:bodyPr wrap="square">
            <a:spAutoFit/>
          </a:bodyPr>
          <a:lstStyle/>
          <a:p>
            <a:pPr algn="r">
              <a:defRPr sz="950" b="0">
                <a:solidFill>
                  <a:srgbClr val="111827"/>
                </a:solidFill>
                <a:latin typeface="Calibri"/>
              </a:defRPr>
            </a:pPr>
            <a:r>
              <a:t>$10K/d</a:t>
            </a:r>
          </a:p>
        </p:txBody>
      </p:sp>
      <p:sp>
        <p:nvSpPr>
          <p:cNvPr id="130" name="TextBox 129"/>
          <p:cNvSpPr txBox="1"/>
          <p:nvPr/>
        </p:nvSpPr>
        <p:spPr>
          <a:xfrm>
            <a:off x="8686800" y="5458968"/>
            <a:ext cx="1417320" cy="201168"/>
          </a:xfrm>
          <a:prstGeom prst="rect">
            <a:avLst/>
          </a:prstGeom>
          <a:noFill/>
        </p:spPr>
        <p:txBody>
          <a:bodyPr wrap="square">
            <a:spAutoFit/>
          </a:bodyPr>
          <a:lstStyle/>
          <a:p>
            <a:pPr algn="r">
              <a:defRPr sz="950" b="1">
                <a:solidFill>
                  <a:srgbClr val="059669"/>
                </a:solidFill>
                <a:latin typeface="Calibri"/>
              </a:defRPr>
            </a:pPr>
            <a:r>
              <a:t>$0/d</a:t>
            </a:r>
          </a:p>
        </p:txBody>
      </p:sp>
      <p:sp>
        <p:nvSpPr>
          <p:cNvPr id="131" name="TextBox 130"/>
          <p:cNvSpPr txBox="1"/>
          <p:nvPr/>
        </p:nvSpPr>
        <p:spPr>
          <a:xfrm>
            <a:off x="10104120" y="5458968"/>
            <a:ext cx="1691640" cy="201168"/>
          </a:xfrm>
          <a:prstGeom prst="rect">
            <a:avLst/>
          </a:prstGeom>
          <a:noFill/>
        </p:spPr>
        <p:txBody>
          <a:bodyPr wrap="square">
            <a:spAutoFit/>
          </a:bodyPr>
          <a:lstStyle/>
          <a:p>
            <a:pPr algn="ctr">
              <a:defRPr sz="950" b="1">
                <a:solidFill>
                  <a:srgbClr val="059669"/>
                </a:solidFill>
                <a:latin typeface="Calibri"/>
              </a:defRPr>
            </a:pPr>
            <a:r>
              <a:t>ON PACE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Coaching Watchlist</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Reps flagged on objective triggers — sorted by severity. Use this as your weekly coaching agenda.</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Rectangle 5"/>
          <p:cNvSpPr/>
          <p:nvPr/>
        </p:nvSpPr>
        <p:spPr>
          <a:xfrm>
            <a:off x="457200" y="960120"/>
            <a:ext cx="2613583" cy="77724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996696"/>
            <a:ext cx="2613583" cy="365760"/>
          </a:xfrm>
          <a:prstGeom prst="rect">
            <a:avLst/>
          </a:prstGeom>
          <a:noFill/>
        </p:spPr>
        <p:txBody>
          <a:bodyPr wrap="square">
            <a:spAutoFit/>
          </a:bodyPr>
          <a:lstStyle/>
          <a:p>
            <a:pPr algn="ctr">
              <a:defRPr sz="2200" b="1">
                <a:solidFill>
                  <a:srgbClr val="DC2626"/>
                </a:solidFill>
                <a:latin typeface="Calibri"/>
              </a:defRPr>
            </a:pPr>
            <a:r>
              <a:t>21</a:t>
            </a:r>
          </a:p>
        </p:txBody>
      </p:sp>
      <p:sp>
        <p:nvSpPr>
          <p:cNvPr id="8" name="TextBox 7"/>
          <p:cNvSpPr txBox="1"/>
          <p:nvPr/>
        </p:nvSpPr>
        <p:spPr>
          <a:xfrm>
            <a:off x="457200" y="1380744"/>
            <a:ext cx="2613583" cy="182880"/>
          </a:xfrm>
          <a:prstGeom prst="rect">
            <a:avLst/>
          </a:prstGeom>
          <a:noFill/>
        </p:spPr>
        <p:txBody>
          <a:bodyPr wrap="square">
            <a:spAutoFit/>
          </a:bodyPr>
          <a:lstStyle/>
          <a:p>
            <a:pPr algn="ctr">
              <a:defRPr sz="900" b="1">
                <a:solidFill>
                  <a:srgbClr val="111827"/>
                </a:solidFill>
                <a:latin typeface="Calibri"/>
              </a:defRPr>
            </a:pPr>
            <a:r>
              <a:t>Critical Triggers</a:t>
            </a:r>
          </a:p>
        </p:txBody>
      </p:sp>
      <p:sp>
        <p:nvSpPr>
          <p:cNvPr id="9" name="TextBox 8"/>
          <p:cNvSpPr txBox="1"/>
          <p:nvPr/>
        </p:nvSpPr>
        <p:spPr>
          <a:xfrm>
            <a:off x="457200" y="1554480"/>
            <a:ext cx="2613583" cy="164592"/>
          </a:xfrm>
          <a:prstGeom prst="rect">
            <a:avLst/>
          </a:prstGeom>
          <a:noFill/>
        </p:spPr>
        <p:txBody>
          <a:bodyPr wrap="square">
            <a:spAutoFit/>
          </a:bodyPr>
          <a:lstStyle/>
          <a:p>
            <a:pPr algn="ctr">
              <a:defRPr sz="850" b="0">
                <a:solidFill>
                  <a:srgbClr val="6B7280"/>
                </a:solidFill>
                <a:latin typeface="Calibri"/>
              </a:defRPr>
            </a:pPr>
            <a:r>
              <a:t>Severity 3</a:t>
            </a:r>
          </a:p>
        </p:txBody>
      </p:sp>
      <p:sp>
        <p:nvSpPr>
          <p:cNvPr id="10" name="Rectangle 9"/>
          <p:cNvSpPr/>
          <p:nvPr/>
        </p:nvSpPr>
        <p:spPr>
          <a:xfrm>
            <a:off x="3345103" y="960120"/>
            <a:ext cx="2613583" cy="77724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45103" y="996696"/>
            <a:ext cx="2613583" cy="365760"/>
          </a:xfrm>
          <a:prstGeom prst="rect">
            <a:avLst/>
          </a:prstGeom>
          <a:noFill/>
        </p:spPr>
        <p:txBody>
          <a:bodyPr wrap="square">
            <a:spAutoFit/>
          </a:bodyPr>
          <a:lstStyle/>
          <a:p>
            <a:pPr algn="ctr">
              <a:defRPr sz="2200" b="1">
                <a:solidFill>
                  <a:srgbClr val="D97706"/>
                </a:solidFill>
                <a:latin typeface="Calibri"/>
              </a:defRPr>
            </a:pPr>
            <a:r>
              <a:t>6</a:t>
            </a:r>
          </a:p>
        </p:txBody>
      </p:sp>
      <p:sp>
        <p:nvSpPr>
          <p:cNvPr id="12" name="TextBox 11"/>
          <p:cNvSpPr txBox="1"/>
          <p:nvPr/>
        </p:nvSpPr>
        <p:spPr>
          <a:xfrm>
            <a:off x="3345103" y="1380744"/>
            <a:ext cx="2613583" cy="182880"/>
          </a:xfrm>
          <a:prstGeom prst="rect">
            <a:avLst/>
          </a:prstGeom>
          <a:noFill/>
        </p:spPr>
        <p:txBody>
          <a:bodyPr wrap="square">
            <a:spAutoFit/>
          </a:bodyPr>
          <a:lstStyle/>
          <a:p>
            <a:pPr algn="ctr">
              <a:defRPr sz="900" b="1">
                <a:solidFill>
                  <a:srgbClr val="111827"/>
                </a:solidFill>
                <a:latin typeface="Calibri"/>
              </a:defRPr>
            </a:pPr>
            <a:r>
              <a:t>High Triggers</a:t>
            </a:r>
          </a:p>
        </p:txBody>
      </p:sp>
      <p:sp>
        <p:nvSpPr>
          <p:cNvPr id="13" name="TextBox 12"/>
          <p:cNvSpPr txBox="1"/>
          <p:nvPr/>
        </p:nvSpPr>
        <p:spPr>
          <a:xfrm>
            <a:off x="3345103" y="1554480"/>
            <a:ext cx="2613583" cy="164592"/>
          </a:xfrm>
          <a:prstGeom prst="rect">
            <a:avLst/>
          </a:prstGeom>
          <a:noFill/>
        </p:spPr>
        <p:txBody>
          <a:bodyPr wrap="square">
            <a:spAutoFit/>
          </a:bodyPr>
          <a:lstStyle/>
          <a:p>
            <a:pPr algn="ctr">
              <a:defRPr sz="850" b="0">
                <a:solidFill>
                  <a:srgbClr val="6B7280"/>
                </a:solidFill>
                <a:latin typeface="Calibri"/>
              </a:defRPr>
            </a:pPr>
            <a:r>
              <a:t>Severity 2</a:t>
            </a:r>
          </a:p>
        </p:txBody>
      </p:sp>
      <p:sp>
        <p:nvSpPr>
          <p:cNvPr id="14" name="Rectangle 13"/>
          <p:cNvSpPr/>
          <p:nvPr/>
        </p:nvSpPr>
        <p:spPr>
          <a:xfrm>
            <a:off x="6233007" y="960120"/>
            <a:ext cx="2613583" cy="77724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33007" y="996696"/>
            <a:ext cx="2613583" cy="365760"/>
          </a:xfrm>
          <a:prstGeom prst="rect">
            <a:avLst/>
          </a:prstGeom>
          <a:noFill/>
        </p:spPr>
        <p:txBody>
          <a:bodyPr wrap="square">
            <a:spAutoFit/>
          </a:bodyPr>
          <a:lstStyle/>
          <a:p>
            <a:pPr algn="ctr">
              <a:defRPr sz="2200" b="1">
                <a:solidFill>
                  <a:srgbClr val="6D28D9"/>
                </a:solidFill>
                <a:latin typeface="Calibri"/>
              </a:defRPr>
            </a:pPr>
            <a:r>
              <a:t>11</a:t>
            </a:r>
          </a:p>
        </p:txBody>
      </p:sp>
      <p:sp>
        <p:nvSpPr>
          <p:cNvPr id="16" name="TextBox 15"/>
          <p:cNvSpPr txBox="1"/>
          <p:nvPr/>
        </p:nvSpPr>
        <p:spPr>
          <a:xfrm>
            <a:off x="6233007" y="1380744"/>
            <a:ext cx="2613583" cy="182880"/>
          </a:xfrm>
          <a:prstGeom prst="rect">
            <a:avLst/>
          </a:prstGeom>
          <a:noFill/>
        </p:spPr>
        <p:txBody>
          <a:bodyPr wrap="square">
            <a:spAutoFit/>
          </a:bodyPr>
          <a:lstStyle/>
          <a:p>
            <a:pPr algn="ctr">
              <a:defRPr sz="900" b="1">
                <a:solidFill>
                  <a:srgbClr val="111827"/>
                </a:solidFill>
                <a:latin typeface="Calibri"/>
              </a:defRPr>
            </a:pPr>
            <a:r>
              <a:t>Reps Flagged</a:t>
            </a:r>
          </a:p>
        </p:txBody>
      </p:sp>
      <p:sp>
        <p:nvSpPr>
          <p:cNvPr id="17" name="TextBox 16"/>
          <p:cNvSpPr txBox="1"/>
          <p:nvPr/>
        </p:nvSpPr>
        <p:spPr>
          <a:xfrm>
            <a:off x="6233007" y="1554480"/>
            <a:ext cx="2613583" cy="164592"/>
          </a:xfrm>
          <a:prstGeom prst="rect">
            <a:avLst/>
          </a:prstGeom>
          <a:noFill/>
        </p:spPr>
        <p:txBody>
          <a:bodyPr wrap="square">
            <a:spAutoFit/>
          </a:bodyPr>
          <a:lstStyle/>
          <a:p>
            <a:pPr algn="ctr">
              <a:defRPr sz="850" b="0">
                <a:solidFill>
                  <a:srgbClr val="6B7280"/>
                </a:solidFill>
                <a:latin typeface="Calibri"/>
              </a:defRPr>
            </a:pPr>
            <a:r>
              <a:t>of 11 total</a:t>
            </a:r>
          </a:p>
        </p:txBody>
      </p:sp>
      <p:sp>
        <p:nvSpPr>
          <p:cNvPr id="18" name="Rectangle 17"/>
          <p:cNvSpPr/>
          <p:nvPr/>
        </p:nvSpPr>
        <p:spPr>
          <a:xfrm>
            <a:off x="9120911" y="960120"/>
            <a:ext cx="2613583" cy="77724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20911" y="996696"/>
            <a:ext cx="2613583" cy="365760"/>
          </a:xfrm>
          <a:prstGeom prst="rect">
            <a:avLst/>
          </a:prstGeom>
          <a:noFill/>
        </p:spPr>
        <p:txBody>
          <a:bodyPr wrap="square">
            <a:spAutoFit/>
          </a:bodyPr>
          <a:lstStyle/>
          <a:p>
            <a:pPr algn="ctr">
              <a:defRPr sz="2200" b="1">
                <a:solidFill>
                  <a:srgbClr val="111827"/>
                </a:solidFill>
                <a:latin typeface="Calibri"/>
              </a:defRPr>
            </a:pPr>
            <a:r>
              <a:t>27</a:t>
            </a:r>
          </a:p>
        </p:txBody>
      </p:sp>
      <p:sp>
        <p:nvSpPr>
          <p:cNvPr id="20" name="TextBox 19"/>
          <p:cNvSpPr txBox="1"/>
          <p:nvPr/>
        </p:nvSpPr>
        <p:spPr>
          <a:xfrm>
            <a:off x="9120911" y="1380744"/>
            <a:ext cx="2613583" cy="182880"/>
          </a:xfrm>
          <a:prstGeom prst="rect">
            <a:avLst/>
          </a:prstGeom>
          <a:noFill/>
        </p:spPr>
        <p:txBody>
          <a:bodyPr wrap="square">
            <a:spAutoFit/>
          </a:bodyPr>
          <a:lstStyle/>
          <a:p>
            <a:pPr algn="ctr">
              <a:defRPr sz="900" b="1">
                <a:solidFill>
                  <a:srgbClr val="111827"/>
                </a:solidFill>
                <a:latin typeface="Calibri"/>
              </a:defRPr>
            </a:pPr>
            <a:r>
              <a:t>Total Triggers</a:t>
            </a:r>
          </a:p>
        </p:txBody>
      </p:sp>
      <p:sp>
        <p:nvSpPr>
          <p:cNvPr id="21" name="TextBox 20"/>
          <p:cNvSpPr txBox="1"/>
          <p:nvPr/>
        </p:nvSpPr>
        <p:spPr>
          <a:xfrm>
            <a:off x="9120911" y="1554480"/>
            <a:ext cx="2613583" cy="164592"/>
          </a:xfrm>
          <a:prstGeom prst="rect">
            <a:avLst/>
          </a:prstGeom>
          <a:noFill/>
        </p:spPr>
        <p:txBody>
          <a:bodyPr wrap="square">
            <a:spAutoFit/>
          </a:bodyPr>
          <a:lstStyle/>
          <a:p>
            <a:pPr algn="ctr">
              <a:defRPr sz="850" b="0">
                <a:solidFill>
                  <a:srgbClr val="6B7280"/>
                </a:solidFill>
                <a:latin typeface="Calibri"/>
              </a:defRPr>
            </a:pPr>
            <a:r>
              <a:t>open coaching items</a:t>
            </a:r>
          </a:p>
        </p:txBody>
      </p:sp>
      <p:sp>
        <p:nvSpPr>
          <p:cNvPr id="22" name="Rectangle 21"/>
          <p:cNvSpPr/>
          <p:nvPr/>
        </p:nvSpPr>
        <p:spPr>
          <a:xfrm>
            <a:off x="457200" y="1965960"/>
            <a:ext cx="11277295" cy="292608"/>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2011679"/>
            <a:ext cx="1920240" cy="219456"/>
          </a:xfrm>
          <a:prstGeom prst="rect">
            <a:avLst/>
          </a:prstGeom>
          <a:noFill/>
        </p:spPr>
        <p:txBody>
          <a:bodyPr wrap="square">
            <a:spAutoFit/>
          </a:bodyPr>
          <a:lstStyle/>
          <a:p>
            <a:pPr algn="l">
              <a:defRPr sz="900" b="1">
                <a:solidFill>
                  <a:srgbClr val="FFFFFF"/>
                </a:solidFill>
                <a:latin typeface="Calibri"/>
              </a:defRPr>
            </a:pPr>
            <a:r>
              <a:t>Rep</a:t>
            </a:r>
          </a:p>
        </p:txBody>
      </p:sp>
      <p:sp>
        <p:nvSpPr>
          <p:cNvPr id="24" name="TextBox 23"/>
          <p:cNvSpPr txBox="1"/>
          <p:nvPr/>
        </p:nvSpPr>
        <p:spPr>
          <a:xfrm>
            <a:off x="2423160" y="2011679"/>
            <a:ext cx="685800" cy="219456"/>
          </a:xfrm>
          <a:prstGeom prst="rect">
            <a:avLst/>
          </a:prstGeom>
          <a:noFill/>
        </p:spPr>
        <p:txBody>
          <a:bodyPr wrap="square">
            <a:spAutoFit/>
          </a:bodyPr>
          <a:lstStyle/>
          <a:p>
            <a:pPr algn="ctr">
              <a:defRPr sz="900" b="1">
                <a:solidFill>
                  <a:srgbClr val="FFFFFF"/>
                </a:solidFill>
                <a:latin typeface="Calibri"/>
              </a:defRPr>
            </a:pPr>
            <a:r>
              <a:t>Role</a:t>
            </a:r>
          </a:p>
        </p:txBody>
      </p:sp>
      <p:sp>
        <p:nvSpPr>
          <p:cNvPr id="25" name="TextBox 24"/>
          <p:cNvSpPr txBox="1"/>
          <p:nvPr/>
        </p:nvSpPr>
        <p:spPr>
          <a:xfrm>
            <a:off x="3108960" y="2011679"/>
            <a:ext cx="5029200" cy="219456"/>
          </a:xfrm>
          <a:prstGeom prst="rect">
            <a:avLst/>
          </a:prstGeom>
          <a:noFill/>
        </p:spPr>
        <p:txBody>
          <a:bodyPr wrap="square">
            <a:spAutoFit/>
          </a:bodyPr>
          <a:lstStyle/>
          <a:p>
            <a:pPr algn="l">
              <a:defRPr sz="900" b="1">
                <a:solidFill>
                  <a:srgbClr val="FFFFFF"/>
                </a:solidFill>
                <a:latin typeface="Calibri"/>
              </a:defRPr>
            </a:pPr>
            <a:r>
              <a:t>Trigger</a:t>
            </a:r>
          </a:p>
        </p:txBody>
      </p:sp>
      <p:sp>
        <p:nvSpPr>
          <p:cNvPr id="26" name="TextBox 25"/>
          <p:cNvSpPr txBox="1"/>
          <p:nvPr/>
        </p:nvSpPr>
        <p:spPr>
          <a:xfrm>
            <a:off x="8138160" y="2011679"/>
            <a:ext cx="1188720" cy="219456"/>
          </a:xfrm>
          <a:prstGeom prst="rect">
            <a:avLst/>
          </a:prstGeom>
          <a:noFill/>
        </p:spPr>
        <p:txBody>
          <a:bodyPr wrap="square">
            <a:spAutoFit/>
          </a:bodyPr>
          <a:lstStyle/>
          <a:p>
            <a:pPr algn="ctr">
              <a:defRPr sz="900" b="1">
                <a:solidFill>
                  <a:srgbClr val="FFFFFF"/>
                </a:solidFill>
                <a:latin typeface="Calibri"/>
              </a:defRPr>
            </a:pPr>
            <a:r>
              <a:t>Current</a:t>
            </a:r>
          </a:p>
        </p:txBody>
      </p:sp>
      <p:sp>
        <p:nvSpPr>
          <p:cNvPr id="27" name="TextBox 26"/>
          <p:cNvSpPr txBox="1"/>
          <p:nvPr/>
        </p:nvSpPr>
        <p:spPr>
          <a:xfrm>
            <a:off x="9326880" y="2011679"/>
            <a:ext cx="1188720" cy="219456"/>
          </a:xfrm>
          <a:prstGeom prst="rect">
            <a:avLst/>
          </a:prstGeom>
          <a:noFill/>
        </p:spPr>
        <p:txBody>
          <a:bodyPr wrap="square">
            <a:spAutoFit/>
          </a:bodyPr>
          <a:lstStyle/>
          <a:p>
            <a:pPr algn="ctr">
              <a:defRPr sz="900" b="1">
                <a:solidFill>
                  <a:srgbClr val="FFFFFF"/>
                </a:solidFill>
                <a:latin typeface="Calibri"/>
              </a:defRPr>
            </a:pPr>
            <a:r>
              <a:t>Threshold</a:t>
            </a:r>
          </a:p>
        </p:txBody>
      </p:sp>
      <p:sp>
        <p:nvSpPr>
          <p:cNvPr id="28" name="TextBox 27"/>
          <p:cNvSpPr txBox="1"/>
          <p:nvPr/>
        </p:nvSpPr>
        <p:spPr>
          <a:xfrm>
            <a:off x="10515600" y="2011679"/>
            <a:ext cx="1280160" cy="219456"/>
          </a:xfrm>
          <a:prstGeom prst="rect">
            <a:avLst/>
          </a:prstGeom>
          <a:noFill/>
        </p:spPr>
        <p:txBody>
          <a:bodyPr wrap="square">
            <a:spAutoFit/>
          </a:bodyPr>
          <a:lstStyle/>
          <a:p>
            <a:pPr algn="ctr">
              <a:defRPr sz="900" b="1">
                <a:solidFill>
                  <a:srgbClr val="FFFFFF"/>
                </a:solidFill>
                <a:latin typeface="Calibri"/>
              </a:defRPr>
            </a:pPr>
            <a:r>
              <a:t>Severity</a:t>
            </a:r>
          </a:p>
        </p:txBody>
      </p:sp>
      <p:sp>
        <p:nvSpPr>
          <p:cNvPr id="29" name="TextBox 28"/>
          <p:cNvSpPr txBox="1"/>
          <p:nvPr/>
        </p:nvSpPr>
        <p:spPr>
          <a:xfrm>
            <a:off x="502920" y="2313432"/>
            <a:ext cx="1920240" cy="201168"/>
          </a:xfrm>
          <a:prstGeom prst="rect">
            <a:avLst/>
          </a:prstGeom>
          <a:noFill/>
        </p:spPr>
        <p:txBody>
          <a:bodyPr wrap="square">
            <a:spAutoFit/>
          </a:bodyPr>
          <a:lstStyle/>
          <a:p>
            <a:pPr algn="l">
              <a:defRPr sz="1000" b="1">
                <a:solidFill>
                  <a:srgbClr val="111827"/>
                </a:solidFill>
                <a:latin typeface="Calibri"/>
              </a:defRPr>
            </a:pPr>
            <a:r>
              <a:t>Alexis Berry-Smith</a:t>
            </a:r>
          </a:p>
        </p:txBody>
      </p:sp>
      <p:sp>
        <p:nvSpPr>
          <p:cNvPr id="30" name="TextBox 29"/>
          <p:cNvSpPr txBox="1"/>
          <p:nvPr/>
        </p:nvSpPr>
        <p:spPr>
          <a:xfrm>
            <a:off x="2423160" y="2313432"/>
            <a:ext cx="685800" cy="201168"/>
          </a:xfrm>
          <a:prstGeom prst="rect">
            <a:avLst/>
          </a:prstGeom>
          <a:noFill/>
        </p:spPr>
        <p:txBody>
          <a:bodyPr wrap="square">
            <a:spAutoFit/>
          </a:bodyPr>
          <a:lstStyle/>
          <a:p>
            <a:pPr algn="ctr">
              <a:defRPr sz="1000" b="0">
                <a:solidFill>
                  <a:srgbClr val="6B7280"/>
                </a:solidFill>
                <a:latin typeface="Calibri"/>
              </a:defRPr>
            </a:pPr>
            <a:r>
              <a:t>BDM</a:t>
            </a:r>
          </a:p>
        </p:txBody>
      </p:sp>
      <p:sp>
        <p:nvSpPr>
          <p:cNvPr id="31" name="TextBox 30"/>
          <p:cNvSpPr txBox="1"/>
          <p:nvPr/>
        </p:nvSpPr>
        <p:spPr>
          <a:xfrm>
            <a:off x="3108960" y="2313432"/>
            <a:ext cx="5029200" cy="201168"/>
          </a:xfrm>
          <a:prstGeom prst="rect">
            <a:avLst/>
          </a:prstGeom>
          <a:noFill/>
        </p:spPr>
        <p:txBody>
          <a:bodyPr wrap="square">
            <a:spAutoFit/>
          </a:bodyPr>
          <a:lstStyle/>
          <a:p>
            <a:pPr algn="l">
              <a:defRPr sz="1000" b="0">
                <a:solidFill>
                  <a:srgbClr val="111827"/>
                </a:solidFill>
                <a:latin typeface="Calibri"/>
              </a:defRPr>
            </a:pPr>
            <a:r>
              <a:t>Activity below 70%</a:t>
            </a:r>
          </a:p>
        </p:txBody>
      </p:sp>
      <p:sp>
        <p:nvSpPr>
          <p:cNvPr id="32" name="TextBox 31"/>
          <p:cNvSpPr txBox="1"/>
          <p:nvPr/>
        </p:nvSpPr>
        <p:spPr>
          <a:xfrm>
            <a:off x="8138160" y="2313432"/>
            <a:ext cx="1188720" cy="201168"/>
          </a:xfrm>
          <a:prstGeom prst="rect">
            <a:avLst/>
          </a:prstGeom>
          <a:noFill/>
        </p:spPr>
        <p:txBody>
          <a:bodyPr wrap="square">
            <a:spAutoFit/>
          </a:bodyPr>
          <a:lstStyle/>
          <a:p>
            <a:pPr algn="ctr">
              <a:defRPr sz="1000" b="1">
                <a:solidFill>
                  <a:srgbClr val="DC2626"/>
                </a:solidFill>
                <a:latin typeface="Calibri"/>
              </a:defRPr>
            </a:pPr>
            <a:r>
              <a:t>18%</a:t>
            </a:r>
          </a:p>
        </p:txBody>
      </p:sp>
      <p:sp>
        <p:nvSpPr>
          <p:cNvPr id="33" name="TextBox 32"/>
          <p:cNvSpPr txBox="1"/>
          <p:nvPr/>
        </p:nvSpPr>
        <p:spPr>
          <a:xfrm>
            <a:off x="9326880" y="2313432"/>
            <a:ext cx="1188720" cy="201168"/>
          </a:xfrm>
          <a:prstGeom prst="rect">
            <a:avLst/>
          </a:prstGeom>
          <a:noFill/>
        </p:spPr>
        <p:txBody>
          <a:bodyPr wrap="square">
            <a:spAutoFit/>
          </a:bodyPr>
          <a:lstStyle/>
          <a:p>
            <a:pPr algn="ctr">
              <a:defRPr sz="1000" b="0">
                <a:solidFill>
                  <a:srgbClr val="111827"/>
                </a:solidFill>
                <a:latin typeface="Calibri"/>
              </a:defRPr>
            </a:pPr>
            <a:r>
              <a:t>70%</a:t>
            </a:r>
          </a:p>
        </p:txBody>
      </p:sp>
      <p:sp>
        <p:nvSpPr>
          <p:cNvPr id="34" name="TextBox 33"/>
          <p:cNvSpPr txBox="1"/>
          <p:nvPr/>
        </p:nvSpPr>
        <p:spPr>
          <a:xfrm>
            <a:off x="10515600" y="2313432"/>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35" name="Rectangle 34"/>
          <p:cNvSpPr/>
          <p:nvPr/>
        </p:nvSpPr>
        <p:spPr>
          <a:xfrm>
            <a:off x="457200" y="2532887"/>
            <a:ext cx="11277295"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2569463"/>
            <a:ext cx="1920240" cy="201168"/>
          </a:xfrm>
          <a:prstGeom prst="rect">
            <a:avLst/>
          </a:prstGeom>
          <a:noFill/>
        </p:spPr>
        <p:txBody>
          <a:bodyPr wrap="square">
            <a:spAutoFit/>
          </a:bodyPr>
          <a:lstStyle/>
          <a:p>
            <a:pPr algn="l">
              <a:defRPr sz="1000" b="1">
                <a:solidFill>
                  <a:srgbClr val="111827"/>
                </a:solidFill>
                <a:latin typeface="Calibri"/>
              </a:defRPr>
            </a:pPr>
            <a:r>
              <a:t>Alexis Berry-Smith</a:t>
            </a:r>
          </a:p>
        </p:txBody>
      </p:sp>
      <p:sp>
        <p:nvSpPr>
          <p:cNvPr id="37" name="TextBox 36"/>
          <p:cNvSpPr txBox="1"/>
          <p:nvPr/>
        </p:nvSpPr>
        <p:spPr>
          <a:xfrm>
            <a:off x="2423160" y="2569463"/>
            <a:ext cx="685800" cy="201168"/>
          </a:xfrm>
          <a:prstGeom prst="rect">
            <a:avLst/>
          </a:prstGeom>
          <a:noFill/>
        </p:spPr>
        <p:txBody>
          <a:bodyPr wrap="square">
            <a:spAutoFit/>
          </a:bodyPr>
          <a:lstStyle/>
          <a:p>
            <a:pPr algn="ctr">
              <a:defRPr sz="1000" b="0">
                <a:solidFill>
                  <a:srgbClr val="6B7280"/>
                </a:solidFill>
                <a:latin typeface="Calibri"/>
              </a:defRPr>
            </a:pPr>
            <a:r>
              <a:t>BDM</a:t>
            </a:r>
          </a:p>
        </p:txBody>
      </p:sp>
      <p:sp>
        <p:nvSpPr>
          <p:cNvPr id="38" name="TextBox 37"/>
          <p:cNvSpPr txBox="1"/>
          <p:nvPr/>
        </p:nvSpPr>
        <p:spPr>
          <a:xfrm>
            <a:off x="3108960" y="2569463"/>
            <a:ext cx="5029200" cy="201168"/>
          </a:xfrm>
          <a:prstGeom prst="rect">
            <a:avLst/>
          </a:prstGeom>
          <a:noFill/>
        </p:spPr>
        <p:txBody>
          <a:bodyPr wrap="square">
            <a:spAutoFit/>
          </a:bodyPr>
          <a:lstStyle/>
          <a:p>
            <a:pPr algn="l">
              <a:defRPr sz="1000" b="0">
                <a:solidFill>
                  <a:srgbClr val="111827"/>
                </a:solidFill>
                <a:latin typeface="Calibri"/>
              </a:defRPr>
            </a:pPr>
            <a:r>
              <a:t>Zero new producing agencies in Q2</a:t>
            </a:r>
          </a:p>
        </p:txBody>
      </p:sp>
      <p:sp>
        <p:nvSpPr>
          <p:cNvPr id="39" name="TextBox 38"/>
          <p:cNvSpPr txBox="1"/>
          <p:nvPr/>
        </p:nvSpPr>
        <p:spPr>
          <a:xfrm>
            <a:off x="8138160" y="2569463"/>
            <a:ext cx="1188720" cy="201168"/>
          </a:xfrm>
          <a:prstGeom prst="rect">
            <a:avLst/>
          </a:prstGeom>
          <a:noFill/>
        </p:spPr>
        <p:txBody>
          <a:bodyPr wrap="square">
            <a:spAutoFit/>
          </a:bodyPr>
          <a:lstStyle/>
          <a:p>
            <a:pPr algn="ctr">
              <a:defRPr sz="1000" b="1">
                <a:solidFill>
                  <a:srgbClr val="DC2626"/>
                </a:solidFill>
                <a:latin typeface="Calibri"/>
              </a:defRPr>
            </a:pPr>
            <a:r>
              <a:t>0</a:t>
            </a:r>
          </a:p>
        </p:txBody>
      </p:sp>
      <p:sp>
        <p:nvSpPr>
          <p:cNvPr id="40" name="TextBox 39"/>
          <p:cNvSpPr txBox="1"/>
          <p:nvPr/>
        </p:nvSpPr>
        <p:spPr>
          <a:xfrm>
            <a:off x="9326880" y="2569463"/>
            <a:ext cx="1188720" cy="201168"/>
          </a:xfrm>
          <a:prstGeom prst="rect">
            <a:avLst/>
          </a:prstGeom>
          <a:noFill/>
        </p:spPr>
        <p:txBody>
          <a:bodyPr wrap="square">
            <a:spAutoFit/>
          </a:bodyPr>
          <a:lstStyle/>
          <a:p>
            <a:pPr algn="ctr">
              <a:defRPr sz="1000" b="0">
                <a:solidFill>
                  <a:srgbClr val="111827"/>
                </a:solidFill>
                <a:latin typeface="Calibri"/>
              </a:defRPr>
            </a:pPr>
            <a:r>
              <a:t>≥4 / qtr</a:t>
            </a:r>
          </a:p>
        </p:txBody>
      </p:sp>
      <p:sp>
        <p:nvSpPr>
          <p:cNvPr id="41" name="TextBox 40"/>
          <p:cNvSpPr txBox="1"/>
          <p:nvPr/>
        </p:nvSpPr>
        <p:spPr>
          <a:xfrm>
            <a:off x="10515600" y="2569463"/>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42" name="TextBox 41"/>
          <p:cNvSpPr txBox="1"/>
          <p:nvPr/>
        </p:nvSpPr>
        <p:spPr>
          <a:xfrm>
            <a:off x="502920" y="2825496"/>
            <a:ext cx="1920240" cy="201168"/>
          </a:xfrm>
          <a:prstGeom prst="rect">
            <a:avLst/>
          </a:prstGeom>
          <a:noFill/>
        </p:spPr>
        <p:txBody>
          <a:bodyPr wrap="square">
            <a:spAutoFit/>
          </a:bodyPr>
          <a:lstStyle/>
          <a:p>
            <a:pPr algn="l">
              <a:defRPr sz="1000" b="1">
                <a:solidFill>
                  <a:srgbClr val="111827"/>
                </a:solidFill>
                <a:latin typeface="Calibri"/>
              </a:defRPr>
            </a:pPr>
            <a:r>
              <a:t>Alexis Berry-Smith</a:t>
            </a:r>
          </a:p>
        </p:txBody>
      </p:sp>
      <p:sp>
        <p:nvSpPr>
          <p:cNvPr id="43" name="TextBox 42"/>
          <p:cNvSpPr txBox="1"/>
          <p:nvPr/>
        </p:nvSpPr>
        <p:spPr>
          <a:xfrm>
            <a:off x="2423160" y="2825496"/>
            <a:ext cx="685800" cy="201168"/>
          </a:xfrm>
          <a:prstGeom prst="rect">
            <a:avLst/>
          </a:prstGeom>
          <a:noFill/>
        </p:spPr>
        <p:txBody>
          <a:bodyPr wrap="square">
            <a:spAutoFit/>
          </a:bodyPr>
          <a:lstStyle/>
          <a:p>
            <a:pPr algn="ctr">
              <a:defRPr sz="1000" b="0">
                <a:solidFill>
                  <a:srgbClr val="6B7280"/>
                </a:solidFill>
                <a:latin typeface="Calibri"/>
              </a:defRPr>
            </a:pPr>
            <a:r>
              <a:t>BDM</a:t>
            </a:r>
          </a:p>
        </p:txBody>
      </p:sp>
      <p:sp>
        <p:nvSpPr>
          <p:cNvPr id="44" name="TextBox 43"/>
          <p:cNvSpPr txBox="1"/>
          <p:nvPr/>
        </p:nvSpPr>
        <p:spPr>
          <a:xfrm>
            <a:off x="3108960" y="2825496"/>
            <a:ext cx="5029200" cy="201168"/>
          </a:xfrm>
          <a:prstGeom prst="rect">
            <a:avLst/>
          </a:prstGeom>
          <a:noFill/>
        </p:spPr>
        <p:txBody>
          <a:bodyPr wrap="square">
            <a:spAutoFit/>
          </a:bodyPr>
          <a:lstStyle/>
          <a:p>
            <a:pPr algn="l">
              <a:defRPr sz="1000" b="0">
                <a:solidFill>
                  <a:srgbClr val="111827"/>
                </a:solidFill>
                <a:latin typeface="Calibri"/>
              </a:defRPr>
            </a:pPr>
            <a:r>
              <a:t>Q2 GWP trajectory below Q1</a:t>
            </a:r>
          </a:p>
        </p:txBody>
      </p:sp>
      <p:sp>
        <p:nvSpPr>
          <p:cNvPr id="45" name="TextBox 44"/>
          <p:cNvSpPr txBox="1"/>
          <p:nvPr/>
        </p:nvSpPr>
        <p:spPr>
          <a:xfrm>
            <a:off x="8138160" y="2825496"/>
            <a:ext cx="1188720" cy="201168"/>
          </a:xfrm>
          <a:prstGeom prst="rect">
            <a:avLst/>
          </a:prstGeom>
          <a:noFill/>
        </p:spPr>
        <p:txBody>
          <a:bodyPr wrap="square">
            <a:spAutoFit/>
          </a:bodyPr>
          <a:lstStyle/>
          <a:p>
            <a:pPr algn="ctr">
              <a:defRPr sz="1000" b="1">
                <a:solidFill>
                  <a:srgbClr val="DC2626"/>
                </a:solidFill>
                <a:latin typeface="Calibri"/>
              </a:defRPr>
            </a:pPr>
            <a:r>
              <a:t>0% of Q1 pace</a:t>
            </a:r>
          </a:p>
        </p:txBody>
      </p:sp>
      <p:sp>
        <p:nvSpPr>
          <p:cNvPr id="46" name="TextBox 45"/>
          <p:cNvSpPr txBox="1"/>
          <p:nvPr/>
        </p:nvSpPr>
        <p:spPr>
          <a:xfrm>
            <a:off x="9326880" y="2825496"/>
            <a:ext cx="1188720" cy="201168"/>
          </a:xfrm>
          <a:prstGeom prst="rect">
            <a:avLst/>
          </a:prstGeom>
          <a:noFill/>
        </p:spPr>
        <p:txBody>
          <a:bodyPr wrap="square">
            <a:spAutoFit/>
          </a:bodyPr>
          <a:lstStyle/>
          <a:p>
            <a:pPr algn="ctr">
              <a:defRPr sz="1000" b="0">
                <a:solidFill>
                  <a:srgbClr val="111827"/>
                </a:solidFill>
                <a:latin typeface="Calibri"/>
              </a:defRPr>
            </a:pPr>
            <a:r>
              <a:t>85%</a:t>
            </a:r>
          </a:p>
        </p:txBody>
      </p:sp>
      <p:sp>
        <p:nvSpPr>
          <p:cNvPr id="47" name="TextBox 46"/>
          <p:cNvSpPr txBox="1"/>
          <p:nvPr/>
        </p:nvSpPr>
        <p:spPr>
          <a:xfrm>
            <a:off x="10515600" y="2825496"/>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48" name="Rectangle 47"/>
          <p:cNvSpPr/>
          <p:nvPr/>
        </p:nvSpPr>
        <p:spPr>
          <a:xfrm>
            <a:off x="457200" y="3044952"/>
            <a:ext cx="11277295"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3081528"/>
            <a:ext cx="1920240" cy="201168"/>
          </a:xfrm>
          <a:prstGeom prst="rect">
            <a:avLst/>
          </a:prstGeom>
          <a:noFill/>
        </p:spPr>
        <p:txBody>
          <a:bodyPr wrap="square">
            <a:spAutoFit/>
          </a:bodyPr>
          <a:lstStyle/>
          <a:p>
            <a:pPr algn="l">
              <a:defRPr sz="1000" b="1">
                <a:solidFill>
                  <a:srgbClr val="111827"/>
                </a:solidFill>
                <a:latin typeface="Calibri"/>
              </a:defRPr>
            </a:pPr>
            <a:r>
              <a:t>Cameron Brader</a:t>
            </a:r>
          </a:p>
        </p:txBody>
      </p:sp>
      <p:sp>
        <p:nvSpPr>
          <p:cNvPr id="50" name="TextBox 49"/>
          <p:cNvSpPr txBox="1"/>
          <p:nvPr/>
        </p:nvSpPr>
        <p:spPr>
          <a:xfrm>
            <a:off x="2423160" y="3081528"/>
            <a:ext cx="685800" cy="201168"/>
          </a:xfrm>
          <a:prstGeom prst="rect">
            <a:avLst/>
          </a:prstGeom>
          <a:noFill/>
        </p:spPr>
        <p:txBody>
          <a:bodyPr wrap="square">
            <a:spAutoFit/>
          </a:bodyPr>
          <a:lstStyle/>
          <a:p>
            <a:pPr algn="ctr">
              <a:defRPr sz="1000" b="0">
                <a:solidFill>
                  <a:srgbClr val="6B7280"/>
                </a:solidFill>
                <a:latin typeface="Calibri"/>
              </a:defRPr>
            </a:pPr>
            <a:r>
              <a:t>BDA</a:t>
            </a:r>
          </a:p>
        </p:txBody>
      </p:sp>
      <p:sp>
        <p:nvSpPr>
          <p:cNvPr id="51" name="TextBox 50"/>
          <p:cNvSpPr txBox="1"/>
          <p:nvPr/>
        </p:nvSpPr>
        <p:spPr>
          <a:xfrm>
            <a:off x="3108960" y="3081528"/>
            <a:ext cx="5029200" cy="201168"/>
          </a:xfrm>
          <a:prstGeom prst="rect">
            <a:avLst/>
          </a:prstGeom>
          <a:noFill/>
        </p:spPr>
        <p:txBody>
          <a:bodyPr wrap="square">
            <a:spAutoFit/>
          </a:bodyPr>
          <a:lstStyle/>
          <a:p>
            <a:pPr algn="l">
              <a:defRPr sz="1000" b="0">
                <a:solidFill>
                  <a:srgbClr val="111827"/>
                </a:solidFill>
                <a:latin typeface="Calibri"/>
              </a:defRPr>
            </a:pPr>
            <a:r>
              <a:t>Q2 GWP trajectory below Q1</a:t>
            </a:r>
          </a:p>
        </p:txBody>
      </p:sp>
      <p:sp>
        <p:nvSpPr>
          <p:cNvPr id="52" name="TextBox 51"/>
          <p:cNvSpPr txBox="1"/>
          <p:nvPr/>
        </p:nvSpPr>
        <p:spPr>
          <a:xfrm>
            <a:off x="8138160" y="3081528"/>
            <a:ext cx="1188720" cy="201168"/>
          </a:xfrm>
          <a:prstGeom prst="rect">
            <a:avLst/>
          </a:prstGeom>
          <a:noFill/>
        </p:spPr>
        <p:txBody>
          <a:bodyPr wrap="square">
            <a:spAutoFit/>
          </a:bodyPr>
          <a:lstStyle/>
          <a:p>
            <a:pPr algn="ctr">
              <a:defRPr sz="1000" b="1">
                <a:solidFill>
                  <a:srgbClr val="DC2626"/>
                </a:solidFill>
                <a:latin typeface="Calibri"/>
              </a:defRPr>
            </a:pPr>
            <a:r>
              <a:t>0% of Q1 pace</a:t>
            </a:r>
          </a:p>
        </p:txBody>
      </p:sp>
      <p:sp>
        <p:nvSpPr>
          <p:cNvPr id="53" name="TextBox 52"/>
          <p:cNvSpPr txBox="1"/>
          <p:nvPr/>
        </p:nvSpPr>
        <p:spPr>
          <a:xfrm>
            <a:off x="9326880" y="3081528"/>
            <a:ext cx="1188720" cy="201168"/>
          </a:xfrm>
          <a:prstGeom prst="rect">
            <a:avLst/>
          </a:prstGeom>
          <a:noFill/>
        </p:spPr>
        <p:txBody>
          <a:bodyPr wrap="square">
            <a:spAutoFit/>
          </a:bodyPr>
          <a:lstStyle/>
          <a:p>
            <a:pPr algn="ctr">
              <a:defRPr sz="1000" b="0">
                <a:solidFill>
                  <a:srgbClr val="111827"/>
                </a:solidFill>
                <a:latin typeface="Calibri"/>
              </a:defRPr>
            </a:pPr>
            <a:r>
              <a:t>85%</a:t>
            </a:r>
          </a:p>
        </p:txBody>
      </p:sp>
      <p:sp>
        <p:nvSpPr>
          <p:cNvPr id="54" name="TextBox 53"/>
          <p:cNvSpPr txBox="1"/>
          <p:nvPr/>
        </p:nvSpPr>
        <p:spPr>
          <a:xfrm>
            <a:off x="10515600" y="3081528"/>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55" name="TextBox 54"/>
          <p:cNvSpPr txBox="1"/>
          <p:nvPr/>
        </p:nvSpPr>
        <p:spPr>
          <a:xfrm>
            <a:off x="502920" y="3337560"/>
            <a:ext cx="1920240" cy="201168"/>
          </a:xfrm>
          <a:prstGeom prst="rect">
            <a:avLst/>
          </a:prstGeom>
          <a:noFill/>
        </p:spPr>
        <p:txBody>
          <a:bodyPr wrap="square">
            <a:spAutoFit/>
          </a:bodyPr>
          <a:lstStyle/>
          <a:p>
            <a:pPr algn="l">
              <a:defRPr sz="1000" b="1">
                <a:solidFill>
                  <a:srgbClr val="111827"/>
                </a:solidFill>
                <a:latin typeface="Calibri"/>
              </a:defRPr>
            </a:pPr>
            <a:r>
              <a:t>Christopher Hayes</a:t>
            </a:r>
          </a:p>
        </p:txBody>
      </p:sp>
      <p:sp>
        <p:nvSpPr>
          <p:cNvPr id="56" name="TextBox 55"/>
          <p:cNvSpPr txBox="1"/>
          <p:nvPr/>
        </p:nvSpPr>
        <p:spPr>
          <a:xfrm>
            <a:off x="2423160" y="3337560"/>
            <a:ext cx="685800" cy="201168"/>
          </a:xfrm>
          <a:prstGeom prst="rect">
            <a:avLst/>
          </a:prstGeom>
          <a:noFill/>
        </p:spPr>
        <p:txBody>
          <a:bodyPr wrap="square">
            <a:spAutoFit/>
          </a:bodyPr>
          <a:lstStyle/>
          <a:p>
            <a:pPr algn="ctr">
              <a:defRPr sz="1000" b="0">
                <a:solidFill>
                  <a:srgbClr val="6B7280"/>
                </a:solidFill>
                <a:latin typeface="Calibri"/>
              </a:defRPr>
            </a:pPr>
            <a:r>
              <a:t>BDM</a:t>
            </a:r>
          </a:p>
        </p:txBody>
      </p:sp>
      <p:sp>
        <p:nvSpPr>
          <p:cNvPr id="57" name="TextBox 56"/>
          <p:cNvSpPr txBox="1"/>
          <p:nvPr/>
        </p:nvSpPr>
        <p:spPr>
          <a:xfrm>
            <a:off x="3108960" y="3337560"/>
            <a:ext cx="5029200" cy="201168"/>
          </a:xfrm>
          <a:prstGeom prst="rect">
            <a:avLst/>
          </a:prstGeom>
          <a:noFill/>
        </p:spPr>
        <p:txBody>
          <a:bodyPr wrap="square">
            <a:spAutoFit/>
          </a:bodyPr>
          <a:lstStyle/>
          <a:p>
            <a:pPr algn="l">
              <a:defRPr sz="1000" b="0">
                <a:solidFill>
                  <a:srgbClr val="111827"/>
                </a:solidFill>
                <a:latin typeface="Calibri"/>
              </a:defRPr>
            </a:pPr>
            <a:r>
              <a:t>Zero new producing agencies in Q2</a:t>
            </a:r>
          </a:p>
        </p:txBody>
      </p:sp>
      <p:sp>
        <p:nvSpPr>
          <p:cNvPr id="58" name="TextBox 57"/>
          <p:cNvSpPr txBox="1"/>
          <p:nvPr/>
        </p:nvSpPr>
        <p:spPr>
          <a:xfrm>
            <a:off x="8138160" y="3337560"/>
            <a:ext cx="1188720" cy="201168"/>
          </a:xfrm>
          <a:prstGeom prst="rect">
            <a:avLst/>
          </a:prstGeom>
          <a:noFill/>
        </p:spPr>
        <p:txBody>
          <a:bodyPr wrap="square">
            <a:spAutoFit/>
          </a:bodyPr>
          <a:lstStyle/>
          <a:p>
            <a:pPr algn="ctr">
              <a:defRPr sz="1000" b="1">
                <a:solidFill>
                  <a:srgbClr val="DC2626"/>
                </a:solidFill>
                <a:latin typeface="Calibri"/>
              </a:defRPr>
            </a:pPr>
            <a:r>
              <a:t>0</a:t>
            </a:r>
          </a:p>
        </p:txBody>
      </p:sp>
      <p:sp>
        <p:nvSpPr>
          <p:cNvPr id="59" name="TextBox 58"/>
          <p:cNvSpPr txBox="1"/>
          <p:nvPr/>
        </p:nvSpPr>
        <p:spPr>
          <a:xfrm>
            <a:off x="9326880" y="3337560"/>
            <a:ext cx="1188720" cy="201168"/>
          </a:xfrm>
          <a:prstGeom prst="rect">
            <a:avLst/>
          </a:prstGeom>
          <a:noFill/>
        </p:spPr>
        <p:txBody>
          <a:bodyPr wrap="square">
            <a:spAutoFit/>
          </a:bodyPr>
          <a:lstStyle/>
          <a:p>
            <a:pPr algn="ctr">
              <a:defRPr sz="1000" b="0">
                <a:solidFill>
                  <a:srgbClr val="111827"/>
                </a:solidFill>
                <a:latin typeface="Calibri"/>
              </a:defRPr>
            </a:pPr>
            <a:r>
              <a:t>≥4 / qtr</a:t>
            </a:r>
          </a:p>
        </p:txBody>
      </p:sp>
      <p:sp>
        <p:nvSpPr>
          <p:cNvPr id="60" name="TextBox 59"/>
          <p:cNvSpPr txBox="1"/>
          <p:nvPr/>
        </p:nvSpPr>
        <p:spPr>
          <a:xfrm>
            <a:off x="10515600" y="3337560"/>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61" name="Rectangle 60"/>
          <p:cNvSpPr/>
          <p:nvPr/>
        </p:nvSpPr>
        <p:spPr>
          <a:xfrm>
            <a:off x="457200" y="3557015"/>
            <a:ext cx="11277295"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2920" y="3593591"/>
            <a:ext cx="1920240" cy="201168"/>
          </a:xfrm>
          <a:prstGeom prst="rect">
            <a:avLst/>
          </a:prstGeom>
          <a:noFill/>
        </p:spPr>
        <p:txBody>
          <a:bodyPr wrap="square">
            <a:spAutoFit/>
          </a:bodyPr>
          <a:lstStyle/>
          <a:p>
            <a:pPr algn="l">
              <a:defRPr sz="1000" b="1">
                <a:solidFill>
                  <a:srgbClr val="111827"/>
                </a:solidFill>
                <a:latin typeface="Calibri"/>
              </a:defRPr>
            </a:pPr>
            <a:r>
              <a:t>Christopher Hayes</a:t>
            </a:r>
          </a:p>
        </p:txBody>
      </p:sp>
      <p:sp>
        <p:nvSpPr>
          <p:cNvPr id="63" name="TextBox 62"/>
          <p:cNvSpPr txBox="1"/>
          <p:nvPr/>
        </p:nvSpPr>
        <p:spPr>
          <a:xfrm>
            <a:off x="2423160" y="3593591"/>
            <a:ext cx="685800" cy="201168"/>
          </a:xfrm>
          <a:prstGeom prst="rect">
            <a:avLst/>
          </a:prstGeom>
          <a:noFill/>
        </p:spPr>
        <p:txBody>
          <a:bodyPr wrap="square">
            <a:spAutoFit/>
          </a:bodyPr>
          <a:lstStyle/>
          <a:p>
            <a:pPr algn="ctr">
              <a:defRPr sz="1000" b="0">
                <a:solidFill>
                  <a:srgbClr val="6B7280"/>
                </a:solidFill>
                <a:latin typeface="Calibri"/>
              </a:defRPr>
            </a:pPr>
            <a:r>
              <a:t>BDM</a:t>
            </a:r>
          </a:p>
        </p:txBody>
      </p:sp>
      <p:sp>
        <p:nvSpPr>
          <p:cNvPr id="64" name="TextBox 63"/>
          <p:cNvSpPr txBox="1"/>
          <p:nvPr/>
        </p:nvSpPr>
        <p:spPr>
          <a:xfrm>
            <a:off x="3108960" y="3593591"/>
            <a:ext cx="5029200" cy="201168"/>
          </a:xfrm>
          <a:prstGeom prst="rect">
            <a:avLst/>
          </a:prstGeom>
          <a:noFill/>
        </p:spPr>
        <p:txBody>
          <a:bodyPr wrap="square">
            <a:spAutoFit/>
          </a:bodyPr>
          <a:lstStyle/>
          <a:p>
            <a:pPr algn="l">
              <a:defRPr sz="1000" b="0">
                <a:solidFill>
                  <a:srgbClr val="111827"/>
                </a:solidFill>
                <a:latin typeface="Calibri"/>
              </a:defRPr>
            </a:pPr>
            <a:r>
              <a:t>Q2 GWP trajectory below Q1</a:t>
            </a:r>
          </a:p>
        </p:txBody>
      </p:sp>
      <p:sp>
        <p:nvSpPr>
          <p:cNvPr id="65" name="TextBox 64"/>
          <p:cNvSpPr txBox="1"/>
          <p:nvPr/>
        </p:nvSpPr>
        <p:spPr>
          <a:xfrm>
            <a:off x="8138160" y="3593591"/>
            <a:ext cx="1188720" cy="201168"/>
          </a:xfrm>
          <a:prstGeom prst="rect">
            <a:avLst/>
          </a:prstGeom>
          <a:noFill/>
        </p:spPr>
        <p:txBody>
          <a:bodyPr wrap="square">
            <a:spAutoFit/>
          </a:bodyPr>
          <a:lstStyle/>
          <a:p>
            <a:pPr algn="ctr">
              <a:defRPr sz="1000" b="1">
                <a:solidFill>
                  <a:srgbClr val="DC2626"/>
                </a:solidFill>
                <a:latin typeface="Calibri"/>
              </a:defRPr>
            </a:pPr>
            <a:r>
              <a:t>0% of Q1 pace</a:t>
            </a:r>
          </a:p>
        </p:txBody>
      </p:sp>
      <p:sp>
        <p:nvSpPr>
          <p:cNvPr id="66" name="TextBox 65"/>
          <p:cNvSpPr txBox="1"/>
          <p:nvPr/>
        </p:nvSpPr>
        <p:spPr>
          <a:xfrm>
            <a:off x="9326880" y="3593591"/>
            <a:ext cx="1188720" cy="201168"/>
          </a:xfrm>
          <a:prstGeom prst="rect">
            <a:avLst/>
          </a:prstGeom>
          <a:noFill/>
        </p:spPr>
        <p:txBody>
          <a:bodyPr wrap="square">
            <a:spAutoFit/>
          </a:bodyPr>
          <a:lstStyle/>
          <a:p>
            <a:pPr algn="ctr">
              <a:defRPr sz="1000" b="0">
                <a:solidFill>
                  <a:srgbClr val="111827"/>
                </a:solidFill>
                <a:latin typeface="Calibri"/>
              </a:defRPr>
            </a:pPr>
            <a:r>
              <a:t>85%</a:t>
            </a:r>
          </a:p>
        </p:txBody>
      </p:sp>
      <p:sp>
        <p:nvSpPr>
          <p:cNvPr id="67" name="TextBox 66"/>
          <p:cNvSpPr txBox="1"/>
          <p:nvPr/>
        </p:nvSpPr>
        <p:spPr>
          <a:xfrm>
            <a:off x="10515600" y="3593591"/>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68" name="TextBox 67"/>
          <p:cNvSpPr txBox="1"/>
          <p:nvPr/>
        </p:nvSpPr>
        <p:spPr>
          <a:xfrm>
            <a:off x="502920" y="3849624"/>
            <a:ext cx="1920240" cy="201168"/>
          </a:xfrm>
          <a:prstGeom prst="rect">
            <a:avLst/>
          </a:prstGeom>
          <a:noFill/>
        </p:spPr>
        <p:txBody>
          <a:bodyPr wrap="square">
            <a:spAutoFit/>
          </a:bodyPr>
          <a:lstStyle/>
          <a:p>
            <a:pPr algn="l">
              <a:defRPr sz="1000" b="1">
                <a:solidFill>
                  <a:srgbClr val="111827"/>
                </a:solidFill>
                <a:latin typeface="Calibri"/>
              </a:defRPr>
            </a:pPr>
            <a:r>
              <a:t>Derek Janssen</a:t>
            </a:r>
          </a:p>
        </p:txBody>
      </p:sp>
      <p:sp>
        <p:nvSpPr>
          <p:cNvPr id="69" name="TextBox 68"/>
          <p:cNvSpPr txBox="1"/>
          <p:nvPr/>
        </p:nvSpPr>
        <p:spPr>
          <a:xfrm>
            <a:off x="2423160" y="3849624"/>
            <a:ext cx="685800" cy="201168"/>
          </a:xfrm>
          <a:prstGeom prst="rect">
            <a:avLst/>
          </a:prstGeom>
          <a:noFill/>
        </p:spPr>
        <p:txBody>
          <a:bodyPr wrap="square">
            <a:spAutoFit/>
          </a:bodyPr>
          <a:lstStyle/>
          <a:p>
            <a:pPr algn="ctr">
              <a:defRPr sz="1000" b="0">
                <a:solidFill>
                  <a:srgbClr val="6B7280"/>
                </a:solidFill>
                <a:latin typeface="Calibri"/>
              </a:defRPr>
            </a:pPr>
            <a:r>
              <a:t>BDM</a:t>
            </a:r>
          </a:p>
        </p:txBody>
      </p:sp>
      <p:sp>
        <p:nvSpPr>
          <p:cNvPr id="70" name="TextBox 69"/>
          <p:cNvSpPr txBox="1"/>
          <p:nvPr/>
        </p:nvSpPr>
        <p:spPr>
          <a:xfrm>
            <a:off x="3108960" y="3849624"/>
            <a:ext cx="5029200" cy="201168"/>
          </a:xfrm>
          <a:prstGeom prst="rect">
            <a:avLst/>
          </a:prstGeom>
          <a:noFill/>
        </p:spPr>
        <p:txBody>
          <a:bodyPr wrap="square">
            <a:spAutoFit/>
          </a:bodyPr>
          <a:lstStyle/>
          <a:p>
            <a:pPr algn="l">
              <a:defRPr sz="1000" b="0">
                <a:solidFill>
                  <a:srgbClr val="111827"/>
                </a:solidFill>
                <a:latin typeface="Calibri"/>
              </a:defRPr>
            </a:pPr>
            <a:r>
              <a:t>Zero new producing agencies in Q2</a:t>
            </a:r>
          </a:p>
        </p:txBody>
      </p:sp>
      <p:sp>
        <p:nvSpPr>
          <p:cNvPr id="71" name="TextBox 70"/>
          <p:cNvSpPr txBox="1"/>
          <p:nvPr/>
        </p:nvSpPr>
        <p:spPr>
          <a:xfrm>
            <a:off x="8138160" y="3849624"/>
            <a:ext cx="1188720" cy="201168"/>
          </a:xfrm>
          <a:prstGeom prst="rect">
            <a:avLst/>
          </a:prstGeom>
          <a:noFill/>
        </p:spPr>
        <p:txBody>
          <a:bodyPr wrap="square">
            <a:spAutoFit/>
          </a:bodyPr>
          <a:lstStyle/>
          <a:p>
            <a:pPr algn="ctr">
              <a:defRPr sz="1000" b="1">
                <a:solidFill>
                  <a:srgbClr val="DC2626"/>
                </a:solidFill>
                <a:latin typeface="Calibri"/>
              </a:defRPr>
            </a:pPr>
            <a:r>
              <a:t>0</a:t>
            </a:r>
          </a:p>
        </p:txBody>
      </p:sp>
      <p:sp>
        <p:nvSpPr>
          <p:cNvPr id="72" name="TextBox 71"/>
          <p:cNvSpPr txBox="1"/>
          <p:nvPr/>
        </p:nvSpPr>
        <p:spPr>
          <a:xfrm>
            <a:off x="9326880" y="3849624"/>
            <a:ext cx="1188720" cy="201168"/>
          </a:xfrm>
          <a:prstGeom prst="rect">
            <a:avLst/>
          </a:prstGeom>
          <a:noFill/>
        </p:spPr>
        <p:txBody>
          <a:bodyPr wrap="square">
            <a:spAutoFit/>
          </a:bodyPr>
          <a:lstStyle/>
          <a:p>
            <a:pPr algn="ctr">
              <a:defRPr sz="1000" b="0">
                <a:solidFill>
                  <a:srgbClr val="111827"/>
                </a:solidFill>
                <a:latin typeface="Calibri"/>
              </a:defRPr>
            </a:pPr>
            <a:r>
              <a:t>≥4 / qtr</a:t>
            </a:r>
          </a:p>
        </p:txBody>
      </p:sp>
      <p:sp>
        <p:nvSpPr>
          <p:cNvPr id="73" name="TextBox 72"/>
          <p:cNvSpPr txBox="1"/>
          <p:nvPr/>
        </p:nvSpPr>
        <p:spPr>
          <a:xfrm>
            <a:off x="10515600" y="3849624"/>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74" name="Rectangle 73"/>
          <p:cNvSpPr/>
          <p:nvPr/>
        </p:nvSpPr>
        <p:spPr>
          <a:xfrm>
            <a:off x="457200" y="4069080"/>
            <a:ext cx="11277295"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02920" y="4105656"/>
            <a:ext cx="1920240" cy="201168"/>
          </a:xfrm>
          <a:prstGeom prst="rect">
            <a:avLst/>
          </a:prstGeom>
          <a:noFill/>
        </p:spPr>
        <p:txBody>
          <a:bodyPr wrap="square">
            <a:spAutoFit/>
          </a:bodyPr>
          <a:lstStyle/>
          <a:p>
            <a:pPr algn="l">
              <a:defRPr sz="1000" b="1">
                <a:solidFill>
                  <a:srgbClr val="111827"/>
                </a:solidFill>
                <a:latin typeface="Calibri"/>
              </a:defRPr>
            </a:pPr>
            <a:r>
              <a:t>Derek Janssen</a:t>
            </a:r>
          </a:p>
        </p:txBody>
      </p:sp>
      <p:sp>
        <p:nvSpPr>
          <p:cNvPr id="76" name="TextBox 75"/>
          <p:cNvSpPr txBox="1"/>
          <p:nvPr/>
        </p:nvSpPr>
        <p:spPr>
          <a:xfrm>
            <a:off x="2423160" y="4105656"/>
            <a:ext cx="685800" cy="201168"/>
          </a:xfrm>
          <a:prstGeom prst="rect">
            <a:avLst/>
          </a:prstGeom>
          <a:noFill/>
        </p:spPr>
        <p:txBody>
          <a:bodyPr wrap="square">
            <a:spAutoFit/>
          </a:bodyPr>
          <a:lstStyle/>
          <a:p>
            <a:pPr algn="ctr">
              <a:defRPr sz="1000" b="0">
                <a:solidFill>
                  <a:srgbClr val="6B7280"/>
                </a:solidFill>
                <a:latin typeface="Calibri"/>
              </a:defRPr>
            </a:pPr>
            <a:r>
              <a:t>BDM</a:t>
            </a:r>
          </a:p>
        </p:txBody>
      </p:sp>
      <p:sp>
        <p:nvSpPr>
          <p:cNvPr id="77" name="TextBox 76"/>
          <p:cNvSpPr txBox="1"/>
          <p:nvPr/>
        </p:nvSpPr>
        <p:spPr>
          <a:xfrm>
            <a:off x="3108960" y="4105656"/>
            <a:ext cx="5029200" cy="201168"/>
          </a:xfrm>
          <a:prstGeom prst="rect">
            <a:avLst/>
          </a:prstGeom>
          <a:noFill/>
        </p:spPr>
        <p:txBody>
          <a:bodyPr wrap="square">
            <a:spAutoFit/>
          </a:bodyPr>
          <a:lstStyle/>
          <a:p>
            <a:pPr algn="l">
              <a:defRPr sz="1000" b="0">
                <a:solidFill>
                  <a:srgbClr val="111827"/>
                </a:solidFill>
                <a:latin typeface="Calibri"/>
              </a:defRPr>
            </a:pPr>
            <a:r>
              <a:t>Q2 GWP trajectory below Q1</a:t>
            </a:r>
          </a:p>
        </p:txBody>
      </p:sp>
      <p:sp>
        <p:nvSpPr>
          <p:cNvPr id="78" name="TextBox 77"/>
          <p:cNvSpPr txBox="1"/>
          <p:nvPr/>
        </p:nvSpPr>
        <p:spPr>
          <a:xfrm>
            <a:off x="8138160" y="4105656"/>
            <a:ext cx="1188720" cy="201168"/>
          </a:xfrm>
          <a:prstGeom prst="rect">
            <a:avLst/>
          </a:prstGeom>
          <a:noFill/>
        </p:spPr>
        <p:txBody>
          <a:bodyPr wrap="square">
            <a:spAutoFit/>
          </a:bodyPr>
          <a:lstStyle/>
          <a:p>
            <a:pPr algn="ctr">
              <a:defRPr sz="1000" b="1">
                <a:solidFill>
                  <a:srgbClr val="DC2626"/>
                </a:solidFill>
                <a:latin typeface="Calibri"/>
              </a:defRPr>
            </a:pPr>
            <a:r>
              <a:t>0% of Q1 pace</a:t>
            </a:r>
          </a:p>
        </p:txBody>
      </p:sp>
      <p:sp>
        <p:nvSpPr>
          <p:cNvPr id="79" name="TextBox 78"/>
          <p:cNvSpPr txBox="1"/>
          <p:nvPr/>
        </p:nvSpPr>
        <p:spPr>
          <a:xfrm>
            <a:off x="9326880" y="4105656"/>
            <a:ext cx="1188720" cy="201168"/>
          </a:xfrm>
          <a:prstGeom prst="rect">
            <a:avLst/>
          </a:prstGeom>
          <a:noFill/>
        </p:spPr>
        <p:txBody>
          <a:bodyPr wrap="square">
            <a:spAutoFit/>
          </a:bodyPr>
          <a:lstStyle/>
          <a:p>
            <a:pPr algn="ctr">
              <a:defRPr sz="1000" b="0">
                <a:solidFill>
                  <a:srgbClr val="111827"/>
                </a:solidFill>
                <a:latin typeface="Calibri"/>
              </a:defRPr>
            </a:pPr>
            <a:r>
              <a:t>85%</a:t>
            </a:r>
          </a:p>
        </p:txBody>
      </p:sp>
      <p:sp>
        <p:nvSpPr>
          <p:cNvPr id="80" name="TextBox 79"/>
          <p:cNvSpPr txBox="1"/>
          <p:nvPr/>
        </p:nvSpPr>
        <p:spPr>
          <a:xfrm>
            <a:off x="10515600" y="4105656"/>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81" name="TextBox 80"/>
          <p:cNvSpPr txBox="1"/>
          <p:nvPr/>
        </p:nvSpPr>
        <p:spPr>
          <a:xfrm>
            <a:off x="502920" y="4361688"/>
            <a:ext cx="1920240" cy="201168"/>
          </a:xfrm>
          <a:prstGeom prst="rect">
            <a:avLst/>
          </a:prstGeom>
          <a:noFill/>
        </p:spPr>
        <p:txBody>
          <a:bodyPr wrap="square">
            <a:spAutoFit/>
          </a:bodyPr>
          <a:lstStyle/>
          <a:p>
            <a:pPr algn="l">
              <a:defRPr sz="1000" b="1">
                <a:solidFill>
                  <a:srgbClr val="111827"/>
                </a:solidFill>
                <a:latin typeface="Calibri"/>
              </a:defRPr>
            </a:pPr>
            <a:r>
              <a:t>Derrick Leroy</a:t>
            </a:r>
          </a:p>
        </p:txBody>
      </p:sp>
      <p:sp>
        <p:nvSpPr>
          <p:cNvPr id="82" name="TextBox 81"/>
          <p:cNvSpPr txBox="1"/>
          <p:nvPr/>
        </p:nvSpPr>
        <p:spPr>
          <a:xfrm>
            <a:off x="2423160" y="4361688"/>
            <a:ext cx="685800" cy="201168"/>
          </a:xfrm>
          <a:prstGeom prst="rect">
            <a:avLst/>
          </a:prstGeom>
          <a:noFill/>
        </p:spPr>
        <p:txBody>
          <a:bodyPr wrap="square">
            <a:spAutoFit/>
          </a:bodyPr>
          <a:lstStyle/>
          <a:p>
            <a:pPr algn="ctr">
              <a:defRPr sz="1000" b="0">
                <a:solidFill>
                  <a:srgbClr val="6B7280"/>
                </a:solidFill>
                <a:latin typeface="Calibri"/>
              </a:defRPr>
            </a:pPr>
            <a:r>
              <a:t>BDM</a:t>
            </a:r>
          </a:p>
        </p:txBody>
      </p:sp>
      <p:sp>
        <p:nvSpPr>
          <p:cNvPr id="83" name="TextBox 82"/>
          <p:cNvSpPr txBox="1"/>
          <p:nvPr/>
        </p:nvSpPr>
        <p:spPr>
          <a:xfrm>
            <a:off x="3108960" y="4361688"/>
            <a:ext cx="5029200" cy="201168"/>
          </a:xfrm>
          <a:prstGeom prst="rect">
            <a:avLst/>
          </a:prstGeom>
          <a:noFill/>
        </p:spPr>
        <p:txBody>
          <a:bodyPr wrap="square">
            <a:spAutoFit/>
          </a:bodyPr>
          <a:lstStyle/>
          <a:p>
            <a:pPr algn="l">
              <a:defRPr sz="1000" b="0">
                <a:solidFill>
                  <a:srgbClr val="111827"/>
                </a:solidFill>
                <a:latin typeface="Calibri"/>
              </a:defRPr>
            </a:pPr>
            <a:r>
              <a:t>Zero new producing agencies in Q2</a:t>
            </a:r>
          </a:p>
        </p:txBody>
      </p:sp>
      <p:sp>
        <p:nvSpPr>
          <p:cNvPr id="84" name="TextBox 83"/>
          <p:cNvSpPr txBox="1"/>
          <p:nvPr/>
        </p:nvSpPr>
        <p:spPr>
          <a:xfrm>
            <a:off x="8138160" y="4361688"/>
            <a:ext cx="1188720" cy="201168"/>
          </a:xfrm>
          <a:prstGeom prst="rect">
            <a:avLst/>
          </a:prstGeom>
          <a:noFill/>
        </p:spPr>
        <p:txBody>
          <a:bodyPr wrap="square">
            <a:spAutoFit/>
          </a:bodyPr>
          <a:lstStyle/>
          <a:p>
            <a:pPr algn="ctr">
              <a:defRPr sz="1000" b="1">
                <a:solidFill>
                  <a:srgbClr val="DC2626"/>
                </a:solidFill>
                <a:latin typeface="Calibri"/>
              </a:defRPr>
            </a:pPr>
            <a:r>
              <a:t>0</a:t>
            </a:r>
          </a:p>
        </p:txBody>
      </p:sp>
      <p:sp>
        <p:nvSpPr>
          <p:cNvPr id="85" name="TextBox 84"/>
          <p:cNvSpPr txBox="1"/>
          <p:nvPr/>
        </p:nvSpPr>
        <p:spPr>
          <a:xfrm>
            <a:off x="9326880" y="4361688"/>
            <a:ext cx="1188720" cy="201168"/>
          </a:xfrm>
          <a:prstGeom prst="rect">
            <a:avLst/>
          </a:prstGeom>
          <a:noFill/>
        </p:spPr>
        <p:txBody>
          <a:bodyPr wrap="square">
            <a:spAutoFit/>
          </a:bodyPr>
          <a:lstStyle/>
          <a:p>
            <a:pPr algn="ctr">
              <a:defRPr sz="1000" b="0">
                <a:solidFill>
                  <a:srgbClr val="111827"/>
                </a:solidFill>
                <a:latin typeface="Calibri"/>
              </a:defRPr>
            </a:pPr>
            <a:r>
              <a:t>≥4 / qtr</a:t>
            </a:r>
          </a:p>
        </p:txBody>
      </p:sp>
      <p:sp>
        <p:nvSpPr>
          <p:cNvPr id="86" name="TextBox 85"/>
          <p:cNvSpPr txBox="1"/>
          <p:nvPr/>
        </p:nvSpPr>
        <p:spPr>
          <a:xfrm>
            <a:off x="10515600" y="4361688"/>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87" name="Rectangle 86"/>
          <p:cNvSpPr/>
          <p:nvPr/>
        </p:nvSpPr>
        <p:spPr>
          <a:xfrm>
            <a:off x="457200" y="4581144"/>
            <a:ext cx="11277295"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02920" y="4617720"/>
            <a:ext cx="1920240" cy="201168"/>
          </a:xfrm>
          <a:prstGeom prst="rect">
            <a:avLst/>
          </a:prstGeom>
          <a:noFill/>
        </p:spPr>
        <p:txBody>
          <a:bodyPr wrap="square">
            <a:spAutoFit/>
          </a:bodyPr>
          <a:lstStyle/>
          <a:p>
            <a:pPr algn="l">
              <a:defRPr sz="1000" b="1">
                <a:solidFill>
                  <a:srgbClr val="111827"/>
                </a:solidFill>
                <a:latin typeface="Calibri"/>
              </a:defRPr>
            </a:pPr>
            <a:r>
              <a:t>Derrick Leroy</a:t>
            </a:r>
          </a:p>
        </p:txBody>
      </p:sp>
      <p:sp>
        <p:nvSpPr>
          <p:cNvPr id="89" name="TextBox 88"/>
          <p:cNvSpPr txBox="1"/>
          <p:nvPr/>
        </p:nvSpPr>
        <p:spPr>
          <a:xfrm>
            <a:off x="2423160" y="4617720"/>
            <a:ext cx="685800" cy="201168"/>
          </a:xfrm>
          <a:prstGeom prst="rect">
            <a:avLst/>
          </a:prstGeom>
          <a:noFill/>
        </p:spPr>
        <p:txBody>
          <a:bodyPr wrap="square">
            <a:spAutoFit/>
          </a:bodyPr>
          <a:lstStyle/>
          <a:p>
            <a:pPr algn="ctr">
              <a:defRPr sz="1000" b="0">
                <a:solidFill>
                  <a:srgbClr val="6B7280"/>
                </a:solidFill>
                <a:latin typeface="Calibri"/>
              </a:defRPr>
            </a:pPr>
            <a:r>
              <a:t>BDM</a:t>
            </a:r>
          </a:p>
        </p:txBody>
      </p:sp>
      <p:sp>
        <p:nvSpPr>
          <p:cNvPr id="90" name="TextBox 89"/>
          <p:cNvSpPr txBox="1"/>
          <p:nvPr/>
        </p:nvSpPr>
        <p:spPr>
          <a:xfrm>
            <a:off x="3108960" y="4617720"/>
            <a:ext cx="5029200" cy="201168"/>
          </a:xfrm>
          <a:prstGeom prst="rect">
            <a:avLst/>
          </a:prstGeom>
          <a:noFill/>
        </p:spPr>
        <p:txBody>
          <a:bodyPr wrap="square">
            <a:spAutoFit/>
          </a:bodyPr>
          <a:lstStyle/>
          <a:p>
            <a:pPr algn="l">
              <a:defRPr sz="1000" b="0">
                <a:solidFill>
                  <a:srgbClr val="111827"/>
                </a:solidFill>
                <a:latin typeface="Calibri"/>
              </a:defRPr>
            </a:pPr>
            <a:r>
              <a:t>Q2 GWP trajectory below Q1</a:t>
            </a:r>
          </a:p>
        </p:txBody>
      </p:sp>
      <p:sp>
        <p:nvSpPr>
          <p:cNvPr id="91" name="TextBox 90"/>
          <p:cNvSpPr txBox="1"/>
          <p:nvPr/>
        </p:nvSpPr>
        <p:spPr>
          <a:xfrm>
            <a:off x="8138160" y="4617720"/>
            <a:ext cx="1188720" cy="201168"/>
          </a:xfrm>
          <a:prstGeom prst="rect">
            <a:avLst/>
          </a:prstGeom>
          <a:noFill/>
        </p:spPr>
        <p:txBody>
          <a:bodyPr wrap="square">
            <a:spAutoFit/>
          </a:bodyPr>
          <a:lstStyle/>
          <a:p>
            <a:pPr algn="ctr">
              <a:defRPr sz="1000" b="1">
                <a:solidFill>
                  <a:srgbClr val="DC2626"/>
                </a:solidFill>
                <a:latin typeface="Calibri"/>
              </a:defRPr>
            </a:pPr>
            <a:r>
              <a:t>0% of Q1 pace</a:t>
            </a:r>
          </a:p>
        </p:txBody>
      </p:sp>
      <p:sp>
        <p:nvSpPr>
          <p:cNvPr id="92" name="TextBox 91"/>
          <p:cNvSpPr txBox="1"/>
          <p:nvPr/>
        </p:nvSpPr>
        <p:spPr>
          <a:xfrm>
            <a:off x="9326880" y="4617720"/>
            <a:ext cx="1188720" cy="201168"/>
          </a:xfrm>
          <a:prstGeom prst="rect">
            <a:avLst/>
          </a:prstGeom>
          <a:noFill/>
        </p:spPr>
        <p:txBody>
          <a:bodyPr wrap="square">
            <a:spAutoFit/>
          </a:bodyPr>
          <a:lstStyle/>
          <a:p>
            <a:pPr algn="ctr">
              <a:defRPr sz="1000" b="0">
                <a:solidFill>
                  <a:srgbClr val="111827"/>
                </a:solidFill>
                <a:latin typeface="Calibri"/>
              </a:defRPr>
            </a:pPr>
            <a:r>
              <a:t>85%</a:t>
            </a:r>
          </a:p>
        </p:txBody>
      </p:sp>
      <p:sp>
        <p:nvSpPr>
          <p:cNvPr id="93" name="TextBox 92"/>
          <p:cNvSpPr txBox="1"/>
          <p:nvPr/>
        </p:nvSpPr>
        <p:spPr>
          <a:xfrm>
            <a:off x="10515600" y="4617720"/>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94" name="TextBox 93"/>
          <p:cNvSpPr txBox="1"/>
          <p:nvPr/>
        </p:nvSpPr>
        <p:spPr>
          <a:xfrm>
            <a:off x="502920" y="4873752"/>
            <a:ext cx="1920240" cy="201168"/>
          </a:xfrm>
          <a:prstGeom prst="rect">
            <a:avLst/>
          </a:prstGeom>
          <a:noFill/>
        </p:spPr>
        <p:txBody>
          <a:bodyPr wrap="square">
            <a:spAutoFit/>
          </a:bodyPr>
          <a:lstStyle/>
          <a:p>
            <a:pPr algn="l">
              <a:defRPr sz="1000" b="1">
                <a:solidFill>
                  <a:srgbClr val="111827"/>
                </a:solidFill>
                <a:latin typeface="Calibri"/>
              </a:defRPr>
            </a:pPr>
            <a:r>
              <a:t>Erika Cabrera</a:t>
            </a:r>
          </a:p>
        </p:txBody>
      </p:sp>
      <p:sp>
        <p:nvSpPr>
          <p:cNvPr id="95" name="TextBox 94"/>
          <p:cNvSpPr txBox="1"/>
          <p:nvPr/>
        </p:nvSpPr>
        <p:spPr>
          <a:xfrm>
            <a:off x="2423160" y="4873752"/>
            <a:ext cx="685800" cy="201168"/>
          </a:xfrm>
          <a:prstGeom prst="rect">
            <a:avLst/>
          </a:prstGeom>
          <a:noFill/>
        </p:spPr>
        <p:txBody>
          <a:bodyPr wrap="square">
            <a:spAutoFit/>
          </a:bodyPr>
          <a:lstStyle/>
          <a:p>
            <a:pPr algn="ctr">
              <a:defRPr sz="1000" b="0">
                <a:solidFill>
                  <a:srgbClr val="6B7280"/>
                </a:solidFill>
                <a:latin typeface="Calibri"/>
              </a:defRPr>
            </a:pPr>
            <a:r>
              <a:t>BDA</a:t>
            </a:r>
          </a:p>
        </p:txBody>
      </p:sp>
      <p:sp>
        <p:nvSpPr>
          <p:cNvPr id="96" name="TextBox 95"/>
          <p:cNvSpPr txBox="1"/>
          <p:nvPr/>
        </p:nvSpPr>
        <p:spPr>
          <a:xfrm>
            <a:off x="3108960" y="4873752"/>
            <a:ext cx="5029200" cy="201168"/>
          </a:xfrm>
          <a:prstGeom prst="rect">
            <a:avLst/>
          </a:prstGeom>
          <a:noFill/>
        </p:spPr>
        <p:txBody>
          <a:bodyPr wrap="square">
            <a:spAutoFit/>
          </a:bodyPr>
          <a:lstStyle/>
          <a:p>
            <a:pPr algn="l">
              <a:defRPr sz="1000" b="0">
                <a:solidFill>
                  <a:srgbClr val="111827"/>
                </a:solidFill>
                <a:latin typeface="Calibri"/>
              </a:defRPr>
            </a:pPr>
            <a:r>
              <a:t>Activity below 70%</a:t>
            </a:r>
          </a:p>
        </p:txBody>
      </p:sp>
      <p:sp>
        <p:nvSpPr>
          <p:cNvPr id="97" name="TextBox 96"/>
          <p:cNvSpPr txBox="1"/>
          <p:nvPr/>
        </p:nvSpPr>
        <p:spPr>
          <a:xfrm>
            <a:off x="8138160" y="4873752"/>
            <a:ext cx="1188720" cy="201168"/>
          </a:xfrm>
          <a:prstGeom prst="rect">
            <a:avLst/>
          </a:prstGeom>
          <a:noFill/>
        </p:spPr>
        <p:txBody>
          <a:bodyPr wrap="square">
            <a:spAutoFit/>
          </a:bodyPr>
          <a:lstStyle/>
          <a:p>
            <a:pPr algn="ctr">
              <a:defRPr sz="1000" b="1">
                <a:solidFill>
                  <a:srgbClr val="DC2626"/>
                </a:solidFill>
                <a:latin typeface="Calibri"/>
              </a:defRPr>
            </a:pPr>
            <a:r>
              <a:t>41%</a:t>
            </a:r>
          </a:p>
        </p:txBody>
      </p:sp>
      <p:sp>
        <p:nvSpPr>
          <p:cNvPr id="98" name="TextBox 97"/>
          <p:cNvSpPr txBox="1"/>
          <p:nvPr/>
        </p:nvSpPr>
        <p:spPr>
          <a:xfrm>
            <a:off x="9326880" y="4873752"/>
            <a:ext cx="1188720" cy="201168"/>
          </a:xfrm>
          <a:prstGeom prst="rect">
            <a:avLst/>
          </a:prstGeom>
          <a:noFill/>
        </p:spPr>
        <p:txBody>
          <a:bodyPr wrap="square">
            <a:spAutoFit/>
          </a:bodyPr>
          <a:lstStyle/>
          <a:p>
            <a:pPr algn="ctr">
              <a:defRPr sz="1000" b="0">
                <a:solidFill>
                  <a:srgbClr val="111827"/>
                </a:solidFill>
                <a:latin typeface="Calibri"/>
              </a:defRPr>
            </a:pPr>
            <a:r>
              <a:t>70%</a:t>
            </a:r>
          </a:p>
        </p:txBody>
      </p:sp>
      <p:sp>
        <p:nvSpPr>
          <p:cNvPr id="99" name="TextBox 98"/>
          <p:cNvSpPr txBox="1"/>
          <p:nvPr/>
        </p:nvSpPr>
        <p:spPr>
          <a:xfrm>
            <a:off x="10515600" y="4873752"/>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100" name="Rectangle 99"/>
          <p:cNvSpPr/>
          <p:nvPr/>
        </p:nvSpPr>
        <p:spPr>
          <a:xfrm>
            <a:off x="457200" y="5093208"/>
            <a:ext cx="11277295"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502920" y="5129784"/>
            <a:ext cx="1920240" cy="201168"/>
          </a:xfrm>
          <a:prstGeom prst="rect">
            <a:avLst/>
          </a:prstGeom>
          <a:noFill/>
        </p:spPr>
        <p:txBody>
          <a:bodyPr wrap="square">
            <a:spAutoFit/>
          </a:bodyPr>
          <a:lstStyle/>
          <a:p>
            <a:pPr algn="l">
              <a:defRPr sz="1000" b="1">
                <a:solidFill>
                  <a:srgbClr val="111827"/>
                </a:solidFill>
                <a:latin typeface="Calibri"/>
              </a:defRPr>
            </a:pPr>
            <a:r>
              <a:t>Erika Cabrera</a:t>
            </a:r>
          </a:p>
        </p:txBody>
      </p:sp>
      <p:sp>
        <p:nvSpPr>
          <p:cNvPr id="102" name="TextBox 101"/>
          <p:cNvSpPr txBox="1"/>
          <p:nvPr/>
        </p:nvSpPr>
        <p:spPr>
          <a:xfrm>
            <a:off x="2423160" y="5129784"/>
            <a:ext cx="685800" cy="201168"/>
          </a:xfrm>
          <a:prstGeom prst="rect">
            <a:avLst/>
          </a:prstGeom>
          <a:noFill/>
        </p:spPr>
        <p:txBody>
          <a:bodyPr wrap="square">
            <a:spAutoFit/>
          </a:bodyPr>
          <a:lstStyle/>
          <a:p>
            <a:pPr algn="ctr">
              <a:defRPr sz="1000" b="0">
                <a:solidFill>
                  <a:srgbClr val="6B7280"/>
                </a:solidFill>
                <a:latin typeface="Calibri"/>
              </a:defRPr>
            </a:pPr>
            <a:r>
              <a:t>BDA</a:t>
            </a:r>
          </a:p>
        </p:txBody>
      </p:sp>
      <p:sp>
        <p:nvSpPr>
          <p:cNvPr id="103" name="TextBox 102"/>
          <p:cNvSpPr txBox="1"/>
          <p:nvPr/>
        </p:nvSpPr>
        <p:spPr>
          <a:xfrm>
            <a:off x="3108960" y="5129784"/>
            <a:ext cx="5029200" cy="201168"/>
          </a:xfrm>
          <a:prstGeom prst="rect">
            <a:avLst/>
          </a:prstGeom>
          <a:noFill/>
        </p:spPr>
        <p:txBody>
          <a:bodyPr wrap="square">
            <a:spAutoFit/>
          </a:bodyPr>
          <a:lstStyle/>
          <a:p>
            <a:pPr algn="l">
              <a:defRPr sz="1000" b="0">
                <a:solidFill>
                  <a:srgbClr val="111827"/>
                </a:solidFill>
                <a:latin typeface="Calibri"/>
              </a:defRPr>
            </a:pPr>
            <a:r>
              <a:t>Q2 GWP trajectory below Q1</a:t>
            </a:r>
          </a:p>
        </p:txBody>
      </p:sp>
      <p:sp>
        <p:nvSpPr>
          <p:cNvPr id="104" name="TextBox 103"/>
          <p:cNvSpPr txBox="1"/>
          <p:nvPr/>
        </p:nvSpPr>
        <p:spPr>
          <a:xfrm>
            <a:off x="8138160" y="5129784"/>
            <a:ext cx="1188720" cy="201168"/>
          </a:xfrm>
          <a:prstGeom prst="rect">
            <a:avLst/>
          </a:prstGeom>
          <a:noFill/>
        </p:spPr>
        <p:txBody>
          <a:bodyPr wrap="square">
            <a:spAutoFit/>
          </a:bodyPr>
          <a:lstStyle/>
          <a:p>
            <a:pPr algn="ctr">
              <a:defRPr sz="1000" b="1">
                <a:solidFill>
                  <a:srgbClr val="DC2626"/>
                </a:solidFill>
                <a:latin typeface="Calibri"/>
              </a:defRPr>
            </a:pPr>
            <a:r>
              <a:t>0% of Q1 pace</a:t>
            </a:r>
          </a:p>
        </p:txBody>
      </p:sp>
      <p:sp>
        <p:nvSpPr>
          <p:cNvPr id="105" name="TextBox 104"/>
          <p:cNvSpPr txBox="1"/>
          <p:nvPr/>
        </p:nvSpPr>
        <p:spPr>
          <a:xfrm>
            <a:off x="9326880" y="5129784"/>
            <a:ext cx="1188720" cy="201168"/>
          </a:xfrm>
          <a:prstGeom prst="rect">
            <a:avLst/>
          </a:prstGeom>
          <a:noFill/>
        </p:spPr>
        <p:txBody>
          <a:bodyPr wrap="square">
            <a:spAutoFit/>
          </a:bodyPr>
          <a:lstStyle/>
          <a:p>
            <a:pPr algn="ctr">
              <a:defRPr sz="1000" b="0">
                <a:solidFill>
                  <a:srgbClr val="111827"/>
                </a:solidFill>
                <a:latin typeface="Calibri"/>
              </a:defRPr>
            </a:pPr>
            <a:r>
              <a:t>85%</a:t>
            </a:r>
          </a:p>
        </p:txBody>
      </p:sp>
      <p:sp>
        <p:nvSpPr>
          <p:cNvPr id="106" name="TextBox 105"/>
          <p:cNvSpPr txBox="1"/>
          <p:nvPr/>
        </p:nvSpPr>
        <p:spPr>
          <a:xfrm>
            <a:off x="10515600" y="5129784"/>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107" name="TextBox 106"/>
          <p:cNvSpPr txBox="1"/>
          <p:nvPr/>
        </p:nvSpPr>
        <p:spPr>
          <a:xfrm>
            <a:off x="502920" y="5385816"/>
            <a:ext cx="1920240" cy="201168"/>
          </a:xfrm>
          <a:prstGeom prst="rect">
            <a:avLst/>
          </a:prstGeom>
          <a:noFill/>
        </p:spPr>
        <p:txBody>
          <a:bodyPr wrap="square">
            <a:spAutoFit/>
          </a:bodyPr>
          <a:lstStyle/>
          <a:p>
            <a:pPr algn="l">
              <a:defRPr sz="1000" b="1">
                <a:solidFill>
                  <a:srgbClr val="111827"/>
                </a:solidFill>
                <a:latin typeface="Calibri"/>
              </a:defRPr>
            </a:pPr>
            <a:r>
              <a:t>Kurt Butterfield</a:t>
            </a:r>
          </a:p>
        </p:txBody>
      </p:sp>
      <p:sp>
        <p:nvSpPr>
          <p:cNvPr id="108" name="TextBox 107"/>
          <p:cNvSpPr txBox="1"/>
          <p:nvPr/>
        </p:nvSpPr>
        <p:spPr>
          <a:xfrm>
            <a:off x="2423160" y="5385816"/>
            <a:ext cx="685800" cy="201168"/>
          </a:xfrm>
          <a:prstGeom prst="rect">
            <a:avLst/>
          </a:prstGeom>
          <a:noFill/>
        </p:spPr>
        <p:txBody>
          <a:bodyPr wrap="square">
            <a:spAutoFit/>
          </a:bodyPr>
          <a:lstStyle/>
          <a:p>
            <a:pPr algn="ctr">
              <a:defRPr sz="1000" b="0">
                <a:solidFill>
                  <a:srgbClr val="6B7280"/>
                </a:solidFill>
                <a:latin typeface="Calibri"/>
              </a:defRPr>
            </a:pPr>
            <a:r>
              <a:t>BDA</a:t>
            </a:r>
          </a:p>
        </p:txBody>
      </p:sp>
      <p:sp>
        <p:nvSpPr>
          <p:cNvPr id="109" name="TextBox 108"/>
          <p:cNvSpPr txBox="1"/>
          <p:nvPr/>
        </p:nvSpPr>
        <p:spPr>
          <a:xfrm>
            <a:off x="3108960" y="5385816"/>
            <a:ext cx="5029200" cy="201168"/>
          </a:xfrm>
          <a:prstGeom prst="rect">
            <a:avLst/>
          </a:prstGeom>
          <a:noFill/>
        </p:spPr>
        <p:txBody>
          <a:bodyPr wrap="square">
            <a:spAutoFit/>
          </a:bodyPr>
          <a:lstStyle/>
          <a:p>
            <a:pPr algn="l">
              <a:defRPr sz="1000" b="0">
                <a:solidFill>
                  <a:srgbClr val="111827"/>
                </a:solidFill>
                <a:latin typeface="Calibri"/>
              </a:defRPr>
            </a:pPr>
            <a:r>
              <a:t>Activity below 70%</a:t>
            </a:r>
          </a:p>
        </p:txBody>
      </p:sp>
      <p:sp>
        <p:nvSpPr>
          <p:cNvPr id="110" name="TextBox 109"/>
          <p:cNvSpPr txBox="1"/>
          <p:nvPr/>
        </p:nvSpPr>
        <p:spPr>
          <a:xfrm>
            <a:off x="8138160" y="5385816"/>
            <a:ext cx="1188720" cy="201168"/>
          </a:xfrm>
          <a:prstGeom prst="rect">
            <a:avLst/>
          </a:prstGeom>
          <a:noFill/>
        </p:spPr>
        <p:txBody>
          <a:bodyPr wrap="square">
            <a:spAutoFit/>
          </a:bodyPr>
          <a:lstStyle/>
          <a:p>
            <a:pPr algn="ctr">
              <a:defRPr sz="1000" b="1">
                <a:solidFill>
                  <a:srgbClr val="DC2626"/>
                </a:solidFill>
                <a:latin typeface="Calibri"/>
              </a:defRPr>
            </a:pPr>
            <a:r>
              <a:t>16%</a:t>
            </a:r>
          </a:p>
        </p:txBody>
      </p:sp>
      <p:sp>
        <p:nvSpPr>
          <p:cNvPr id="111" name="TextBox 110"/>
          <p:cNvSpPr txBox="1"/>
          <p:nvPr/>
        </p:nvSpPr>
        <p:spPr>
          <a:xfrm>
            <a:off x="9326880" y="5385816"/>
            <a:ext cx="1188720" cy="201168"/>
          </a:xfrm>
          <a:prstGeom prst="rect">
            <a:avLst/>
          </a:prstGeom>
          <a:noFill/>
        </p:spPr>
        <p:txBody>
          <a:bodyPr wrap="square">
            <a:spAutoFit/>
          </a:bodyPr>
          <a:lstStyle/>
          <a:p>
            <a:pPr algn="ctr">
              <a:defRPr sz="1000" b="0">
                <a:solidFill>
                  <a:srgbClr val="111827"/>
                </a:solidFill>
                <a:latin typeface="Calibri"/>
              </a:defRPr>
            </a:pPr>
            <a:r>
              <a:t>70%</a:t>
            </a:r>
          </a:p>
        </p:txBody>
      </p:sp>
      <p:sp>
        <p:nvSpPr>
          <p:cNvPr id="112" name="TextBox 111"/>
          <p:cNvSpPr txBox="1"/>
          <p:nvPr/>
        </p:nvSpPr>
        <p:spPr>
          <a:xfrm>
            <a:off x="10515600" y="5385816"/>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113" name="Rectangle 112"/>
          <p:cNvSpPr/>
          <p:nvPr/>
        </p:nvSpPr>
        <p:spPr>
          <a:xfrm>
            <a:off x="457200" y="5605272"/>
            <a:ext cx="11277295"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502920" y="5641848"/>
            <a:ext cx="1920240" cy="201168"/>
          </a:xfrm>
          <a:prstGeom prst="rect">
            <a:avLst/>
          </a:prstGeom>
          <a:noFill/>
        </p:spPr>
        <p:txBody>
          <a:bodyPr wrap="square">
            <a:spAutoFit/>
          </a:bodyPr>
          <a:lstStyle/>
          <a:p>
            <a:pPr algn="l">
              <a:defRPr sz="1000" b="1">
                <a:solidFill>
                  <a:srgbClr val="111827"/>
                </a:solidFill>
                <a:latin typeface="Calibri"/>
              </a:defRPr>
            </a:pPr>
            <a:r>
              <a:t>Kurt Butterfield</a:t>
            </a:r>
          </a:p>
        </p:txBody>
      </p:sp>
      <p:sp>
        <p:nvSpPr>
          <p:cNvPr id="115" name="TextBox 114"/>
          <p:cNvSpPr txBox="1"/>
          <p:nvPr/>
        </p:nvSpPr>
        <p:spPr>
          <a:xfrm>
            <a:off x="2423160" y="5641848"/>
            <a:ext cx="685800" cy="201168"/>
          </a:xfrm>
          <a:prstGeom prst="rect">
            <a:avLst/>
          </a:prstGeom>
          <a:noFill/>
        </p:spPr>
        <p:txBody>
          <a:bodyPr wrap="square">
            <a:spAutoFit/>
          </a:bodyPr>
          <a:lstStyle/>
          <a:p>
            <a:pPr algn="ctr">
              <a:defRPr sz="1000" b="0">
                <a:solidFill>
                  <a:srgbClr val="6B7280"/>
                </a:solidFill>
                <a:latin typeface="Calibri"/>
              </a:defRPr>
            </a:pPr>
            <a:r>
              <a:t>BDA</a:t>
            </a:r>
          </a:p>
        </p:txBody>
      </p:sp>
      <p:sp>
        <p:nvSpPr>
          <p:cNvPr id="116" name="TextBox 115"/>
          <p:cNvSpPr txBox="1"/>
          <p:nvPr/>
        </p:nvSpPr>
        <p:spPr>
          <a:xfrm>
            <a:off x="3108960" y="5641848"/>
            <a:ext cx="5029200" cy="201168"/>
          </a:xfrm>
          <a:prstGeom prst="rect">
            <a:avLst/>
          </a:prstGeom>
          <a:noFill/>
        </p:spPr>
        <p:txBody>
          <a:bodyPr wrap="square">
            <a:spAutoFit/>
          </a:bodyPr>
          <a:lstStyle/>
          <a:p>
            <a:pPr algn="l">
              <a:defRPr sz="1000" b="0">
                <a:solidFill>
                  <a:srgbClr val="111827"/>
                </a:solidFill>
                <a:latin typeface="Calibri"/>
              </a:defRPr>
            </a:pPr>
            <a:r>
              <a:t>Q2 GWP trajectory below Q1</a:t>
            </a:r>
          </a:p>
        </p:txBody>
      </p:sp>
      <p:sp>
        <p:nvSpPr>
          <p:cNvPr id="117" name="TextBox 116"/>
          <p:cNvSpPr txBox="1"/>
          <p:nvPr/>
        </p:nvSpPr>
        <p:spPr>
          <a:xfrm>
            <a:off x="8138160" y="5641848"/>
            <a:ext cx="1188720" cy="201168"/>
          </a:xfrm>
          <a:prstGeom prst="rect">
            <a:avLst/>
          </a:prstGeom>
          <a:noFill/>
        </p:spPr>
        <p:txBody>
          <a:bodyPr wrap="square">
            <a:spAutoFit/>
          </a:bodyPr>
          <a:lstStyle/>
          <a:p>
            <a:pPr algn="ctr">
              <a:defRPr sz="1000" b="1">
                <a:solidFill>
                  <a:srgbClr val="DC2626"/>
                </a:solidFill>
                <a:latin typeface="Calibri"/>
              </a:defRPr>
            </a:pPr>
            <a:r>
              <a:t>0% of Q1 pace</a:t>
            </a:r>
          </a:p>
        </p:txBody>
      </p:sp>
      <p:sp>
        <p:nvSpPr>
          <p:cNvPr id="118" name="TextBox 117"/>
          <p:cNvSpPr txBox="1"/>
          <p:nvPr/>
        </p:nvSpPr>
        <p:spPr>
          <a:xfrm>
            <a:off x="9326880" y="5641848"/>
            <a:ext cx="1188720" cy="201168"/>
          </a:xfrm>
          <a:prstGeom prst="rect">
            <a:avLst/>
          </a:prstGeom>
          <a:noFill/>
        </p:spPr>
        <p:txBody>
          <a:bodyPr wrap="square">
            <a:spAutoFit/>
          </a:bodyPr>
          <a:lstStyle/>
          <a:p>
            <a:pPr algn="ctr">
              <a:defRPr sz="1000" b="0">
                <a:solidFill>
                  <a:srgbClr val="111827"/>
                </a:solidFill>
                <a:latin typeface="Calibri"/>
              </a:defRPr>
            </a:pPr>
            <a:r>
              <a:t>85%</a:t>
            </a:r>
          </a:p>
        </p:txBody>
      </p:sp>
      <p:sp>
        <p:nvSpPr>
          <p:cNvPr id="119" name="TextBox 118"/>
          <p:cNvSpPr txBox="1"/>
          <p:nvPr/>
        </p:nvSpPr>
        <p:spPr>
          <a:xfrm>
            <a:off x="10515600" y="5641848"/>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120" name="TextBox 119"/>
          <p:cNvSpPr txBox="1"/>
          <p:nvPr/>
        </p:nvSpPr>
        <p:spPr>
          <a:xfrm>
            <a:off x="502920" y="5897880"/>
            <a:ext cx="1920240" cy="201168"/>
          </a:xfrm>
          <a:prstGeom prst="rect">
            <a:avLst/>
          </a:prstGeom>
          <a:noFill/>
        </p:spPr>
        <p:txBody>
          <a:bodyPr wrap="square">
            <a:spAutoFit/>
          </a:bodyPr>
          <a:lstStyle/>
          <a:p>
            <a:pPr algn="l">
              <a:defRPr sz="1000" b="1">
                <a:solidFill>
                  <a:srgbClr val="111827"/>
                </a:solidFill>
                <a:latin typeface="Calibri"/>
              </a:defRPr>
            </a:pPr>
            <a:r>
              <a:t>Portia Lewis</a:t>
            </a:r>
          </a:p>
        </p:txBody>
      </p:sp>
      <p:sp>
        <p:nvSpPr>
          <p:cNvPr id="121" name="TextBox 120"/>
          <p:cNvSpPr txBox="1"/>
          <p:nvPr/>
        </p:nvSpPr>
        <p:spPr>
          <a:xfrm>
            <a:off x="2423160" y="5897880"/>
            <a:ext cx="685800" cy="201168"/>
          </a:xfrm>
          <a:prstGeom prst="rect">
            <a:avLst/>
          </a:prstGeom>
          <a:noFill/>
        </p:spPr>
        <p:txBody>
          <a:bodyPr wrap="square">
            <a:spAutoFit/>
          </a:bodyPr>
          <a:lstStyle/>
          <a:p>
            <a:pPr algn="ctr">
              <a:defRPr sz="1000" b="0">
                <a:solidFill>
                  <a:srgbClr val="6B7280"/>
                </a:solidFill>
                <a:latin typeface="Calibri"/>
              </a:defRPr>
            </a:pPr>
            <a:r>
              <a:t>BDA</a:t>
            </a:r>
          </a:p>
        </p:txBody>
      </p:sp>
      <p:sp>
        <p:nvSpPr>
          <p:cNvPr id="122" name="TextBox 121"/>
          <p:cNvSpPr txBox="1"/>
          <p:nvPr/>
        </p:nvSpPr>
        <p:spPr>
          <a:xfrm>
            <a:off x="3108960" y="5897880"/>
            <a:ext cx="5029200" cy="201168"/>
          </a:xfrm>
          <a:prstGeom prst="rect">
            <a:avLst/>
          </a:prstGeom>
          <a:noFill/>
        </p:spPr>
        <p:txBody>
          <a:bodyPr wrap="square">
            <a:spAutoFit/>
          </a:bodyPr>
          <a:lstStyle/>
          <a:p>
            <a:pPr algn="l">
              <a:defRPr sz="1000" b="0">
                <a:solidFill>
                  <a:srgbClr val="111827"/>
                </a:solidFill>
                <a:latin typeface="Calibri"/>
              </a:defRPr>
            </a:pPr>
            <a:r>
              <a:t>Q2 GWP trajectory below Q1</a:t>
            </a:r>
          </a:p>
        </p:txBody>
      </p:sp>
      <p:sp>
        <p:nvSpPr>
          <p:cNvPr id="123" name="TextBox 122"/>
          <p:cNvSpPr txBox="1"/>
          <p:nvPr/>
        </p:nvSpPr>
        <p:spPr>
          <a:xfrm>
            <a:off x="8138160" y="5897880"/>
            <a:ext cx="1188720" cy="201168"/>
          </a:xfrm>
          <a:prstGeom prst="rect">
            <a:avLst/>
          </a:prstGeom>
          <a:noFill/>
        </p:spPr>
        <p:txBody>
          <a:bodyPr wrap="square">
            <a:spAutoFit/>
          </a:bodyPr>
          <a:lstStyle/>
          <a:p>
            <a:pPr algn="ctr">
              <a:defRPr sz="1000" b="1">
                <a:solidFill>
                  <a:srgbClr val="DC2626"/>
                </a:solidFill>
                <a:latin typeface="Calibri"/>
              </a:defRPr>
            </a:pPr>
            <a:r>
              <a:t>0% of Q1 pace</a:t>
            </a:r>
          </a:p>
        </p:txBody>
      </p:sp>
      <p:sp>
        <p:nvSpPr>
          <p:cNvPr id="124" name="TextBox 123"/>
          <p:cNvSpPr txBox="1"/>
          <p:nvPr/>
        </p:nvSpPr>
        <p:spPr>
          <a:xfrm>
            <a:off x="9326880" y="5897880"/>
            <a:ext cx="1188720" cy="201168"/>
          </a:xfrm>
          <a:prstGeom prst="rect">
            <a:avLst/>
          </a:prstGeom>
          <a:noFill/>
        </p:spPr>
        <p:txBody>
          <a:bodyPr wrap="square">
            <a:spAutoFit/>
          </a:bodyPr>
          <a:lstStyle/>
          <a:p>
            <a:pPr algn="ctr">
              <a:defRPr sz="1000" b="0">
                <a:solidFill>
                  <a:srgbClr val="111827"/>
                </a:solidFill>
                <a:latin typeface="Calibri"/>
              </a:defRPr>
            </a:pPr>
            <a:r>
              <a:t>85%</a:t>
            </a:r>
          </a:p>
        </p:txBody>
      </p:sp>
      <p:sp>
        <p:nvSpPr>
          <p:cNvPr id="125" name="TextBox 124"/>
          <p:cNvSpPr txBox="1"/>
          <p:nvPr/>
        </p:nvSpPr>
        <p:spPr>
          <a:xfrm>
            <a:off x="10515600" y="5897880"/>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126" name="Rectangle 125"/>
          <p:cNvSpPr/>
          <p:nvPr/>
        </p:nvSpPr>
        <p:spPr>
          <a:xfrm>
            <a:off x="457200" y="6117336"/>
            <a:ext cx="11277295" cy="256032"/>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502920" y="6153912"/>
            <a:ext cx="1920240" cy="201168"/>
          </a:xfrm>
          <a:prstGeom prst="rect">
            <a:avLst/>
          </a:prstGeom>
          <a:noFill/>
        </p:spPr>
        <p:txBody>
          <a:bodyPr wrap="square">
            <a:spAutoFit/>
          </a:bodyPr>
          <a:lstStyle/>
          <a:p>
            <a:pPr algn="l">
              <a:defRPr sz="1000" b="1">
                <a:solidFill>
                  <a:srgbClr val="111827"/>
                </a:solidFill>
                <a:latin typeface="Calibri"/>
              </a:defRPr>
            </a:pPr>
            <a:r>
              <a:t>Ron Douglas</a:t>
            </a:r>
          </a:p>
        </p:txBody>
      </p:sp>
      <p:sp>
        <p:nvSpPr>
          <p:cNvPr id="128" name="TextBox 127"/>
          <p:cNvSpPr txBox="1"/>
          <p:nvPr/>
        </p:nvSpPr>
        <p:spPr>
          <a:xfrm>
            <a:off x="2423160" y="6153912"/>
            <a:ext cx="685800" cy="201168"/>
          </a:xfrm>
          <a:prstGeom prst="rect">
            <a:avLst/>
          </a:prstGeom>
          <a:noFill/>
        </p:spPr>
        <p:txBody>
          <a:bodyPr wrap="square">
            <a:spAutoFit/>
          </a:bodyPr>
          <a:lstStyle/>
          <a:p>
            <a:pPr algn="ctr">
              <a:defRPr sz="1000" b="0">
                <a:solidFill>
                  <a:srgbClr val="6B7280"/>
                </a:solidFill>
                <a:latin typeface="Calibri"/>
              </a:defRPr>
            </a:pPr>
            <a:r>
              <a:t>BDM</a:t>
            </a:r>
          </a:p>
        </p:txBody>
      </p:sp>
      <p:sp>
        <p:nvSpPr>
          <p:cNvPr id="129" name="TextBox 128"/>
          <p:cNvSpPr txBox="1"/>
          <p:nvPr/>
        </p:nvSpPr>
        <p:spPr>
          <a:xfrm>
            <a:off x="3108960" y="6153912"/>
            <a:ext cx="5029200" cy="201168"/>
          </a:xfrm>
          <a:prstGeom prst="rect">
            <a:avLst/>
          </a:prstGeom>
          <a:noFill/>
        </p:spPr>
        <p:txBody>
          <a:bodyPr wrap="square">
            <a:spAutoFit/>
          </a:bodyPr>
          <a:lstStyle/>
          <a:p>
            <a:pPr algn="l">
              <a:defRPr sz="1000" b="0">
                <a:solidFill>
                  <a:srgbClr val="111827"/>
                </a:solidFill>
                <a:latin typeface="Calibri"/>
              </a:defRPr>
            </a:pPr>
            <a:r>
              <a:t>Zero new producing agencies in Q2</a:t>
            </a:r>
          </a:p>
        </p:txBody>
      </p:sp>
      <p:sp>
        <p:nvSpPr>
          <p:cNvPr id="130" name="TextBox 129"/>
          <p:cNvSpPr txBox="1"/>
          <p:nvPr/>
        </p:nvSpPr>
        <p:spPr>
          <a:xfrm>
            <a:off x="8138160" y="6153912"/>
            <a:ext cx="1188720" cy="201168"/>
          </a:xfrm>
          <a:prstGeom prst="rect">
            <a:avLst/>
          </a:prstGeom>
          <a:noFill/>
        </p:spPr>
        <p:txBody>
          <a:bodyPr wrap="square">
            <a:spAutoFit/>
          </a:bodyPr>
          <a:lstStyle/>
          <a:p>
            <a:pPr algn="ctr">
              <a:defRPr sz="1000" b="1">
                <a:solidFill>
                  <a:srgbClr val="DC2626"/>
                </a:solidFill>
                <a:latin typeface="Calibri"/>
              </a:defRPr>
            </a:pPr>
            <a:r>
              <a:t>0</a:t>
            </a:r>
          </a:p>
        </p:txBody>
      </p:sp>
      <p:sp>
        <p:nvSpPr>
          <p:cNvPr id="131" name="TextBox 130"/>
          <p:cNvSpPr txBox="1"/>
          <p:nvPr/>
        </p:nvSpPr>
        <p:spPr>
          <a:xfrm>
            <a:off x="9326880" y="6153912"/>
            <a:ext cx="1188720" cy="201168"/>
          </a:xfrm>
          <a:prstGeom prst="rect">
            <a:avLst/>
          </a:prstGeom>
          <a:noFill/>
        </p:spPr>
        <p:txBody>
          <a:bodyPr wrap="square">
            <a:spAutoFit/>
          </a:bodyPr>
          <a:lstStyle/>
          <a:p>
            <a:pPr algn="ctr">
              <a:defRPr sz="1000" b="0">
                <a:solidFill>
                  <a:srgbClr val="111827"/>
                </a:solidFill>
                <a:latin typeface="Calibri"/>
              </a:defRPr>
            </a:pPr>
            <a:r>
              <a:t>≥4 / qtr</a:t>
            </a:r>
          </a:p>
        </p:txBody>
      </p:sp>
      <p:sp>
        <p:nvSpPr>
          <p:cNvPr id="132" name="TextBox 131"/>
          <p:cNvSpPr txBox="1"/>
          <p:nvPr/>
        </p:nvSpPr>
        <p:spPr>
          <a:xfrm>
            <a:off x="10515600" y="6153912"/>
            <a:ext cx="1280160" cy="201168"/>
          </a:xfrm>
          <a:prstGeom prst="rect">
            <a:avLst/>
          </a:prstGeom>
          <a:noFill/>
        </p:spPr>
        <p:txBody>
          <a:bodyPr wrap="square">
            <a:spAutoFit/>
          </a:bodyPr>
          <a:lstStyle/>
          <a:p>
            <a:pPr algn="ctr">
              <a:defRPr sz="1000" b="1">
                <a:solidFill>
                  <a:srgbClr val="DC2626"/>
                </a:solidFill>
                <a:latin typeface="Calibri"/>
              </a:defRPr>
            </a:pPr>
            <a:r>
              <a:t>CRITICAL</a:t>
            </a:r>
          </a:p>
        </p:txBody>
      </p:sp>
      <p:sp>
        <p:nvSpPr>
          <p:cNvPr id="133" name="TextBox 132"/>
          <p:cNvSpPr txBox="1"/>
          <p:nvPr/>
        </p:nvSpPr>
        <p:spPr>
          <a:xfrm>
            <a:off x="457200" y="6428232"/>
            <a:ext cx="11277295" cy="201168"/>
          </a:xfrm>
          <a:prstGeom prst="rect">
            <a:avLst/>
          </a:prstGeom>
          <a:noFill/>
        </p:spPr>
        <p:txBody>
          <a:bodyPr wrap="square">
            <a:spAutoFit/>
          </a:bodyPr>
          <a:lstStyle/>
          <a:p>
            <a:pPr algn="ctr">
              <a:defRPr sz="950" b="0">
                <a:solidFill>
                  <a:srgbClr val="6B7280"/>
                </a:solidFill>
                <a:latin typeface="Calibri"/>
              </a:defRPr>
            </a:pPr>
            <a:r>
              <a:t>… and 11 more (see export)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BDM Performance Matrix — Q2 2026</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2026 YTD (Apr 1–May 12)  |  Green = on target  |  Amber = at risk  |  Red = behind  |  Goal: ≥40 acts/wk  |  Ranked by composite OKR score</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matrix_bdm_q2.png"/>
          <p:cNvPicPr>
            <a:picLocks noChangeAspect="1"/>
          </p:cNvPicPr>
          <p:nvPr/>
        </p:nvPicPr>
        <p:blipFill>
          <a:blip r:embed="rId2"/>
          <a:stretch>
            <a:fillRect/>
          </a:stretch>
        </p:blipFill>
        <p:spPr>
          <a:xfrm>
            <a:off x="91440" y="749808"/>
            <a:ext cx="11978640" cy="56692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BDA Performance Matrix — Q2 2026</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2026 YTD (Apr 1–May 12)  |  Green = on target  |  Amber = at risk  |  Red = behind  |  Goal: ≥50 acts/wk  |  Ranked by composite OKR score</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matrix_bda_q2.png"/>
          <p:cNvPicPr>
            <a:picLocks noChangeAspect="1"/>
          </p:cNvPicPr>
          <p:nvPr/>
        </p:nvPicPr>
        <p:blipFill>
          <a:blip r:embed="rId2"/>
          <a:stretch>
            <a:fillRect/>
          </a:stretch>
        </p:blipFill>
        <p:spPr>
          <a:xfrm>
            <a:off x="91440" y="749808"/>
            <a:ext cx="11978640" cy="56692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073B"/>
        </a:solidFill>
        <a:effectLst/>
      </p:bgPr>
    </p:bg>
    <p:spTree>
      <p:nvGrpSpPr>
        <p:cNvPr id="1" name=""/>
        <p:cNvGrpSpPr/>
        <p:nvPr/>
      </p:nvGrpSpPr>
      <p:grpSpPr/>
      <p:sp>
        <p:nvSpPr>
          <p:cNvPr id="2" name="TextBox 1"/>
          <p:cNvSpPr txBox="1"/>
          <p:nvPr/>
        </p:nvSpPr>
        <p:spPr>
          <a:xfrm>
            <a:off x="1371600" y="2286000"/>
            <a:ext cx="9418320" cy="1280160"/>
          </a:xfrm>
          <a:prstGeom prst="rect">
            <a:avLst/>
          </a:prstGeom>
          <a:noFill/>
        </p:spPr>
        <p:txBody>
          <a:bodyPr wrap="square">
            <a:spAutoFit/>
          </a:bodyPr>
          <a:lstStyle/>
          <a:p>
            <a:pPr algn="ctr">
              <a:defRPr sz="6000" b="1">
                <a:solidFill>
                  <a:srgbClr val="FFFFFF"/>
                </a:solidFill>
                <a:latin typeface="Georgia"/>
              </a:defRPr>
            </a:pPr>
            <a:r>
              <a:t>APPENDIX</a:t>
            </a:r>
          </a:p>
        </p:txBody>
      </p:sp>
      <p:sp>
        <p:nvSpPr>
          <p:cNvPr id="3" name="TextBox 2"/>
          <p:cNvSpPr txBox="1"/>
          <p:nvPr/>
        </p:nvSpPr>
        <p:spPr>
          <a:xfrm>
            <a:off x="1371600" y="3749039"/>
            <a:ext cx="9418320" cy="548640"/>
          </a:xfrm>
          <a:prstGeom prst="rect">
            <a:avLst/>
          </a:prstGeom>
          <a:noFill/>
        </p:spPr>
        <p:txBody>
          <a:bodyPr wrap="square">
            <a:spAutoFit/>
          </a:bodyPr>
          <a:lstStyle/>
          <a:p>
            <a:pPr algn="ctr">
              <a:defRPr sz="2200" b="0">
                <a:solidFill>
                  <a:srgbClr val="C4B5FD"/>
                </a:solidFill>
                <a:latin typeface="Calibri"/>
              </a:defRPr>
            </a:pPr>
            <a:r>
              <a:t>Q1 2026 Final Reference Slides</a:t>
            </a:r>
          </a:p>
        </p:txBody>
      </p:sp>
      <p:sp>
        <p:nvSpPr>
          <p:cNvPr id="4" name="TextBox 3"/>
          <p:cNvSpPr txBox="1"/>
          <p:nvPr/>
        </p:nvSpPr>
        <p:spPr>
          <a:xfrm>
            <a:off x="1371600" y="4389120"/>
            <a:ext cx="9418320" cy="365760"/>
          </a:xfrm>
          <a:prstGeom prst="rect">
            <a:avLst/>
          </a:prstGeom>
          <a:noFill/>
        </p:spPr>
        <p:txBody>
          <a:bodyPr wrap="square">
            <a:spAutoFit/>
          </a:bodyPr>
          <a:lstStyle/>
          <a:p>
            <a:pPr algn="ctr">
              <a:defRPr sz="1100" b="0">
                <a:solidFill>
                  <a:srgbClr val="C4B5FD"/>
                </a:solidFill>
                <a:latin typeface="Calibri"/>
              </a:defRPr>
            </a:pPr>
            <a:r>
              <a:t>Historical context — BDM + BDA Q1 Performance Matrices  |  Q1 Activity Dashboard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BDM Performance Matrix — Q1 2026 Final</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Jan 1 – Mar 31, 2026  |  Completed Quarter  |  Green = on target  |  Amber = at risk  |  Red = behind  |  Goal: ≥40 acts/wk</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matrix_q1_bdm.png"/>
          <p:cNvPicPr>
            <a:picLocks noChangeAspect="1"/>
          </p:cNvPicPr>
          <p:nvPr/>
        </p:nvPicPr>
        <p:blipFill>
          <a:blip r:embed="rId2"/>
          <a:stretch>
            <a:fillRect/>
          </a:stretch>
        </p:blipFill>
        <p:spPr>
          <a:xfrm>
            <a:off x="91440" y="749808"/>
            <a:ext cx="11978640" cy="565099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BDA Performance Matrix — Q1 2026 Final</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Jan 1 – Mar 31, 2026  |  Completed Quarter  |  Green = on target  |  Amber = at risk  |  Red = behind  |  Goal: ≥50 acts/wk</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matrix_q1_bda.png"/>
          <p:cNvPicPr>
            <a:picLocks noChangeAspect="1"/>
          </p:cNvPicPr>
          <p:nvPr/>
        </p:nvPicPr>
        <p:blipFill>
          <a:blip r:embed="rId2"/>
          <a:stretch>
            <a:fillRect/>
          </a:stretch>
        </p:blipFill>
        <p:spPr>
          <a:xfrm>
            <a:off x="91440" y="749808"/>
            <a:ext cx="11978640" cy="565099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Individual Rep Key Findings — Q2 2026</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Gap: need $5.7M/wk ($39.6M shortfall, 7 wks left)  |  Q1→Q2  |  Apr 1–May 12  |  Ranked by composite OKR score  |  Values pace-adjusted</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key_findings_q1q2.png"/>
          <p:cNvPicPr>
            <a:picLocks noChangeAspect="1"/>
          </p:cNvPicPr>
          <p:nvPr/>
        </p:nvPicPr>
        <p:blipFill>
          <a:blip r:embed="rId2"/>
          <a:stretch>
            <a:fillRect/>
          </a:stretch>
        </p:blipFill>
        <p:spPr>
          <a:xfrm>
            <a:off x="91440" y="749808"/>
            <a:ext cx="11978640" cy="59893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New Producing Agencies  |  Q2 YTD</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BDMs Only  |  All Activated-Won NNA deals shown w/ status tag + close date  ·  OKR4 count = APPOINTED only  ·  Goal: 4 per BDM/quarter  |  Q1 reference in Appendix</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okr4_new_agencies.png"/>
          <p:cNvPicPr>
            <a:picLocks noChangeAspect="1"/>
          </p:cNvPicPr>
          <p:nvPr/>
        </p:nvPicPr>
        <p:blipFill>
          <a:blip r:embed="rId2"/>
          <a:stretch>
            <a:fillRect/>
          </a:stretch>
        </p:blipFill>
        <p:spPr>
          <a:xfrm>
            <a:off x="91440" y="749808"/>
            <a:ext cx="11978640" cy="58521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New Producing Agencies  |  Q1 2026 Final</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BDMs Only  |  Completed Quarter  |  Jan 1 – Mar 31, 2026  |  Appendix Reference</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okr4_q1_agencies.png"/>
          <p:cNvPicPr>
            <a:picLocks noChangeAspect="1"/>
          </p:cNvPicPr>
          <p:nvPr/>
        </p:nvPicPr>
        <p:blipFill>
          <a:blip r:embed="rId2"/>
          <a:stretch>
            <a:fillRect/>
          </a:stretch>
        </p:blipFill>
        <p:spPr>
          <a:xfrm>
            <a:off x="91440" y="749808"/>
            <a:ext cx="11978640" cy="58521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Activity Dashboard — Q2 2026  |  BDMs  |  Calls + Meetings</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YTD  |  Apr 1–May 12  |  BDMs Only  |  Goal: 40 acts/wk  |  Emails excluded</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Rectangle 5"/>
          <p:cNvSpPr/>
          <p:nvPr/>
        </p:nvSpPr>
        <p:spPr>
          <a:xfrm>
            <a:off x="182880" y="804672"/>
            <a:ext cx="9235440" cy="27432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850392"/>
            <a:ext cx="1828800" cy="201168"/>
          </a:xfrm>
          <a:prstGeom prst="rect">
            <a:avLst/>
          </a:prstGeom>
          <a:noFill/>
        </p:spPr>
        <p:txBody>
          <a:bodyPr wrap="square">
            <a:spAutoFit/>
          </a:bodyPr>
          <a:lstStyle/>
          <a:p>
            <a:pPr algn="l">
              <a:defRPr sz="950" b="1">
                <a:solidFill>
                  <a:srgbClr val="FFFFFF"/>
                </a:solidFill>
                <a:latin typeface="Calibri"/>
              </a:defRPr>
            </a:pPr>
            <a:r>
              <a:t>Rep</a:t>
            </a:r>
          </a:p>
        </p:txBody>
      </p:sp>
      <p:sp>
        <p:nvSpPr>
          <p:cNvPr id="8" name="TextBox 7"/>
          <p:cNvSpPr txBox="1"/>
          <p:nvPr/>
        </p:nvSpPr>
        <p:spPr>
          <a:xfrm>
            <a:off x="2011680" y="850392"/>
            <a:ext cx="1097280" cy="201168"/>
          </a:xfrm>
          <a:prstGeom prst="rect">
            <a:avLst/>
          </a:prstGeom>
          <a:noFill/>
        </p:spPr>
        <p:txBody>
          <a:bodyPr wrap="square">
            <a:spAutoFit/>
          </a:bodyPr>
          <a:lstStyle/>
          <a:p>
            <a:pPr algn="ctr">
              <a:defRPr sz="900" b="1">
                <a:solidFill>
                  <a:srgbClr val="FFFFFF"/>
                </a:solidFill>
                <a:latin typeface="Calibri"/>
              </a:defRPr>
            </a:pPr>
            <a:r>
              <a:t>Apr 6-12</a:t>
            </a:r>
          </a:p>
        </p:txBody>
      </p:sp>
      <p:sp>
        <p:nvSpPr>
          <p:cNvPr id="9" name="TextBox 8"/>
          <p:cNvSpPr txBox="1"/>
          <p:nvPr/>
        </p:nvSpPr>
        <p:spPr>
          <a:xfrm>
            <a:off x="3108960" y="850392"/>
            <a:ext cx="1097280" cy="201168"/>
          </a:xfrm>
          <a:prstGeom prst="rect">
            <a:avLst/>
          </a:prstGeom>
          <a:noFill/>
        </p:spPr>
        <p:txBody>
          <a:bodyPr wrap="square">
            <a:spAutoFit/>
          </a:bodyPr>
          <a:lstStyle/>
          <a:p>
            <a:pPr algn="ctr">
              <a:defRPr sz="900" b="1">
                <a:solidFill>
                  <a:srgbClr val="FFFFFF"/>
                </a:solidFill>
                <a:latin typeface="Calibri"/>
              </a:defRPr>
            </a:pPr>
            <a:r>
              <a:t>Apr 13-19</a:t>
            </a:r>
          </a:p>
        </p:txBody>
      </p:sp>
      <p:sp>
        <p:nvSpPr>
          <p:cNvPr id="10" name="TextBox 9"/>
          <p:cNvSpPr txBox="1"/>
          <p:nvPr/>
        </p:nvSpPr>
        <p:spPr>
          <a:xfrm>
            <a:off x="4206240" y="850392"/>
            <a:ext cx="1097280" cy="201168"/>
          </a:xfrm>
          <a:prstGeom prst="rect">
            <a:avLst/>
          </a:prstGeom>
          <a:noFill/>
        </p:spPr>
        <p:txBody>
          <a:bodyPr wrap="square">
            <a:spAutoFit/>
          </a:bodyPr>
          <a:lstStyle/>
          <a:p>
            <a:pPr algn="ctr">
              <a:defRPr sz="900" b="1">
                <a:solidFill>
                  <a:srgbClr val="FFFFFF"/>
                </a:solidFill>
                <a:latin typeface="Calibri"/>
              </a:defRPr>
            </a:pPr>
            <a:r>
              <a:t>Apr 20-26</a:t>
            </a:r>
          </a:p>
        </p:txBody>
      </p:sp>
      <p:sp>
        <p:nvSpPr>
          <p:cNvPr id="11" name="TextBox 10"/>
          <p:cNvSpPr txBox="1"/>
          <p:nvPr/>
        </p:nvSpPr>
        <p:spPr>
          <a:xfrm>
            <a:off x="5303520" y="850392"/>
            <a:ext cx="1097280" cy="201168"/>
          </a:xfrm>
          <a:prstGeom prst="rect">
            <a:avLst/>
          </a:prstGeom>
          <a:noFill/>
        </p:spPr>
        <p:txBody>
          <a:bodyPr wrap="square">
            <a:spAutoFit/>
          </a:bodyPr>
          <a:lstStyle/>
          <a:p>
            <a:pPr algn="ctr">
              <a:defRPr sz="900" b="1">
                <a:solidFill>
                  <a:srgbClr val="FFFFFF"/>
                </a:solidFill>
                <a:latin typeface="Calibri"/>
              </a:defRPr>
            </a:pPr>
            <a:r>
              <a:t>Apr 27-May 3</a:t>
            </a:r>
          </a:p>
        </p:txBody>
      </p:sp>
      <p:sp>
        <p:nvSpPr>
          <p:cNvPr id="12" name="TextBox 11"/>
          <p:cNvSpPr txBox="1"/>
          <p:nvPr/>
        </p:nvSpPr>
        <p:spPr>
          <a:xfrm>
            <a:off x="6400800" y="850392"/>
            <a:ext cx="1097280" cy="201168"/>
          </a:xfrm>
          <a:prstGeom prst="rect">
            <a:avLst/>
          </a:prstGeom>
          <a:noFill/>
        </p:spPr>
        <p:txBody>
          <a:bodyPr wrap="square">
            <a:spAutoFit/>
          </a:bodyPr>
          <a:lstStyle/>
          <a:p>
            <a:pPr algn="ctr">
              <a:defRPr sz="900" b="1">
                <a:solidFill>
                  <a:srgbClr val="FFFFFF"/>
                </a:solidFill>
                <a:latin typeface="Calibri"/>
              </a:defRPr>
            </a:pPr>
            <a:r>
              <a:t>May 4-10</a:t>
            </a:r>
          </a:p>
        </p:txBody>
      </p:sp>
      <p:sp>
        <p:nvSpPr>
          <p:cNvPr id="13" name="TextBox 12"/>
          <p:cNvSpPr txBox="1"/>
          <p:nvPr/>
        </p:nvSpPr>
        <p:spPr>
          <a:xfrm>
            <a:off x="7498079" y="850392"/>
            <a:ext cx="1097280" cy="201168"/>
          </a:xfrm>
          <a:prstGeom prst="rect">
            <a:avLst/>
          </a:prstGeom>
          <a:noFill/>
        </p:spPr>
        <p:txBody>
          <a:bodyPr wrap="square">
            <a:spAutoFit/>
          </a:bodyPr>
          <a:lstStyle/>
          <a:p>
            <a:pPr algn="ctr">
              <a:defRPr sz="900" b="1">
                <a:solidFill>
                  <a:srgbClr val="FFFFFF"/>
                </a:solidFill>
                <a:latin typeface="Calibri"/>
              </a:defRPr>
            </a:pPr>
            <a:r>
              <a:t>May 11-12</a:t>
            </a:r>
          </a:p>
        </p:txBody>
      </p:sp>
      <p:sp>
        <p:nvSpPr>
          <p:cNvPr id="14" name="TextBox 13"/>
          <p:cNvSpPr txBox="1"/>
          <p:nvPr/>
        </p:nvSpPr>
        <p:spPr>
          <a:xfrm>
            <a:off x="8595359" y="850392"/>
            <a:ext cx="822960" cy="201168"/>
          </a:xfrm>
          <a:prstGeom prst="rect">
            <a:avLst/>
          </a:prstGeom>
          <a:noFill/>
        </p:spPr>
        <p:txBody>
          <a:bodyPr wrap="square">
            <a:spAutoFit/>
          </a:bodyPr>
          <a:lstStyle/>
          <a:p>
            <a:pPr algn="ctr">
              <a:defRPr sz="950" b="1">
                <a:solidFill>
                  <a:srgbClr val="FFFFFF"/>
                </a:solidFill>
                <a:latin typeface="Calibri"/>
              </a:defRPr>
            </a:pPr>
            <a:r>
              <a:t>Avg %</a:t>
            </a:r>
          </a:p>
        </p:txBody>
      </p:sp>
      <p:sp>
        <p:nvSpPr>
          <p:cNvPr id="15" name="TextBox 14"/>
          <p:cNvSpPr txBox="1"/>
          <p:nvPr/>
        </p:nvSpPr>
        <p:spPr>
          <a:xfrm>
            <a:off x="256032" y="1211580"/>
            <a:ext cx="1828800" cy="429768"/>
          </a:xfrm>
          <a:prstGeom prst="rect">
            <a:avLst/>
          </a:prstGeom>
          <a:noFill/>
        </p:spPr>
        <p:txBody>
          <a:bodyPr wrap="square">
            <a:spAutoFit/>
          </a:bodyPr>
          <a:lstStyle/>
          <a:p>
            <a:pPr algn="l">
              <a:defRPr sz="900" b="1">
                <a:solidFill>
                  <a:srgbClr val="111827"/>
                </a:solidFill>
                <a:latin typeface="Calibri"/>
              </a:defRPr>
            </a:pPr>
            <a:r>
              <a:t>Derek Janssen</a:t>
            </a:r>
          </a:p>
        </p:txBody>
      </p:sp>
      <p:sp>
        <p:nvSpPr>
          <p:cNvPr id="16" name="Rectangle 15"/>
          <p:cNvSpPr/>
          <p:nvPr/>
        </p:nvSpPr>
        <p:spPr>
          <a:xfrm>
            <a:off x="204825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11680" y="1211580"/>
            <a:ext cx="1097280" cy="411480"/>
          </a:xfrm>
          <a:prstGeom prst="rect">
            <a:avLst/>
          </a:prstGeom>
          <a:noFill/>
        </p:spPr>
        <p:txBody>
          <a:bodyPr wrap="square">
            <a:spAutoFit/>
          </a:bodyPr>
          <a:lstStyle/>
          <a:p>
            <a:pPr algn="ctr">
              <a:defRPr sz="1100" b="1">
                <a:solidFill>
                  <a:srgbClr val="FFFFFF"/>
                </a:solidFill>
                <a:latin typeface="Calibri"/>
              </a:defRPr>
            </a:pPr>
            <a:r>
              <a:t>89</a:t>
            </a:r>
          </a:p>
        </p:txBody>
      </p:sp>
      <p:sp>
        <p:nvSpPr>
          <p:cNvPr id="18" name="Rectangle 17"/>
          <p:cNvSpPr/>
          <p:nvPr/>
        </p:nvSpPr>
        <p:spPr>
          <a:xfrm>
            <a:off x="314553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0" y="1211580"/>
            <a:ext cx="1097280" cy="411480"/>
          </a:xfrm>
          <a:prstGeom prst="rect">
            <a:avLst/>
          </a:prstGeom>
          <a:noFill/>
        </p:spPr>
        <p:txBody>
          <a:bodyPr wrap="square">
            <a:spAutoFit/>
          </a:bodyPr>
          <a:lstStyle/>
          <a:p>
            <a:pPr algn="ctr">
              <a:defRPr sz="1100" b="1">
                <a:solidFill>
                  <a:srgbClr val="FFFFFF"/>
                </a:solidFill>
                <a:latin typeface="Calibri"/>
              </a:defRPr>
            </a:pPr>
            <a:r>
              <a:t>58</a:t>
            </a:r>
          </a:p>
        </p:txBody>
      </p:sp>
      <p:sp>
        <p:nvSpPr>
          <p:cNvPr id="20" name="Rectangle 19"/>
          <p:cNvSpPr/>
          <p:nvPr/>
        </p:nvSpPr>
        <p:spPr>
          <a:xfrm>
            <a:off x="424281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1211580"/>
            <a:ext cx="1097280" cy="411480"/>
          </a:xfrm>
          <a:prstGeom prst="rect">
            <a:avLst/>
          </a:prstGeom>
          <a:noFill/>
        </p:spPr>
        <p:txBody>
          <a:bodyPr wrap="square">
            <a:spAutoFit/>
          </a:bodyPr>
          <a:lstStyle/>
          <a:p>
            <a:pPr algn="ctr">
              <a:defRPr sz="1100" b="1">
                <a:solidFill>
                  <a:srgbClr val="FFFFFF"/>
                </a:solidFill>
                <a:latin typeface="Calibri"/>
              </a:defRPr>
            </a:pPr>
            <a:r>
              <a:t>67</a:t>
            </a:r>
          </a:p>
        </p:txBody>
      </p:sp>
      <p:sp>
        <p:nvSpPr>
          <p:cNvPr id="22" name="Rectangle 21"/>
          <p:cNvSpPr/>
          <p:nvPr/>
        </p:nvSpPr>
        <p:spPr>
          <a:xfrm>
            <a:off x="534009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0" y="1211580"/>
            <a:ext cx="1097280" cy="411480"/>
          </a:xfrm>
          <a:prstGeom prst="rect">
            <a:avLst/>
          </a:prstGeom>
          <a:noFill/>
        </p:spPr>
        <p:txBody>
          <a:bodyPr wrap="square">
            <a:spAutoFit/>
          </a:bodyPr>
          <a:lstStyle/>
          <a:p>
            <a:pPr algn="ctr">
              <a:defRPr sz="1100" b="1">
                <a:solidFill>
                  <a:srgbClr val="FFFFFF"/>
                </a:solidFill>
                <a:latin typeface="Calibri"/>
              </a:defRPr>
            </a:pPr>
            <a:r>
              <a:t>63</a:t>
            </a:r>
          </a:p>
        </p:txBody>
      </p:sp>
      <p:sp>
        <p:nvSpPr>
          <p:cNvPr id="24" name="Rectangle 23"/>
          <p:cNvSpPr/>
          <p:nvPr/>
        </p:nvSpPr>
        <p:spPr>
          <a:xfrm>
            <a:off x="6437376" y="113385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1211580"/>
            <a:ext cx="1097280" cy="411480"/>
          </a:xfrm>
          <a:prstGeom prst="rect">
            <a:avLst/>
          </a:prstGeom>
          <a:noFill/>
        </p:spPr>
        <p:txBody>
          <a:bodyPr wrap="square">
            <a:spAutoFit/>
          </a:bodyPr>
          <a:lstStyle/>
          <a:p>
            <a:pPr algn="ctr">
              <a:defRPr sz="1100" b="1">
                <a:solidFill>
                  <a:srgbClr val="FFFFFF"/>
                </a:solidFill>
                <a:latin typeface="Calibri"/>
              </a:defRPr>
            </a:pPr>
            <a:r>
              <a:t>43</a:t>
            </a:r>
          </a:p>
        </p:txBody>
      </p:sp>
      <p:sp>
        <p:nvSpPr>
          <p:cNvPr id="26" name="Rectangle 25"/>
          <p:cNvSpPr/>
          <p:nvPr/>
        </p:nvSpPr>
        <p:spPr>
          <a:xfrm>
            <a:off x="7534655" y="113385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79" y="1211580"/>
            <a:ext cx="1097280" cy="411480"/>
          </a:xfrm>
          <a:prstGeom prst="rect">
            <a:avLst/>
          </a:prstGeom>
          <a:noFill/>
        </p:spPr>
        <p:txBody>
          <a:bodyPr wrap="square">
            <a:spAutoFit/>
          </a:bodyPr>
          <a:lstStyle/>
          <a:p>
            <a:pPr algn="ctr">
              <a:defRPr sz="1100" b="1">
                <a:solidFill>
                  <a:srgbClr val="FFFFFF"/>
                </a:solidFill>
                <a:latin typeface="Calibri"/>
              </a:defRPr>
            </a:pPr>
            <a:r>
              <a:t>6</a:t>
            </a:r>
          </a:p>
        </p:txBody>
      </p:sp>
      <p:sp>
        <p:nvSpPr>
          <p:cNvPr id="28" name="TextBox 27"/>
          <p:cNvSpPr txBox="1"/>
          <p:nvPr/>
        </p:nvSpPr>
        <p:spPr>
          <a:xfrm>
            <a:off x="8595359" y="1211580"/>
            <a:ext cx="822960" cy="429768"/>
          </a:xfrm>
          <a:prstGeom prst="rect">
            <a:avLst/>
          </a:prstGeom>
          <a:noFill/>
        </p:spPr>
        <p:txBody>
          <a:bodyPr wrap="square">
            <a:spAutoFit/>
          </a:bodyPr>
          <a:lstStyle/>
          <a:p>
            <a:pPr algn="ctr">
              <a:defRPr sz="1100" b="1">
                <a:solidFill>
                  <a:srgbClr val="059669"/>
                </a:solidFill>
                <a:latin typeface="Calibri"/>
              </a:defRPr>
            </a:pPr>
            <a:r>
              <a:t>160%</a:t>
            </a:r>
          </a:p>
        </p:txBody>
      </p:sp>
      <p:sp>
        <p:nvSpPr>
          <p:cNvPr id="29" name="Rectangle 28"/>
          <p:cNvSpPr/>
          <p:nvPr/>
        </p:nvSpPr>
        <p:spPr>
          <a:xfrm>
            <a:off x="182880" y="1581912"/>
            <a:ext cx="923544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6032" y="1714500"/>
            <a:ext cx="1828800" cy="429768"/>
          </a:xfrm>
          <a:prstGeom prst="rect">
            <a:avLst/>
          </a:prstGeom>
          <a:noFill/>
        </p:spPr>
        <p:txBody>
          <a:bodyPr wrap="square">
            <a:spAutoFit/>
          </a:bodyPr>
          <a:lstStyle/>
          <a:p>
            <a:pPr algn="l">
              <a:defRPr sz="900" b="1">
                <a:solidFill>
                  <a:srgbClr val="111827"/>
                </a:solidFill>
                <a:latin typeface="Calibri"/>
              </a:defRPr>
            </a:pPr>
            <a:r>
              <a:t>Ron Douglas</a:t>
            </a:r>
          </a:p>
        </p:txBody>
      </p:sp>
      <p:sp>
        <p:nvSpPr>
          <p:cNvPr id="31" name="Rectangle 30"/>
          <p:cNvSpPr/>
          <p:nvPr/>
        </p:nvSpPr>
        <p:spPr>
          <a:xfrm>
            <a:off x="2048256" y="163677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11680" y="1714500"/>
            <a:ext cx="1097280" cy="411480"/>
          </a:xfrm>
          <a:prstGeom prst="rect">
            <a:avLst/>
          </a:prstGeom>
          <a:noFill/>
        </p:spPr>
        <p:txBody>
          <a:bodyPr wrap="square">
            <a:spAutoFit/>
          </a:bodyPr>
          <a:lstStyle/>
          <a:p>
            <a:pPr algn="ctr">
              <a:defRPr sz="1100" b="1">
                <a:solidFill>
                  <a:srgbClr val="FFFFFF"/>
                </a:solidFill>
                <a:latin typeface="Calibri"/>
              </a:defRPr>
            </a:pPr>
            <a:r>
              <a:t>17</a:t>
            </a:r>
          </a:p>
        </p:txBody>
      </p:sp>
      <p:sp>
        <p:nvSpPr>
          <p:cNvPr id="33" name="Rectangle 32"/>
          <p:cNvSpPr/>
          <p:nvPr/>
        </p:nvSpPr>
        <p:spPr>
          <a:xfrm>
            <a:off x="3145536" y="163677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08960" y="1714500"/>
            <a:ext cx="1097280" cy="411480"/>
          </a:xfrm>
          <a:prstGeom prst="rect">
            <a:avLst/>
          </a:prstGeom>
          <a:noFill/>
        </p:spPr>
        <p:txBody>
          <a:bodyPr wrap="square">
            <a:spAutoFit/>
          </a:bodyPr>
          <a:lstStyle/>
          <a:p>
            <a:pPr algn="ctr">
              <a:defRPr sz="1100" b="1">
                <a:solidFill>
                  <a:srgbClr val="FFFFFF"/>
                </a:solidFill>
                <a:latin typeface="Calibri"/>
              </a:defRPr>
            </a:pPr>
            <a:r>
              <a:t>43</a:t>
            </a:r>
          </a:p>
        </p:txBody>
      </p:sp>
      <p:sp>
        <p:nvSpPr>
          <p:cNvPr id="35" name="Rectangle 34"/>
          <p:cNvSpPr/>
          <p:nvPr/>
        </p:nvSpPr>
        <p:spPr>
          <a:xfrm>
            <a:off x="4242816" y="1636776"/>
            <a:ext cx="1024127" cy="3931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06240" y="1714500"/>
            <a:ext cx="1097280" cy="411480"/>
          </a:xfrm>
          <a:prstGeom prst="rect">
            <a:avLst/>
          </a:prstGeom>
          <a:noFill/>
        </p:spPr>
        <p:txBody>
          <a:bodyPr wrap="square">
            <a:spAutoFit/>
          </a:bodyPr>
          <a:lstStyle/>
          <a:p>
            <a:pPr algn="ctr">
              <a:defRPr sz="1100" b="1">
                <a:solidFill>
                  <a:srgbClr val="FFFFFF"/>
                </a:solidFill>
                <a:latin typeface="Calibri"/>
              </a:defRPr>
            </a:pPr>
            <a:r>
              <a:t>34</a:t>
            </a:r>
          </a:p>
        </p:txBody>
      </p:sp>
      <p:sp>
        <p:nvSpPr>
          <p:cNvPr id="37" name="Rectangle 36"/>
          <p:cNvSpPr/>
          <p:nvPr/>
        </p:nvSpPr>
        <p:spPr>
          <a:xfrm>
            <a:off x="5340096" y="163677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03520" y="1714500"/>
            <a:ext cx="1097280" cy="411480"/>
          </a:xfrm>
          <a:prstGeom prst="rect">
            <a:avLst/>
          </a:prstGeom>
          <a:noFill/>
        </p:spPr>
        <p:txBody>
          <a:bodyPr wrap="square">
            <a:spAutoFit/>
          </a:bodyPr>
          <a:lstStyle/>
          <a:p>
            <a:pPr algn="ctr">
              <a:defRPr sz="1100" b="1">
                <a:solidFill>
                  <a:srgbClr val="FFFFFF"/>
                </a:solidFill>
                <a:latin typeface="Calibri"/>
              </a:defRPr>
            </a:pPr>
            <a:r>
              <a:t>47</a:t>
            </a:r>
          </a:p>
        </p:txBody>
      </p:sp>
      <p:sp>
        <p:nvSpPr>
          <p:cNvPr id="39" name="Rectangle 38"/>
          <p:cNvSpPr/>
          <p:nvPr/>
        </p:nvSpPr>
        <p:spPr>
          <a:xfrm>
            <a:off x="6437376" y="1636776"/>
            <a:ext cx="1024127" cy="39319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0" y="1714500"/>
            <a:ext cx="1097280" cy="411480"/>
          </a:xfrm>
          <a:prstGeom prst="rect">
            <a:avLst/>
          </a:prstGeom>
          <a:noFill/>
        </p:spPr>
        <p:txBody>
          <a:bodyPr wrap="square">
            <a:spAutoFit/>
          </a:bodyPr>
          <a:lstStyle/>
          <a:p>
            <a:pPr algn="ctr">
              <a:defRPr sz="1100" b="1">
                <a:solidFill>
                  <a:srgbClr val="FFFFFF"/>
                </a:solidFill>
                <a:latin typeface="Calibri"/>
              </a:defRPr>
            </a:pPr>
            <a:r>
              <a:t>0</a:t>
            </a:r>
          </a:p>
        </p:txBody>
      </p:sp>
      <p:sp>
        <p:nvSpPr>
          <p:cNvPr id="41" name="Rectangle 40"/>
          <p:cNvSpPr/>
          <p:nvPr/>
        </p:nvSpPr>
        <p:spPr>
          <a:xfrm>
            <a:off x="7534655" y="163677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98079" y="1714500"/>
            <a:ext cx="1097280" cy="411480"/>
          </a:xfrm>
          <a:prstGeom prst="rect">
            <a:avLst/>
          </a:prstGeom>
          <a:noFill/>
        </p:spPr>
        <p:txBody>
          <a:bodyPr wrap="square">
            <a:spAutoFit/>
          </a:bodyPr>
          <a:lstStyle/>
          <a:p>
            <a:pPr algn="ctr">
              <a:defRPr sz="1100" b="1">
                <a:solidFill>
                  <a:srgbClr val="FFFFFF"/>
                </a:solidFill>
                <a:latin typeface="Calibri"/>
              </a:defRPr>
            </a:pPr>
            <a:r>
              <a:t>2</a:t>
            </a:r>
          </a:p>
        </p:txBody>
      </p:sp>
      <p:sp>
        <p:nvSpPr>
          <p:cNvPr id="43" name="TextBox 42"/>
          <p:cNvSpPr txBox="1"/>
          <p:nvPr/>
        </p:nvSpPr>
        <p:spPr>
          <a:xfrm>
            <a:off x="8595359" y="1714500"/>
            <a:ext cx="822960" cy="429768"/>
          </a:xfrm>
          <a:prstGeom prst="rect">
            <a:avLst/>
          </a:prstGeom>
          <a:noFill/>
        </p:spPr>
        <p:txBody>
          <a:bodyPr wrap="square">
            <a:spAutoFit/>
          </a:bodyPr>
          <a:lstStyle/>
          <a:p>
            <a:pPr algn="ctr">
              <a:defRPr sz="1100" b="1">
                <a:solidFill>
                  <a:srgbClr val="DC2626"/>
                </a:solidFill>
                <a:latin typeface="Calibri"/>
              </a:defRPr>
            </a:pPr>
            <a:r>
              <a:t>70%</a:t>
            </a:r>
          </a:p>
        </p:txBody>
      </p:sp>
      <p:sp>
        <p:nvSpPr>
          <p:cNvPr id="44" name="TextBox 43"/>
          <p:cNvSpPr txBox="1"/>
          <p:nvPr/>
        </p:nvSpPr>
        <p:spPr>
          <a:xfrm>
            <a:off x="256032" y="2217420"/>
            <a:ext cx="1828800" cy="429768"/>
          </a:xfrm>
          <a:prstGeom prst="rect">
            <a:avLst/>
          </a:prstGeom>
          <a:noFill/>
        </p:spPr>
        <p:txBody>
          <a:bodyPr wrap="square">
            <a:spAutoFit/>
          </a:bodyPr>
          <a:lstStyle/>
          <a:p>
            <a:pPr algn="l">
              <a:defRPr sz="900" b="1">
                <a:solidFill>
                  <a:srgbClr val="111827"/>
                </a:solidFill>
                <a:latin typeface="Calibri"/>
              </a:defRPr>
            </a:pPr>
            <a:r>
              <a:t>Christopher Hayes</a:t>
            </a:r>
          </a:p>
        </p:txBody>
      </p:sp>
      <p:sp>
        <p:nvSpPr>
          <p:cNvPr id="45" name="Rectangle 44"/>
          <p:cNvSpPr/>
          <p:nvPr/>
        </p:nvSpPr>
        <p:spPr>
          <a:xfrm>
            <a:off x="2048256" y="2139696"/>
            <a:ext cx="1024127" cy="3931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11680" y="2217420"/>
            <a:ext cx="1097280" cy="411480"/>
          </a:xfrm>
          <a:prstGeom prst="rect">
            <a:avLst/>
          </a:prstGeom>
          <a:noFill/>
        </p:spPr>
        <p:txBody>
          <a:bodyPr wrap="square">
            <a:spAutoFit/>
          </a:bodyPr>
          <a:lstStyle/>
          <a:p>
            <a:pPr algn="ctr">
              <a:defRPr sz="1100" b="1">
                <a:solidFill>
                  <a:srgbClr val="FFFFFF"/>
                </a:solidFill>
                <a:latin typeface="Calibri"/>
              </a:defRPr>
            </a:pPr>
            <a:r>
              <a:t>39</a:t>
            </a:r>
          </a:p>
        </p:txBody>
      </p:sp>
      <p:sp>
        <p:nvSpPr>
          <p:cNvPr id="47" name="Rectangle 46"/>
          <p:cNvSpPr/>
          <p:nvPr/>
        </p:nvSpPr>
        <p:spPr>
          <a:xfrm>
            <a:off x="3145536" y="213969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08960" y="2217420"/>
            <a:ext cx="1097280" cy="411480"/>
          </a:xfrm>
          <a:prstGeom prst="rect">
            <a:avLst/>
          </a:prstGeom>
          <a:noFill/>
        </p:spPr>
        <p:txBody>
          <a:bodyPr wrap="square">
            <a:spAutoFit/>
          </a:bodyPr>
          <a:lstStyle/>
          <a:p>
            <a:pPr algn="ctr">
              <a:defRPr sz="1100" b="1">
                <a:solidFill>
                  <a:srgbClr val="FFFFFF"/>
                </a:solidFill>
                <a:latin typeface="Calibri"/>
              </a:defRPr>
            </a:pPr>
            <a:r>
              <a:t>42</a:t>
            </a:r>
          </a:p>
        </p:txBody>
      </p:sp>
      <p:sp>
        <p:nvSpPr>
          <p:cNvPr id="49" name="Rectangle 48"/>
          <p:cNvSpPr/>
          <p:nvPr/>
        </p:nvSpPr>
        <p:spPr>
          <a:xfrm>
            <a:off x="4242816" y="213969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06240" y="2217420"/>
            <a:ext cx="1097280" cy="411480"/>
          </a:xfrm>
          <a:prstGeom prst="rect">
            <a:avLst/>
          </a:prstGeom>
          <a:noFill/>
        </p:spPr>
        <p:txBody>
          <a:bodyPr wrap="square">
            <a:spAutoFit/>
          </a:bodyPr>
          <a:lstStyle/>
          <a:p>
            <a:pPr algn="ctr">
              <a:defRPr sz="1100" b="1">
                <a:solidFill>
                  <a:srgbClr val="FFFFFF"/>
                </a:solidFill>
                <a:latin typeface="Calibri"/>
              </a:defRPr>
            </a:pPr>
            <a:r>
              <a:t>25</a:t>
            </a:r>
          </a:p>
        </p:txBody>
      </p:sp>
      <p:sp>
        <p:nvSpPr>
          <p:cNvPr id="51" name="Rectangle 50"/>
          <p:cNvSpPr/>
          <p:nvPr/>
        </p:nvSpPr>
        <p:spPr>
          <a:xfrm>
            <a:off x="5340096" y="213969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303520" y="2217420"/>
            <a:ext cx="1097280" cy="411480"/>
          </a:xfrm>
          <a:prstGeom prst="rect">
            <a:avLst/>
          </a:prstGeom>
          <a:noFill/>
        </p:spPr>
        <p:txBody>
          <a:bodyPr wrap="square">
            <a:spAutoFit/>
          </a:bodyPr>
          <a:lstStyle/>
          <a:p>
            <a:pPr algn="ctr">
              <a:defRPr sz="1100" b="1">
                <a:solidFill>
                  <a:srgbClr val="FFFFFF"/>
                </a:solidFill>
                <a:latin typeface="Calibri"/>
              </a:defRPr>
            </a:pPr>
            <a:r>
              <a:t>40</a:t>
            </a:r>
          </a:p>
        </p:txBody>
      </p:sp>
      <p:sp>
        <p:nvSpPr>
          <p:cNvPr id="53" name="Rectangle 52"/>
          <p:cNvSpPr/>
          <p:nvPr/>
        </p:nvSpPr>
        <p:spPr>
          <a:xfrm>
            <a:off x="6437376" y="213969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0" y="2217420"/>
            <a:ext cx="1097280" cy="411480"/>
          </a:xfrm>
          <a:prstGeom prst="rect">
            <a:avLst/>
          </a:prstGeom>
          <a:noFill/>
        </p:spPr>
        <p:txBody>
          <a:bodyPr wrap="square">
            <a:spAutoFit/>
          </a:bodyPr>
          <a:lstStyle/>
          <a:p>
            <a:pPr algn="ctr">
              <a:defRPr sz="1100" b="1">
                <a:solidFill>
                  <a:srgbClr val="FFFFFF"/>
                </a:solidFill>
                <a:latin typeface="Calibri"/>
              </a:defRPr>
            </a:pPr>
            <a:r>
              <a:t>15</a:t>
            </a:r>
          </a:p>
        </p:txBody>
      </p:sp>
      <p:sp>
        <p:nvSpPr>
          <p:cNvPr id="55" name="Rectangle 54"/>
          <p:cNvSpPr/>
          <p:nvPr/>
        </p:nvSpPr>
        <p:spPr>
          <a:xfrm>
            <a:off x="7534655" y="213969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498079" y="2217420"/>
            <a:ext cx="1097280" cy="411480"/>
          </a:xfrm>
          <a:prstGeom prst="rect">
            <a:avLst/>
          </a:prstGeom>
          <a:noFill/>
        </p:spPr>
        <p:txBody>
          <a:bodyPr wrap="square">
            <a:spAutoFit/>
          </a:bodyPr>
          <a:lstStyle/>
          <a:p>
            <a:pPr algn="ctr">
              <a:defRPr sz="1100" b="1">
                <a:solidFill>
                  <a:srgbClr val="FFFFFF"/>
                </a:solidFill>
                <a:latin typeface="Calibri"/>
              </a:defRPr>
            </a:pPr>
            <a:r>
              <a:t>8</a:t>
            </a:r>
          </a:p>
        </p:txBody>
      </p:sp>
      <p:sp>
        <p:nvSpPr>
          <p:cNvPr id="57" name="TextBox 56"/>
          <p:cNvSpPr txBox="1"/>
          <p:nvPr/>
        </p:nvSpPr>
        <p:spPr>
          <a:xfrm>
            <a:off x="8595359" y="2217420"/>
            <a:ext cx="822960" cy="429768"/>
          </a:xfrm>
          <a:prstGeom prst="rect">
            <a:avLst/>
          </a:prstGeom>
          <a:noFill/>
        </p:spPr>
        <p:txBody>
          <a:bodyPr wrap="square">
            <a:spAutoFit/>
          </a:bodyPr>
          <a:lstStyle/>
          <a:p>
            <a:pPr algn="ctr">
              <a:defRPr sz="1100" b="1">
                <a:solidFill>
                  <a:srgbClr val="D97706"/>
                </a:solidFill>
                <a:latin typeface="Calibri"/>
              </a:defRPr>
            </a:pPr>
            <a:r>
              <a:t>80%</a:t>
            </a:r>
          </a:p>
        </p:txBody>
      </p:sp>
      <p:sp>
        <p:nvSpPr>
          <p:cNvPr id="58" name="Rectangle 57"/>
          <p:cNvSpPr/>
          <p:nvPr/>
        </p:nvSpPr>
        <p:spPr>
          <a:xfrm>
            <a:off x="182880" y="2587752"/>
            <a:ext cx="923544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6032" y="2720340"/>
            <a:ext cx="1828800" cy="429768"/>
          </a:xfrm>
          <a:prstGeom prst="rect">
            <a:avLst/>
          </a:prstGeom>
          <a:noFill/>
        </p:spPr>
        <p:txBody>
          <a:bodyPr wrap="square">
            <a:spAutoFit/>
          </a:bodyPr>
          <a:lstStyle/>
          <a:p>
            <a:pPr algn="l">
              <a:defRPr sz="900" b="1">
                <a:solidFill>
                  <a:srgbClr val="111827"/>
                </a:solidFill>
                <a:latin typeface="Calibri"/>
              </a:defRPr>
            </a:pPr>
            <a:r>
              <a:t>Derrick Leroy</a:t>
            </a:r>
          </a:p>
        </p:txBody>
      </p:sp>
      <p:sp>
        <p:nvSpPr>
          <p:cNvPr id="60" name="Rectangle 59"/>
          <p:cNvSpPr/>
          <p:nvPr/>
        </p:nvSpPr>
        <p:spPr>
          <a:xfrm>
            <a:off x="204825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11680" y="2720340"/>
            <a:ext cx="1097280" cy="411480"/>
          </a:xfrm>
          <a:prstGeom prst="rect">
            <a:avLst/>
          </a:prstGeom>
          <a:noFill/>
        </p:spPr>
        <p:txBody>
          <a:bodyPr wrap="square">
            <a:spAutoFit/>
          </a:bodyPr>
          <a:lstStyle/>
          <a:p>
            <a:pPr algn="ctr">
              <a:defRPr sz="1100" b="1">
                <a:solidFill>
                  <a:srgbClr val="FFFFFF"/>
                </a:solidFill>
                <a:latin typeface="Calibri"/>
              </a:defRPr>
            </a:pPr>
            <a:r>
              <a:t>50</a:t>
            </a:r>
          </a:p>
        </p:txBody>
      </p:sp>
      <p:sp>
        <p:nvSpPr>
          <p:cNvPr id="62" name="Rectangle 61"/>
          <p:cNvSpPr/>
          <p:nvPr/>
        </p:nvSpPr>
        <p:spPr>
          <a:xfrm>
            <a:off x="314553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108960" y="2720340"/>
            <a:ext cx="1097280" cy="411480"/>
          </a:xfrm>
          <a:prstGeom prst="rect">
            <a:avLst/>
          </a:prstGeom>
          <a:noFill/>
        </p:spPr>
        <p:txBody>
          <a:bodyPr wrap="square">
            <a:spAutoFit/>
          </a:bodyPr>
          <a:lstStyle/>
          <a:p>
            <a:pPr algn="ctr">
              <a:defRPr sz="1100" b="1">
                <a:solidFill>
                  <a:srgbClr val="FFFFFF"/>
                </a:solidFill>
                <a:latin typeface="Calibri"/>
              </a:defRPr>
            </a:pPr>
            <a:r>
              <a:t>48</a:t>
            </a:r>
          </a:p>
        </p:txBody>
      </p:sp>
      <p:sp>
        <p:nvSpPr>
          <p:cNvPr id="64" name="Rectangle 63"/>
          <p:cNvSpPr/>
          <p:nvPr/>
        </p:nvSpPr>
        <p:spPr>
          <a:xfrm>
            <a:off x="424281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206240" y="2720340"/>
            <a:ext cx="1097280" cy="411480"/>
          </a:xfrm>
          <a:prstGeom prst="rect">
            <a:avLst/>
          </a:prstGeom>
          <a:noFill/>
        </p:spPr>
        <p:txBody>
          <a:bodyPr wrap="square">
            <a:spAutoFit/>
          </a:bodyPr>
          <a:lstStyle/>
          <a:p>
            <a:pPr algn="ctr">
              <a:defRPr sz="1100" b="1">
                <a:solidFill>
                  <a:srgbClr val="FFFFFF"/>
                </a:solidFill>
                <a:latin typeface="Calibri"/>
              </a:defRPr>
            </a:pPr>
            <a:r>
              <a:t>65</a:t>
            </a:r>
          </a:p>
        </p:txBody>
      </p:sp>
      <p:sp>
        <p:nvSpPr>
          <p:cNvPr id="66" name="Rectangle 65"/>
          <p:cNvSpPr/>
          <p:nvPr/>
        </p:nvSpPr>
        <p:spPr>
          <a:xfrm>
            <a:off x="534009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03520" y="2720340"/>
            <a:ext cx="1097280" cy="411480"/>
          </a:xfrm>
          <a:prstGeom prst="rect">
            <a:avLst/>
          </a:prstGeom>
          <a:noFill/>
        </p:spPr>
        <p:txBody>
          <a:bodyPr wrap="square">
            <a:spAutoFit/>
          </a:bodyPr>
          <a:lstStyle/>
          <a:p>
            <a:pPr algn="ctr">
              <a:defRPr sz="1100" b="1">
                <a:solidFill>
                  <a:srgbClr val="FFFFFF"/>
                </a:solidFill>
                <a:latin typeface="Calibri"/>
              </a:defRPr>
            </a:pPr>
            <a:r>
              <a:t>51</a:t>
            </a:r>
          </a:p>
        </p:txBody>
      </p:sp>
      <p:sp>
        <p:nvSpPr>
          <p:cNvPr id="68" name="Rectangle 67"/>
          <p:cNvSpPr/>
          <p:nvPr/>
        </p:nvSpPr>
        <p:spPr>
          <a:xfrm>
            <a:off x="6437376" y="264261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00800" y="2720340"/>
            <a:ext cx="1097280" cy="411480"/>
          </a:xfrm>
          <a:prstGeom prst="rect">
            <a:avLst/>
          </a:prstGeom>
          <a:noFill/>
        </p:spPr>
        <p:txBody>
          <a:bodyPr wrap="square">
            <a:spAutoFit/>
          </a:bodyPr>
          <a:lstStyle/>
          <a:p>
            <a:pPr algn="ctr">
              <a:defRPr sz="1100" b="1">
                <a:solidFill>
                  <a:srgbClr val="FFFFFF"/>
                </a:solidFill>
                <a:latin typeface="Calibri"/>
              </a:defRPr>
            </a:pPr>
            <a:r>
              <a:t>54</a:t>
            </a:r>
          </a:p>
        </p:txBody>
      </p:sp>
      <p:sp>
        <p:nvSpPr>
          <p:cNvPr id="70" name="Rectangle 69"/>
          <p:cNvSpPr/>
          <p:nvPr/>
        </p:nvSpPr>
        <p:spPr>
          <a:xfrm>
            <a:off x="7534655" y="264261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498079" y="2720340"/>
            <a:ext cx="1097280" cy="411480"/>
          </a:xfrm>
          <a:prstGeom prst="rect">
            <a:avLst/>
          </a:prstGeom>
          <a:noFill/>
        </p:spPr>
        <p:txBody>
          <a:bodyPr wrap="square">
            <a:spAutoFit/>
          </a:bodyPr>
          <a:lstStyle/>
          <a:p>
            <a:pPr algn="ctr">
              <a:defRPr sz="1100" b="1">
                <a:solidFill>
                  <a:srgbClr val="FFFFFF"/>
                </a:solidFill>
                <a:latin typeface="Calibri"/>
              </a:defRPr>
            </a:pPr>
            <a:r>
              <a:t>12</a:t>
            </a:r>
          </a:p>
        </p:txBody>
      </p:sp>
      <p:sp>
        <p:nvSpPr>
          <p:cNvPr id="72" name="TextBox 71"/>
          <p:cNvSpPr txBox="1"/>
          <p:nvPr/>
        </p:nvSpPr>
        <p:spPr>
          <a:xfrm>
            <a:off x="8595359" y="2720340"/>
            <a:ext cx="822960" cy="429768"/>
          </a:xfrm>
          <a:prstGeom prst="rect">
            <a:avLst/>
          </a:prstGeom>
          <a:noFill/>
        </p:spPr>
        <p:txBody>
          <a:bodyPr wrap="square">
            <a:spAutoFit/>
          </a:bodyPr>
          <a:lstStyle/>
          <a:p>
            <a:pPr algn="ctr">
              <a:defRPr sz="1100" b="1">
                <a:solidFill>
                  <a:srgbClr val="059669"/>
                </a:solidFill>
                <a:latin typeface="Calibri"/>
              </a:defRPr>
            </a:pPr>
            <a:r>
              <a:t>134%</a:t>
            </a:r>
          </a:p>
        </p:txBody>
      </p:sp>
      <p:sp>
        <p:nvSpPr>
          <p:cNvPr id="73" name="TextBox 72"/>
          <p:cNvSpPr txBox="1"/>
          <p:nvPr/>
        </p:nvSpPr>
        <p:spPr>
          <a:xfrm>
            <a:off x="256032" y="3223260"/>
            <a:ext cx="1828800" cy="429768"/>
          </a:xfrm>
          <a:prstGeom prst="rect">
            <a:avLst/>
          </a:prstGeom>
          <a:noFill/>
        </p:spPr>
        <p:txBody>
          <a:bodyPr wrap="square">
            <a:spAutoFit/>
          </a:bodyPr>
          <a:lstStyle/>
          <a:p>
            <a:pPr algn="l">
              <a:defRPr sz="900" b="1">
                <a:solidFill>
                  <a:srgbClr val="111827"/>
                </a:solidFill>
                <a:latin typeface="Calibri"/>
              </a:defRPr>
            </a:pPr>
            <a:r>
              <a:t>Westy McLaughlin</a:t>
            </a:r>
          </a:p>
        </p:txBody>
      </p:sp>
      <p:sp>
        <p:nvSpPr>
          <p:cNvPr id="74" name="Rectangle 73"/>
          <p:cNvSpPr/>
          <p:nvPr/>
        </p:nvSpPr>
        <p:spPr>
          <a:xfrm>
            <a:off x="2048256" y="3145536"/>
            <a:ext cx="1024127" cy="39319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011680" y="3223260"/>
            <a:ext cx="1097280" cy="411480"/>
          </a:xfrm>
          <a:prstGeom prst="rect">
            <a:avLst/>
          </a:prstGeom>
          <a:noFill/>
        </p:spPr>
        <p:txBody>
          <a:bodyPr wrap="square">
            <a:spAutoFit/>
          </a:bodyPr>
          <a:lstStyle/>
          <a:p>
            <a:pPr algn="ctr">
              <a:defRPr sz="1100" b="1">
                <a:solidFill>
                  <a:srgbClr val="FFFFFF"/>
                </a:solidFill>
                <a:latin typeface="Calibri"/>
              </a:defRPr>
            </a:pPr>
            <a:r>
              <a:t>46</a:t>
            </a:r>
          </a:p>
        </p:txBody>
      </p:sp>
      <p:sp>
        <p:nvSpPr>
          <p:cNvPr id="76" name="Rectangle 75"/>
          <p:cNvSpPr/>
          <p:nvPr/>
        </p:nvSpPr>
        <p:spPr>
          <a:xfrm>
            <a:off x="3145536" y="314553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108960" y="3223260"/>
            <a:ext cx="1097280" cy="411480"/>
          </a:xfrm>
          <a:prstGeom prst="rect">
            <a:avLst/>
          </a:prstGeom>
          <a:noFill/>
        </p:spPr>
        <p:txBody>
          <a:bodyPr wrap="square">
            <a:spAutoFit/>
          </a:bodyPr>
          <a:lstStyle/>
          <a:p>
            <a:pPr algn="ctr">
              <a:defRPr sz="1100" b="1">
                <a:solidFill>
                  <a:srgbClr val="FFFFFF"/>
                </a:solidFill>
                <a:latin typeface="Calibri"/>
              </a:defRPr>
            </a:pPr>
            <a:r>
              <a:t>29</a:t>
            </a:r>
          </a:p>
        </p:txBody>
      </p:sp>
      <p:sp>
        <p:nvSpPr>
          <p:cNvPr id="78" name="Rectangle 77"/>
          <p:cNvSpPr/>
          <p:nvPr/>
        </p:nvSpPr>
        <p:spPr>
          <a:xfrm>
            <a:off x="4242816" y="314553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206240" y="3223260"/>
            <a:ext cx="1097280" cy="411480"/>
          </a:xfrm>
          <a:prstGeom prst="rect">
            <a:avLst/>
          </a:prstGeom>
          <a:noFill/>
        </p:spPr>
        <p:txBody>
          <a:bodyPr wrap="square">
            <a:spAutoFit/>
          </a:bodyPr>
          <a:lstStyle/>
          <a:p>
            <a:pPr algn="ctr">
              <a:defRPr sz="1100" b="1">
                <a:solidFill>
                  <a:srgbClr val="FFFFFF"/>
                </a:solidFill>
                <a:latin typeface="Calibri"/>
              </a:defRPr>
            </a:pPr>
            <a:r>
              <a:t>28</a:t>
            </a:r>
          </a:p>
        </p:txBody>
      </p:sp>
      <p:sp>
        <p:nvSpPr>
          <p:cNvPr id="80" name="Rectangle 79"/>
          <p:cNvSpPr/>
          <p:nvPr/>
        </p:nvSpPr>
        <p:spPr>
          <a:xfrm>
            <a:off x="5340096" y="3145536"/>
            <a:ext cx="1024127" cy="3931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303520" y="3223260"/>
            <a:ext cx="1097280" cy="411480"/>
          </a:xfrm>
          <a:prstGeom prst="rect">
            <a:avLst/>
          </a:prstGeom>
          <a:noFill/>
        </p:spPr>
        <p:txBody>
          <a:bodyPr wrap="square">
            <a:spAutoFit/>
          </a:bodyPr>
          <a:lstStyle/>
          <a:p>
            <a:pPr algn="ctr">
              <a:defRPr sz="1100" b="1">
                <a:solidFill>
                  <a:srgbClr val="FFFFFF"/>
                </a:solidFill>
                <a:latin typeface="Calibri"/>
              </a:defRPr>
            </a:pPr>
            <a:r>
              <a:t>39</a:t>
            </a:r>
          </a:p>
        </p:txBody>
      </p:sp>
      <p:sp>
        <p:nvSpPr>
          <p:cNvPr id="82" name="Rectangle 81"/>
          <p:cNvSpPr/>
          <p:nvPr/>
        </p:nvSpPr>
        <p:spPr>
          <a:xfrm>
            <a:off x="6437376" y="314553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400800" y="3223260"/>
            <a:ext cx="1097280" cy="411480"/>
          </a:xfrm>
          <a:prstGeom prst="rect">
            <a:avLst/>
          </a:prstGeom>
          <a:noFill/>
        </p:spPr>
        <p:txBody>
          <a:bodyPr wrap="square">
            <a:spAutoFit/>
          </a:bodyPr>
          <a:lstStyle/>
          <a:p>
            <a:pPr algn="ctr">
              <a:defRPr sz="1100" b="1">
                <a:solidFill>
                  <a:srgbClr val="FFFFFF"/>
                </a:solidFill>
                <a:latin typeface="Calibri"/>
              </a:defRPr>
            </a:pPr>
            <a:r>
              <a:t>25</a:t>
            </a:r>
          </a:p>
        </p:txBody>
      </p:sp>
      <p:sp>
        <p:nvSpPr>
          <p:cNvPr id="84" name="Rectangle 83"/>
          <p:cNvSpPr/>
          <p:nvPr/>
        </p:nvSpPr>
        <p:spPr>
          <a:xfrm>
            <a:off x="7534655" y="314553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498079" y="3223260"/>
            <a:ext cx="1097280" cy="411480"/>
          </a:xfrm>
          <a:prstGeom prst="rect">
            <a:avLst/>
          </a:prstGeom>
          <a:noFill/>
        </p:spPr>
        <p:txBody>
          <a:bodyPr wrap="square">
            <a:spAutoFit/>
          </a:bodyPr>
          <a:lstStyle/>
          <a:p>
            <a:pPr algn="ctr">
              <a:defRPr sz="1100" b="1">
                <a:solidFill>
                  <a:srgbClr val="FFFFFF"/>
                </a:solidFill>
                <a:latin typeface="Calibri"/>
              </a:defRPr>
            </a:pPr>
            <a:r>
              <a:t>7</a:t>
            </a:r>
          </a:p>
        </p:txBody>
      </p:sp>
      <p:sp>
        <p:nvSpPr>
          <p:cNvPr id="86" name="TextBox 85"/>
          <p:cNvSpPr txBox="1"/>
          <p:nvPr/>
        </p:nvSpPr>
        <p:spPr>
          <a:xfrm>
            <a:off x="8595359" y="3223260"/>
            <a:ext cx="822960" cy="429768"/>
          </a:xfrm>
          <a:prstGeom prst="rect">
            <a:avLst/>
          </a:prstGeom>
          <a:noFill/>
        </p:spPr>
        <p:txBody>
          <a:bodyPr wrap="square">
            <a:spAutoFit/>
          </a:bodyPr>
          <a:lstStyle/>
          <a:p>
            <a:pPr algn="ctr">
              <a:defRPr sz="1100" b="1">
                <a:solidFill>
                  <a:srgbClr val="D97706"/>
                </a:solidFill>
                <a:latin typeface="Calibri"/>
              </a:defRPr>
            </a:pPr>
            <a:r>
              <a:t>84%</a:t>
            </a:r>
          </a:p>
        </p:txBody>
      </p:sp>
      <p:sp>
        <p:nvSpPr>
          <p:cNvPr id="87" name="Rectangle 86"/>
          <p:cNvSpPr/>
          <p:nvPr/>
        </p:nvSpPr>
        <p:spPr>
          <a:xfrm>
            <a:off x="182880" y="3593591"/>
            <a:ext cx="9235440" cy="5029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56032" y="3726180"/>
            <a:ext cx="1828800" cy="429768"/>
          </a:xfrm>
          <a:prstGeom prst="rect">
            <a:avLst/>
          </a:prstGeom>
          <a:noFill/>
        </p:spPr>
        <p:txBody>
          <a:bodyPr wrap="square">
            <a:spAutoFit/>
          </a:bodyPr>
          <a:lstStyle/>
          <a:p>
            <a:pPr algn="l">
              <a:defRPr sz="900" b="1">
                <a:solidFill>
                  <a:srgbClr val="111827"/>
                </a:solidFill>
                <a:latin typeface="Calibri"/>
              </a:defRPr>
            </a:pPr>
            <a:r>
              <a:t>Alexis Berry-Smith</a:t>
            </a:r>
          </a:p>
        </p:txBody>
      </p:sp>
      <p:sp>
        <p:nvSpPr>
          <p:cNvPr id="89" name="Rectangle 88"/>
          <p:cNvSpPr/>
          <p:nvPr/>
        </p:nvSpPr>
        <p:spPr>
          <a:xfrm>
            <a:off x="2048256" y="3648456"/>
            <a:ext cx="1024127" cy="39319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011680" y="3726180"/>
            <a:ext cx="1097280" cy="411480"/>
          </a:xfrm>
          <a:prstGeom prst="rect">
            <a:avLst/>
          </a:prstGeom>
          <a:noFill/>
        </p:spPr>
        <p:txBody>
          <a:bodyPr wrap="square">
            <a:spAutoFit/>
          </a:bodyPr>
          <a:lstStyle/>
          <a:p>
            <a:pPr algn="ctr">
              <a:defRPr sz="1100" b="1">
                <a:solidFill>
                  <a:srgbClr val="FFFFFF"/>
                </a:solidFill>
                <a:latin typeface="Calibri"/>
              </a:defRPr>
            </a:pPr>
            <a:r>
              <a:t>0</a:t>
            </a:r>
          </a:p>
        </p:txBody>
      </p:sp>
      <p:sp>
        <p:nvSpPr>
          <p:cNvPr id="91" name="Rectangle 90"/>
          <p:cNvSpPr/>
          <p:nvPr/>
        </p:nvSpPr>
        <p:spPr>
          <a:xfrm>
            <a:off x="3145536" y="3648456"/>
            <a:ext cx="1024127" cy="39319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108960" y="3726180"/>
            <a:ext cx="1097280" cy="411480"/>
          </a:xfrm>
          <a:prstGeom prst="rect">
            <a:avLst/>
          </a:prstGeom>
          <a:noFill/>
        </p:spPr>
        <p:txBody>
          <a:bodyPr wrap="square">
            <a:spAutoFit/>
          </a:bodyPr>
          <a:lstStyle/>
          <a:p>
            <a:pPr algn="ctr">
              <a:defRPr sz="1100" b="1">
                <a:solidFill>
                  <a:srgbClr val="FFFFFF"/>
                </a:solidFill>
                <a:latin typeface="Calibri"/>
              </a:defRPr>
            </a:pPr>
            <a:r>
              <a:t>0</a:t>
            </a:r>
          </a:p>
        </p:txBody>
      </p:sp>
      <p:sp>
        <p:nvSpPr>
          <p:cNvPr id="93" name="Rectangle 92"/>
          <p:cNvSpPr/>
          <p:nvPr/>
        </p:nvSpPr>
        <p:spPr>
          <a:xfrm>
            <a:off x="4242816" y="364845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4206240" y="3726180"/>
            <a:ext cx="1097280" cy="411480"/>
          </a:xfrm>
          <a:prstGeom prst="rect">
            <a:avLst/>
          </a:prstGeom>
          <a:noFill/>
        </p:spPr>
        <p:txBody>
          <a:bodyPr wrap="square">
            <a:spAutoFit/>
          </a:bodyPr>
          <a:lstStyle/>
          <a:p>
            <a:pPr algn="ctr">
              <a:defRPr sz="1100" b="1">
                <a:solidFill>
                  <a:srgbClr val="FFFFFF"/>
                </a:solidFill>
                <a:latin typeface="Calibri"/>
              </a:defRPr>
            </a:pPr>
            <a:r>
              <a:t>4</a:t>
            </a:r>
          </a:p>
        </p:txBody>
      </p:sp>
      <p:sp>
        <p:nvSpPr>
          <p:cNvPr id="95" name="Rectangle 94"/>
          <p:cNvSpPr/>
          <p:nvPr/>
        </p:nvSpPr>
        <p:spPr>
          <a:xfrm>
            <a:off x="5340096" y="3648456"/>
            <a:ext cx="1024127" cy="39319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303520" y="3726180"/>
            <a:ext cx="1097280" cy="411480"/>
          </a:xfrm>
          <a:prstGeom prst="rect">
            <a:avLst/>
          </a:prstGeom>
          <a:noFill/>
        </p:spPr>
        <p:txBody>
          <a:bodyPr wrap="square">
            <a:spAutoFit/>
          </a:bodyPr>
          <a:lstStyle/>
          <a:p>
            <a:pPr algn="ctr">
              <a:defRPr sz="1100" b="1">
                <a:solidFill>
                  <a:srgbClr val="FFFFFF"/>
                </a:solidFill>
                <a:latin typeface="Calibri"/>
              </a:defRPr>
            </a:pPr>
            <a:r>
              <a:t>0</a:t>
            </a:r>
          </a:p>
        </p:txBody>
      </p:sp>
      <p:sp>
        <p:nvSpPr>
          <p:cNvPr id="97" name="Rectangle 96"/>
          <p:cNvSpPr/>
          <p:nvPr/>
        </p:nvSpPr>
        <p:spPr>
          <a:xfrm>
            <a:off x="6437376" y="3648456"/>
            <a:ext cx="1024127" cy="3931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400800" y="3726180"/>
            <a:ext cx="1097280" cy="411480"/>
          </a:xfrm>
          <a:prstGeom prst="rect">
            <a:avLst/>
          </a:prstGeom>
          <a:noFill/>
        </p:spPr>
        <p:txBody>
          <a:bodyPr wrap="square">
            <a:spAutoFit/>
          </a:bodyPr>
          <a:lstStyle/>
          <a:p>
            <a:pPr algn="ctr">
              <a:defRPr sz="1100" b="1">
                <a:solidFill>
                  <a:srgbClr val="FFFFFF"/>
                </a:solidFill>
                <a:latin typeface="Calibri"/>
              </a:defRPr>
            </a:pPr>
            <a:r>
              <a:t>32</a:t>
            </a:r>
          </a:p>
        </p:txBody>
      </p:sp>
      <p:sp>
        <p:nvSpPr>
          <p:cNvPr id="99" name="Rectangle 98"/>
          <p:cNvSpPr/>
          <p:nvPr/>
        </p:nvSpPr>
        <p:spPr>
          <a:xfrm>
            <a:off x="7534655" y="3648456"/>
            <a:ext cx="1024127" cy="3931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498079" y="3726180"/>
            <a:ext cx="1097280" cy="411480"/>
          </a:xfrm>
          <a:prstGeom prst="rect">
            <a:avLst/>
          </a:prstGeom>
          <a:noFill/>
        </p:spPr>
        <p:txBody>
          <a:bodyPr wrap="square">
            <a:spAutoFit/>
          </a:bodyPr>
          <a:lstStyle/>
          <a:p>
            <a:pPr algn="ctr">
              <a:defRPr sz="1100" b="1">
                <a:solidFill>
                  <a:srgbClr val="FFFFFF"/>
                </a:solidFill>
                <a:latin typeface="Calibri"/>
              </a:defRPr>
            </a:pPr>
            <a:r>
              <a:t>22</a:t>
            </a:r>
          </a:p>
        </p:txBody>
      </p:sp>
      <p:sp>
        <p:nvSpPr>
          <p:cNvPr id="101" name="TextBox 100"/>
          <p:cNvSpPr txBox="1"/>
          <p:nvPr/>
        </p:nvSpPr>
        <p:spPr>
          <a:xfrm>
            <a:off x="8595359" y="3726180"/>
            <a:ext cx="822960" cy="429768"/>
          </a:xfrm>
          <a:prstGeom prst="rect">
            <a:avLst/>
          </a:prstGeom>
          <a:noFill/>
        </p:spPr>
        <p:txBody>
          <a:bodyPr wrap="square">
            <a:spAutoFit/>
          </a:bodyPr>
          <a:lstStyle/>
          <a:p>
            <a:pPr algn="ctr">
              <a:defRPr sz="1100" b="1">
                <a:solidFill>
                  <a:srgbClr val="DC2626"/>
                </a:solidFill>
                <a:latin typeface="Calibri"/>
              </a:defRPr>
            </a:pPr>
            <a:r>
              <a:t>18%</a:t>
            </a:r>
          </a:p>
        </p:txBody>
      </p:sp>
      <p:sp>
        <p:nvSpPr>
          <p:cNvPr id="102" name="Rectangle 101"/>
          <p:cNvSpPr/>
          <p:nvPr/>
        </p:nvSpPr>
        <p:spPr>
          <a:xfrm>
            <a:off x="0" y="4279392"/>
            <a:ext cx="12191695"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82880" y="4352544"/>
            <a:ext cx="1371600" cy="201168"/>
          </a:xfrm>
          <a:prstGeom prst="rect">
            <a:avLst/>
          </a:prstGeom>
          <a:noFill/>
        </p:spPr>
        <p:txBody>
          <a:bodyPr wrap="square">
            <a:spAutoFit/>
          </a:bodyPr>
          <a:lstStyle/>
          <a:p>
            <a:pPr algn="l">
              <a:defRPr sz="850" b="1">
                <a:solidFill>
                  <a:srgbClr val="6B7280"/>
                </a:solidFill>
                <a:latin typeface="Calibri"/>
              </a:defRPr>
            </a:pPr>
            <a:r>
              <a:t>Rep</a:t>
            </a:r>
          </a:p>
        </p:txBody>
      </p:sp>
      <p:sp>
        <p:nvSpPr>
          <p:cNvPr id="104" name="TextBox 103"/>
          <p:cNvSpPr txBox="1"/>
          <p:nvPr/>
        </p:nvSpPr>
        <p:spPr>
          <a:xfrm>
            <a:off x="1554480" y="4352544"/>
            <a:ext cx="594360" cy="201168"/>
          </a:xfrm>
          <a:prstGeom prst="rect">
            <a:avLst/>
          </a:prstGeom>
          <a:noFill/>
        </p:spPr>
        <p:txBody>
          <a:bodyPr wrap="square">
            <a:spAutoFit/>
          </a:bodyPr>
          <a:lstStyle/>
          <a:p>
            <a:pPr algn="ctr">
              <a:defRPr sz="850" b="1">
                <a:solidFill>
                  <a:srgbClr val="6B7280"/>
                </a:solidFill>
                <a:latin typeface="Calibri"/>
              </a:defRPr>
            </a:pPr>
            <a:r>
              <a:t>Role</a:t>
            </a:r>
          </a:p>
        </p:txBody>
      </p:sp>
      <p:sp>
        <p:nvSpPr>
          <p:cNvPr id="105" name="TextBox 104"/>
          <p:cNvSpPr txBox="1"/>
          <p:nvPr/>
        </p:nvSpPr>
        <p:spPr>
          <a:xfrm>
            <a:off x="2148840" y="4352544"/>
            <a:ext cx="1188720" cy="201168"/>
          </a:xfrm>
          <a:prstGeom prst="rect">
            <a:avLst/>
          </a:prstGeom>
          <a:noFill/>
        </p:spPr>
        <p:txBody>
          <a:bodyPr wrap="square">
            <a:spAutoFit/>
          </a:bodyPr>
          <a:lstStyle/>
          <a:p>
            <a:pPr algn="ctr">
              <a:defRPr sz="850" b="1">
                <a:solidFill>
                  <a:srgbClr val="6B7280"/>
                </a:solidFill>
                <a:latin typeface="Calibri"/>
              </a:defRPr>
            </a:pPr>
            <a:r>
              <a:t>Calls</a:t>
            </a:r>
          </a:p>
        </p:txBody>
      </p:sp>
      <p:sp>
        <p:nvSpPr>
          <p:cNvPr id="106" name="TextBox 105"/>
          <p:cNvSpPr txBox="1"/>
          <p:nvPr/>
        </p:nvSpPr>
        <p:spPr>
          <a:xfrm>
            <a:off x="3337560" y="4352544"/>
            <a:ext cx="914400" cy="201168"/>
          </a:xfrm>
          <a:prstGeom prst="rect">
            <a:avLst/>
          </a:prstGeom>
          <a:noFill/>
        </p:spPr>
        <p:txBody>
          <a:bodyPr wrap="square">
            <a:spAutoFit/>
          </a:bodyPr>
          <a:lstStyle/>
          <a:p>
            <a:pPr algn="ctr">
              <a:defRPr sz="850" b="1">
                <a:solidFill>
                  <a:srgbClr val="6B7280"/>
                </a:solidFill>
                <a:latin typeface="Calibri"/>
              </a:defRPr>
            </a:pPr>
            <a:r>
              <a:t>Meetings</a:t>
            </a:r>
          </a:p>
        </p:txBody>
      </p:sp>
      <p:sp>
        <p:nvSpPr>
          <p:cNvPr id="107" name="TextBox 106"/>
          <p:cNvSpPr txBox="1"/>
          <p:nvPr/>
        </p:nvSpPr>
        <p:spPr>
          <a:xfrm>
            <a:off x="4251960" y="4352544"/>
            <a:ext cx="777240" cy="201168"/>
          </a:xfrm>
          <a:prstGeom prst="rect">
            <a:avLst/>
          </a:prstGeom>
          <a:noFill/>
        </p:spPr>
        <p:txBody>
          <a:bodyPr wrap="square">
            <a:spAutoFit/>
          </a:bodyPr>
          <a:lstStyle/>
          <a:p>
            <a:pPr algn="ctr">
              <a:defRPr sz="850" b="1">
                <a:solidFill>
                  <a:srgbClr val="6B7280"/>
                </a:solidFill>
                <a:latin typeface="Calibri"/>
              </a:defRPr>
            </a:pPr>
            <a:r>
              <a:t>Inbound</a:t>
            </a:r>
          </a:p>
        </p:txBody>
      </p:sp>
      <p:sp>
        <p:nvSpPr>
          <p:cNvPr id="108" name="TextBox 107"/>
          <p:cNvSpPr txBox="1"/>
          <p:nvPr/>
        </p:nvSpPr>
        <p:spPr>
          <a:xfrm>
            <a:off x="5029200" y="4352544"/>
            <a:ext cx="777240" cy="201168"/>
          </a:xfrm>
          <a:prstGeom prst="rect">
            <a:avLst/>
          </a:prstGeom>
          <a:noFill/>
        </p:spPr>
        <p:txBody>
          <a:bodyPr wrap="square">
            <a:spAutoFit/>
          </a:bodyPr>
          <a:lstStyle/>
          <a:p>
            <a:pPr algn="ctr">
              <a:defRPr sz="850" b="1">
                <a:solidFill>
                  <a:srgbClr val="6B7280"/>
                </a:solidFill>
                <a:latin typeface="Calibri"/>
              </a:defRPr>
            </a:pPr>
            <a:r>
              <a:t>Total</a:t>
            </a:r>
          </a:p>
        </p:txBody>
      </p:sp>
      <p:sp>
        <p:nvSpPr>
          <p:cNvPr id="109" name="TextBox 108"/>
          <p:cNvSpPr txBox="1"/>
          <p:nvPr/>
        </p:nvSpPr>
        <p:spPr>
          <a:xfrm>
            <a:off x="5806440" y="4352544"/>
            <a:ext cx="777240" cy="201168"/>
          </a:xfrm>
          <a:prstGeom prst="rect">
            <a:avLst/>
          </a:prstGeom>
          <a:noFill/>
        </p:spPr>
        <p:txBody>
          <a:bodyPr wrap="square">
            <a:spAutoFit/>
          </a:bodyPr>
          <a:lstStyle/>
          <a:p>
            <a:pPr algn="ctr">
              <a:defRPr sz="850" b="1">
                <a:solidFill>
                  <a:srgbClr val="6B7280"/>
                </a:solidFill>
                <a:latin typeface="Calibri"/>
              </a:defRPr>
            </a:pPr>
            <a:r>
              <a:t>Avg/Wk</a:t>
            </a:r>
          </a:p>
        </p:txBody>
      </p:sp>
      <p:sp>
        <p:nvSpPr>
          <p:cNvPr id="110" name="TextBox 109"/>
          <p:cNvSpPr txBox="1"/>
          <p:nvPr/>
        </p:nvSpPr>
        <p:spPr>
          <a:xfrm>
            <a:off x="6583679" y="4352544"/>
            <a:ext cx="914400" cy="201168"/>
          </a:xfrm>
          <a:prstGeom prst="rect">
            <a:avLst/>
          </a:prstGeom>
          <a:noFill/>
        </p:spPr>
        <p:txBody>
          <a:bodyPr wrap="square">
            <a:spAutoFit/>
          </a:bodyPr>
          <a:lstStyle/>
          <a:p>
            <a:pPr algn="ctr">
              <a:defRPr sz="850" b="1">
                <a:solidFill>
                  <a:srgbClr val="6B7280"/>
                </a:solidFill>
                <a:latin typeface="Calibri"/>
              </a:defRPr>
            </a:pPr>
            <a:r>
              <a:t>% to Goal</a:t>
            </a:r>
          </a:p>
        </p:txBody>
      </p:sp>
      <p:sp>
        <p:nvSpPr>
          <p:cNvPr id="111" name="TextBox 110"/>
          <p:cNvSpPr txBox="1"/>
          <p:nvPr/>
        </p:nvSpPr>
        <p:spPr>
          <a:xfrm>
            <a:off x="182880" y="4553712"/>
            <a:ext cx="1371600" cy="201168"/>
          </a:xfrm>
          <a:prstGeom prst="rect">
            <a:avLst/>
          </a:prstGeom>
          <a:noFill/>
        </p:spPr>
        <p:txBody>
          <a:bodyPr wrap="square">
            <a:spAutoFit/>
          </a:bodyPr>
          <a:lstStyle/>
          <a:p>
            <a:pPr algn="l">
              <a:defRPr sz="900" b="1">
                <a:solidFill>
                  <a:srgbClr val="111827"/>
                </a:solidFill>
                <a:latin typeface="Calibri"/>
              </a:defRPr>
            </a:pPr>
            <a:r>
              <a:t>Derek Janssen</a:t>
            </a:r>
          </a:p>
        </p:txBody>
      </p:sp>
      <p:sp>
        <p:nvSpPr>
          <p:cNvPr id="112" name="TextBox 111"/>
          <p:cNvSpPr txBox="1"/>
          <p:nvPr/>
        </p:nvSpPr>
        <p:spPr>
          <a:xfrm>
            <a:off x="1554480" y="4553712"/>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13" name="TextBox 112"/>
          <p:cNvSpPr txBox="1"/>
          <p:nvPr/>
        </p:nvSpPr>
        <p:spPr>
          <a:xfrm>
            <a:off x="2148840" y="4553712"/>
            <a:ext cx="1188720" cy="201168"/>
          </a:xfrm>
          <a:prstGeom prst="rect">
            <a:avLst/>
          </a:prstGeom>
          <a:noFill/>
        </p:spPr>
        <p:txBody>
          <a:bodyPr wrap="square">
            <a:spAutoFit/>
          </a:bodyPr>
          <a:lstStyle/>
          <a:p>
            <a:pPr algn="ctr">
              <a:defRPr sz="900" b="0">
                <a:solidFill>
                  <a:srgbClr val="111827"/>
                </a:solidFill>
                <a:latin typeface="Calibri"/>
              </a:defRPr>
            </a:pPr>
            <a:r>
              <a:t>334</a:t>
            </a:r>
          </a:p>
        </p:txBody>
      </p:sp>
      <p:sp>
        <p:nvSpPr>
          <p:cNvPr id="114" name="TextBox 113"/>
          <p:cNvSpPr txBox="1"/>
          <p:nvPr/>
        </p:nvSpPr>
        <p:spPr>
          <a:xfrm>
            <a:off x="3337560" y="4553712"/>
            <a:ext cx="914400" cy="201168"/>
          </a:xfrm>
          <a:prstGeom prst="rect">
            <a:avLst/>
          </a:prstGeom>
          <a:noFill/>
        </p:spPr>
        <p:txBody>
          <a:bodyPr wrap="square">
            <a:spAutoFit/>
          </a:bodyPr>
          <a:lstStyle/>
          <a:p>
            <a:pPr algn="ctr">
              <a:defRPr sz="900" b="0">
                <a:solidFill>
                  <a:srgbClr val="111827"/>
                </a:solidFill>
                <a:latin typeface="Calibri"/>
              </a:defRPr>
            </a:pPr>
            <a:r>
              <a:t>47</a:t>
            </a:r>
          </a:p>
        </p:txBody>
      </p:sp>
      <p:sp>
        <p:nvSpPr>
          <p:cNvPr id="115" name="TextBox 114"/>
          <p:cNvSpPr txBox="1"/>
          <p:nvPr/>
        </p:nvSpPr>
        <p:spPr>
          <a:xfrm>
            <a:off x="4251960" y="4553712"/>
            <a:ext cx="777240" cy="201168"/>
          </a:xfrm>
          <a:prstGeom prst="rect">
            <a:avLst/>
          </a:prstGeom>
          <a:noFill/>
        </p:spPr>
        <p:txBody>
          <a:bodyPr wrap="square">
            <a:spAutoFit/>
          </a:bodyPr>
          <a:lstStyle/>
          <a:p>
            <a:pPr algn="ctr">
              <a:defRPr sz="900" b="0">
                <a:solidFill>
                  <a:srgbClr val="6B7280"/>
                </a:solidFill>
                <a:latin typeface="Calibri"/>
              </a:defRPr>
            </a:pPr>
            <a:r>
              <a:t>60</a:t>
            </a:r>
          </a:p>
        </p:txBody>
      </p:sp>
      <p:sp>
        <p:nvSpPr>
          <p:cNvPr id="116" name="TextBox 115"/>
          <p:cNvSpPr txBox="1"/>
          <p:nvPr/>
        </p:nvSpPr>
        <p:spPr>
          <a:xfrm>
            <a:off x="5029200" y="4553712"/>
            <a:ext cx="777240" cy="201168"/>
          </a:xfrm>
          <a:prstGeom prst="rect">
            <a:avLst/>
          </a:prstGeom>
          <a:noFill/>
        </p:spPr>
        <p:txBody>
          <a:bodyPr wrap="square">
            <a:spAutoFit/>
          </a:bodyPr>
          <a:lstStyle/>
          <a:p>
            <a:pPr algn="ctr">
              <a:defRPr sz="900" b="0">
                <a:solidFill>
                  <a:srgbClr val="111827"/>
                </a:solidFill>
                <a:latin typeface="Calibri"/>
              </a:defRPr>
            </a:pPr>
            <a:r>
              <a:t>381</a:t>
            </a:r>
          </a:p>
        </p:txBody>
      </p:sp>
      <p:sp>
        <p:nvSpPr>
          <p:cNvPr id="117" name="TextBox 116"/>
          <p:cNvSpPr txBox="1"/>
          <p:nvPr/>
        </p:nvSpPr>
        <p:spPr>
          <a:xfrm>
            <a:off x="5806440" y="4553712"/>
            <a:ext cx="777240" cy="201168"/>
          </a:xfrm>
          <a:prstGeom prst="rect">
            <a:avLst/>
          </a:prstGeom>
          <a:noFill/>
        </p:spPr>
        <p:txBody>
          <a:bodyPr wrap="square">
            <a:spAutoFit/>
          </a:bodyPr>
          <a:lstStyle/>
          <a:p>
            <a:pPr algn="ctr">
              <a:defRPr sz="900" b="0">
                <a:solidFill>
                  <a:srgbClr val="111827"/>
                </a:solidFill>
                <a:latin typeface="Calibri"/>
              </a:defRPr>
            </a:pPr>
            <a:r>
              <a:t>64.0</a:t>
            </a:r>
          </a:p>
        </p:txBody>
      </p:sp>
      <p:sp>
        <p:nvSpPr>
          <p:cNvPr id="118" name="TextBox 117"/>
          <p:cNvSpPr txBox="1"/>
          <p:nvPr/>
        </p:nvSpPr>
        <p:spPr>
          <a:xfrm>
            <a:off x="6583679" y="4553712"/>
            <a:ext cx="914400" cy="201168"/>
          </a:xfrm>
          <a:prstGeom prst="rect">
            <a:avLst/>
          </a:prstGeom>
          <a:noFill/>
        </p:spPr>
        <p:txBody>
          <a:bodyPr wrap="square">
            <a:spAutoFit/>
          </a:bodyPr>
          <a:lstStyle/>
          <a:p>
            <a:pPr algn="ctr">
              <a:defRPr sz="900" b="0">
                <a:solidFill>
                  <a:srgbClr val="059669"/>
                </a:solidFill>
                <a:latin typeface="Calibri"/>
              </a:defRPr>
            </a:pPr>
            <a:r>
              <a:t>160%</a:t>
            </a:r>
          </a:p>
        </p:txBody>
      </p:sp>
      <p:sp>
        <p:nvSpPr>
          <p:cNvPr id="119" name="Rectangle 118"/>
          <p:cNvSpPr/>
          <p:nvPr/>
        </p:nvSpPr>
        <p:spPr>
          <a:xfrm>
            <a:off x="182880" y="4791456"/>
            <a:ext cx="7315200" cy="2286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82880" y="4809744"/>
            <a:ext cx="1371600" cy="201168"/>
          </a:xfrm>
          <a:prstGeom prst="rect">
            <a:avLst/>
          </a:prstGeom>
          <a:noFill/>
        </p:spPr>
        <p:txBody>
          <a:bodyPr wrap="square">
            <a:spAutoFit/>
          </a:bodyPr>
          <a:lstStyle/>
          <a:p>
            <a:pPr algn="l">
              <a:defRPr sz="900" b="1">
                <a:solidFill>
                  <a:srgbClr val="111827"/>
                </a:solidFill>
                <a:latin typeface="Calibri"/>
              </a:defRPr>
            </a:pPr>
            <a:r>
              <a:t>Ron Douglas</a:t>
            </a:r>
          </a:p>
        </p:txBody>
      </p:sp>
      <p:sp>
        <p:nvSpPr>
          <p:cNvPr id="121" name="TextBox 120"/>
          <p:cNvSpPr txBox="1"/>
          <p:nvPr/>
        </p:nvSpPr>
        <p:spPr>
          <a:xfrm>
            <a:off x="1554480" y="4809744"/>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22" name="TextBox 121"/>
          <p:cNvSpPr txBox="1"/>
          <p:nvPr/>
        </p:nvSpPr>
        <p:spPr>
          <a:xfrm>
            <a:off x="2148840" y="4809744"/>
            <a:ext cx="1188720" cy="201168"/>
          </a:xfrm>
          <a:prstGeom prst="rect">
            <a:avLst/>
          </a:prstGeom>
          <a:noFill/>
        </p:spPr>
        <p:txBody>
          <a:bodyPr wrap="square">
            <a:spAutoFit/>
          </a:bodyPr>
          <a:lstStyle/>
          <a:p>
            <a:pPr algn="ctr">
              <a:defRPr sz="900" b="0">
                <a:solidFill>
                  <a:srgbClr val="111827"/>
                </a:solidFill>
                <a:latin typeface="Calibri"/>
              </a:defRPr>
            </a:pPr>
            <a:r>
              <a:t>124</a:t>
            </a:r>
          </a:p>
        </p:txBody>
      </p:sp>
      <p:sp>
        <p:nvSpPr>
          <p:cNvPr id="123" name="TextBox 122"/>
          <p:cNvSpPr txBox="1"/>
          <p:nvPr/>
        </p:nvSpPr>
        <p:spPr>
          <a:xfrm>
            <a:off x="3337560" y="4809744"/>
            <a:ext cx="914400" cy="201168"/>
          </a:xfrm>
          <a:prstGeom prst="rect">
            <a:avLst/>
          </a:prstGeom>
          <a:noFill/>
        </p:spPr>
        <p:txBody>
          <a:bodyPr wrap="square">
            <a:spAutoFit/>
          </a:bodyPr>
          <a:lstStyle/>
          <a:p>
            <a:pPr algn="ctr">
              <a:defRPr sz="900" b="0">
                <a:solidFill>
                  <a:srgbClr val="111827"/>
                </a:solidFill>
                <a:latin typeface="Calibri"/>
              </a:defRPr>
            </a:pPr>
            <a:r>
              <a:t>22</a:t>
            </a:r>
          </a:p>
        </p:txBody>
      </p:sp>
      <p:sp>
        <p:nvSpPr>
          <p:cNvPr id="124" name="TextBox 123"/>
          <p:cNvSpPr txBox="1"/>
          <p:nvPr/>
        </p:nvSpPr>
        <p:spPr>
          <a:xfrm>
            <a:off x="4251960" y="4809744"/>
            <a:ext cx="777240" cy="201168"/>
          </a:xfrm>
          <a:prstGeom prst="rect">
            <a:avLst/>
          </a:prstGeom>
          <a:noFill/>
        </p:spPr>
        <p:txBody>
          <a:bodyPr wrap="square">
            <a:spAutoFit/>
          </a:bodyPr>
          <a:lstStyle/>
          <a:p>
            <a:pPr algn="ctr">
              <a:defRPr sz="900" b="0">
                <a:solidFill>
                  <a:srgbClr val="6B7280"/>
                </a:solidFill>
                <a:latin typeface="Calibri"/>
              </a:defRPr>
            </a:pPr>
            <a:r>
              <a:t>68</a:t>
            </a:r>
          </a:p>
        </p:txBody>
      </p:sp>
      <p:sp>
        <p:nvSpPr>
          <p:cNvPr id="125" name="TextBox 124"/>
          <p:cNvSpPr txBox="1"/>
          <p:nvPr/>
        </p:nvSpPr>
        <p:spPr>
          <a:xfrm>
            <a:off x="5029200" y="4809744"/>
            <a:ext cx="777240" cy="201168"/>
          </a:xfrm>
          <a:prstGeom prst="rect">
            <a:avLst/>
          </a:prstGeom>
          <a:noFill/>
        </p:spPr>
        <p:txBody>
          <a:bodyPr wrap="square">
            <a:spAutoFit/>
          </a:bodyPr>
          <a:lstStyle/>
          <a:p>
            <a:pPr algn="ctr">
              <a:defRPr sz="900" b="0">
                <a:solidFill>
                  <a:srgbClr val="111827"/>
                </a:solidFill>
                <a:latin typeface="Calibri"/>
              </a:defRPr>
            </a:pPr>
            <a:r>
              <a:t>146</a:t>
            </a:r>
          </a:p>
        </p:txBody>
      </p:sp>
      <p:sp>
        <p:nvSpPr>
          <p:cNvPr id="126" name="TextBox 125"/>
          <p:cNvSpPr txBox="1"/>
          <p:nvPr/>
        </p:nvSpPr>
        <p:spPr>
          <a:xfrm>
            <a:off x="5806440" y="4809744"/>
            <a:ext cx="777240" cy="201168"/>
          </a:xfrm>
          <a:prstGeom prst="rect">
            <a:avLst/>
          </a:prstGeom>
          <a:noFill/>
        </p:spPr>
        <p:txBody>
          <a:bodyPr wrap="square">
            <a:spAutoFit/>
          </a:bodyPr>
          <a:lstStyle/>
          <a:p>
            <a:pPr algn="ctr">
              <a:defRPr sz="900" b="0">
                <a:solidFill>
                  <a:srgbClr val="111827"/>
                </a:solidFill>
                <a:latin typeface="Calibri"/>
              </a:defRPr>
            </a:pPr>
            <a:r>
              <a:t>28.2</a:t>
            </a:r>
          </a:p>
        </p:txBody>
      </p:sp>
      <p:sp>
        <p:nvSpPr>
          <p:cNvPr id="127" name="TextBox 126"/>
          <p:cNvSpPr txBox="1"/>
          <p:nvPr/>
        </p:nvSpPr>
        <p:spPr>
          <a:xfrm>
            <a:off x="6583679" y="4809744"/>
            <a:ext cx="914400" cy="201168"/>
          </a:xfrm>
          <a:prstGeom prst="rect">
            <a:avLst/>
          </a:prstGeom>
          <a:noFill/>
        </p:spPr>
        <p:txBody>
          <a:bodyPr wrap="square">
            <a:spAutoFit/>
          </a:bodyPr>
          <a:lstStyle/>
          <a:p>
            <a:pPr algn="ctr">
              <a:defRPr sz="900" b="0">
                <a:solidFill>
                  <a:srgbClr val="DC2626"/>
                </a:solidFill>
                <a:latin typeface="Calibri"/>
              </a:defRPr>
            </a:pPr>
            <a:r>
              <a:t>70%</a:t>
            </a:r>
          </a:p>
        </p:txBody>
      </p:sp>
      <p:sp>
        <p:nvSpPr>
          <p:cNvPr id="128" name="TextBox 127"/>
          <p:cNvSpPr txBox="1"/>
          <p:nvPr/>
        </p:nvSpPr>
        <p:spPr>
          <a:xfrm>
            <a:off x="182880" y="5065776"/>
            <a:ext cx="1371600" cy="201168"/>
          </a:xfrm>
          <a:prstGeom prst="rect">
            <a:avLst/>
          </a:prstGeom>
          <a:noFill/>
        </p:spPr>
        <p:txBody>
          <a:bodyPr wrap="square">
            <a:spAutoFit/>
          </a:bodyPr>
          <a:lstStyle/>
          <a:p>
            <a:pPr algn="l">
              <a:defRPr sz="900" b="1">
                <a:solidFill>
                  <a:srgbClr val="111827"/>
                </a:solidFill>
                <a:latin typeface="Calibri"/>
              </a:defRPr>
            </a:pPr>
            <a:r>
              <a:t>Christopher Hayes</a:t>
            </a:r>
          </a:p>
        </p:txBody>
      </p:sp>
      <p:sp>
        <p:nvSpPr>
          <p:cNvPr id="129" name="TextBox 128"/>
          <p:cNvSpPr txBox="1"/>
          <p:nvPr/>
        </p:nvSpPr>
        <p:spPr>
          <a:xfrm>
            <a:off x="1554480" y="5065776"/>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30" name="TextBox 129"/>
          <p:cNvSpPr txBox="1"/>
          <p:nvPr/>
        </p:nvSpPr>
        <p:spPr>
          <a:xfrm>
            <a:off x="2148840" y="5065776"/>
            <a:ext cx="1188720" cy="201168"/>
          </a:xfrm>
          <a:prstGeom prst="rect">
            <a:avLst/>
          </a:prstGeom>
          <a:noFill/>
        </p:spPr>
        <p:txBody>
          <a:bodyPr wrap="square">
            <a:spAutoFit/>
          </a:bodyPr>
          <a:lstStyle/>
          <a:p>
            <a:pPr algn="ctr">
              <a:defRPr sz="900" b="0">
                <a:solidFill>
                  <a:srgbClr val="111827"/>
                </a:solidFill>
                <a:latin typeface="Calibri"/>
              </a:defRPr>
            </a:pPr>
            <a:r>
              <a:t>171</a:t>
            </a:r>
          </a:p>
        </p:txBody>
      </p:sp>
      <p:sp>
        <p:nvSpPr>
          <p:cNvPr id="131" name="TextBox 130"/>
          <p:cNvSpPr txBox="1"/>
          <p:nvPr/>
        </p:nvSpPr>
        <p:spPr>
          <a:xfrm>
            <a:off x="3337560" y="5065776"/>
            <a:ext cx="914400" cy="201168"/>
          </a:xfrm>
          <a:prstGeom prst="rect">
            <a:avLst/>
          </a:prstGeom>
          <a:noFill/>
        </p:spPr>
        <p:txBody>
          <a:bodyPr wrap="square">
            <a:spAutoFit/>
          </a:bodyPr>
          <a:lstStyle/>
          <a:p>
            <a:pPr algn="ctr">
              <a:defRPr sz="900" b="0">
                <a:solidFill>
                  <a:srgbClr val="111827"/>
                </a:solidFill>
                <a:latin typeface="Calibri"/>
              </a:defRPr>
            </a:pPr>
            <a:r>
              <a:t>11</a:t>
            </a:r>
          </a:p>
        </p:txBody>
      </p:sp>
      <p:sp>
        <p:nvSpPr>
          <p:cNvPr id="132" name="TextBox 131"/>
          <p:cNvSpPr txBox="1"/>
          <p:nvPr/>
        </p:nvSpPr>
        <p:spPr>
          <a:xfrm>
            <a:off x="4251960" y="5065776"/>
            <a:ext cx="777240" cy="201168"/>
          </a:xfrm>
          <a:prstGeom prst="rect">
            <a:avLst/>
          </a:prstGeom>
          <a:noFill/>
        </p:spPr>
        <p:txBody>
          <a:bodyPr wrap="square">
            <a:spAutoFit/>
          </a:bodyPr>
          <a:lstStyle/>
          <a:p>
            <a:pPr algn="ctr">
              <a:defRPr sz="900" b="0">
                <a:solidFill>
                  <a:srgbClr val="6B7280"/>
                </a:solidFill>
                <a:latin typeface="Calibri"/>
              </a:defRPr>
            </a:pPr>
            <a:r>
              <a:t>30</a:t>
            </a:r>
          </a:p>
        </p:txBody>
      </p:sp>
      <p:sp>
        <p:nvSpPr>
          <p:cNvPr id="133" name="TextBox 132"/>
          <p:cNvSpPr txBox="1"/>
          <p:nvPr/>
        </p:nvSpPr>
        <p:spPr>
          <a:xfrm>
            <a:off x="5029200" y="5065776"/>
            <a:ext cx="777240" cy="201168"/>
          </a:xfrm>
          <a:prstGeom prst="rect">
            <a:avLst/>
          </a:prstGeom>
          <a:noFill/>
        </p:spPr>
        <p:txBody>
          <a:bodyPr wrap="square">
            <a:spAutoFit/>
          </a:bodyPr>
          <a:lstStyle/>
          <a:p>
            <a:pPr algn="ctr">
              <a:defRPr sz="900" b="0">
                <a:solidFill>
                  <a:srgbClr val="111827"/>
                </a:solidFill>
                <a:latin typeface="Calibri"/>
              </a:defRPr>
            </a:pPr>
            <a:r>
              <a:t>182</a:t>
            </a:r>
          </a:p>
        </p:txBody>
      </p:sp>
      <p:sp>
        <p:nvSpPr>
          <p:cNvPr id="134" name="TextBox 133"/>
          <p:cNvSpPr txBox="1"/>
          <p:nvPr/>
        </p:nvSpPr>
        <p:spPr>
          <a:xfrm>
            <a:off x="5806440" y="5065776"/>
            <a:ext cx="777240" cy="201168"/>
          </a:xfrm>
          <a:prstGeom prst="rect">
            <a:avLst/>
          </a:prstGeom>
          <a:noFill/>
        </p:spPr>
        <p:txBody>
          <a:bodyPr wrap="square">
            <a:spAutoFit/>
          </a:bodyPr>
          <a:lstStyle/>
          <a:p>
            <a:pPr algn="ctr">
              <a:defRPr sz="900" b="0">
                <a:solidFill>
                  <a:srgbClr val="111827"/>
                </a:solidFill>
                <a:latin typeface="Calibri"/>
              </a:defRPr>
            </a:pPr>
            <a:r>
              <a:t>32.2</a:t>
            </a:r>
          </a:p>
        </p:txBody>
      </p:sp>
      <p:sp>
        <p:nvSpPr>
          <p:cNvPr id="135" name="TextBox 134"/>
          <p:cNvSpPr txBox="1"/>
          <p:nvPr/>
        </p:nvSpPr>
        <p:spPr>
          <a:xfrm>
            <a:off x="6583679" y="5065776"/>
            <a:ext cx="914400" cy="201168"/>
          </a:xfrm>
          <a:prstGeom prst="rect">
            <a:avLst/>
          </a:prstGeom>
          <a:noFill/>
        </p:spPr>
        <p:txBody>
          <a:bodyPr wrap="square">
            <a:spAutoFit/>
          </a:bodyPr>
          <a:lstStyle/>
          <a:p>
            <a:pPr algn="ctr">
              <a:defRPr sz="900" b="0">
                <a:solidFill>
                  <a:srgbClr val="D97706"/>
                </a:solidFill>
                <a:latin typeface="Calibri"/>
              </a:defRPr>
            </a:pPr>
            <a:r>
              <a:t>80%</a:t>
            </a:r>
          </a:p>
        </p:txBody>
      </p:sp>
      <p:sp>
        <p:nvSpPr>
          <p:cNvPr id="136" name="Rectangle 135"/>
          <p:cNvSpPr/>
          <p:nvPr/>
        </p:nvSpPr>
        <p:spPr>
          <a:xfrm>
            <a:off x="182880" y="5303520"/>
            <a:ext cx="7315200" cy="2286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82880" y="5321808"/>
            <a:ext cx="1371600" cy="201168"/>
          </a:xfrm>
          <a:prstGeom prst="rect">
            <a:avLst/>
          </a:prstGeom>
          <a:noFill/>
        </p:spPr>
        <p:txBody>
          <a:bodyPr wrap="square">
            <a:spAutoFit/>
          </a:bodyPr>
          <a:lstStyle/>
          <a:p>
            <a:pPr algn="l">
              <a:defRPr sz="900" b="1">
                <a:solidFill>
                  <a:srgbClr val="111827"/>
                </a:solidFill>
                <a:latin typeface="Calibri"/>
              </a:defRPr>
            </a:pPr>
            <a:r>
              <a:t>Derrick Leroy</a:t>
            </a:r>
          </a:p>
        </p:txBody>
      </p:sp>
      <p:sp>
        <p:nvSpPr>
          <p:cNvPr id="138" name="TextBox 137"/>
          <p:cNvSpPr txBox="1"/>
          <p:nvPr/>
        </p:nvSpPr>
        <p:spPr>
          <a:xfrm>
            <a:off x="1554480" y="5321808"/>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39" name="TextBox 138"/>
          <p:cNvSpPr txBox="1"/>
          <p:nvPr/>
        </p:nvSpPr>
        <p:spPr>
          <a:xfrm>
            <a:off x="2148840" y="5321808"/>
            <a:ext cx="1188720" cy="201168"/>
          </a:xfrm>
          <a:prstGeom prst="rect">
            <a:avLst/>
          </a:prstGeom>
          <a:noFill/>
        </p:spPr>
        <p:txBody>
          <a:bodyPr wrap="square">
            <a:spAutoFit/>
          </a:bodyPr>
          <a:lstStyle/>
          <a:p>
            <a:pPr algn="ctr">
              <a:defRPr sz="900" b="0">
                <a:solidFill>
                  <a:srgbClr val="111827"/>
                </a:solidFill>
                <a:latin typeface="Calibri"/>
              </a:defRPr>
            </a:pPr>
            <a:r>
              <a:t>318</a:t>
            </a:r>
          </a:p>
        </p:txBody>
      </p:sp>
      <p:sp>
        <p:nvSpPr>
          <p:cNvPr id="140" name="TextBox 139"/>
          <p:cNvSpPr txBox="1"/>
          <p:nvPr/>
        </p:nvSpPr>
        <p:spPr>
          <a:xfrm>
            <a:off x="3337560" y="5321808"/>
            <a:ext cx="914400" cy="201168"/>
          </a:xfrm>
          <a:prstGeom prst="rect">
            <a:avLst/>
          </a:prstGeom>
          <a:noFill/>
        </p:spPr>
        <p:txBody>
          <a:bodyPr wrap="square">
            <a:spAutoFit/>
          </a:bodyPr>
          <a:lstStyle/>
          <a:p>
            <a:pPr algn="ctr">
              <a:defRPr sz="900" b="0">
                <a:solidFill>
                  <a:srgbClr val="111827"/>
                </a:solidFill>
                <a:latin typeface="Calibri"/>
              </a:defRPr>
            </a:pPr>
            <a:r>
              <a:t>11</a:t>
            </a:r>
          </a:p>
        </p:txBody>
      </p:sp>
      <p:sp>
        <p:nvSpPr>
          <p:cNvPr id="141" name="TextBox 140"/>
          <p:cNvSpPr txBox="1"/>
          <p:nvPr/>
        </p:nvSpPr>
        <p:spPr>
          <a:xfrm>
            <a:off x="4251960" y="5321808"/>
            <a:ext cx="777240" cy="201168"/>
          </a:xfrm>
          <a:prstGeom prst="rect">
            <a:avLst/>
          </a:prstGeom>
          <a:noFill/>
        </p:spPr>
        <p:txBody>
          <a:bodyPr wrap="square">
            <a:spAutoFit/>
          </a:bodyPr>
          <a:lstStyle/>
          <a:p>
            <a:pPr algn="ctr">
              <a:defRPr sz="900" b="0">
                <a:solidFill>
                  <a:srgbClr val="6B7280"/>
                </a:solidFill>
                <a:latin typeface="Calibri"/>
              </a:defRPr>
            </a:pPr>
            <a:r>
              <a:t>36</a:t>
            </a:r>
          </a:p>
        </p:txBody>
      </p:sp>
      <p:sp>
        <p:nvSpPr>
          <p:cNvPr id="142" name="TextBox 141"/>
          <p:cNvSpPr txBox="1"/>
          <p:nvPr/>
        </p:nvSpPr>
        <p:spPr>
          <a:xfrm>
            <a:off x="5029200" y="5321808"/>
            <a:ext cx="777240" cy="201168"/>
          </a:xfrm>
          <a:prstGeom prst="rect">
            <a:avLst/>
          </a:prstGeom>
          <a:noFill/>
        </p:spPr>
        <p:txBody>
          <a:bodyPr wrap="square">
            <a:spAutoFit/>
          </a:bodyPr>
          <a:lstStyle/>
          <a:p>
            <a:pPr algn="ctr">
              <a:defRPr sz="900" b="0">
                <a:solidFill>
                  <a:srgbClr val="111827"/>
                </a:solidFill>
                <a:latin typeface="Calibri"/>
              </a:defRPr>
            </a:pPr>
            <a:r>
              <a:t>329</a:t>
            </a:r>
          </a:p>
        </p:txBody>
      </p:sp>
      <p:sp>
        <p:nvSpPr>
          <p:cNvPr id="143" name="TextBox 142"/>
          <p:cNvSpPr txBox="1"/>
          <p:nvPr/>
        </p:nvSpPr>
        <p:spPr>
          <a:xfrm>
            <a:off x="5806440" y="5321808"/>
            <a:ext cx="777240" cy="201168"/>
          </a:xfrm>
          <a:prstGeom prst="rect">
            <a:avLst/>
          </a:prstGeom>
          <a:noFill/>
        </p:spPr>
        <p:txBody>
          <a:bodyPr wrap="square">
            <a:spAutoFit/>
          </a:bodyPr>
          <a:lstStyle/>
          <a:p>
            <a:pPr algn="ctr">
              <a:defRPr sz="900" b="0">
                <a:solidFill>
                  <a:srgbClr val="111827"/>
                </a:solidFill>
                <a:latin typeface="Calibri"/>
              </a:defRPr>
            </a:pPr>
            <a:r>
              <a:t>53.6</a:t>
            </a:r>
          </a:p>
        </p:txBody>
      </p:sp>
      <p:sp>
        <p:nvSpPr>
          <p:cNvPr id="144" name="TextBox 143"/>
          <p:cNvSpPr txBox="1"/>
          <p:nvPr/>
        </p:nvSpPr>
        <p:spPr>
          <a:xfrm>
            <a:off x="6583679" y="5321808"/>
            <a:ext cx="914400" cy="201168"/>
          </a:xfrm>
          <a:prstGeom prst="rect">
            <a:avLst/>
          </a:prstGeom>
          <a:noFill/>
        </p:spPr>
        <p:txBody>
          <a:bodyPr wrap="square">
            <a:spAutoFit/>
          </a:bodyPr>
          <a:lstStyle/>
          <a:p>
            <a:pPr algn="ctr">
              <a:defRPr sz="900" b="0">
                <a:solidFill>
                  <a:srgbClr val="059669"/>
                </a:solidFill>
                <a:latin typeface="Calibri"/>
              </a:defRPr>
            </a:pPr>
            <a:r>
              <a:t>134%</a:t>
            </a:r>
          </a:p>
        </p:txBody>
      </p:sp>
      <p:sp>
        <p:nvSpPr>
          <p:cNvPr id="145" name="TextBox 144"/>
          <p:cNvSpPr txBox="1"/>
          <p:nvPr/>
        </p:nvSpPr>
        <p:spPr>
          <a:xfrm>
            <a:off x="182880" y="5577840"/>
            <a:ext cx="1371600" cy="201168"/>
          </a:xfrm>
          <a:prstGeom prst="rect">
            <a:avLst/>
          </a:prstGeom>
          <a:noFill/>
        </p:spPr>
        <p:txBody>
          <a:bodyPr wrap="square">
            <a:spAutoFit/>
          </a:bodyPr>
          <a:lstStyle/>
          <a:p>
            <a:pPr algn="l">
              <a:defRPr sz="900" b="1">
                <a:solidFill>
                  <a:srgbClr val="111827"/>
                </a:solidFill>
                <a:latin typeface="Calibri"/>
              </a:defRPr>
            </a:pPr>
            <a:r>
              <a:t>Westy McLaughlin</a:t>
            </a:r>
          </a:p>
        </p:txBody>
      </p:sp>
      <p:sp>
        <p:nvSpPr>
          <p:cNvPr id="146" name="TextBox 145"/>
          <p:cNvSpPr txBox="1"/>
          <p:nvPr/>
        </p:nvSpPr>
        <p:spPr>
          <a:xfrm>
            <a:off x="1554480" y="5577840"/>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47" name="TextBox 146"/>
          <p:cNvSpPr txBox="1"/>
          <p:nvPr/>
        </p:nvSpPr>
        <p:spPr>
          <a:xfrm>
            <a:off x="2148840" y="5577840"/>
            <a:ext cx="1188720" cy="201168"/>
          </a:xfrm>
          <a:prstGeom prst="rect">
            <a:avLst/>
          </a:prstGeom>
          <a:noFill/>
        </p:spPr>
        <p:txBody>
          <a:bodyPr wrap="square">
            <a:spAutoFit/>
          </a:bodyPr>
          <a:lstStyle/>
          <a:p>
            <a:pPr algn="ctr">
              <a:defRPr sz="900" b="0">
                <a:solidFill>
                  <a:srgbClr val="111827"/>
                </a:solidFill>
                <a:latin typeface="Calibri"/>
              </a:defRPr>
            </a:pPr>
            <a:r>
              <a:t>175</a:t>
            </a:r>
          </a:p>
        </p:txBody>
      </p:sp>
      <p:sp>
        <p:nvSpPr>
          <p:cNvPr id="148" name="TextBox 147"/>
          <p:cNvSpPr txBox="1"/>
          <p:nvPr/>
        </p:nvSpPr>
        <p:spPr>
          <a:xfrm>
            <a:off x="3337560" y="5577840"/>
            <a:ext cx="914400" cy="201168"/>
          </a:xfrm>
          <a:prstGeom prst="rect">
            <a:avLst/>
          </a:prstGeom>
          <a:noFill/>
        </p:spPr>
        <p:txBody>
          <a:bodyPr wrap="square">
            <a:spAutoFit/>
          </a:bodyPr>
          <a:lstStyle/>
          <a:p>
            <a:pPr algn="ctr">
              <a:defRPr sz="900" b="0">
                <a:solidFill>
                  <a:srgbClr val="111827"/>
                </a:solidFill>
                <a:latin typeface="Calibri"/>
              </a:defRPr>
            </a:pPr>
            <a:r>
              <a:t>11</a:t>
            </a:r>
          </a:p>
        </p:txBody>
      </p:sp>
      <p:sp>
        <p:nvSpPr>
          <p:cNvPr id="149" name="TextBox 148"/>
          <p:cNvSpPr txBox="1"/>
          <p:nvPr/>
        </p:nvSpPr>
        <p:spPr>
          <a:xfrm>
            <a:off x="4251960" y="5577840"/>
            <a:ext cx="777240" cy="201168"/>
          </a:xfrm>
          <a:prstGeom prst="rect">
            <a:avLst/>
          </a:prstGeom>
          <a:noFill/>
        </p:spPr>
        <p:txBody>
          <a:bodyPr wrap="square">
            <a:spAutoFit/>
          </a:bodyPr>
          <a:lstStyle/>
          <a:p>
            <a:pPr algn="ctr">
              <a:defRPr sz="900" b="0">
                <a:solidFill>
                  <a:srgbClr val="6B7280"/>
                </a:solidFill>
                <a:latin typeface="Calibri"/>
              </a:defRPr>
            </a:pPr>
            <a:r>
              <a:t>39</a:t>
            </a:r>
          </a:p>
        </p:txBody>
      </p:sp>
      <p:sp>
        <p:nvSpPr>
          <p:cNvPr id="150" name="TextBox 149"/>
          <p:cNvSpPr txBox="1"/>
          <p:nvPr/>
        </p:nvSpPr>
        <p:spPr>
          <a:xfrm>
            <a:off x="5029200" y="5577840"/>
            <a:ext cx="777240" cy="201168"/>
          </a:xfrm>
          <a:prstGeom prst="rect">
            <a:avLst/>
          </a:prstGeom>
          <a:noFill/>
        </p:spPr>
        <p:txBody>
          <a:bodyPr wrap="square">
            <a:spAutoFit/>
          </a:bodyPr>
          <a:lstStyle/>
          <a:p>
            <a:pPr algn="ctr">
              <a:defRPr sz="900" b="0">
                <a:solidFill>
                  <a:srgbClr val="111827"/>
                </a:solidFill>
                <a:latin typeface="Calibri"/>
              </a:defRPr>
            </a:pPr>
            <a:r>
              <a:t>186</a:t>
            </a:r>
          </a:p>
        </p:txBody>
      </p:sp>
      <p:sp>
        <p:nvSpPr>
          <p:cNvPr id="151" name="TextBox 150"/>
          <p:cNvSpPr txBox="1"/>
          <p:nvPr/>
        </p:nvSpPr>
        <p:spPr>
          <a:xfrm>
            <a:off x="5806440" y="5577840"/>
            <a:ext cx="777240" cy="201168"/>
          </a:xfrm>
          <a:prstGeom prst="rect">
            <a:avLst/>
          </a:prstGeom>
          <a:noFill/>
        </p:spPr>
        <p:txBody>
          <a:bodyPr wrap="square">
            <a:spAutoFit/>
          </a:bodyPr>
          <a:lstStyle/>
          <a:p>
            <a:pPr algn="ctr">
              <a:defRPr sz="900" b="0">
                <a:solidFill>
                  <a:srgbClr val="111827"/>
                </a:solidFill>
                <a:latin typeface="Calibri"/>
              </a:defRPr>
            </a:pPr>
            <a:r>
              <a:t>33.4</a:t>
            </a:r>
          </a:p>
        </p:txBody>
      </p:sp>
      <p:sp>
        <p:nvSpPr>
          <p:cNvPr id="152" name="TextBox 151"/>
          <p:cNvSpPr txBox="1"/>
          <p:nvPr/>
        </p:nvSpPr>
        <p:spPr>
          <a:xfrm>
            <a:off x="6583679" y="5577840"/>
            <a:ext cx="914400" cy="201168"/>
          </a:xfrm>
          <a:prstGeom prst="rect">
            <a:avLst/>
          </a:prstGeom>
          <a:noFill/>
        </p:spPr>
        <p:txBody>
          <a:bodyPr wrap="square">
            <a:spAutoFit/>
          </a:bodyPr>
          <a:lstStyle/>
          <a:p>
            <a:pPr algn="ctr">
              <a:defRPr sz="900" b="0">
                <a:solidFill>
                  <a:srgbClr val="D97706"/>
                </a:solidFill>
                <a:latin typeface="Calibri"/>
              </a:defRPr>
            </a:pPr>
            <a:r>
              <a:t>84%</a:t>
            </a:r>
          </a:p>
        </p:txBody>
      </p:sp>
      <p:sp>
        <p:nvSpPr>
          <p:cNvPr id="153" name="Rectangle 152"/>
          <p:cNvSpPr/>
          <p:nvPr/>
        </p:nvSpPr>
        <p:spPr>
          <a:xfrm>
            <a:off x="182880" y="5815584"/>
            <a:ext cx="7315200" cy="2286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182880" y="5833872"/>
            <a:ext cx="1371600" cy="201168"/>
          </a:xfrm>
          <a:prstGeom prst="rect">
            <a:avLst/>
          </a:prstGeom>
          <a:noFill/>
        </p:spPr>
        <p:txBody>
          <a:bodyPr wrap="square">
            <a:spAutoFit/>
          </a:bodyPr>
          <a:lstStyle/>
          <a:p>
            <a:pPr algn="l">
              <a:defRPr sz="900" b="1">
                <a:solidFill>
                  <a:srgbClr val="111827"/>
                </a:solidFill>
                <a:latin typeface="Calibri"/>
              </a:defRPr>
            </a:pPr>
            <a:r>
              <a:t>Alexis Berry-Smith</a:t>
            </a:r>
          </a:p>
        </p:txBody>
      </p:sp>
      <p:sp>
        <p:nvSpPr>
          <p:cNvPr id="155" name="TextBox 154"/>
          <p:cNvSpPr txBox="1"/>
          <p:nvPr/>
        </p:nvSpPr>
        <p:spPr>
          <a:xfrm>
            <a:off x="1554480" y="5833872"/>
            <a:ext cx="594360" cy="201168"/>
          </a:xfrm>
          <a:prstGeom prst="rect">
            <a:avLst/>
          </a:prstGeom>
          <a:noFill/>
        </p:spPr>
        <p:txBody>
          <a:bodyPr wrap="square">
            <a:spAutoFit/>
          </a:bodyPr>
          <a:lstStyle/>
          <a:p>
            <a:pPr algn="ctr">
              <a:defRPr sz="900" b="0">
                <a:solidFill>
                  <a:srgbClr val="6B7280"/>
                </a:solidFill>
                <a:latin typeface="Calibri"/>
              </a:defRPr>
            </a:pPr>
            <a:r>
              <a:t>BDM</a:t>
            </a:r>
          </a:p>
        </p:txBody>
      </p:sp>
      <p:sp>
        <p:nvSpPr>
          <p:cNvPr id="156" name="TextBox 155"/>
          <p:cNvSpPr txBox="1"/>
          <p:nvPr/>
        </p:nvSpPr>
        <p:spPr>
          <a:xfrm>
            <a:off x="2148840" y="5833872"/>
            <a:ext cx="1188720" cy="201168"/>
          </a:xfrm>
          <a:prstGeom prst="rect">
            <a:avLst/>
          </a:prstGeom>
          <a:noFill/>
        </p:spPr>
        <p:txBody>
          <a:bodyPr wrap="square">
            <a:spAutoFit/>
          </a:bodyPr>
          <a:lstStyle/>
          <a:p>
            <a:pPr algn="ctr">
              <a:defRPr sz="900" b="0">
                <a:solidFill>
                  <a:srgbClr val="111827"/>
                </a:solidFill>
                <a:latin typeface="Calibri"/>
              </a:defRPr>
            </a:pPr>
            <a:r>
              <a:t>52</a:t>
            </a:r>
          </a:p>
        </p:txBody>
      </p:sp>
      <p:sp>
        <p:nvSpPr>
          <p:cNvPr id="157" name="TextBox 156"/>
          <p:cNvSpPr txBox="1"/>
          <p:nvPr/>
        </p:nvSpPr>
        <p:spPr>
          <a:xfrm>
            <a:off x="3337560" y="5833872"/>
            <a:ext cx="914400" cy="201168"/>
          </a:xfrm>
          <a:prstGeom prst="rect">
            <a:avLst/>
          </a:prstGeom>
          <a:noFill/>
        </p:spPr>
        <p:txBody>
          <a:bodyPr wrap="square">
            <a:spAutoFit/>
          </a:bodyPr>
          <a:lstStyle/>
          <a:p>
            <a:pPr algn="ctr">
              <a:defRPr sz="900" b="0">
                <a:solidFill>
                  <a:srgbClr val="111827"/>
                </a:solidFill>
                <a:latin typeface="Calibri"/>
              </a:defRPr>
            </a:pPr>
            <a:r>
              <a:t>6</a:t>
            </a:r>
          </a:p>
        </p:txBody>
      </p:sp>
      <p:sp>
        <p:nvSpPr>
          <p:cNvPr id="158" name="TextBox 157"/>
          <p:cNvSpPr txBox="1"/>
          <p:nvPr/>
        </p:nvSpPr>
        <p:spPr>
          <a:xfrm>
            <a:off x="4251960" y="5833872"/>
            <a:ext cx="777240" cy="201168"/>
          </a:xfrm>
          <a:prstGeom prst="rect">
            <a:avLst/>
          </a:prstGeom>
          <a:noFill/>
        </p:spPr>
        <p:txBody>
          <a:bodyPr wrap="square">
            <a:spAutoFit/>
          </a:bodyPr>
          <a:lstStyle/>
          <a:p>
            <a:pPr algn="ctr">
              <a:defRPr sz="900" b="0">
                <a:solidFill>
                  <a:srgbClr val="6B7280"/>
                </a:solidFill>
                <a:latin typeface="Calibri"/>
              </a:defRPr>
            </a:pPr>
            <a:r>
              <a:t>2</a:t>
            </a:r>
          </a:p>
        </p:txBody>
      </p:sp>
      <p:sp>
        <p:nvSpPr>
          <p:cNvPr id="159" name="TextBox 158"/>
          <p:cNvSpPr txBox="1"/>
          <p:nvPr/>
        </p:nvSpPr>
        <p:spPr>
          <a:xfrm>
            <a:off x="5029200" y="5833872"/>
            <a:ext cx="777240" cy="201168"/>
          </a:xfrm>
          <a:prstGeom prst="rect">
            <a:avLst/>
          </a:prstGeom>
          <a:noFill/>
        </p:spPr>
        <p:txBody>
          <a:bodyPr wrap="square">
            <a:spAutoFit/>
          </a:bodyPr>
          <a:lstStyle/>
          <a:p>
            <a:pPr algn="ctr">
              <a:defRPr sz="900" b="0">
                <a:solidFill>
                  <a:srgbClr val="111827"/>
                </a:solidFill>
                <a:latin typeface="Calibri"/>
              </a:defRPr>
            </a:pPr>
            <a:r>
              <a:t>58</a:t>
            </a:r>
          </a:p>
        </p:txBody>
      </p:sp>
      <p:sp>
        <p:nvSpPr>
          <p:cNvPr id="160" name="TextBox 159"/>
          <p:cNvSpPr txBox="1"/>
          <p:nvPr/>
        </p:nvSpPr>
        <p:spPr>
          <a:xfrm>
            <a:off x="5806440" y="5833872"/>
            <a:ext cx="777240" cy="201168"/>
          </a:xfrm>
          <a:prstGeom prst="rect">
            <a:avLst/>
          </a:prstGeom>
          <a:noFill/>
        </p:spPr>
        <p:txBody>
          <a:bodyPr wrap="square">
            <a:spAutoFit/>
          </a:bodyPr>
          <a:lstStyle/>
          <a:p>
            <a:pPr algn="ctr">
              <a:defRPr sz="900" b="0">
                <a:solidFill>
                  <a:srgbClr val="111827"/>
                </a:solidFill>
                <a:latin typeface="Calibri"/>
              </a:defRPr>
            </a:pPr>
            <a:r>
              <a:t>7.2</a:t>
            </a:r>
          </a:p>
        </p:txBody>
      </p:sp>
      <p:sp>
        <p:nvSpPr>
          <p:cNvPr id="161" name="TextBox 160"/>
          <p:cNvSpPr txBox="1"/>
          <p:nvPr/>
        </p:nvSpPr>
        <p:spPr>
          <a:xfrm>
            <a:off x="6583679" y="5833872"/>
            <a:ext cx="914400" cy="201168"/>
          </a:xfrm>
          <a:prstGeom prst="rect">
            <a:avLst/>
          </a:prstGeom>
          <a:noFill/>
        </p:spPr>
        <p:txBody>
          <a:bodyPr wrap="square">
            <a:spAutoFit/>
          </a:bodyPr>
          <a:lstStyle/>
          <a:p>
            <a:pPr algn="ctr">
              <a:defRPr sz="900" b="0">
                <a:solidFill>
                  <a:srgbClr val="DC2626"/>
                </a:solidFill>
                <a:latin typeface="Calibri"/>
              </a:defRPr>
            </a:pPr>
            <a:r>
              <a:t>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Activity Dashboard — Q2 2026  |  BDAs  |  Calls + Meetings</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YTD  |  Apr 1–May 12  |  BDAs Only  |  Goal: 50 acts/wk  |  Emails excluded</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Rectangle 5"/>
          <p:cNvSpPr/>
          <p:nvPr/>
        </p:nvSpPr>
        <p:spPr>
          <a:xfrm>
            <a:off x="182880" y="804672"/>
            <a:ext cx="9235440" cy="27432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850392"/>
            <a:ext cx="1828800" cy="201168"/>
          </a:xfrm>
          <a:prstGeom prst="rect">
            <a:avLst/>
          </a:prstGeom>
          <a:noFill/>
        </p:spPr>
        <p:txBody>
          <a:bodyPr wrap="square">
            <a:spAutoFit/>
          </a:bodyPr>
          <a:lstStyle/>
          <a:p>
            <a:pPr algn="l">
              <a:defRPr sz="950" b="1">
                <a:solidFill>
                  <a:srgbClr val="FFFFFF"/>
                </a:solidFill>
                <a:latin typeface="Calibri"/>
              </a:defRPr>
            </a:pPr>
            <a:r>
              <a:t>Rep</a:t>
            </a:r>
          </a:p>
        </p:txBody>
      </p:sp>
      <p:sp>
        <p:nvSpPr>
          <p:cNvPr id="8" name="TextBox 7"/>
          <p:cNvSpPr txBox="1"/>
          <p:nvPr/>
        </p:nvSpPr>
        <p:spPr>
          <a:xfrm>
            <a:off x="2011680" y="850392"/>
            <a:ext cx="1097280" cy="201168"/>
          </a:xfrm>
          <a:prstGeom prst="rect">
            <a:avLst/>
          </a:prstGeom>
          <a:noFill/>
        </p:spPr>
        <p:txBody>
          <a:bodyPr wrap="square">
            <a:spAutoFit/>
          </a:bodyPr>
          <a:lstStyle/>
          <a:p>
            <a:pPr algn="ctr">
              <a:defRPr sz="900" b="1">
                <a:solidFill>
                  <a:srgbClr val="FFFFFF"/>
                </a:solidFill>
                <a:latin typeface="Calibri"/>
              </a:defRPr>
            </a:pPr>
            <a:r>
              <a:t>Apr 6-12</a:t>
            </a:r>
          </a:p>
        </p:txBody>
      </p:sp>
      <p:sp>
        <p:nvSpPr>
          <p:cNvPr id="9" name="TextBox 8"/>
          <p:cNvSpPr txBox="1"/>
          <p:nvPr/>
        </p:nvSpPr>
        <p:spPr>
          <a:xfrm>
            <a:off x="3108960" y="850392"/>
            <a:ext cx="1097280" cy="201168"/>
          </a:xfrm>
          <a:prstGeom prst="rect">
            <a:avLst/>
          </a:prstGeom>
          <a:noFill/>
        </p:spPr>
        <p:txBody>
          <a:bodyPr wrap="square">
            <a:spAutoFit/>
          </a:bodyPr>
          <a:lstStyle/>
          <a:p>
            <a:pPr algn="ctr">
              <a:defRPr sz="900" b="1">
                <a:solidFill>
                  <a:srgbClr val="FFFFFF"/>
                </a:solidFill>
                <a:latin typeface="Calibri"/>
              </a:defRPr>
            </a:pPr>
            <a:r>
              <a:t>Apr 13-19</a:t>
            </a:r>
          </a:p>
        </p:txBody>
      </p:sp>
      <p:sp>
        <p:nvSpPr>
          <p:cNvPr id="10" name="TextBox 9"/>
          <p:cNvSpPr txBox="1"/>
          <p:nvPr/>
        </p:nvSpPr>
        <p:spPr>
          <a:xfrm>
            <a:off x="4206240" y="850392"/>
            <a:ext cx="1097280" cy="201168"/>
          </a:xfrm>
          <a:prstGeom prst="rect">
            <a:avLst/>
          </a:prstGeom>
          <a:noFill/>
        </p:spPr>
        <p:txBody>
          <a:bodyPr wrap="square">
            <a:spAutoFit/>
          </a:bodyPr>
          <a:lstStyle/>
          <a:p>
            <a:pPr algn="ctr">
              <a:defRPr sz="900" b="1">
                <a:solidFill>
                  <a:srgbClr val="FFFFFF"/>
                </a:solidFill>
                <a:latin typeface="Calibri"/>
              </a:defRPr>
            </a:pPr>
            <a:r>
              <a:t>Apr 20-26</a:t>
            </a:r>
          </a:p>
        </p:txBody>
      </p:sp>
      <p:sp>
        <p:nvSpPr>
          <p:cNvPr id="11" name="TextBox 10"/>
          <p:cNvSpPr txBox="1"/>
          <p:nvPr/>
        </p:nvSpPr>
        <p:spPr>
          <a:xfrm>
            <a:off x="5303520" y="850392"/>
            <a:ext cx="1097280" cy="201168"/>
          </a:xfrm>
          <a:prstGeom prst="rect">
            <a:avLst/>
          </a:prstGeom>
          <a:noFill/>
        </p:spPr>
        <p:txBody>
          <a:bodyPr wrap="square">
            <a:spAutoFit/>
          </a:bodyPr>
          <a:lstStyle/>
          <a:p>
            <a:pPr algn="ctr">
              <a:defRPr sz="900" b="1">
                <a:solidFill>
                  <a:srgbClr val="FFFFFF"/>
                </a:solidFill>
                <a:latin typeface="Calibri"/>
              </a:defRPr>
            </a:pPr>
            <a:r>
              <a:t>Apr 27-May 3</a:t>
            </a:r>
          </a:p>
        </p:txBody>
      </p:sp>
      <p:sp>
        <p:nvSpPr>
          <p:cNvPr id="12" name="TextBox 11"/>
          <p:cNvSpPr txBox="1"/>
          <p:nvPr/>
        </p:nvSpPr>
        <p:spPr>
          <a:xfrm>
            <a:off x="6400800" y="850392"/>
            <a:ext cx="1097280" cy="201168"/>
          </a:xfrm>
          <a:prstGeom prst="rect">
            <a:avLst/>
          </a:prstGeom>
          <a:noFill/>
        </p:spPr>
        <p:txBody>
          <a:bodyPr wrap="square">
            <a:spAutoFit/>
          </a:bodyPr>
          <a:lstStyle/>
          <a:p>
            <a:pPr algn="ctr">
              <a:defRPr sz="900" b="1">
                <a:solidFill>
                  <a:srgbClr val="FFFFFF"/>
                </a:solidFill>
                <a:latin typeface="Calibri"/>
              </a:defRPr>
            </a:pPr>
            <a:r>
              <a:t>May 4-10</a:t>
            </a:r>
          </a:p>
        </p:txBody>
      </p:sp>
      <p:sp>
        <p:nvSpPr>
          <p:cNvPr id="13" name="TextBox 12"/>
          <p:cNvSpPr txBox="1"/>
          <p:nvPr/>
        </p:nvSpPr>
        <p:spPr>
          <a:xfrm>
            <a:off x="7498079" y="850392"/>
            <a:ext cx="1097280" cy="201168"/>
          </a:xfrm>
          <a:prstGeom prst="rect">
            <a:avLst/>
          </a:prstGeom>
          <a:noFill/>
        </p:spPr>
        <p:txBody>
          <a:bodyPr wrap="square">
            <a:spAutoFit/>
          </a:bodyPr>
          <a:lstStyle/>
          <a:p>
            <a:pPr algn="ctr">
              <a:defRPr sz="900" b="1">
                <a:solidFill>
                  <a:srgbClr val="FFFFFF"/>
                </a:solidFill>
                <a:latin typeface="Calibri"/>
              </a:defRPr>
            </a:pPr>
            <a:r>
              <a:t>May 11-12</a:t>
            </a:r>
          </a:p>
        </p:txBody>
      </p:sp>
      <p:sp>
        <p:nvSpPr>
          <p:cNvPr id="14" name="TextBox 13"/>
          <p:cNvSpPr txBox="1"/>
          <p:nvPr/>
        </p:nvSpPr>
        <p:spPr>
          <a:xfrm>
            <a:off x="8595359" y="850392"/>
            <a:ext cx="822960" cy="201168"/>
          </a:xfrm>
          <a:prstGeom prst="rect">
            <a:avLst/>
          </a:prstGeom>
          <a:noFill/>
        </p:spPr>
        <p:txBody>
          <a:bodyPr wrap="square">
            <a:spAutoFit/>
          </a:bodyPr>
          <a:lstStyle/>
          <a:p>
            <a:pPr algn="ctr">
              <a:defRPr sz="950" b="1">
                <a:solidFill>
                  <a:srgbClr val="FFFFFF"/>
                </a:solidFill>
                <a:latin typeface="Calibri"/>
              </a:defRPr>
            </a:pPr>
            <a:r>
              <a:t>Avg %</a:t>
            </a:r>
          </a:p>
        </p:txBody>
      </p:sp>
      <p:sp>
        <p:nvSpPr>
          <p:cNvPr id="15" name="TextBox 14"/>
          <p:cNvSpPr txBox="1"/>
          <p:nvPr/>
        </p:nvSpPr>
        <p:spPr>
          <a:xfrm>
            <a:off x="256032" y="1234440"/>
            <a:ext cx="1828800" cy="475488"/>
          </a:xfrm>
          <a:prstGeom prst="rect">
            <a:avLst/>
          </a:prstGeom>
          <a:noFill/>
        </p:spPr>
        <p:txBody>
          <a:bodyPr wrap="square">
            <a:spAutoFit/>
          </a:bodyPr>
          <a:lstStyle/>
          <a:p>
            <a:pPr algn="l">
              <a:defRPr sz="900" b="1">
                <a:solidFill>
                  <a:srgbClr val="111827"/>
                </a:solidFill>
                <a:latin typeface="Calibri"/>
              </a:defRPr>
            </a:pPr>
            <a:r>
              <a:t>Cameron Brader</a:t>
            </a:r>
          </a:p>
        </p:txBody>
      </p:sp>
      <p:sp>
        <p:nvSpPr>
          <p:cNvPr id="16" name="Rectangle 15"/>
          <p:cNvSpPr/>
          <p:nvPr/>
        </p:nvSpPr>
        <p:spPr>
          <a:xfrm>
            <a:off x="2048256" y="113385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11680" y="1234440"/>
            <a:ext cx="1097280" cy="457200"/>
          </a:xfrm>
          <a:prstGeom prst="rect">
            <a:avLst/>
          </a:prstGeom>
          <a:noFill/>
        </p:spPr>
        <p:txBody>
          <a:bodyPr wrap="square">
            <a:spAutoFit/>
          </a:bodyPr>
          <a:lstStyle/>
          <a:p>
            <a:pPr algn="ctr">
              <a:defRPr sz="1100" b="1">
                <a:solidFill>
                  <a:srgbClr val="FFFFFF"/>
                </a:solidFill>
                <a:latin typeface="Calibri"/>
              </a:defRPr>
            </a:pPr>
            <a:r>
              <a:t>31</a:t>
            </a:r>
          </a:p>
        </p:txBody>
      </p:sp>
      <p:sp>
        <p:nvSpPr>
          <p:cNvPr id="18" name="Rectangle 17"/>
          <p:cNvSpPr/>
          <p:nvPr/>
        </p:nvSpPr>
        <p:spPr>
          <a:xfrm>
            <a:off x="3145536" y="1133856"/>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0" y="1234440"/>
            <a:ext cx="1097280" cy="457200"/>
          </a:xfrm>
          <a:prstGeom prst="rect">
            <a:avLst/>
          </a:prstGeom>
          <a:noFill/>
        </p:spPr>
        <p:txBody>
          <a:bodyPr wrap="square">
            <a:spAutoFit/>
          </a:bodyPr>
          <a:lstStyle/>
          <a:p>
            <a:pPr algn="ctr">
              <a:defRPr sz="1100" b="1">
                <a:solidFill>
                  <a:srgbClr val="FFFFFF"/>
                </a:solidFill>
                <a:latin typeface="Calibri"/>
              </a:defRPr>
            </a:pPr>
            <a:r>
              <a:t>58</a:t>
            </a:r>
          </a:p>
        </p:txBody>
      </p:sp>
      <p:sp>
        <p:nvSpPr>
          <p:cNvPr id="20" name="Rectangle 19"/>
          <p:cNvSpPr/>
          <p:nvPr/>
        </p:nvSpPr>
        <p:spPr>
          <a:xfrm>
            <a:off x="4242816" y="1133856"/>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1234440"/>
            <a:ext cx="1097280" cy="457200"/>
          </a:xfrm>
          <a:prstGeom prst="rect">
            <a:avLst/>
          </a:prstGeom>
          <a:noFill/>
        </p:spPr>
        <p:txBody>
          <a:bodyPr wrap="square">
            <a:spAutoFit/>
          </a:bodyPr>
          <a:lstStyle/>
          <a:p>
            <a:pPr algn="ctr">
              <a:defRPr sz="1100" b="1">
                <a:solidFill>
                  <a:srgbClr val="FFFFFF"/>
                </a:solidFill>
                <a:latin typeface="Calibri"/>
              </a:defRPr>
            </a:pPr>
            <a:r>
              <a:t>38</a:t>
            </a:r>
          </a:p>
        </p:txBody>
      </p:sp>
      <p:sp>
        <p:nvSpPr>
          <p:cNvPr id="22" name="Rectangle 21"/>
          <p:cNvSpPr/>
          <p:nvPr/>
        </p:nvSpPr>
        <p:spPr>
          <a:xfrm>
            <a:off x="5340096" y="1133856"/>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0" y="1234440"/>
            <a:ext cx="1097280" cy="457200"/>
          </a:xfrm>
          <a:prstGeom prst="rect">
            <a:avLst/>
          </a:prstGeom>
          <a:noFill/>
        </p:spPr>
        <p:txBody>
          <a:bodyPr wrap="square">
            <a:spAutoFit/>
          </a:bodyPr>
          <a:lstStyle/>
          <a:p>
            <a:pPr algn="ctr">
              <a:defRPr sz="1100" b="1">
                <a:solidFill>
                  <a:srgbClr val="FFFFFF"/>
                </a:solidFill>
                <a:latin typeface="Calibri"/>
              </a:defRPr>
            </a:pPr>
            <a:r>
              <a:t>57</a:t>
            </a:r>
          </a:p>
        </p:txBody>
      </p:sp>
      <p:sp>
        <p:nvSpPr>
          <p:cNvPr id="24" name="Rectangle 23"/>
          <p:cNvSpPr/>
          <p:nvPr/>
        </p:nvSpPr>
        <p:spPr>
          <a:xfrm>
            <a:off x="6437376" y="1133856"/>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1234440"/>
            <a:ext cx="1097280" cy="457200"/>
          </a:xfrm>
          <a:prstGeom prst="rect">
            <a:avLst/>
          </a:prstGeom>
          <a:noFill/>
        </p:spPr>
        <p:txBody>
          <a:bodyPr wrap="square">
            <a:spAutoFit/>
          </a:bodyPr>
          <a:lstStyle/>
          <a:p>
            <a:pPr algn="ctr">
              <a:defRPr sz="1100" b="1">
                <a:solidFill>
                  <a:srgbClr val="FFFFFF"/>
                </a:solidFill>
                <a:latin typeface="Calibri"/>
              </a:defRPr>
            </a:pPr>
            <a:r>
              <a:t>53</a:t>
            </a:r>
          </a:p>
        </p:txBody>
      </p:sp>
      <p:sp>
        <p:nvSpPr>
          <p:cNvPr id="26" name="Rectangle 25"/>
          <p:cNvSpPr/>
          <p:nvPr/>
        </p:nvSpPr>
        <p:spPr>
          <a:xfrm>
            <a:off x="7534655" y="113385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79" y="1234440"/>
            <a:ext cx="1097280" cy="457200"/>
          </a:xfrm>
          <a:prstGeom prst="rect">
            <a:avLst/>
          </a:prstGeom>
          <a:noFill/>
        </p:spPr>
        <p:txBody>
          <a:bodyPr wrap="square">
            <a:spAutoFit/>
          </a:bodyPr>
          <a:lstStyle/>
          <a:p>
            <a:pPr algn="ctr">
              <a:defRPr sz="1100" b="1">
                <a:solidFill>
                  <a:srgbClr val="FFFFFF"/>
                </a:solidFill>
                <a:latin typeface="Calibri"/>
              </a:defRPr>
            </a:pPr>
            <a:r>
              <a:t>6</a:t>
            </a:r>
          </a:p>
        </p:txBody>
      </p:sp>
      <p:sp>
        <p:nvSpPr>
          <p:cNvPr id="28" name="TextBox 27"/>
          <p:cNvSpPr txBox="1"/>
          <p:nvPr/>
        </p:nvSpPr>
        <p:spPr>
          <a:xfrm>
            <a:off x="8595359" y="1234440"/>
            <a:ext cx="822960" cy="475488"/>
          </a:xfrm>
          <a:prstGeom prst="rect">
            <a:avLst/>
          </a:prstGeom>
          <a:noFill/>
        </p:spPr>
        <p:txBody>
          <a:bodyPr wrap="square">
            <a:spAutoFit/>
          </a:bodyPr>
          <a:lstStyle/>
          <a:p>
            <a:pPr algn="ctr">
              <a:defRPr sz="1100" b="1">
                <a:solidFill>
                  <a:srgbClr val="D97706"/>
                </a:solidFill>
                <a:latin typeface="Calibri"/>
              </a:defRPr>
            </a:pPr>
            <a:r>
              <a:t>95%</a:t>
            </a:r>
          </a:p>
        </p:txBody>
      </p:sp>
      <p:sp>
        <p:nvSpPr>
          <p:cNvPr id="29" name="Rectangle 28"/>
          <p:cNvSpPr/>
          <p:nvPr/>
        </p:nvSpPr>
        <p:spPr>
          <a:xfrm>
            <a:off x="182880" y="1627631"/>
            <a:ext cx="9235440" cy="54864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6032" y="1783079"/>
            <a:ext cx="1828800" cy="475488"/>
          </a:xfrm>
          <a:prstGeom prst="rect">
            <a:avLst/>
          </a:prstGeom>
          <a:noFill/>
        </p:spPr>
        <p:txBody>
          <a:bodyPr wrap="square">
            <a:spAutoFit/>
          </a:bodyPr>
          <a:lstStyle/>
          <a:p>
            <a:pPr algn="l">
              <a:defRPr sz="900" b="1">
                <a:solidFill>
                  <a:srgbClr val="111827"/>
                </a:solidFill>
                <a:latin typeface="Calibri"/>
              </a:defRPr>
            </a:pPr>
            <a:r>
              <a:t>Erika Cabrera</a:t>
            </a:r>
          </a:p>
        </p:txBody>
      </p:sp>
      <p:sp>
        <p:nvSpPr>
          <p:cNvPr id="31" name="Rectangle 30"/>
          <p:cNvSpPr/>
          <p:nvPr/>
        </p:nvSpPr>
        <p:spPr>
          <a:xfrm>
            <a:off x="2048256" y="1682495"/>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45536" y="1682495"/>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42816" y="1682495"/>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06240" y="1783079"/>
            <a:ext cx="1097280" cy="457200"/>
          </a:xfrm>
          <a:prstGeom prst="rect">
            <a:avLst/>
          </a:prstGeom>
          <a:noFill/>
        </p:spPr>
        <p:txBody>
          <a:bodyPr wrap="square">
            <a:spAutoFit/>
          </a:bodyPr>
          <a:lstStyle/>
          <a:p>
            <a:pPr algn="ctr">
              <a:defRPr sz="1100" b="1">
                <a:solidFill>
                  <a:srgbClr val="FFFFFF"/>
                </a:solidFill>
                <a:latin typeface="Calibri"/>
              </a:defRPr>
            </a:pPr>
            <a:r>
              <a:t>21</a:t>
            </a:r>
          </a:p>
        </p:txBody>
      </p:sp>
      <p:sp>
        <p:nvSpPr>
          <p:cNvPr id="35" name="Rectangle 34"/>
          <p:cNvSpPr/>
          <p:nvPr/>
        </p:nvSpPr>
        <p:spPr>
          <a:xfrm>
            <a:off x="5340096" y="1682495"/>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03520" y="1783079"/>
            <a:ext cx="1097280" cy="457200"/>
          </a:xfrm>
          <a:prstGeom prst="rect">
            <a:avLst/>
          </a:prstGeom>
          <a:noFill/>
        </p:spPr>
        <p:txBody>
          <a:bodyPr wrap="square">
            <a:spAutoFit/>
          </a:bodyPr>
          <a:lstStyle/>
          <a:p>
            <a:pPr algn="ctr">
              <a:defRPr sz="1100" b="1">
                <a:solidFill>
                  <a:srgbClr val="FFFFFF"/>
                </a:solidFill>
                <a:latin typeface="Calibri"/>
              </a:defRPr>
            </a:pPr>
            <a:r>
              <a:t>39</a:t>
            </a:r>
          </a:p>
        </p:txBody>
      </p:sp>
      <p:sp>
        <p:nvSpPr>
          <p:cNvPr id="37" name="Rectangle 36"/>
          <p:cNvSpPr/>
          <p:nvPr/>
        </p:nvSpPr>
        <p:spPr>
          <a:xfrm>
            <a:off x="6437376" y="1682495"/>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1783079"/>
            <a:ext cx="1097280" cy="457200"/>
          </a:xfrm>
          <a:prstGeom prst="rect">
            <a:avLst/>
          </a:prstGeom>
          <a:noFill/>
        </p:spPr>
        <p:txBody>
          <a:bodyPr wrap="square">
            <a:spAutoFit/>
          </a:bodyPr>
          <a:lstStyle/>
          <a:p>
            <a:pPr algn="ctr">
              <a:defRPr sz="1100" b="1">
                <a:solidFill>
                  <a:srgbClr val="FFFFFF"/>
                </a:solidFill>
                <a:latin typeface="Calibri"/>
              </a:defRPr>
            </a:pPr>
            <a:r>
              <a:t>14</a:t>
            </a:r>
          </a:p>
        </p:txBody>
      </p:sp>
      <p:sp>
        <p:nvSpPr>
          <p:cNvPr id="39" name="Rectangle 38"/>
          <p:cNvSpPr/>
          <p:nvPr/>
        </p:nvSpPr>
        <p:spPr>
          <a:xfrm>
            <a:off x="7534655" y="1682495"/>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79" y="1783079"/>
            <a:ext cx="1097280" cy="457200"/>
          </a:xfrm>
          <a:prstGeom prst="rect">
            <a:avLst/>
          </a:prstGeom>
          <a:noFill/>
        </p:spPr>
        <p:txBody>
          <a:bodyPr wrap="square">
            <a:spAutoFit/>
          </a:bodyPr>
          <a:lstStyle/>
          <a:p>
            <a:pPr algn="ctr">
              <a:defRPr sz="1100" b="1">
                <a:solidFill>
                  <a:srgbClr val="FFFFFF"/>
                </a:solidFill>
                <a:latin typeface="Calibri"/>
              </a:defRPr>
            </a:pPr>
            <a:r>
              <a:t>8</a:t>
            </a:r>
          </a:p>
        </p:txBody>
      </p:sp>
      <p:sp>
        <p:nvSpPr>
          <p:cNvPr id="41" name="TextBox 40"/>
          <p:cNvSpPr txBox="1"/>
          <p:nvPr/>
        </p:nvSpPr>
        <p:spPr>
          <a:xfrm>
            <a:off x="8595359" y="1783079"/>
            <a:ext cx="822960" cy="475488"/>
          </a:xfrm>
          <a:prstGeom prst="rect">
            <a:avLst/>
          </a:prstGeom>
          <a:noFill/>
        </p:spPr>
        <p:txBody>
          <a:bodyPr wrap="square">
            <a:spAutoFit/>
          </a:bodyPr>
          <a:lstStyle/>
          <a:p>
            <a:pPr algn="ctr">
              <a:defRPr sz="1100" b="1">
                <a:solidFill>
                  <a:srgbClr val="DC2626"/>
                </a:solidFill>
                <a:latin typeface="Calibri"/>
              </a:defRPr>
            </a:pPr>
            <a:r>
              <a:t>41%</a:t>
            </a:r>
          </a:p>
        </p:txBody>
      </p:sp>
      <p:sp>
        <p:nvSpPr>
          <p:cNvPr id="42" name="TextBox 41"/>
          <p:cNvSpPr txBox="1"/>
          <p:nvPr/>
        </p:nvSpPr>
        <p:spPr>
          <a:xfrm>
            <a:off x="256032" y="2331720"/>
            <a:ext cx="1828800" cy="475488"/>
          </a:xfrm>
          <a:prstGeom prst="rect">
            <a:avLst/>
          </a:prstGeom>
          <a:noFill/>
        </p:spPr>
        <p:txBody>
          <a:bodyPr wrap="square">
            <a:spAutoFit/>
          </a:bodyPr>
          <a:lstStyle/>
          <a:p>
            <a:pPr algn="l">
              <a:defRPr sz="900" b="1">
                <a:solidFill>
                  <a:srgbClr val="111827"/>
                </a:solidFill>
                <a:latin typeface="Calibri"/>
              </a:defRPr>
            </a:pPr>
            <a:r>
              <a:t>Portia Lewis</a:t>
            </a:r>
          </a:p>
        </p:txBody>
      </p:sp>
      <p:sp>
        <p:nvSpPr>
          <p:cNvPr id="43" name="Rectangle 42"/>
          <p:cNvSpPr/>
          <p:nvPr/>
        </p:nvSpPr>
        <p:spPr>
          <a:xfrm>
            <a:off x="2048256" y="2231136"/>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145536" y="2231136"/>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242816" y="223113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206240" y="2331720"/>
            <a:ext cx="1097280" cy="457200"/>
          </a:xfrm>
          <a:prstGeom prst="rect">
            <a:avLst/>
          </a:prstGeom>
          <a:noFill/>
        </p:spPr>
        <p:txBody>
          <a:bodyPr wrap="square">
            <a:spAutoFit/>
          </a:bodyPr>
          <a:lstStyle/>
          <a:p>
            <a:pPr algn="ctr">
              <a:defRPr sz="1100" b="1">
                <a:solidFill>
                  <a:srgbClr val="FFFFFF"/>
                </a:solidFill>
                <a:latin typeface="Calibri"/>
              </a:defRPr>
            </a:pPr>
            <a:r>
              <a:t>33</a:t>
            </a:r>
          </a:p>
        </p:txBody>
      </p:sp>
      <p:sp>
        <p:nvSpPr>
          <p:cNvPr id="47" name="Rectangle 46"/>
          <p:cNvSpPr/>
          <p:nvPr/>
        </p:nvSpPr>
        <p:spPr>
          <a:xfrm>
            <a:off x="5340096" y="223113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03520" y="2331720"/>
            <a:ext cx="1097280" cy="457200"/>
          </a:xfrm>
          <a:prstGeom prst="rect">
            <a:avLst/>
          </a:prstGeom>
          <a:noFill/>
        </p:spPr>
        <p:txBody>
          <a:bodyPr wrap="square">
            <a:spAutoFit/>
          </a:bodyPr>
          <a:lstStyle/>
          <a:p>
            <a:pPr algn="ctr">
              <a:defRPr sz="1100" b="1">
                <a:solidFill>
                  <a:srgbClr val="FFFFFF"/>
                </a:solidFill>
                <a:latin typeface="Calibri"/>
              </a:defRPr>
            </a:pPr>
            <a:r>
              <a:t>34</a:t>
            </a:r>
          </a:p>
        </p:txBody>
      </p:sp>
      <p:sp>
        <p:nvSpPr>
          <p:cNvPr id="49" name="Rectangle 48"/>
          <p:cNvSpPr/>
          <p:nvPr/>
        </p:nvSpPr>
        <p:spPr>
          <a:xfrm>
            <a:off x="6437376" y="2231136"/>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0" y="2331720"/>
            <a:ext cx="1097280" cy="457200"/>
          </a:xfrm>
          <a:prstGeom prst="rect">
            <a:avLst/>
          </a:prstGeom>
          <a:noFill/>
        </p:spPr>
        <p:txBody>
          <a:bodyPr wrap="square">
            <a:spAutoFit/>
          </a:bodyPr>
          <a:lstStyle/>
          <a:p>
            <a:pPr algn="ctr">
              <a:defRPr sz="1100" b="1">
                <a:solidFill>
                  <a:srgbClr val="FFFFFF"/>
                </a:solidFill>
                <a:latin typeface="Calibri"/>
              </a:defRPr>
            </a:pPr>
            <a:r>
              <a:t>53</a:t>
            </a:r>
          </a:p>
        </p:txBody>
      </p:sp>
      <p:sp>
        <p:nvSpPr>
          <p:cNvPr id="51" name="Rectangle 50"/>
          <p:cNvSpPr/>
          <p:nvPr/>
        </p:nvSpPr>
        <p:spPr>
          <a:xfrm>
            <a:off x="7534655" y="223113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98079" y="2331720"/>
            <a:ext cx="1097280" cy="457200"/>
          </a:xfrm>
          <a:prstGeom prst="rect">
            <a:avLst/>
          </a:prstGeom>
          <a:noFill/>
        </p:spPr>
        <p:txBody>
          <a:bodyPr wrap="square">
            <a:spAutoFit/>
          </a:bodyPr>
          <a:lstStyle/>
          <a:p>
            <a:pPr algn="ctr">
              <a:defRPr sz="1100" b="1">
                <a:solidFill>
                  <a:srgbClr val="FFFFFF"/>
                </a:solidFill>
                <a:latin typeface="Calibri"/>
              </a:defRPr>
            </a:pPr>
            <a:r>
              <a:t>10</a:t>
            </a:r>
          </a:p>
        </p:txBody>
      </p:sp>
      <p:sp>
        <p:nvSpPr>
          <p:cNvPr id="53" name="TextBox 52"/>
          <p:cNvSpPr txBox="1"/>
          <p:nvPr/>
        </p:nvSpPr>
        <p:spPr>
          <a:xfrm>
            <a:off x="8595359" y="2331720"/>
            <a:ext cx="822960" cy="475488"/>
          </a:xfrm>
          <a:prstGeom prst="rect">
            <a:avLst/>
          </a:prstGeom>
          <a:noFill/>
        </p:spPr>
        <p:txBody>
          <a:bodyPr wrap="square">
            <a:spAutoFit/>
          </a:bodyPr>
          <a:lstStyle/>
          <a:p>
            <a:pPr algn="ctr">
              <a:defRPr sz="1100" b="1">
                <a:solidFill>
                  <a:srgbClr val="DC2626"/>
                </a:solidFill>
                <a:latin typeface="Calibri"/>
              </a:defRPr>
            </a:pPr>
            <a:r>
              <a:t>65%</a:t>
            </a:r>
          </a:p>
        </p:txBody>
      </p:sp>
      <p:sp>
        <p:nvSpPr>
          <p:cNvPr id="54" name="Rectangle 53"/>
          <p:cNvSpPr/>
          <p:nvPr/>
        </p:nvSpPr>
        <p:spPr>
          <a:xfrm>
            <a:off x="182880" y="2724911"/>
            <a:ext cx="9235440" cy="54864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6032" y="2880359"/>
            <a:ext cx="1828800" cy="475488"/>
          </a:xfrm>
          <a:prstGeom prst="rect">
            <a:avLst/>
          </a:prstGeom>
          <a:noFill/>
        </p:spPr>
        <p:txBody>
          <a:bodyPr wrap="square">
            <a:spAutoFit/>
          </a:bodyPr>
          <a:lstStyle/>
          <a:p>
            <a:pPr algn="l">
              <a:defRPr sz="900" b="1">
                <a:solidFill>
                  <a:srgbClr val="111827"/>
                </a:solidFill>
                <a:latin typeface="Calibri"/>
              </a:defRPr>
            </a:pPr>
            <a:r>
              <a:t>Taylor Sloan</a:t>
            </a:r>
          </a:p>
        </p:txBody>
      </p:sp>
      <p:sp>
        <p:nvSpPr>
          <p:cNvPr id="56" name="Rectangle 55"/>
          <p:cNvSpPr/>
          <p:nvPr/>
        </p:nvSpPr>
        <p:spPr>
          <a:xfrm>
            <a:off x="2048256" y="2779775"/>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145536" y="2779775"/>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42816" y="2779775"/>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06240" y="2880359"/>
            <a:ext cx="1097280" cy="457200"/>
          </a:xfrm>
          <a:prstGeom prst="rect">
            <a:avLst/>
          </a:prstGeom>
          <a:noFill/>
        </p:spPr>
        <p:txBody>
          <a:bodyPr wrap="square">
            <a:spAutoFit/>
          </a:bodyPr>
          <a:lstStyle/>
          <a:p>
            <a:pPr algn="ctr">
              <a:defRPr sz="1100" b="1">
                <a:solidFill>
                  <a:srgbClr val="FFFFFF"/>
                </a:solidFill>
                <a:latin typeface="Calibri"/>
              </a:defRPr>
            </a:pPr>
            <a:r>
              <a:t>48</a:t>
            </a:r>
          </a:p>
        </p:txBody>
      </p:sp>
      <p:sp>
        <p:nvSpPr>
          <p:cNvPr id="60" name="Rectangle 59"/>
          <p:cNvSpPr/>
          <p:nvPr/>
        </p:nvSpPr>
        <p:spPr>
          <a:xfrm>
            <a:off x="5340096" y="2779775"/>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03520" y="2880359"/>
            <a:ext cx="1097280" cy="457200"/>
          </a:xfrm>
          <a:prstGeom prst="rect">
            <a:avLst/>
          </a:prstGeom>
          <a:noFill/>
        </p:spPr>
        <p:txBody>
          <a:bodyPr wrap="square">
            <a:spAutoFit/>
          </a:bodyPr>
          <a:lstStyle/>
          <a:p>
            <a:pPr algn="ctr">
              <a:defRPr sz="1100" b="1">
                <a:solidFill>
                  <a:srgbClr val="FFFFFF"/>
                </a:solidFill>
                <a:latin typeface="Calibri"/>
              </a:defRPr>
            </a:pPr>
            <a:r>
              <a:t>58</a:t>
            </a:r>
          </a:p>
        </p:txBody>
      </p:sp>
      <p:sp>
        <p:nvSpPr>
          <p:cNvPr id="62" name="Rectangle 61"/>
          <p:cNvSpPr/>
          <p:nvPr/>
        </p:nvSpPr>
        <p:spPr>
          <a:xfrm>
            <a:off x="6437376" y="2779775"/>
            <a:ext cx="1024127" cy="438912"/>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00800" y="2880359"/>
            <a:ext cx="1097280" cy="457200"/>
          </a:xfrm>
          <a:prstGeom prst="rect">
            <a:avLst/>
          </a:prstGeom>
          <a:noFill/>
        </p:spPr>
        <p:txBody>
          <a:bodyPr wrap="square">
            <a:spAutoFit/>
          </a:bodyPr>
          <a:lstStyle/>
          <a:p>
            <a:pPr algn="ctr">
              <a:defRPr sz="1100" b="1">
                <a:solidFill>
                  <a:srgbClr val="FFFFFF"/>
                </a:solidFill>
                <a:latin typeface="Calibri"/>
              </a:defRPr>
            </a:pPr>
            <a:r>
              <a:t>54</a:t>
            </a:r>
          </a:p>
        </p:txBody>
      </p:sp>
      <p:sp>
        <p:nvSpPr>
          <p:cNvPr id="64" name="Rectangle 63"/>
          <p:cNvSpPr/>
          <p:nvPr/>
        </p:nvSpPr>
        <p:spPr>
          <a:xfrm>
            <a:off x="7534655" y="2779775"/>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498079" y="2880359"/>
            <a:ext cx="1097280" cy="457200"/>
          </a:xfrm>
          <a:prstGeom prst="rect">
            <a:avLst/>
          </a:prstGeom>
          <a:noFill/>
        </p:spPr>
        <p:txBody>
          <a:bodyPr wrap="square">
            <a:spAutoFit/>
          </a:bodyPr>
          <a:lstStyle/>
          <a:p>
            <a:pPr algn="ctr">
              <a:defRPr sz="1100" b="1">
                <a:solidFill>
                  <a:srgbClr val="FFFFFF"/>
                </a:solidFill>
                <a:latin typeface="Calibri"/>
              </a:defRPr>
            </a:pPr>
            <a:r>
              <a:t>15</a:t>
            </a:r>
          </a:p>
        </p:txBody>
      </p:sp>
      <p:sp>
        <p:nvSpPr>
          <p:cNvPr id="66" name="TextBox 65"/>
          <p:cNvSpPr txBox="1"/>
          <p:nvPr/>
        </p:nvSpPr>
        <p:spPr>
          <a:xfrm>
            <a:off x="8595359" y="2880359"/>
            <a:ext cx="822960" cy="475488"/>
          </a:xfrm>
          <a:prstGeom prst="rect">
            <a:avLst/>
          </a:prstGeom>
          <a:noFill/>
        </p:spPr>
        <p:txBody>
          <a:bodyPr wrap="square">
            <a:spAutoFit/>
          </a:bodyPr>
          <a:lstStyle/>
          <a:p>
            <a:pPr algn="ctr">
              <a:defRPr sz="1100" b="1">
                <a:solidFill>
                  <a:srgbClr val="D97706"/>
                </a:solidFill>
                <a:latin typeface="Calibri"/>
              </a:defRPr>
            </a:pPr>
            <a:r>
              <a:t>88%</a:t>
            </a:r>
          </a:p>
        </p:txBody>
      </p:sp>
      <p:sp>
        <p:nvSpPr>
          <p:cNvPr id="67" name="TextBox 66"/>
          <p:cNvSpPr txBox="1"/>
          <p:nvPr/>
        </p:nvSpPr>
        <p:spPr>
          <a:xfrm>
            <a:off x="256032" y="3429000"/>
            <a:ext cx="1828800" cy="475488"/>
          </a:xfrm>
          <a:prstGeom prst="rect">
            <a:avLst/>
          </a:prstGeom>
          <a:noFill/>
        </p:spPr>
        <p:txBody>
          <a:bodyPr wrap="square">
            <a:spAutoFit/>
          </a:bodyPr>
          <a:lstStyle/>
          <a:p>
            <a:pPr algn="l">
              <a:defRPr sz="900" b="1">
                <a:solidFill>
                  <a:srgbClr val="111827"/>
                </a:solidFill>
                <a:latin typeface="Calibri"/>
              </a:defRPr>
            </a:pPr>
            <a:r>
              <a:t>Kurt Butterfield</a:t>
            </a:r>
          </a:p>
        </p:txBody>
      </p:sp>
      <p:sp>
        <p:nvSpPr>
          <p:cNvPr id="68" name="Rectangle 67"/>
          <p:cNvSpPr/>
          <p:nvPr/>
        </p:nvSpPr>
        <p:spPr>
          <a:xfrm>
            <a:off x="2048256" y="3328416"/>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011680" y="3429000"/>
            <a:ext cx="1097280" cy="457200"/>
          </a:xfrm>
          <a:prstGeom prst="rect">
            <a:avLst/>
          </a:prstGeom>
          <a:noFill/>
        </p:spPr>
        <p:txBody>
          <a:bodyPr wrap="square">
            <a:spAutoFit/>
          </a:bodyPr>
          <a:lstStyle/>
          <a:p>
            <a:pPr algn="ctr">
              <a:defRPr sz="1100" b="1">
                <a:solidFill>
                  <a:srgbClr val="FFFFFF"/>
                </a:solidFill>
                <a:latin typeface="Calibri"/>
              </a:defRPr>
            </a:pPr>
            <a:r>
              <a:t>0</a:t>
            </a:r>
          </a:p>
        </p:txBody>
      </p:sp>
      <p:sp>
        <p:nvSpPr>
          <p:cNvPr id="70" name="Rectangle 69"/>
          <p:cNvSpPr/>
          <p:nvPr/>
        </p:nvSpPr>
        <p:spPr>
          <a:xfrm>
            <a:off x="3145536" y="3328416"/>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108960" y="3429000"/>
            <a:ext cx="1097280" cy="457200"/>
          </a:xfrm>
          <a:prstGeom prst="rect">
            <a:avLst/>
          </a:prstGeom>
          <a:noFill/>
        </p:spPr>
        <p:txBody>
          <a:bodyPr wrap="square">
            <a:spAutoFit/>
          </a:bodyPr>
          <a:lstStyle/>
          <a:p>
            <a:pPr algn="ctr">
              <a:defRPr sz="1100" b="1">
                <a:solidFill>
                  <a:srgbClr val="FFFFFF"/>
                </a:solidFill>
                <a:latin typeface="Calibri"/>
              </a:defRPr>
            </a:pPr>
            <a:r>
              <a:t>0</a:t>
            </a:r>
          </a:p>
        </p:txBody>
      </p:sp>
      <p:sp>
        <p:nvSpPr>
          <p:cNvPr id="72" name="Rectangle 71"/>
          <p:cNvSpPr/>
          <p:nvPr/>
        </p:nvSpPr>
        <p:spPr>
          <a:xfrm>
            <a:off x="4242816" y="332841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206240" y="3429000"/>
            <a:ext cx="1097280" cy="457200"/>
          </a:xfrm>
          <a:prstGeom prst="rect">
            <a:avLst/>
          </a:prstGeom>
          <a:noFill/>
        </p:spPr>
        <p:txBody>
          <a:bodyPr wrap="square">
            <a:spAutoFit/>
          </a:bodyPr>
          <a:lstStyle/>
          <a:p>
            <a:pPr algn="ctr">
              <a:defRPr sz="1100" b="1">
                <a:solidFill>
                  <a:srgbClr val="FFFFFF"/>
                </a:solidFill>
                <a:latin typeface="Calibri"/>
              </a:defRPr>
            </a:pPr>
            <a:r>
              <a:t>1</a:t>
            </a:r>
          </a:p>
        </p:txBody>
      </p:sp>
      <p:sp>
        <p:nvSpPr>
          <p:cNvPr id="74" name="Rectangle 73"/>
          <p:cNvSpPr/>
          <p:nvPr/>
        </p:nvSpPr>
        <p:spPr>
          <a:xfrm>
            <a:off x="5340096" y="3328416"/>
            <a:ext cx="1024127" cy="43891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303520" y="3429000"/>
            <a:ext cx="1097280" cy="457200"/>
          </a:xfrm>
          <a:prstGeom prst="rect">
            <a:avLst/>
          </a:prstGeom>
          <a:noFill/>
        </p:spPr>
        <p:txBody>
          <a:bodyPr wrap="square">
            <a:spAutoFit/>
          </a:bodyPr>
          <a:lstStyle/>
          <a:p>
            <a:pPr algn="ctr">
              <a:defRPr sz="1100" b="1">
                <a:solidFill>
                  <a:srgbClr val="FFFFFF"/>
                </a:solidFill>
                <a:latin typeface="Calibri"/>
              </a:defRPr>
            </a:pPr>
            <a:r>
              <a:t>0</a:t>
            </a:r>
          </a:p>
        </p:txBody>
      </p:sp>
      <p:sp>
        <p:nvSpPr>
          <p:cNvPr id="76" name="Rectangle 75"/>
          <p:cNvSpPr/>
          <p:nvPr/>
        </p:nvSpPr>
        <p:spPr>
          <a:xfrm>
            <a:off x="6437376" y="3328416"/>
            <a:ext cx="1024127"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400800" y="3429000"/>
            <a:ext cx="1097280" cy="457200"/>
          </a:xfrm>
          <a:prstGeom prst="rect">
            <a:avLst/>
          </a:prstGeom>
          <a:noFill/>
        </p:spPr>
        <p:txBody>
          <a:bodyPr wrap="square">
            <a:spAutoFit/>
          </a:bodyPr>
          <a:lstStyle/>
          <a:p>
            <a:pPr algn="ctr">
              <a:defRPr sz="1100" b="1">
                <a:solidFill>
                  <a:srgbClr val="FFFFFF"/>
                </a:solidFill>
                <a:latin typeface="Calibri"/>
              </a:defRPr>
            </a:pPr>
            <a:r>
              <a:t>39</a:t>
            </a:r>
          </a:p>
        </p:txBody>
      </p:sp>
      <p:sp>
        <p:nvSpPr>
          <p:cNvPr id="78" name="Rectangle 77"/>
          <p:cNvSpPr/>
          <p:nvPr/>
        </p:nvSpPr>
        <p:spPr>
          <a:xfrm>
            <a:off x="7534655" y="3328416"/>
            <a:ext cx="1024127" cy="43891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498079" y="3429000"/>
            <a:ext cx="1097280" cy="457200"/>
          </a:xfrm>
          <a:prstGeom prst="rect">
            <a:avLst/>
          </a:prstGeom>
          <a:noFill/>
        </p:spPr>
        <p:txBody>
          <a:bodyPr wrap="square">
            <a:spAutoFit/>
          </a:bodyPr>
          <a:lstStyle/>
          <a:p>
            <a:pPr algn="ctr">
              <a:defRPr sz="1100" b="1">
                <a:solidFill>
                  <a:srgbClr val="FFFFFF"/>
                </a:solidFill>
                <a:latin typeface="Calibri"/>
              </a:defRPr>
            </a:pPr>
            <a:r>
              <a:t>13</a:t>
            </a:r>
          </a:p>
        </p:txBody>
      </p:sp>
      <p:sp>
        <p:nvSpPr>
          <p:cNvPr id="80" name="TextBox 79"/>
          <p:cNvSpPr txBox="1"/>
          <p:nvPr/>
        </p:nvSpPr>
        <p:spPr>
          <a:xfrm>
            <a:off x="8595359" y="3429000"/>
            <a:ext cx="822960" cy="475488"/>
          </a:xfrm>
          <a:prstGeom prst="rect">
            <a:avLst/>
          </a:prstGeom>
          <a:noFill/>
        </p:spPr>
        <p:txBody>
          <a:bodyPr wrap="square">
            <a:spAutoFit/>
          </a:bodyPr>
          <a:lstStyle/>
          <a:p>
            <a:pPr algn="ctr">
              <a:defRPr sz="1100" b="1">
                <a:solidFill>
                  <a:srgbClr val="DC2626"/>
                </a:solidFill>
                <a:latin typeface="Calibri"/>
              </a:defRPr>
            </a:pPr>
            <a:r>
              <a:t>16%</a:t>
            </a:r>
          </a:p>
        </p:txBody>
      </p:sp>
      <p:sp>
        <p:nvSpPr>
          <p:cNvPr id="81" name="Rectangle 80"/>
          <p:cNvSpPr/>
          <p:nvPr/>
        </p:nvSpPr>
        <p:spPr>
          <a:xfrm>
            <a:off x="0" y="4005072"/>
            <a:ext cx="12191695"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82880" y="4078224"/>
            <a:ext cx="1371600" cy="201168"/>
          </a:xfrm>
          <a:prstGeom prst="rect">
            <a:avLst/>
          </a:prstGeom>
          <a:noFill/>
        </p:spPr>
        <p:txBody>
          <a:bodyPr wrap="square">
            <a:spAutoFit/>
          </a:bodyPr>
          <a:lstStyle/>
          <a:p>
            <a:pPr algn="l">
              <a:defRPr sz="850" b="1">
                <a:solidFill>
                  <a:srgbClr val="6B7280"/>
                </a:solidFill>
                <a:latin typeface="Calibri"/>
              </a:defRPr>
            </a:pPr>
            <a:r>
              <a:t>Rep</a:t>
            </a:r>
          </a:p>
        </p:txBody>
      </p:sp>
      <p:sp>
        <p:nvSpPr>
          <p:cNvPr id="83" name="TextBox 82"/>
          <p:cNvSpPr txBox="1"/>
          <p:nvPr/>
        </p:nvSpPr>
        <p:spPr>
          <a:xfrm>
            <a:off x="1554480" y="4078224"/>
            <a:ext cx="594360" cy="201168"/>
          </a:xfrm>
          <a:prstGeom prst="rect">
            <a:avLst/>
          </a:prstGeom>
          <a:noFill/>
        </p:spPr>
        <p:txBody>
          <a:bodyPr wrap="square">
            <a:spAutoFit/>
          </a:bodyPr>
          <a:lstStyle/>
          <a:p>
            <a:pPr algn="ctr">
              <a:defRPr sz="850" b="1">
                <a:solidFill>
                  <a:srgbClr val="6B7280"/>
                </a:solidFill>
                <a:latin typeface="Calibri"/>
              </a:defRPr>
            </a:pPr>
            <a:r>
              <a:t>Role</a:t>
            </a:r>
          </a:p>
        </p:txBody>
      </p:sp>
      <p:sp>
        <p:nvSpPr>
          <p:cNvPr id="84" name="TextBox 83"/>
          <p:cNvSpPr txBox="1"/>
          <p:nvPr/>
        </p:nvSpPr>
        <p:spPr>
          <a:xfrm>
            <a:off x="2148840" y="4078224"/>
            <a:ext cx="1188720" cy="201168"/>
          </a:xfrm>
          <a:prstGeom prst="rect">
            <a:avLst/>
          </a:prstGeom>
          <a:noFill/>
        </p:spPr>
        <p:txBody>
          <a:bodyPr wrap="square">
            <a:spAutoFit/>
          </a:bodyPr>
          <a:lstStyle/>
          <a:p>
            <a:pPr algn="ctr">
              <a:defRPr sz="850" b="1">
                <a:solidFill>
                  <a:srgbClr val="6B7280"/>
                </a:solidFill>
                <a:latin typeface="Calibri"/>
              </a:defRPr>
            </a:pPr>
            <a:r>
              <a:t>Calls</a:t>
            </a:r>
          </a:p>
        </p:txBody>
      </p:sp>
      <p:sp>
        <p:nvSpPr>
          <p:cNvPr id="85" name="TextBox 84"/>
          <p:cNvSpPr txBox="1"/>
          <p:nvPr/>
        </p:nvSpPr>
        <p:spPr>
          <a:xfrm>
            <a:off x="3337560" y="4078224"/>
            <a:ext cx="914400" cy="201168"/>
          </a:xfrm>
          <a:prstGeom prst="rect">
            <a:avLst/>
          </a:prstGeom>
          <a:noFill/>
        </p:spPr>
        <p:txBody>
          <a:bodyPr wrap="square">
            <a:spAutoFit/>
          </a:bodyPr>
          <a:lstStyle/>
          <a:p>
            <a:pPr algn="ctr">
              <a:defRPr sz="850" b="1">
                <a:solidFill>
                  <a:srgbClr val="6B7280"/>
                </a:solidFill>
                <a:latin typeface="Calibri"/>
              </a:defRPr>
            </a:pPr>
            <a:r>
              <a:t>Meetings</a:t>
            </a:r>
          </a:p>
        </p:txBody>
      </p:sp>
      <p:sp>
        <p:nvSpPr>
          <p:cNvPr id="86" name="TextBox 85"/>
          <p:cNvSpPr txBox="1"/>
          <p:nvPr/>
        </p:nvSpPr>
        <p:spPr>
          <a:xfrm>
            <a:off x="4251960" y="4078224"/>
            <a:ext cx="777240" cy="201168"/>
          </a:xfrm>
          <a:prstGeom prst="rect">
            <a:avLst/>
          </a:prstGeom>
          <a:noFill/>
        </p:spPr>
        <p:txBody>
          <a:bodyPr wrap="square">
            <a:spAutoFit/>
          </a:bodyPr>
          <a:lstStyle/>
          <a:p>
            <a:pPr algn="ctr">
              <a:defRPr sz="850" b="1">
                <a:solidFill>
                  <a:srgbClr val="6B7280"/>
                </a:solidFill>
                <a:latin typeface="Calibri"/>
              </a:defRPr>
            </a:pPr>
            <a:r>
              <a:t>Inbound</a:t>
            </a:r>
          </a:p>
        </p:txBody>
      </p:sp>
      <p:sp>
        <p:nvSpPr>
          <p:cNvPr id="87" name="TextBox 86"/>
          <p:cNvSpPr txBox="1"/>
          <p:nvPr/>
        </p:nvSpPr>
        <p:spPr>
          <a:xfrm>
            <a:off x="5029200" y="4078224"/>
            <a:ext cx="777240" cy="201168"/>
          </a:xfrm>
          <a:prstGeom prst="rect">
            <a:avLst/>
          </a:prstGeom>
          <a:noFill/>
        </p:spPr>
        <p:txBody>
          <a:bodyPr wrap="square">
            <a:spAutoFit/>
          </a:bodyPr>
          <a:lstStyle/>
          <a:p>
            <a:pPr algn="ctr">
              <a:defRPr sz="850" b="1">
                <a:solidFill>
                  <a:srgbClr val="6B7280"/>
                </a:solidFill>
                <a:latin typeface="Calibri"/>
              </a:defRPr>
            </a:pPr>
            <a:r>
              <a:t>Total</a:t>
            </a:r>
          </a:p>
        </p:txBody>
      </p:sp>
      <p:sp>
        <p:nvSpPr>
          <p:cNvPr id="88" name="TextBox 87"/>
          <p:cNvSpPr txBox="1"/>
          <p:nvPr/>
        </p:nvSpPr>
        <p:spPr>
          <a:xfrm>
            <a:off x="5806440" y="4078224"/>
            <a:ext cx="777240" cy="201168"/>
          </a:xfrm>
          <a:prstGeom prst="rect">
            <a:avLst/>
          </a:prstGeom>
          <a:noFill/>
        </p:spPr>
        <p:txBody>
          <a:bodyPr wrap="square">
            <a:spAutoFit/>
          </a:bodyPr>
          <a:lstStyle/>
          <a:p>
            <a:pPr algn="ctr">
              <a:defRPr sz="850" b="1">
                <a:solidFill>
                  <a:srgbClr val="6B7280"/>
                </a:solidFill>
                <a:latin typeface="Calibri"/>
              </a:defRPr>
            </a:pPr>
            <a:r>
              <a:t>Avg/Wk</a:t>
            </a:r>
          </a:p>
        </p:txBody>
      </p:sp>
      <p:sp>
        <p:nvSpPr>
          <p:cNvPr id="89" name="TextBox 88"/>
          <p:cNvSpPr txBox="1"/>
          <p:nvPr/>
        </p:nvSpPr>
        <p:spPr>
          <a:xfrm>
            <a:off x="6583679" y="4078224"/>
            <a:ext cx="914400" cy="201168"/>
          </a:xfrm>
          <a:prstGeom prst="rect">
            <a:avLst/>
          </a:prstGeom>
          <a:noFill/>
        </p:spPr>
        <p:txBody>
          <a:bodyPr wrap="square">
            <a:spAutoFit/>
          </a:bodyPr>
          <a:lstStyle/>
          <a:p>
            <a:pPr algn="ctr">
              <a:defRPr sz="850" b="1">
                <a:solidFill>
                  <a:srgbClr val="6B7280"/>
                </a:solidFill>
                <a:latin typeface="Calibri"/>
              </a:defRPr>
            </a:pPr>
            <a:r>
              <a:t>% to Goal</a:t>
            </a:r>
          </a:p>
        </p:txBody>
      </p:sp>
      <p:sp>
        <p:nvSpPr>
          <p:cNvPr id="90" name="TextBox 89"/>
          <p:cNvSpPr txBox="1"/>
          <p:nvPr/>
        </p:nvSpPr>
        <p:spPr>
          <a:xfrm>
            <a:off x="182880" y="4279392"/>
            <a:ext cx="1371600" cy="201168"/>
          </a:xfrm>
          <a:prstGeom prst="rect">
            <a:avLst/>
          </a:prstGeom>
          <a:noFill/>
        </p:spPr>
        <p:txBody>
          <a:bodyPr wrap="square">
            <a:spAutoFit/>
          </a:bodyPr>
          <a:lstStyle/>
          <a:p>
            <a:pPr algn="l">
              <a:defRPr sz="900" b="1">
                <a:solidFill>
                  <a:srgbClr val="111827"/>
                </a:solidFill>
                <a:latin typeface="Calibri"/>
              </a:defRPr>
            </a:pPr>
            <a:r>
              <a:t>Cameron Brader</a:t>
            </a:r>
          </a:p>
        </p:txBody>
      </p:sp>
      <p:sp>
        <p:nvSpPr>
          <p:cNvPr id="91" name="TextBox 90"/>
          <p:cNvSpPr txBox="1"/>
          <p:nvPr/>
        </p:nvSpPr>
        <p:spPr>
          <a:xfrm>
            <a:off x="1554480" y="4279392"/>
            <a:ext cx="594360" cy="201168"/>
          </a:xfrm>
          <a:prstGeom prst="rect">
            <a:avLst/>
          </a:prstGeom>
          <a:noFill/>
        </p:spPr>
        <p:txBody>
          <a:bodyPr wrap="square">
            <a:spAutoFit/>
          </a:bodyPr>
          <a:lstStyle/>
          <a:p>
            <a:pPr algn="ctr">
              <a:defRPr sz="900" b="0">
                <a:solidFill>
                  <a:srgbClr val="6B7280"/>
                </a:solidFill>
                <a:latin typeface="Calibri"/>
              </a:defRPr>
            </a:pPr>
            <a:r>
              <a:t>BDA</a:t>
            </a:r>
          </a:p>
        </p:txBody>
      </p:sp>
      <p:sp>
        <p:nvSpPr>
          <p:cNvPr id="92" name="TextBox 91"/>
          <p:cNvSpPr txBox="1"/>
          <p:nvPr/>
        </p:nvSpPr>
        <p:spPr>
          <a:xfrm>
            <a:off x="2148840" y="4279392"/>
            <a:ext cx="1188720" cy="201168"/>
          </a:xfrm>
          <a:prstGeom prst="rect">
            <a:avLst/>
          </a:prstGeom>
          <a:noFill/>
        </p:spPr>
        <p:txBody>
          <a:bodyPr wrap="square">
            <a:spAutoFit/>
          </a:bodyPr>
          <a:lstStyle/>
          <a:p>
            <a:pPr algn="ctr">
              <a:defRPr sz="900" b="0">
                <a:solidFill>
                  <a:srgbClr val="111827"/>
                </a:solidFill>
                <a:latin typeface="Calibri"/>
              </a:defRPr>
            </a:pPr>
            <a:r>
              <a:t>266</a:t>
            </a:r>
          </a:p>
        </p:txBody>
      </p:sp>
      <p:sp>
        <p:nvSpPr>
          <p:cNvPr id="93" name="TextBox 92"/>
          <p:cNvSpPr txBox="1"/>
          <p:nvPr/>
        </p:nvSpPr>
        <p:spPr>
          <a:xfrm>
            <a:off x="3337560" y="4279392"/>
            <a:ext cx="914400" cy="201168"/>
          </a:xfrm>
          <a:prstGeom prst="rect">
            <a:avLst/>
          </a:prstGeom>
          <a:noFill/>
        </p:spPr>
        <p:txBody>
          <a:bodyPr wrap="square">
            <a:spAutoFit/>
          </a:bodyPr>
          <a:lstStyle/>
          <a:p>
            <a:pPr algn="ctr">
              <a:defRPr sz="900" b="0">
                <a:solidFill>
                  <a:srgbClr val="111827"/>
                </a:solidFill>
                <a:latin typeface="Calibri"/>
              </a:defRPr>
            </a:pPr>
            <a:r>
              <a:t>9</a:t>
            </a:r>
          </a:p>
        </p:txBody>
      </p:sp>
      <p:sp>
        <p:nvSpPr>
          <p:cNvPr id="94" name="TextBox 93"/>
          <p:cNvSpPr txBox="1"/>
          <p:nvPr/>
        </p:nvSpPr>
        <p:spPr>
          <a:xfrm>
            <a:off x="4251960" y="4279392"/>
            <a:ext cx="777240" cy="201168"/>
          </a:xfrm>
          <a:prstGeom prst="rect">
            <a:avLst/>
          </a:prstGeom>
          <a:noFill/>
        </p:spPr>
        <p:txBody>
          <a:bodyPr wrap="square">
            <a:spAutoFit/>
          </a:bodyPr>
          <a:lstStyle/>
          <a:p>
            <a:pPr algn="ctr">
              <a:defRPr sz="900" b="0">
                <a:solidFill>
                  <a:srgbClr val="6B7280"/>
                </a:solidFill>
                <a:latin typeface="Calibri"/>
              </a:defRPr>
            </a:pPr>
            <a:r>
              <a:t>30</a:t>
            </a:r>
          </a:p>
        </p:txBody>
      </p:sp>
      <p:sp>
        <p:nvSpPr>
          <p:cNvPr id="95" name="TextBox 94"/>
          <p:cNvSpPr txBox="1"/>
          <p:nvPr/>
        </p:nvSpPr>
        <p:spPr>
          <a:xfrm>
            <a:off x="5029200" y="4279392"/>
            <a:ext cx="777240" cy="201168"/>
          </a:xfrm>
          <a:prstGeom prst="rect">
            <a:avLst/>
          </a:prstGeom>
          <a:noFill/>
        </p:spPr>
        <p:txBody>
          <a:bodyPr wrap="square">
            <a:spAutoFit/>
          </a:bodyPr>
          <a:lstStyle/>
          <a:p>
            <a:pPr algn="ctr">
              <a:defRPr sz="900" b="0">
                <a:solidFill>
                  <a:srgbClr val="111827"/>
                </a:solidFill>
                <a:latin typeface="Calibri"/>
              </a:defRPr>
            </a:pPr>
            <a:r>
              <a:t>275</a:t>
            </a:r>
          </a:p>
        </p:txBody>
      </p:sp>
      <p:sp>
        <p:nvSpPr>
          <p:cNvPr id="96" name="TextBox 95"/>
          <p:cNvSpPr txBox="1"/>
          <p:nvPr/>
        </p:nvSpPr>
        <p:spPr>
          <a:xfrm>
            <a:off x="5806440" y="4279392"/>
            <a:ext cx="777240" cy="201168"/>
          </a:xfrm>
          <a:prstGeom prst="rect">
            <a:avLst/>
          </a:prstGeom>
          <a:noFill/>
        </p:spPr>
        <p:txBody>
          <a:bodyPr wrap="square">
            <a:spAutoFit/>
          </a:bodyPr>
          <a:lstStyle/>
          <a:p>
            <a:pPr algn="ctr">
              <a:defRPr sz="900" b="0">
                <a:solidFill>
                  <a:srgbClr val="111827"/>
                </a:solidFill>
                <a:latin typeface="Calibri"/>
              </a:defRPr>
            </a:pPr>
            <a:r>
              <a:t>47.4</a:t>
            </a:r>
          </a:p>
        </p:txBody>
      </p:sp>
      <p:sp>
        <p:nvSpPr>
          <p:cNvPr id="97" name="TextBox 96"/>
          <p:cNvSpPr txBox="1"/>
          <p:nvPr/>
        </p:nvSpPr>
        <p:spPr>
          <a:xfrm>
            <a:off x="6583679" y="4279392"/>
            <a:ext cx="914400" cy="201168"/>
          </a:xfrm>
          <a:prstGeom prst="rect">
            <a:avLst/>
          </a:prstGeom>
          <a:noFill/>
        </p:spPr>
        <p:txBody>
          <a:bodyPr wrap="square">
            <a:spAutoFit/>
          </a:bodyPr>
          <a:lstStyle/>
          <a:p>
            <a:pPr algn="ctr">
              <a:defRPr sz="900" b="0">
                <a:solidFill>
                  <a:srgbClr val="D97706"/>
                </a:solidFill>
                <a:latin typeface="Calibri"/>
              </a:defRPr>
            </a:pPr>
            <a:r>
              <a:t>95%</a:t>
            </a:r>
          </a:p>
        </p:txBody>
      </p:sp>
      <p:sp>
        <p:nvSpPr>
          <p:cNvPr id="98" name="Rectangle 97"/>
          <p:cNvSpPr/>
          <p:nvPr/>
        </p:nvSpPr>
        <p:spPr>
          <a:xfrm>
            <a:off x="182880" y="4517136"/>
            <a:ext cx="7315200" cy="2286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82880" y="4535424"/>
            <a:ext cx="1371600" cy="201168"/>
          </a:xfrm>
          <a:prstGeom prst="rect">
            <a:avLst/>
          </a:prstGeom>
          <a:noFill/>
        </p:spPr>
        <p:txBody>
          <a:bodyPr wrap="square">
            <a:spAutoFit/>
          </a:bodyPr>
          <a:lstStyle/>
          <a:p>
            <a:pPr algn="l">
              <a:defRPr sz="900" b="1">
                <a:solidFill>
                  <a:srgbClr val="111827"/>
                </a:solidFill>
                <a:latin typeface="Calibri"/>
              </a:defRPr>
            </a:pPr>
            <a:r>
              <a:t>Erika Cabrera</a:t>
            </a:r>
          </a:p>
        </p:txBody>
      </p:sp>
      <p:sp>
        <p:nvSpPr>
          <p:cNvPr id="100" name="TextBox 99"/>
          <p:cNvSpPr txBox="1"/>
          <p:nvPr/>
        </p:nvSpPr>
        <p:spPr>
          <a:xfrm>
            <a:off x="1554480" y="4535424"/>
            <a:ext cx="594360" cy="201168"/>
          </a:xfrm>
          <a:prstGeom prst="rect">
            <a:avLst/>
          </a:prstGeom>
          <a:noFill/>
        </p:spPr>
        <p:txBody>
          <a:bodyPr wrap="square">
            <a:spAutoFit/>
          </a:bodyPr>
          <a:lstStyle/>
          <a:p>
            <a:pPr algn="ctr">
              <a:defRPr sz="900" b="0">
                <a:solidFill>
                  <a:srgbClr val="6B7280"/>
                </a:solidFill>
                <a:latin typeface="Calibri"/>
              </a:defRPr>
            </a:pPr>
            <a:r>
              <a:t>BDA</a:t>
            </a:r>
          </a:p>
        </p:txBody>
      </p:sp>
      <p:sp>
        <p:nvSpPr>
          <p:cNvPr id="101" name="TextBox 100"/>
          <p:cNvSpPr txBox="1"/>
          <p:nvPr/>
        </p:nvSpPr>
        <p:spPr>
          <a:xfrm>
            <a:off x="2148840" y="4535424"/>
            <a:ext cx="1188720" cy="201168"/>
          </a:xfrm>
          <a:prstGeom prst="rect">
            <a:avLst/>
          </a:prstGeom>
          <a:noFill/>
        </p:spPr>
        <p:txBody>
          <a:bodyPr wrap="square">
            <a:spAutoFit/>
          </a:bodyPr>
          <a:lstStyle/>
          <a:p>
            <a:pPr algn="ctr">
              <a:defRPr sz="900" b="0">
                <a:solidFill>
                  <a:srgbClr val="111827"/>
                </a:solidFill>
                <a:latin typeface="Calibri"/>
              </a:defRPr>
            </a:pPr>
            <a:r>
              <a:t>76</a:t>
            </a:r>
          </a:p>
        </p:txBody>
      </p:sp>
      <p:sp>
        <p:nvSpPr>
          <p:cNvPr id="102" name="TextBox 101"/>
          <p:cNvSpPr txBox="1"/>
          <p:nvPr/>
        </p:nvSpPr>
        <p:spPr>
          <a:xfrm>
            <a:off x="3337560" y="4535424"/>
            <a:ext cx="914400" cy="201168"/>
          </a:xfrm>
          <a:prstGeom prst="rect">
            <a:avLst/>
          </a:prstGeom>
          <a:noFill/>
        </p:spPr>
        <p:txBody>
          <a:bodyPr wrap="square">
            <a:spAutoFit/>
          </a:bodyPr>
          <a:lstStyle/>
          <a:p>
            <a:pPr algn="ctr">
              <a:defRPr sz="900" b="0">
                <a:solidFill>
                  <a:srgbClr val="111827"/>
                </a:solidFill>
                <a:latin typeface="Calibri"/>
              </a:defRPr>
            </a:pPr>
            <a:r>
              <a:t>6</a:t>
            </a:r>
          </a:p>
        </p:txBody>
      </p:sp>
      <p:sp>
        <p:nvSpPr>
          <p:cNvPr id="103" name="TextBox 102"/>
          <p:cNvSpPr txBox="1"/>
          <p:nvPr/>
        </p:nvSpPr>
        <p:spPr>
          <a:xfrm>
            <a:off x="4251960" y="4535424"/>
            <a:ext cx="777240" cy="201168"/>
          </a:xfrm>
          <a:prstGeom prst="rect">
            <a:avLst/>
          </a:prstGeom>
          <a:noFill/>
        </p:spPr>
        <p:txBody>
          <a:bodyPr wrap="square">
            <a:spAutoFit/>
          </a:bodyPr>
          <a:lstStyle/>
          <a:p>
            <a:pPr algn="ctr">
              <a:defRPr sz="900" b="0">
                <a:solidFill>
                  <a:srgbClr val="6B7280"/>
                </a:solidFill>
                <a:latin typeface="Calibri"/>
              </a:defRPr>
            </a:pPr>
            <a:r>
              <a:t>4</a:t>
            </a:r>
          </a:p>
        </p:txBody>
      </p:sp>
      <p:sp>
        <p:nvSpPr>
          <p:cNvPr id="104" name="TextBox 103"/>
          <p:cNvSpPr txBox="1"/>
          <p:nvPr/>
        </p:nvSpPr>
        <p:spPr>
          <a:xfrm>
            <a:off x="5029200" y="4535424"/>
            <a:ext cx="777240" cy="201168"/>
          </a:xfrm>
          <a:prstGeom prst="rect">
            <a:avLst/>
          </a:prstGeom>
          <a:noFill/>
        </p:spPr>
        <p:txBody>
          <a:bodyPr wrap="square">
            <a:spAutoFit/>
          </a:bodyPr>
          <a:lstStyle/>
          <a:p>
            <a:pPr algn="ctr">
              <a:defRPr sz="900" b="0">
                <a:solidFill>
                  <a:srgbClr val="111827"/>
                </a:solidFill>
                <a:latin typeface="Calibri"/>
              </a:defRPr>
            </a:pPr>
            <a:r>
              <a:t>82</a:t>
            </a:r>
          </a:p>
        </p:txBody>
      </p:sp>
      <p:sp>
        <p:nvSpPr>
          <p:cNvPr id="105" name="TextBox 104"/>
          <p:cNvSpPr txBox="1"/>
          <p:nvPr/>
        </p:nvSpPr>
        <p:spPr>
          <a:xfrm>
            <a:off x="5806440" y="4535424"/>
            <a:ext cx="777240" cy="201168"/>
          </a:xfrm>
          <a:prstGeom prst="rect">
            <a:avLst/>
          </a:prstGeom>
          <a:noFill/>
        </p:spPr>
        <p:txBody>
          <a:bodyPr wrap="square">
            <a:spAutoFit/>
          </a:bodyPr>
          <a:lstStyle/>
          <a:p>
            <a:pPr algn="ctr">
              <a:defRPr sz="900" b="0">
                <a:solidFill>
                  <a:srgbClr val="111827"/>
                </a:solidFill>
                <a:latin typeface="Calibri"/>
              </a:defRPr>
            </a:pPr>
            <a:r>
              <a:t>20.5</a:t>
            </a:r>
          </a:p>
        </p:txBody>
      </p:sp>
      <p:sp>
        <p:nvSpPr>
          <p:cNvPr id="106" name="TextBox 105"/>
          <p:cNvSpPr txBox="1"/>
          <p:nvPr/>
        </p:nvSpPr>
        <p:spPr>
          <a:xfrm>
            <a:off x="6583679" y="4535424"/>
            <a:ext cx="914400" cy="201168"/>
          </a:xfrm>
          <a:prstGeom prst="rect">
            <a:avLst/>
          </a:prstGeom>
          <a:noFill/>
        </p:spPr>
        <p:txBody>
          <a:bodyPr wrap="square">
            <a:spAutoFit/>
          </a:bodyPr>
          <a:lstStyle/>
          <a:p>
            <a:pPr algn="ctr">
              <a:defRPr sz="900" b="0">
                <a:solidFill>
                  <a:srgbClr val="DC2626"/>
                </a:solidFill>
                <a:latin typeface="Calibri"/>
              </a:defRPr>
            </a:pPr>
            <a:r>
              <a:t>41%</a:t>
            </a:r>
          </a:p>
        </p:txBody>
      </p:sp>
      <p:sp>
        <p:nvSpPr>
          <p:cNvPr id="107" name="TextBox 106"/>
          <p:cNvSpPr txBox="1"/>
          <p:nvPr/>
        </p:nvSpPr>
        <p:spPr>
          <a:xfrm>
            <a:off x="182880" y="4791456"/>
            <a:ext cx="1371600" cy="201168"/>
          </a:xfrm>
          <a:prstGeom prst="rect">
            <a:avLst/>
          </a:prstGeom>
          <a:noFill/>
        </p:spPr>
        <p:txBody>
          <a:bodyPr wrap="square">
            <a:spAutoFit/>
          </a:bodyPr>
          <a:lstStyle/>
          <a:p>
            <a:pPr algn="l">
              <a:defRPr sz="900" b="1">
                <a:solidFill>
                  <a:srgbClr val="111827"/>
                </a:solidFill>
                <a:latin typeface="Calibri"/>
              </a:defRPr>
            </a:pPr>
            <a:r>
              <a:t>Portia Lewis</a:t>
            </a:r>
          </a:p>
        </p:txBody>
      </p:sp>
      <p:sp>
        <p:nvSpPr>
          <p:cNvPr id="108" name="TextBox 107"/>
          <p:cNvSpPr txBox="1"/>
          <p:nvPr/>
        </p:nvSpPr>
        <p:spPr>
          <a:xfrm>
            <a:off x="1554480" y="4791456"/>
            <a:ext cx="594360" cy="201168"/>
          </a:xfrm>
          <a:prstGeom prst="rect">
            <a:avLst/>
          </a:prstGeom>
          <a:noFill/>
        </p:spPr>
        <p:txBody>
          <a:bodyPr wrap="square">
            <a:spAutoFit/>
          </a:bodyPr>
          <a:lstStyle/>
          <a:p>
            <a:pPr algn="ctr">
              <a:defRPr sz="900" b="0">
                <a:solidFill>
                  <a:srgbClr val="6B7280"/>
                </a:solidFill>
                <a:latin typeface="Calibri"/>
              </a:defRPr>
            </a:pPr>
            <a:r>
              <a:t>BDA</a:t>
            </a:r>
          </a:p>
        </p:txBody>
      </p:sp>
      <p:sp>
        <p:nvSpPr>
          <p:cNvPr id="109" name="TextBox 108"/>
          <p:cNvSpPr txBox="1"/>
          <p:nvPr/>
        </p:nvSpPr>
        <p:spPr>
          <a:xfrm>
            <a:off x="2148840" y="4791456"/>
            <a:ext cx="1188720" cy="201168"/>
          </a:xfrm>
          <a:prstGeom prst="rect">
            <a:avLst/>
          </a:prstGeom>
          <a:noFill/>
        </p:spPr>
        <p:txBody>
          <a:bodyPr wrap="square">
            <a:spAutoFit/>
          </a:bodyPr>
          <a:lstStyle/>
          <a:p>
            <a:pPr algn="ctr">
              <a:defRPr sz="900" b="0">
                <a:solidFill>
                  <a:srgbClr val="111827"/>
                </a:solidFill>
                <a:latin typeface="Calibri"/>
              </a:defRPr>
            </a:pPr>
            <a:r>
              <a:t>124</a:t>
            </a:r>
          </a:p>
        </p:txBody>
      </p:sp>
      <p:sp>
        <p:nvSpPr>
          <p:cNvPr id="110" name="TextBox 109"/>
          <p:cNvSpPr txBox="1"/>
          <p:nvPr/>
        </p:nvSpPr>
        <p:spPr>
          <a:xfrm>
            <a:off x="3337560" y="4791456"/>
            <a:ext cx="914400" cy="201168"/>
          </a:xfrm>
          <a:prstGeom prst="rect">
            <a:avLst/>
          </a:prstGeom>
          <a:noFill/>
        </p:spPr>
        <p:txBody>
          <a:bodyPr wrap="square">
            <a:spAutoFit/>
          </a:bodyPr>
          <a:lstStyle/>
          <a:p>
            <a:pPr algn="ctr">
              <a:defRPr sz="900" b="0">
                <a:solidFill>
                  <a:srgbClr val="111827"/>
                </a:solidFill>
                <a:latin typeface="Calibri"/>
              </a:defRPr>
            </a:pPr>
            <a:r>
              <a:t>6</a:t>
            </a:r>
          </a:p>
        </p:txBody>
      </p:sp>
      <p:sp>
        <p:nvSpPr>
          <p:cNvPr id="111" name="TextBox 110"/>
          <p:cNvSpPr txBox="1"/>
          <p:nvPr/>
        </p:nvSpPr>
        <p:spPr>
          <a:xfrm>
            <a:off x="4251960" y="4791456"/>
            <a:ext cx="777240" cy="201168"/>
          </a:xfrm>
          <a:prstGeom prst="rect">
            <a:avLst/>
          </a:prstGeom>
          <a:noFill/>
        </p:spPr>
        <p:txBody>
          <a:bodyPr wrap="square">
            <a:spAutoFit/>
          </a:bodyPr>
          <a:lstStyle/>
          <a:p>
            <a:pPr algn="ctr">
              <a:defRPr sz="900" b="0">
                <a:solidFill>
                  <a:srgbClr val="6B7280"/>
                </a:solidFill>
                <a:latin typeface="Calibri"/>
              </a:defRPr>
            </a:pPr>
            <a:r>
              <a:t>13</a:t>
            </a:r>
          </a:p>
        </p:txBody>
      </p:sp>
      <p:sp>
        <p:nvSpPr>
          <p:cNvPr id="112" name="TextBox 111"/>
          <p:cNvSpPr txBox="1"/>
          <p:nvPr/>
        </p:nvSpPr>
        <p:spPr>
          <a:xfrm>
            <a:off x="5029200" y="4791456"/>
            <a:ext cx="777240" cy="201168"/>
          </a:xfrm>
          <a:prstGeom prst="rect">
            <a:avLst/>
          </a:prstGeom>
          <a:noFill/>
        </p:spPr>
        <p:txBody>
          <a:bodyPr wrap="square">
            <a:spAutoFit/>
          </a:bodyPr>
          <a:lstStyle/>
          <a:p>
            <a:pPr algn="ctr">
              <a:defRPr sz="900" b="0">
                <a:solidFill>
                  <a:srgbClr val="111827"/>
                </a:solidFill>
                <a:latin typeface="Calibri"/>
              </a:defRPr>
            </a:pPr>
            <a:r>
              <a:t>130</a:t>
            </a:r>
          </a:p>
        </p:txBody>
      </p:sp>
      <p:sp>
        <p:nvSpPr>
          <p:cNvPr id="113" name="TextBox 112"/>
          <p:cNvSpPr txBox="1"/>
          <p:nvPr/>
        </p:nvSpPr>
        <p:spPr>
          <a:xfrm>
            <a:off x="5806440" y="4791456"/>
            <a:ext cx="777240" cy="201168"/>
          </a:xfrm>
          <a:prstGeom prst="rect">
            <a:avLst/>
          </a:prstGeom>
          <a:noFill/>
        </p:spPr>
        <p:txBody>
          <a:bodyPr wrap="square">
            <a:spAutoFit/>
          </a:bodyPr>
          <a:lstStyle/>
          <a:p>
            <a:pPr algn="ctr">
              <a:defRPr sz="900" b="0">
                <a:solidFill>
                  <a:srgbClr val="111827"/>
                </a:solidFill>
                <a:latin typeface="Calibri"/>
              </a:defRPr>
            </a:pPr>
            <a:r>
              <a:t>32.5</a:t>
            </a:r>
          </a:p>
        </p:txBody>
      </p:sp>
      <p:sp>
        <p:nvSpPr>
          <p:cNvPr id="114" name="TextBox 113"/>
          <p:cNvSpPr txBox="1"/>
          <p:nvPr/>
        </p:nvSpPr>
        <p:spPr>
          <a:xfrm>
            <a:off x="6583679" y="4791456"/>
            <a:ext cx="914400" cy="201168"/>
          </a:xfrm>
          <a:prstGeom prst="rect">
            <a:avLst/>
          </a:prstGeom>
          <a:noFill/>
        </p:spPr>
        <p:txBody>
          <a:bodyPr wrap="square">
            <a:spAutoFit/>
          </a:bodyPr>
          <a:lstStyle/>
          <a:p>
            <a:pPr algn="ctr">
              <a:defRPr sz="900" b="0">
                <a:solidFill>
                  <a:srgbClr val="DC2626"/>
                </a:solidFill>
                <a:latin typeface="Calibri"/>
              </a:defRPr>
            </a:pPr>
            <a:r>
              <a:t>65%</a:t>
            </a:r>
          </a:p>
        </p:txBody>
      </p:sp>
      <p:sp>
        <p:nvSpPr>
          <p:cNvPr id="115" name="Rectangle 114"/>
          <p:cNvSpPr/>
          <p:nvPr/>
        </p:nvSpPr>
        <p:spPr>
          <a:xfrm>
            <a:off x="182880" y="5029200"/>
            <a:ext cx="7315200" cy="2286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82880" y="5047488"/>
            <a:ext cx="1371600" cy="201168"/>
          </a:xfrm>
          <a:prstGeom prst="rect">
            <a:avLst/>
          </a:prstGeom>
          <a:noFill/>
        </p:spPr>
        <p:txBody>
          <a:bodyPr wrap="square">
            <a:spAutoFit/>
          </a:bodyPr>
          <a:lstStyle/>
          <a:p>
            <a:pPr algn="l">
              <a:defRPr sz="900" b="1">
                <a:solidFill>
                  <a:srgbClr val="111827"/>
                </a:solidFill>
                <a:latin typeface="Calibri"/>
              </a:defRPr>
            </a:pPr>
            <a:r>
              <a:t>Taylor Sloan</a:t>
            </a:r>
          </a:p>
        </p:txBody>
      </p:sp>
      <p:sp>
        <p:nvSpPr>
          <p:cNvPr id="117" name="TextBox 116"/>
          <p:cNvSpPr txBox="1"/>
          <p:nvPr/>
        </p:nvSpPr>
        <p:spPr>
          <a:xfrm>
            <a:off x="1554480" y="5047488"/>
            <a:ext cx="594360" cy="201168"/>
          </a:xfrm>
          <a:prstGeom prst="rect">
            <a:avLst/>
          </a:prstGeom>
          <a:noFill/>
        </p:spPr>
        <p:txBody>
          <a:bodyPr wrap="square">
            <a:spAutoFit/>
          </a:bodyPr>
          <a:lstStyle/>
          <a:p>
            <a:pPr algn="ctr">
              <a:defRPr sz="900" b="0">
                <a:solidFill>
                  <a:srgbClr val="6B7280"/>
                </a:solidFill>
                <a:latin typeface="Calibri"/>
              </a:defRPr>
            </a:pPr>
            <a:r>
              <a:t>BDA</a:t>
            </a:r>
          </a:p>
        </p:txBody>
      </p:sp>
      <p:sp>
        <p:nvSpPr>
          <p:cNvPr id="118" name="TextBox 117"/>
          <p:cNvSpPr txBox="1"/>
          <p:nvPr/>
        </p:nvSpPr>
        <p:spPr>
          <a:xfrm>
            <a:off x="2148840" y="5047488"/>
            <a:ext cx="1188720" cy="201168"/>
          </a:xfrm>
          <a:prstGeom prst="rect">
            <a:avLst/>
          </a:prstGeom>
          <a:noFill/>
        </p:spPr>
        <p:txBody>
          <a:bodyPr wrap="square">
            <a:spAutoFit/>
          </a:bodyPr>
          <a:lstStyle/>
          <a:p>
            <a:pPr algn="ctr">
              <a:defRPr sz="900" b="0">
                <a:solidFill>
                  <a:srgbClr val="111827"/>
                </a:solidFill>
                <a:latin typeface="Calibri"/>
              </a:defRPr>
            </a:pPr>
            <a:r>
              <a:t>167</a:t>
            </a:r>
          </a:p>
        </p:txBody>
      </p:sp>
      <p:sp>
        <p:nvSpPr>
          <p:cNvPr id="119" name="TextBox 118"/>
          <p:cNvSpPr txBox="1"/>
          <p:nvPr/>
        </p:nvSpPr>
        <p:spPr>
          <a:xfrm>
            <a:off x="3337560" y="5047488"/>
            <a:ext cx="914400" cy="201168"/>
          </a:xfrm>
          <a:prstGeom prst="rect">
            <a:avLst/>
          </a:prstGeom>
          <a:noFill/>
        </p:spPr>
        <p:txBody>
          <a:bodyPr wrap="square">
            <a:spAutoFit/>
          </a:bodyPr>
          <a:lstStyle/>
          <a:p>
            <a:pPr algn="ctr">
              <a:defRPr sz="900" b="0">
                <a:solidFill>
                  <a:srgbClr val="111827"/>
                </a:solidFill>
                <a:latin typeface="Calibri"/>
              </a:defRPr>
            </a:pPr>
            <a:r>
              <a:t>8</a:t>
            </a:r>
          </a:p>
        </p:txBody>
      </p:sp>
      <p:sp>
        <p:nvSpPr>
          <p:cNvPr id="120" name="TextBox 119"/>
          <p:cNvSpPr txBox="1"/>
          <p:nvPr/>
        </p:nvSpPr>
        <p:spPr>
          <a:xfrm>
            <a:off x="4251960" y="5047488"/>
            <a:ext cx="777240" cy="201168"/>
          </a:xfrm>
          <a:prstGeom prst="rect">
            <a:avLst/>
          </a:prstGeom>
          <a:noFill/>
        </p:spPr>
        <p:txBody>
          <a:bodyPr wrap="square">
            <a:spAutoFit/>
          </a:bodyPr>
          <a:lstStyle/>
          <a:p>
            <a:pPr algn="ctr">
              <a:defRPr sz="900" b="0">
                <a:solidFill>
                  <a:srgbClr val="6B7280"/>
                </a:solidFill>
                <a:latin typeface="Calibri"/>
              </a:defRPr>
            </a:pPr>
            <a:r>
              <a:t>12</a:t>
            </a:r>
          </a:p>
        </p:txBody>
      </p:sp>
      <p:sp>
        <p:nvSpPr>
          <p:cNvPr id="121" name="TextBox 120"/>
          <p:cNvSpPr txBox="1"/>
          <p:nvPr/>
        </p:nvSpPr>
        <p:spPr>
          <a:xfrm>
            <a:off x="5029200" y="5047488"/>
            <a:ext cx="777240" cy="201168"/>
          </a:xfrm>
          <a:prstGeom prst="rect">
            <a:avLst/>
          </a:prstGeom>
          <a:noFill/>
        </p:spPr>
        <p:txBody>
          <a:bodyPr wrap="square">
            <a:spAutoFit/>
          </a:bodyPr>
          <a:lstStyle/>
          <a:p>
            <a:pPr algn="ctr">
              <a:defRPr sz="900" b="0">
                <a:solidFill>
                  <a:srgbClr val="111827"/>
                </a:solidFill>
                <a:latin typeface="Calibri"/>
              </a:defRPr>
            </a:pPr>
            <a:r>
              <a:t>175</a:t>
            </a:r>
          </a:p>
        </p:txBody>
      </p:sp>
      <p:sp>
        <p:nvSpPr>
          <p:cNvPr id="122" name="TextBox 121"/>
          <p:cNvSpPr txBox="1"/>
          <p:nvPr/>
        </p:nvSpPr>
        <p:spPr>
          <a:xfrm>
            <a:off x="5806440" y="5047488"/>
            <a:ext cx="777240" cy="201168"/>
          </a:xfrm>
          <a:prstGeom prst="rect">
            <a:avLst/>
          </a:prstGeom>
          <a:noFill/>
        </p:spPr>
        <p:txBody>
          <a:bodyPr wrap="square">
            <a:spAutoFit/>
          </a:bodyPr>
          <a:lstStyle/>
          <a:p>
            <a:pPr algn="ctr">
              <a:defRPr sz="900" b="0">
                <a:solidFill>
                  <a:srgbClr val="111827"/>
                </a:solidFill>
                <a:latin typeface="Calibri"/>
              </a:defRPr>
            </a:pPr>
            <a:r>
              <a:t>43.8</a:t>
            </a:r>
          </a:p>
        </p:txBody>
      </p:sp>
      <p:sp>
        <p:nvSpPr>
          <p:cNvPr id="123" name="TextBox 122"/>
          <p:cNvSpPr txBox="1"/>
          <p:nvPr/>
        </p:nvSpPr>
        <p:spPr>
          <a:xfrm>
            <a:off x="6583679" y="5047488"/>
            <a:ext cx="914400" cy="201168"/>
          </a:xfrm>
          <a:prstGeom prst="rect">
            <a:avLst/>
          </a:prstGeom>
          <a:noFill/>
        </p:spPr>
        <p:txBody>
          <a:bodyPr wrap="square">
            <a:spAutoFit/>
          </a:bodyPr>
          <a:lstStyle/>
          <a:p>
            <a:pPr algn="ctr">
              <a:defRPr sz="900" b="0">
                <a:solidFill>
                  <a:srgbClr val="D97706"/>
                </a:solidFill>
                <a:latin typeface="Calibri"/>
              </a:defRPr>
            </a:pPr>
            <a:r>
              <a:t>88%</a:t>
            </a:r>
          </a:p>
        </p:txBody>
      </p:sp>
      <p:sp>
        <p:nvSpPr>
          <p:cNvPr id="124" name="TextBox 123"/>
          <p:cNvSpPr txBox="1"/>
          <p:nvPr/>
        </p:nvSpPr>
        <p:spPr>
          <a:xfrm>
            <a:off x="182880" y="5303520"/>
            <a:ext cx="1371600" cy="201168"/>
          </a:xfrm>
          <a:prstGeom prst="rect">
            <a:avLst/>
          </a:prstGeom>
          <a:noFill/>
        </p:spPr>
        <p:txBody>
          <a:bodyPr wrap="square">
            <a:spAutoFit/>
          </a:bodyPr>
          <a:lstStyle/>
          <a:p>
            <a:pPr algn="l">
              <a:defRPr sz="900" b="1">
                <a:solidFill>
                  <a:srgbClr val="111827"/>
                </a:solidFill>
                <a:latin typeface="Calibri"/>
              </a:defRPr>
            </a:pPr>
            <a:r>
              <a:t>Kurt Butterfield</a:t>
            </a:r>
          </a:p>
        </p:txBody>
      </p:sp>
      <p:sp>
        <p:nvSpPr>
          <p:cNvPr id="125" name="TextBox 124"/>
          <p:cNvSpPr txBox="1"/>
          <p:nvPr/>
        </p:nvSpPr>
        <p:spPr>
          <a:xfrm>
            <a:off x="1554480" y="5303520"/>
            <a:ext cx="594360" cy="201168"/>
          </a:xfrm>
          <a:prstGeom prst="rect">
            <a:avLst/>
          </a:prstGeom>
          <a:noFill/>
        </p:spPr>
        <p:txBody>
          <a:bodyPr wrap="square">
            <a:spAutoFit/>
          </a:bodyPr>
          <a:lstStyle/>
          <a:p>
            <a:pPr algn="ctr">
              <a:defRPr sz="900" b="0">
                <a:solidFill>
                  <a:srgbClr val="6B7280"/>
                </a:solidFill>
                <a:latin typeface="Calibri"/>
              </a:defRPr>
            </a:pPr>
            <a:r>
              <a:t>BDA</a:t>
            </a:r>
          </a:p>
        </p:txBody>
      </p:sp>
      <p:sp>
        <p:nvSpPr>
          <p:cNvPr id="126" name="TextBox 125"/>
          <p:cNvSpPr txBox="1"/>
          <p:nvPr/>
        </p:nvSpPr>
        <p:spPr>
          <a:xfrm>
            <a:off x="2148840" y="5303520"/>
            <a:ext cx="1188720" cy="201168"/>
          </a:xfrm>
          <a:prstGeom prst="rect">
            <a:avLst/>
          </a:prstGeom>
          <a:noFill/>
        </p:spPr>
        <p:txBody>
          <a:bodyPr wrap="square">
            <a:spAutoFit/>
          </a:bodyPr>
          <a:lstStyle/>
          <a:p>
            <a:pPr algn="ctr">
              <a:defRPr sz="900" b="0">
                <a:solidFill>
                  <a:srgbClr val="111827"/>
                </a:solidFill>
                <a:latin typeface="Calibri"/>
              </a:defRPr>
            </a:pPr>
            <a:r>
              <a:t>51</a:t>
            </a:r>
          </a:p>
        </p:txBody>
      </p:sp>
      <p:sp>
        <p:nvSpPr>
          <p:cNvPr id="127" name="TextBox 126"/>
          <p:cNvSpPr txBox="1"/>
          <p:nvPr/>
        </p:nvSpPr>
        <p:spPr>
          <a:xfrm>
            <a:off x="3337560" y="5303520"/>
            <a:ext cx="914400" cy="201168"/>
          </a:xfrm>
          <a:prstGeom prst="rect">
            <a:avLst/>
          </a:prstGeom>
          <a:noFill/>
        </p:spPr>
        <p:txBody>
          <a:bodyPr wrap="square">
            <a:spAutoFit/>
          </a:bodyPr>
          <a:lstStyle/>
          <a:p>
            <a:pPr algn="ctr">
              <a:defRPr sz="900" b="0">
                <a:solidFill>
                  <a:srgbClr val="111827"/>
                </a:solidFill>
                <a:latin typeface="Calibri"/>
              </a:defRPr>
            </a:pPr>
            <a:r>
              <a:t>2</a:t>
            </a:r>
          </a:p>
        </p:txBody>
      </p:sp>
      <p:sp>
        <p:nvSpPr>
          <p:cNvPr id="128" name="TextBox 127"/>
          <p:cNvSpPr txBox="1"/>
          <p:nvPr/>
        </p:nvSpPr>
        <p:spPr>
          <a:xfrm>
            <a:off x="4251960" y="5303520"/>
            <a:ext cx="777240" cy="201168"/>
          </a:xfrm>
          <a:prstGeom prst="rect">
            <a:avLst/>
          </a:prstGeom>
          <a:noFill/>
        </p:spPr>
        <p:txBody>
          <a:bodyPr wrap="square">
            <a:spAutoFit/>
          </a:bodyPr>
          <a:lstStyle/>
          <a:p>
            <a:pPr algn="ctr">
              <a:defRPr sz="900" b="0">
                <a:solidFill>
                  <a:srgbClr val="6B7280"/>
                </a:solidFill>
                <a:latin typeface="Calibri"/>
              </a:defRPr>
            </a:pPr>
            <a:r>
              <a:t>2</a:t>
            </a:r>
          </a:p>
        </p:txBody>
      </p:sp>
      <p:sp>
        <p:nvSpPr>
          <p:cNvPr id="129" name="TextBox 128"/>
          <p:cNvSpPr txBox="1"/>
          <p:nvPr/>
        </p:nvSpPr>
        <p:spPr>
          <a:xfrm>
            <a:off x="5029200" y="5303520"/>
            <a:ext cx="777240" cy="201168"/>
          </a:xfrm>
          <a:prstGeom prst="rect">
            <a:avLst/>
          </a:prstGeom>
          <a:noFill/>
        </p:spPr>
        <p:txBody>
          <a:bodyPr wrap="square">
            <a:spAutoFit/>
          </a:bodyPr>
          <a:lstStyle/>
          <a:p>
            <a:pPr algn="ctr">
              <a:defRPr sz="900" b="0">
                <a:solidFill>
                  <a:srgbClr val="111827"/>
                </a:solidFill>
                <a:latin typeface="Calibri"/>
              </a:defRPr>
            </a:pPr>
            <a:r>
              <a:t>53</a:t>
            </a:r>
          </a:p>
        </p:txBody>
      </p:sp>
      <p:sp>
        <p:nvSpPr>
          <p:cNvPr id="130" name="TextBox 129"/>
          <p:cNvSpPr txBox="1"/>
          <p:nvPr/>
        </p:nvSpPr>
        <p:spPr>
          <a:xfrm>
            <a:off x="5806440" y="5303520"/>
            <a:ext cx="777240" cy="201168"/>
          </a:xfrm>
          <a:prstGeom prst="rect">
            <a:avLst/>
          </a:prstGeom>
          <a:noFill/>
        </p:spPr>
        <p:txBody>
          <a:bodyPr wrap="square">
            <a:spAutoFit/>
          </a:bodyPr>
          <a:lstStyle/>
          <a:p>
            <a:pPr algn="ctr">
              <a:defRPr sz="900" b="0">
                <a:solidFill>
                  <a:srgbClr val="111827"/>
                </a:solidFill>
                <a:latin typeface="Calibri"/>
              </a:defRPr>
            </a:pPr>
            <a:r>
              <a:t>8.0</a:t>
            </a:r>
          </a:p>
        </p:txBody>
      </p:sp>
      <p:sp>
        <p:nvSpPr>
          <p:cNvPr id="131" name="TextBox 130"/>
          <p:cNvSpPr txBox="1"/>
          <p:nvPr/>
        </p:nvSpPr>
        <p:spPr>
          <a:xfrm>
            <a:off x="6583679" y="5303520"/>
            <a:ext cx="914400" cy="201168"/>
          </a:xfrm>
          <a:prstGeom prst="rect">
            <a:avLst/>
          </a:prstGeom>
          <a:noFill/>
        </p:spPr>
        <p:txBody>
          <a:bodyPr wrap="square">
            <a:spAutoFit/>
          </a:bodyPr>
          <a:lstStyle/>
          <a:p>
            <a:pPr algn="ctr">
              <a:defRPr sz="900" b="0">
                <a:solidFill>
                  <a:srgbClr val="DC2626"/>
                </a:solidFill>
                <a:latin typeface="Calibri"/>
              </a:defRPr>
            </a:pPr>
            <a:r>
              <a:t>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Activity Dashboard Q1 Final — Calls + Meetings</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Jan 1 – Mar 31, 2026  |  Completed Quarter  |  All Reps  |  BDM: 40/wk  •  BDA: 50/wk</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Rectangle 5"/>
          <p:cNvSpPr/>
          <p:nvPr/>
        </p:nvSpPr>
        <p:spPr>
          <a:xfrm>
            <a:off x="182880" y="804672"/>
            <a:ext cx="10881359" cy="27432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850392"/>
            <a:ext cx="1920240" cy="201168"/>
          </a:xfrm>
          <a:prstGeom prst="rect">
            <a:avLst/>
          </a:prstGeom>
          <a:noFill/>
        </p:spPr>
        <p:txBody>
          <a:bodyPr wrap="square">
            <a:spAutoFit/>
          </a:bodyPr>
          <a:lstStyle/>
          <a:p>
            <a:pPr algn="l">
              <a:defRPr sz="950" b="1">
                <a:solidFill>
                  <a:srgbClr val="FFFFFF"/>
                </a:solidFill>
                <a:latin typeface="Calibri"/>
              </a:defRPr>
            </a:pPr>
            <a:r>
              <a:t>Rep</a:t>
            </a:r>
          </a:p>
        </p:txBody>
      </p:sp>
      <p:sp>
        <p:nvSpPr>
          <p:cNvPr id="8" name="TextBox 7"/>
          <p:cNvSpPr txBox="1"/>
          <p:nvPr/>
        </p:nvSpPr>
        <p:spPr>
          <a:xfrm>
            <a:off x="2103120" y="850392"/>
            <a:ext cx="2651760" cy="201168"/>
          </a:xfrm>
          <a:prstGeom prst="rect">
            <a:avLst/>
          </a:prstGeom>
          <a:noFill/>
        </p:spPr>
        <p:txBody>
          <a:bodyPr wrap="square">
            <a:spAutoFit/>
          </a:bodyPr>
          <a:lstStyle/>
          <a:p>
            <a:pPr algn="ctr">
              <a:defRPr sz="950" b="1">
                <a:solidFill>
                  <a:srgbClr val="FFFFFF"/>
                </a:solidFill>
                <a:latin typeface="Calibri"/>
              </a:defRPr>
            </a:pPr>
            <a:r>
              <a:t>January</a:t>
            </a:r>
          </a:p>
        </p:txBody>
      </p:sp>
      <p:sp>
        <p:nvSpPr>
          <p:cNvPr id="9" name="TextBox 8"/>
          <p:cNvSpPr txBox="1"/>
          <p:nvPr/>
        </p:nvSpPr>
        <p:spPr>
          <a:xfrm>
            <a:off x="4754880" y="850392"/>
            <a:ext cx="2651760" cy="201168"/>
          </a:xfrm>
          <a:prstGeom prst="rect">
            <a:avLst/>
          </a:prstGeom>
          <a:noFill/>
        </p:spPr>
        <p:txBody>
          <a:bodyPr wrap="square">
            <a:spAutoFit/>
          </a:bodyPr>
          <a:lstStyle/>
          <a:p>
            <a:pPr algn="ctr">
              <a:defRPr sz="950" b="1">
                <a:solidFill>
                  <a:srgbClr val="FFFFFF"/>
                </a:solidFill>
                <a:latin typeface="Calibri"/>
              </a:defRPr>
            </a:pPr>
            <a:r>
              <a:t>February</a:t>
            </a:r>
          </a:p>
        </p:txBody>
      </p:sp>
      <p:sp>
        <p:nvSpPr>
          <p:cNvPr id="10" name="TextBox 9"/>
          <p:cNvSpPr txBox="1"/>
          <p:nvPr/>
        </p:nvSpPr>
        <p:spPr>
          <a:xfrm>
            <a:off x="7406640" y="850392"/>
            <a:ext cx="2651760" cy="201168"/>
          </a:xfrm>
          <a:prstGeom prst="rect">
            <a:avLst/>
          </a:prstGeom>
          <a:noFill/>
        </p:spPr>
        <p:txBody>
          <a:bodyPr wrap="square">
            <a:spAutoFit/>
          </a:bodyPr>
          <a:lstStyle/>
          <a:p>
            <a:pPr algn="ctr">
              <a:defRPr sz="950" b="1">
                <a:solidFill>
                  <a:srgbClr val="FFFFFF"/>
                </a:solidFill>
                <a:latin typeface="Calibri"/>
              </a:defRPr>
            </a:pPr>
            <a:r>
              <a:t>March</a:t>
            </a:r>
          </a:p>
        </p:txBody>
      </p:sp>
      <p:sp>
        <p:nvSpPr>
          <p:cNvPr id="11" name="TextBox 10"/>
          <p:cNvSpPr txBox="1"/>
          <p:nvPr/>
        </p:nvSpPr>
        <p:spPr>
          <a:xfrm>
            <a:off x="10058400" y="850392"/>
            <a:ext cx="1005840" cy="201168"/>
          </a:xfrm>
          <a:prstGeom prst="rect">
            <a:avLst/>
          </a:prstGeom>
          <a:noFill/>
        </p:spPr>
        <p:txBody>
          <a:bodyPr wrap="square">
            <a:spAutoFit/>
          </a:bodyPr>
          <a:lstStyle/>
          <a:p>
            <a:pPr algn="ctr">
              <a:defRPr sz="950" b="1">
                <a:solidFill>
                  <a:srgbClr val="FFFFFF"/>
                </a:solidFill>
                <a:latin typeface="Calibri"/>
              </a:defRPr>
            </a:pPr>
            <a:r>
              <a:t>Overall</a:t>
            </a:r>
          </a:p>
        </p:txBody>
      </p:sp>
      <p:sp>
        <p:nvSpPr>
          <p:cNvPr id="12" name="TextBox 11"/>
          <p:cNvSpPr txBox="1"/>
          <p:nvPr/>
        </p:nvSpPr>
        <p:spPr>
          <a:xfrm>
            <a:off x="256032" y="1207007"/>
            <a:ext cx="1920240" cy="182880"/>
          </a:xfrm>
          <a:prstGeom prst="rect">
            <a:avLst/>
          </a:prstGeom>
          <a:noFill/>
        </p:spPr>
        <p:txBody>
          <a:bodyPr wrap="square">
            <a:spAutoFit/>
          </a:bodyPr>
          <a:lstStyle/>
          <a:p>
            <a:pPr algn="l">
              <a:defRPr sz="1000" b="1">
                <a:solidFill>
                  <a:srgbClr val="111827"/>
                </a:solidFill>
                <a:latin typeface="Calibri"/>
              </a:defRPr>
            </a:pPr>
            <a:r>
              <a:t>Derrick</a:t>
            </a:r>
          </a:p>
        </p:txBody>
      </p:sp>
      <p:sp>
        <p:nvSpPr>
          <p:cNvPr id="13" name="TextBox 12"/>
          <p:cNvSpPr txBox="1"/>
          <p:nvPr/>
        </p:nvSpPr>
        <p:spPr>
          <a:xfrm>
            <a:off x="256032" y="1097280"/>
            <a:ext cx="1920240" cy="146304"/>
          </a:xfrm>
          <a:prstGeom prst="rect">
            <a:avLst/>
          </a:prstGeom>
          <a:noFill/>
        </p:spPr>
        <p:txBody>
          <a:bodyPr wrap="square">
            <a:spAutoFit/>
          </a:bodyPr>
          <a:lstStyle/>
          <a:p>
            <a:pPr algn="l">
              <a:defRPr sz="950" b="0">
                <a:solidFill>
                  <a:srgbClr val="6B7280"/>
                </a:solidFill>
                <a:latin typeface="Calibri"/>
              </a:defRPr>
            </a:pPr>
            <a:r>
              <a:t>Leroy</a:t>
            </a:r>
          </a:p>
        </p:txBody>
      </p:sp>
      <p:sp>
        <p:nvSpPr>
          <p:cNvPr id="14" name="Rectangle 13"/>
          <p:cNvSpPr/>
          <p:nvPr/>
        </p:nvSpPr>
        <p:spPr>
          <a:xfrm>
            <a:off x="2176272" y="1124712"/>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03120" y="1207007"/>
            <a:ext cx="2651760" cy="182880"/>
          </a:xfrm>
          <a:prstGeom prst="rect">
            <a:avLst/>
          </a:prstGeom>
          <a:noFill/>
        </p:spPr>
        <p:txBody>
          <a:bodyPr wrap="square">
            <a:spAutoFit/>
          </a:bodyPr>
          <a:lstStyle/>
          <a:p>
            <a:pPr algn="ctr">
              <a:defRPr sz="1800" b="1">
                <a:solidFill>
                  <a:srgbClr val="FFFFFF"/>
                </a:solidFill>
                <a:latin typeface="Calibri"/>
              </a:defRPr>
            </a:pPr>
            <a:r>
              <a:t>104</a:t>
            </a:r>
          </a:p>
        </p:txBody>
      </p:sp>
      <p:sp>
        <p:nvSpPr>
          <p:cNvPr id="16" name="TextBox 15"/>
          <p:cNvSpPr txBox="1"/>
          <p:nvPr/>
        </p:nvSpPr>
        <p:spPr>
          <a:xfrm>
            <a:off x="2103120" y="1106424"/>
            <a:ext cx="2651760" cy="128016"/>
          </a:xfrm>
          <a:prstGeom prst="rect">
            <a:avLst/>
          </a:prstGeom>
          <a:noFill/>
        </p:spPr>
        <p:txBody>
          <a:bodyPr wrap="square">
            <a:spAutoFit/>
          </a:bodyPr>
          <a:lstStyle/>
          <a:p>
            <a:pPr algn="ctr">
              <a:defRPr sz="850" b="0">
                <a:solidFill>
                  <a:srgbClr val="FFFFFF"/>
                </a:solidFill>
                <a:latin typeface="Calibri"/>
              </a:defRPr>
            </a:pPr>
            <a:r>
              <a:t>65% to goal</a:t>
            </a:r>
          </a:p>
        </p:txBody>
      </p:sp>
      <p:sp>
        <p:nvSpPr>
          <p:cNvPr id="17" name="Rectangle 16"/>
          <p:cNvSpPr/>
          <p:nvPr/>
        </p:nvSpPr>
        <p:spPr>
          <a:xfrm>
            <a:off x="4828032" y="1124712"/>
            <a:ext cx="2505456"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1207007"/>
            <a:ext cx="2651760" cy="182880"/>
          </a:xfrm>
          <a:prstGeom prst="rect">
            <a:avLst/>
          </a:prstGeom>
          <a:noFill/>
        </p:spPr>
        <p:txBody>
          <a:bodyPr wrap="square">
            <a:spAutoFit/>
          </a:bodyPr>
          <a:lstStyle/>
          <a:p>
            <a:pPr algn="ctr">
              <a:defRPr sz="1800" b="1">
                <a:solidFill>
                  <a:srgbClr val="FFFFFF"/>
                </a:solidFill>
                <a:latin typeface="Calibri"/>
              </a:defRPr>
            </a:pPr>
            <a:r>
              <a:t>123</a:t>
            </a:r>
          </a:p>
        </p:txBody>
      </p:sp>
      <p:sp>
        <p:nvSpPr>
          <p:cNvPr id="19" name="TextBox 18"/>
          <p:cNvSpPr txBox="1"/>
          <p:nvPr/>
        </p:nvSpPr>
        <p:spPr>
          <a:xfrm>
            <a:off x="4754880" y="1106424"/>
            <a:ext cx="2651760" cy="128016"/>
          </a:xfrm>
          <a:prstGeom prst="rect">
            <a:avLst/>
          </a:prstGeom>
          <a:noFill/>
        </p:spPr>
        <p:txBody>
          <a:bodyPr wrap="square">
            <a:spAutoFit/>
          </a:bodyPr>
          <a:lstStyle/>
          <a:p>
            <a:pPr algn="ctr">
              <a:defRPr sz="850" b="0">
                <a:solidFill>
                  <a:srgbClr val="FFFFFF"/>
                </a:solidFill>
                <a:latin typeface="Calibri"/>
              </a:defRPr>
            </a:pPr>
            <a:r>
              <a:t>77% to goal</a:t>
            </a:r>
          </a:p>
        </p:txBody>
      </p:sp>
      <p:sp>
        <p:nvSpPr>
          <p:cNvPr id="20" name="Rectangle 19"/>
          <p:cNvSpPr/>
          <p:nvPr/>
        </p:nvSpPr>
        <p:spPr>
          <a:xfrm>
            <a:off x="7479792" y="1124712"/>
            <a:ext cx="2505456"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06640" y="1207007"/>
            <a:ext cx="2651760" cy="182880"/>
          </a:xfrm>
          <a:prstGeom prst="rect">
            <a:avLst/>
          </a:prstGeom>
          <a:noFill/>
        </p:spPr>
        <p:txBody>
          <a:bodyPr wrap="square">
            <a:spAutoFit/>
          </a:bodyPr>
          <a:lstStyle/>
          <a:p>
            <a:pPr algn="ctr">
              <a:defRPr sz="1800" b="1">
                <a:solidFill>
                  <a:srgbClr val="FFFFFF"/>
                </a:solidFill>
                <a:latin typeface="Calibri"/>
              </a:defRPr>
            </a:pPr>
            <a:r>
              <a:t>192</a:t>
            </a:r>
          </a:p>
        </p:txBody>
      </p:sp>
      <p:sp>
        <p:nvSpPr>
          <p:cNvPr id="22" name="TextBox 21"/>
          <p:cNvSpPr txBox="1"/>
          <p:nvPr/>
        </p:nvSpPr>
        <p:spPr>
          <a:xfrm>
            <a:off x="7406640" y="1106424"/>
            <a:ext cx="2651760" cy="128016"/>
          </a:xfrm>
          <a:prstGeom prst="rect">
            <a:avLst/>
          </a:prstGeom>
          <a:noFill/>
        </p:spPr>
        <p:txBody>
          <a:bodyPr wrap="square">
            <a:spAutoFit/>
          </a:bodyPr>
          <a:lstStyle/>
          <a:p>
            <a:pPr algn="ctr">
              <a:defRPr sz="850" b="0">
                <a:solidFill>
                  <a:srgbClr val="FFFFFF"/>
                </a:solidFill>
                <a:latin typeface="Calibri"/>
              </a:defRPr>
            </a:pPr>
            <a:r>
              <a:t>96% to goal</a:t>
            </a:r>
          </a:p>
        </p:txBody>
      </p:sp>
      <p:sp>
        <p:nvSpPr>
          <p:cNvPr id="23" name="TextBox 22"/>
          <p:cNvSpPr txBox="1"/>
          <p:nvPr/>
        </p:nvSpPr>
        <p:spPr>
          <a:xfrm>
            <a:off x="10058400" y="1188719"/>
            <a:ext cx="1005840" cy="228600"/>
          </a:xfrm>
          <a:prstGeom prst="rect">
            <a:avLst/>
          </a:prstGeom>
          <a:noFill/>
        </p:spPr>
        <p:txBody>
          <a:bodyPr wrap="square">
            <a:spAutoFit/>
          </a:bodyPr>
          <a:lstStyle/>
          <a:p>
            <a:pPr algn="ctr">
              <a:defRPr sz="1400" b="1">
                <a:solidFill>
                  <a:srgbClr val="D97706"/>
                </a:solidFill>
                <a:latin typeface="Calibri"/>
              </a:defRPr>
            </a:pPr>
            <a:r>
              <a:t>81%</a:t>
            </a:r>
          </a:p>
        </p:txBody>
      </p:sp>
      <p:sp>
        <p:nvSpPr>
          <p:cNvPr id="24" name="Rectangle 23"/>
          <p:cNvSpPr/>
          <p:nvPr/>
        </p:nvSpPr>
        <p:spPr>
          <a:xfrm>
            <a:off x="182880" y="1536192"/>
            <a:ext cx="10881359" cy="4572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6032" y="1664207"/>
            <a:ext cx="1920240" cy="182880"/>
          </a:xfrm>
          <a:prstGeom prst="rect">
            <a:avLst/>
          </a:prstGeom>
          <a:noFill/>
        </p:spPr>
        <p:txBody>
          <a:bodyPr wrap="square">
            <a:spAutoFit/>
          </a:bodyPr>
          <a:lstStyle/>
          <a:p>
            <a:pPr algn="l">
              <a:defRPr sz="1000" b="1">
                <a:solidFill>
                  <a:srgbClr val="111827"/>
                </a:solidFill>
                <a:latin typeface="Calibri"/>
              </a:defRPr>
            </a:pPr>
            <a:r>
              <a:t>Derek</a:t>
            </a:r>
          </a:p>
        </p:txBody>
      </p:sp>
      <p:sp>
        <p:nvSpPr>
          <p:cNvPr id="26" name="TextBox 25"/>
          <p:cNvSpPr txBox="1"/>
          <p:nvPr/>
        </p:nvSpPr>
        <p:spPr>
          <a:xfrm>
            <a:off x="256032" y="1554480"/>
            <a:ext cx="1920240" cy="146304"/>
          </a:xfrm>
          <a:prstGeom prst="rect">
            <a:avLst/>
          </a:prstGeom>
          <a:noFill/>
        </p:spPr>
        <p:txBody>
          <a:bodyPr wrap="square">
            <a:spAutoFit/>
          </a:bodyPr>
          <a:lstStyle/>
          <a:p>
            <a:pPr algn="l">
              <a:defRPr sz="950" b="0">
                <a:solidFill>
                  <a:srgbClr val="6B7280"/>
                </a:solidFill>
                <a:latin typeface="Calibri"/>
              </a:defRPr>
            </a:pPr>
            <a:r>
              <a:t>Janssen</a:t>
            </a:r>
          </a:p>
        </p:txBody>
      </p:sp>
      <p:sp>
        <p:nvSpPr>
          <p:cNvPr id="27" name="Rectangle 26"/>
          <p:cNvSpPr/>
          <p:nvPr/>
        </p:nvSpPr>
        <p:spPr>
          <a:xfrm>
            <a:off x="2176272" y="1581912"/>
            <a:ext cx="2505456"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03120" y="1664207"/>
            <a:ext cx="2651760" cy="182880"/>
          </a:xfrm>
          <a:prstGeom prst="rect">
            <a:avLst/>
          </a:prstGeom>
          <a:noFill/>
        </p:spPr>
        <p:txBody>
          <a:bodyPr wrap="square">
            <a:spAutoFit/>
          </a:bodyPr>
          <a:lstStyle/>
          <a:p>
            <a:pPr algn="ctr">
              <a:defRPr sz="1800" b="1">
                <a:solidFill>
                  <a:srgbClr val="FFFFFF"/>
                </a:solidFill>
                <a:latin typeface="Calibri"/>
              </a:defRPr>
            </a:pPr>
            <a:r>
              <a:t>121</a:t>
            </a:r>
          </a:p>
        </p:txBody>
      </p:sp>
      <p:sp>
        <p:nvSpPr>
          <p:cNvPr id="29" name="TextBox 28"/>
          <p:cNvSpPr txBox="1"/>
          <p:nvPr/>
        </p:nvSpPr>
        <p:spPr>
          <a:xfrm>
            <a:off x="2103120" y="1563624"/>
            <a:ext cx="2651760" cy="128016"/>
          </a:xfrm>
          <a:prstGeom prst="rect">
            <a:avLst/>
          </a:prstGeom>
          <a:noFill/>
        </p:spPr>
        <p:txBody>
          <a:bodyPr wrap="square">
            <a:spAutoFit/>
          </a:bodyPr>
          <a:lstStyle/>
          <a:p>
            <a:pPr algn="ctr">
              <a:defRPr sz="850" b="0">
                <a:solidFill>
                  <a:srgbClr val="FFFFFF"/>
                </a:solidFill>
                <a:latin typeface="Calibri"/>
              </a:defRPr>
            </a:pPr>
            <a:r>
              <a:t>76% to goal</a:t>
            </a:r>
          </a:p>
        </p:txBody>
      </p:sp>
      <p:sp>
        <p:nvSpPr>
          <p:cNvPr id="30" name="Rectangle 29"/>
          <p:cNvSpPr/>
          <p:nvPr/>
        </p:nvSpPr>
        <p:spPr>
          <a:xfrm>
            <a:off x="4828032" y="1581912"/>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0" y="1664207"/>
            <a:ext cx="2651760" cy="182880"/>
          </a:xfrm>
          <a:prstGeom prst="rect">
            <a:avLst/>
          </a:prstGeom>
          <a:noFill/>
        </p:spPr>
        <p:txBody>
          <a:bodyPr wrap="square">
            <a:spAutoFit/>
          </a:bodyPr>
          <a:lstStyle/>
          <a:p>
            <a:pPr algn="ctr">
              <a:defRPr sz="1800" b="1">
                <a:solidFill>
                  <a:srgbClr val="FFFFFF"/>
                </a:solidFill>
                <a:latin typeface="Calibri"/>
              </a:defRPr>
            </a:pPr>
            <a:r>
              <a:t>45</a:t>
            </a:r>
          </a:p>
        </p:txBody>
      </p:sp>
      <p:sp>
        <p:nvSpPr>
          <p:cNvPr id="32" name="TextBox 31"/>
          <p:cNvSpPr txBox="1"/>
          <p:nvPr/>
        </p:nvSpPr>
        <p:spPr>
          <a:xfrm>
            <a:off x="4754880" y="1563624"/>
            <a:ext cx="2651760" cy="128016"/>
          </a:xfrm>
          <a:prstGeom prst="rect">
            <a:avLst/>
          </a:prstGeom>
          <a:noFill/>
        </p:spPr>
        <p:txBody>
          <a:bodyPr wrap="square">
            <a:spAutoFit/>
          </a:bodyPr>
          <a:lstStyle/>
          <a:p>
            <a:pPr algn="ctr">
              <a:defRPr sz="850" b="0">
                <a:solidFill>
                  <a:srgbClr val="FFFFFF"/>
                </a:solidFill>
                <a:latin typeface="Calibri"/>
              </a:defRPr>
            </a:pPr>
            <a:r>
              <a:t>28% to goal</a:t>
            </a:r>
          </a:p>
        </p:txBody>
      </p:sp>
      <p:sp>
        <p:nvSpPr>
          <p:cNvPr id="33" name="Rectangle 32"/>
          <p:cNvSpPr/>
          <p:nvPr/>
        </p:nvSpPr>
        <p:spPr>
          <a:xfrm>
            <a:off x="7479792" y="1581912"/>
            <a:ext cx="2505456" cy="365760"/>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06640" y="1664207"/>
            <a:ext cx="2651760" cy="182880"/>
          </a:xfrm>
          <a:prstGeom prst="rect">
            <a:avLst/>
          </a:prstGeom>
          <a:noFill/>
        </p:spPr>
        <p:txBody>
          <a:bodyPr wrap="square">
            <a:spAutoFit/>
          </a:bodyPr>
          <a:lstStyle/>
          <a:p>
            <a:pPr algn="ctr">
              <a:defRPr sz="1800" b="1">
                <a:solidFill>
                  <a:srgbClr val="FFFFFF"/>
                </a:solidFill>
                <a:latin typeface="Calibri"/>
              </a:defRPr>
            </a:pPr>
            <a:r>
              <a:t>234</a:t>
            </a:r>
          </a:p>
        </p:txBody>
      </p:sp>
      <p:sp>
        <p:nvSpPr>
          <p:cNvPr id="35" name="TextBox 34"/>
          <p:cNvSpPr txBox="1"/>
          <p:nvPr/>
        </p:nvSpPr>
        <p:spPr>
          <a:xfrm>
            <a:off x="7406640" y="1563624"/>
            <a:ext cx="2651760" cy="128016"/>
          </a:xfrm>
          <a:prstGeom prst="rect">
            <a:avLst/>
          </a:prstGeom>
          <a:noFill/>
        </p:spPr>
        <p:txBody>
          <a:bodyPr wrap="square">
            <a:spAutoFit/>
          </a:bodyPr>
          <a:lstStyle/>
          <a:p>
            <a:pPr algn="ctr">
              <a:defRPr sz="850" b="0">
                <a:solidFill>
                  <a:srgbClr val="FFFFFF"/>
                </a:solidFill>
                <a:latin typeface="Calibri"/>
              </a:defRPr>
            </a:pPr>
            <a:r>
              <a:t>117% to goal</a:t>
            </a:r>
          </a:p>
        </p:txBody>
      </p:sp>
      <p:sp>
        <p:nvSpPr>
          <p:cNvPr id="36" name="TextBox 35"/>
          <p:cNvSpPr txBox="1"/>
          <p:nvPr/>
        </p:nvSpPr>
        <p:spPr>
          <a:xfrm>
            <a:off x="10058400" y="1645919"/>
            <a:ext cx="1005840" cy="228600"/>
          </a:xfrm>
          <a:prstGeom prst="rect">
            <a:avLst/>
          </a:prstGeom>
          <a:noFill/>
        </p:spPr>
        <p:txBody>
          <a:bodyPr wrap="square">
            <a:spAutoFit/>
          </a:bodyPr>
          <a:lstStyle/>
          <a:p>
            <a:pPr algn="ctr">
              <a:defRPr sz="1400" b="1">
                <a:solidFill>
                  <a:srgbClr val="D97706"/>
                </a:solidFill>
                <a:latin typeface="Calibri"/>
              </a:defRPr>
            </a:pPr>
            <a:r>
              <a:t>77%</a:t>
            </a:r>
          </a:p>
        </p:txBody>
      </p:sp>
      <p:sp>
        <p:nvSpPr>
          <p:cNvPr id="37" name="TextBox 36"/>
          <p:cNvSpPr txBox="1"/>
          <p:nvPr/>
        </p:nvSpPr>
        <p:spPr>
          <a:xfrm>
            <a:off x="256032" y="2121408"/>
            <a:ext cx="1920240" cy="182880"/>
          </a:xfrm>
          <a:prstGeom prst="rect">
            <a:avLst/>
          </a:prstGeom>
          <a:noFill/>
        </p:spPr>
        <p:txBody>
          <a:bodyPr wrap="square">
            <a:spAutoFit/>
          </a:bodyPr>
          <a:lstStyle/>
          <a:p>
            <a:pPr algn="l">
              <a:defRPr sz="1000" b="1">
                <a:solidFill>
                  <a:srgbClr val="111827"/>
                </a:solidFill>
                <a:latin typeface="Calibri"/>
              </a:defRPr>
            </a:pPr>
            <a:r>
              <a:t>Westy</a:t>
            </a:r>
          </a:p>
        </p:txBody>
      </p:sp>
      <p:sp>
        <p:nvSpPr>
          <p:cNvPr id="38" name="TextBox 37"/>
          <p:cNvSpPr txBox="1"/>
          <p:nvPr/>
        </p:nvSpPr>
        <p:spPr>
          <a:xfrm>
            <a:off x="256032" y="2011679"/>
            <a:ext cx="1920240" cy="146304"/>
          </a:xfrm>
          <a:prstGeom prst="rect">
            <a:avLst/>
          </a:prstGeom>
          <a:noFill/>
        </p:spPr>
        <p:txBody>
          <a:bodyPr wrap="square">
            <a:spAutoFit/>
          </a:bodyPr>
          <a:lstStyle/>
          <a:p>
            <a:pPr algn="l">
              <a:defRPr sz="950" b="0">
                <a:solidFill>
                  <a:srgbClr val="6B7280"/>
                </a:solidFill>
                <a:latin typeface="Calibri"/>
              </a:defRPr>
            </a:pPr>
            <a:r>
              <a:t>McLaughlin</a:t>
            </a:r>
          </a:p>
        </p:txBody>
      </p:sp>
      <p:sp>
        <p:nvSpPr>
          <p:cNvPr id="39" name="Rectangle 38"/>
          <p:cNvSpPr/>
          <p:nvPr/>
        </p:nvSpPr>
        <p:spPr>
          <a:xfrm>
            <a:off x="2176272" y="20391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03120" y="2121408"/>
            <a:ext cx="2651760" cy="182880"/>
          </a:xfrm>
          <a:prstGeom prst="rect">
            <a:avLst/>
          </a:prstGeom>
          <a:noFill/>
        </p:spPr>
        <p:txBody>
          <a:bodyPr wrap="square">
            <a:spAutoFit/>
          </a:bodyPr>
          <a:lstStyle/>
          <a:p>
            <a:pPr algn="ctr">
              <a:defRPr sz="1800" b="1">
                <a:solidFill>
                  <a:srgbClr val="FFFFFF"/>
                </a:solidFill>
                <a:latin typeface="Calibri"/>
              </a:defRPr>
            </a:pPr>
            <a:r>
              <a:t>60</a:t>
            </a:r>
          </a:p>
        </p:txBody>
      </p:sp>
      <p:sp>
        <p:nvSpPr>
          <p:cNvPr id="41" name="TextBox 40"/>
          <p:cNvSpPr txBox="1"/>
          <p:nvPr/>
        </p:nvSpPr>
        <p:spPr>
          <a:xfrm>
            <a:off x="2103120" y="2020823"/>
            <a:ext cx="2651760" cy="128016"/>
          </a:xfrm>
          <a:prstGeom prst="rect">
            <a:avLst/>
          </a:prstGeom>
          <a:noFill/>
        </p:spPr>
        <p:txBody>
          <a:bodyPr wrap="square">
            <a:spAutoFit/>
          </a:bodyPr>
          <a:lstStyle/>
          <a:p>
            <a:pPr algn="ctr">
              <a:defRPr sz="850" b="0">
                <a:solidFill>
                  <a:srgbClr val="FFFFFF"/>
                </a:solidFill>
                <a:latin typeface="Calibri"/>
              </a:defRPr>
            </a:pPr>
            <a:r>
              <a:t>38% to goal</a:t>
            </a:r>
          </a:p>
        </p:txBody>
      </p:sp>
      <p:sp>
        <p:nvSpPr>
          <p:cNvPr id="42" name="Rectangle 41"/>
          <p:cNvSpPr/>
          <p:nvPr/>
        </p:nvSpPr>
        <p:spPr>
          <a:xfrm>
            <a:off x="4828032" y="20391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54880" y="2121408"/>
            <a:ext cx="2651760" cy="182880"/>
          </a:xfrm>
          <a:prstGeom prst="rect">
            <a:avLst/>
          </a:prstGeom>
          <a:noFill/>
        </p:spPr>
        <p:txBody>
          <a:bodyPr wrap="square">
            <a:spAutoFit/>
          </a:bodyPr>
          <a:lstStyle/>
          <a:p>
            <a:pPr algn="ctr">
              <a:defRPr sz="1800" b="1">
                <a:solidFill>
                  <a:srgbClr val="FFFFFF"/>
                </a:solidFill>
                <a:latin typeface="Calibri"/>
              </a:defRPr>
            </a:pPr>
            <a:r>
              <a:t>119</a:t>
            </a:r>
          </a:p>
        </p:txBody>
      </p:sp>
      <p:sp>
        <p:nvSpPr>
          <p:cNvPr id="44" name="TextBox 43"/>
          <p:cNvSpPr txBox="1"/>
          <p:nvPr/>
        </p:nvSpPr>
        <p:spPr>
          <a:xfrm>
            <a:off x="4754880" y="2020823"/>
            <a:ext cx="2651760" cy="128016"/>
          </a:xfrm>
          <a:prstGeom prst="rect">
            <a:avLst/>
          </a:prstGeom>
          <a:noFill/>
        </p:spPr>
        <p:txBody>
          <a:bodyPr wrap="square">
            <a:spAutoFit/>
          </a:bodyPr>
          <a:lstStyle/>
          <a:p>
            <a:pPr algn="ctr">
              <a:defRPr sz="850" b="0">
                <a:solidFill>
                  <a:srgbClr val="FFFFFF"/>
                </a:solidFill>
                <a:latin typeface="Calibri"/>
              </a:defRPr>
            </a:pPr>
            <a:r>
              <a:t>74% to goal</a:t>
            </a:r>
          </a:p>
        </p:txBody>
      </p:sp>
      <p:sp>
        <p:nvSpPr>
          <p:cNvPr id="45" name="Rectangle 44"/>
          <p:cNvSpPr/>
          <p:nvPr/>
        </p:nvSpPr>
        <p:spPr>
          <a:xfrm>
            <a:off x="7479792" y="20391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06640" y="2121408"/>
            <a:ext cx="2651760" cy="182880"/>
          </a:xfrm>
          <a:prstGeom prst="rect">
            <a:avLst/>
          </a:prstGeom>
          <a:noFill/>
        </p:spPr>
        <p:txBody>
          <a:bodyPr wrap="square">
            <a:spAutoFit/>
          </a:bodyPr>
          <a:lstStyle/>
          <a:p>
            <a:pPr algn="ctr">
              <a:defRPr sz="1800" b="1">
                <a:solidFill>
                  <a:srgbClr val="FFFFFF"/>
                </a:solidFill>
                <a:latin typeface="Calibri"/>
              </a:defRPr>
            </a:pPr>
            <a:r>
              <a:t>101</a:t>
            </a:r>
          </a:p>
        </p:txBody>
      </p:sp>
      <p:sp>
        <p:nvSpPr>
          <p:cNvPr id="47" name="TextBox 46"/>
          <p:cNvSpPr txBox="1"/>
          <p:nvPr/>
        </p:nvSpPr>
        <p:spPr>
          <a:xfrm>
            <a:off x="7406640" y="2020823"/>
            <a:ext cx="2651760" cy="128016"/>
          </a:xfrm>
          <a:prstGeom prst="rect">
            <a:avLst/>
          </a:prstGeom>
          <a:noFill/>
        </p:spPr>
        <p:txBody>
          <a:bodyPr wrap="square">
            <a:spAutoFit/>
          </a:bodyPr>
          <a:lstStyle/>
          <a:p>
            <a:pPr algn="ctr">
              <a:defRPr sz="850" b="0">
                <a:solidFill>
                  <a:srgbClr val="FFFFFF"/>
                </a:solidFill>
                <a:latin typeface="Calibri"/>
              </a:defRPr>
            </a:pPr>
            <a:r>
              <a:t>50% to goal</a:t>
            </a:r>
          </a:p>
        </p:txBody>
      </p:sp>
      <p:sp>
        <p:nvSpPr>
          <p:cNvPr id="48" name="TextBox 47"/>
          <p:cNvSpPr txBox="1"/>
          <p:nvPr/>
        </p:nvSpPr>
        <p:spPr>
          <a:xfrm>
            <a:off x="10058400" y="2103120"/>
            <a:ext cx="1005840" cy="228600"/>
          </a:xfrm>
          <a:prstGeom prst="rect">
            <a:avLst/>
          </a:prstGeom>
          <a:noFill/>
        </p:spPr>
        <p:txBody>
          <a:bodyPr wrap="square">
            <a:spAutoFit/>
          </a:bodyPr>
          <a:lstStyle/>
          <a:p>
            <a:pPr algn="ctr">
              <a:defRPr sz="1400" b="1">
                <a:solidFill>
                  <a:srgbClr val="DC2626"/>
                </a:solidFill>
                <a:latin typeface="Calibri"/>
              </a:defRPr>
            </a:pPr>
            <a:r>
              <a:t>54%</a:t>
            </a:r>
          </a:p>
        </p:txBody>
      </p:sp>
      <p:sp>
        <p:nvSpPr>
          <p:cNvPr id="49" name="Rectangle 48"/>
          <p:cNvSpPr/>
          <p:nvPr/>
        </p:nvSpPr>
        <p:spPr>
          <a:xfrm>
            <a:off x="182880" y="2450591"/>
            <a:ext cx="10881359" cy="4572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56032" y="2578608"/>
            <a:ext cx="1920240" cy="182880"/>
          </a:xfrm>
          <a:prstGeom prst="rect">
            <a:avLst/>
          </a:prstGeom>
          <a:noFill/>
        </p:spPr>
        <p:txBody>
          <a:bodyPr wrap="square">
            <a:spAutoFit/>
          </a:bodyPr>
          <a:lstStyle/>
          <a:p>
            <a:pPr algn="l">
              <a:defRPr sz="1000" b="1">
                <a:solidFill>
                  <a:srgbClr val="111827"/>
                </a:solidFill>
                <a:latin typeface="Calibri"/>
              </a:defRPr>
            </a:pPr>
            <a:r>
              <a:t>Ron</a:t>
            </a:r>
          </a:p>
        </p:txBody>
      </p:sp>
      <p:sp>
        <p:nvSpPr>
          <p:cNvPr id="51" name="TextBox 50"/>
          <p:cNvSpPr txBox="1"/>
          <p:nvPr/>
        </p:nvSpPr>
        <p:spPr>
          <a:xfrm>
            <a:off x="256032" y="2468879"/>
            <a:ext cx="1920240" cy="146304"/>
          </a:xfrm>
          <a:prstGeom prst="rect">
            <a:avLst/>
          </a:prstGeom>
          <a:noFill/>
        </p:spPr>
        <p:txBody>
          <a:bodyPr wrap="square">
            <a:spAutoFit/>
          </a:bodyPr>
          <a:lstStyle/>
          <a:p>
            <a:pPr algn="l">
              <a:defRPr sz="950" b="0">
                <a:solidFill>
                  <a:srgbClr val="6B7280"/>
                </a:solidFill>
                <a:latin typeface="Calibri"/>
              </a:defRPr>
            </a:pPr>
            <a:r>
              <a:t>Douglas</a:t>
            </a:r>
          </a:p>
        </p:txBody>
      </p:sp>
      <p:sp>
        <p:nvSpPr>
          <p:cNvPr id="52" name="Rectangle 51"/>
          <p:cNvSpPr/>
          <p:nvPr/>
        </p:nvSpPr>
        <p:spPr>
          <a:xfrm>
            <a:off x="2176272" y="24963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103120" y="2578608"/>
            <a:ext cx="2651760" cy="182880"/>
          </a:xfrm>
          <a:prstGeom prst="rect">
            <a:avLst/>
          </a:prstGeom>
          <a:noFill/>
        </p:spPr>
        <p:txBody>
          <a:bodyPr wrap="square">
            <a:spAutoFit/>
          </a:bodyPr>
          <a:lstStyle/>
          <a:p>
            <a:pPr algn="ctr">
              <a:defRPr sz="1800" b="1">
                <a:solidFill>
                  <a:srgbClr val="FFFFFF"/>
                </a:solidFill>
                <a:latin typeface="Calibri"/>
              </a:defRPr>
            </a:pPr>
            <a:r>
              <a:t>60</a:t>
            </a:r>
          </a:p>
        </p:txBody>
      </p:sp>
      <p:sp>
        <p:nvSpPr>
          <p:cNvPr id="54" name="TextBox 53"/>
          <p:cNvSpPr txBox="1"/>
          <p:nvPr/>
        </p:nvSpPr>
        <p:spPr>
          <a:xfrm>
            <a:off x="2103120" y="2478023"/>
            <a:ext cx="2651760" cy="128016"/>
          </a:xfrm>
          <a:prstGeom prst="rect">
            <a:avLst/>
          </a:prstGeom>
          <a:noFill/>
        </p:spPr>
        <p:txBody>
          <a:bodyPr wrap="square">
            <a:spAutoFit/>
          </a:bodyPr>
          <a:lstStyle/>
          <a:p>
            <a:pPr algn="ctr">
              <a:defRPr sz="850" b="0">
                <a:solidFill>
                  <a:srgbClr val="FFFFFF"/>
                </a:solidFill>
                <a:latin typeface="Calibri"/>
              </a:defRPr>
            </a:pPr>
            <a:r>
              <a:t>38% to goal</a:t>
            </a:r>
          </a:p>
        </p:txBody>
      </p:sp>
      <p:sp>
        <p:nvSpPr>
          <p:cNvPr id="55" name="Rectangle 54"/>
          <p:cNvSpPr/>
          <p:nvPr/>
        </p:nvSpPr>
        <p:spPr>
          <a:xfrm>
            <a:off x="4828032" y="24963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754880" y="2578608"/>
            <a:ext cx="2651760" cy="182880"/>
          </a:xfrm>
          <a:prstGeom prst="rect">
            <a:avLst/>
          </a:prstGeom>
          <a:noFill/>
        </p:spPr>
        <p:txBody>
          <a:bodyPr wrap="square">
            <a:spAutoFit/>
          </a:bodyPr>
          <a:lstStyle/>
          <a:p>
            <a:pPr algn="ctr">
              <a:defRPr sz="1800" b="1">
                <a:solidFill>
                  <a:srgbClr val="FFFFFF"/>
                </a:solidFill>
                <a:latin typeface="Calibri"/>
              </a:defRPr>
            </a:pPr>
            <a:r>
              <a:t>96</a:t>
            </a:r>
          </a:p>
        </p:txBody>
      </p:sp>
      <p:sp>
        <p:nvSpPr>
          <p:cNvPr id="57" name="TextBox 56"/>
          <p:cNvSpPr txBox="1"/>
          <p:nvPr/>
        </p:nvSpPr>
        <p:spPr>
          <a:xfrm>
            <a:off x="4754880" y="2478023"/>
            <a:ext cx="2651760" cy="128016"/>
          </a:xfrm>
          <a:prstGeom prst="rect">
            <a:avLst/>
          </a:prstGeom>
          <a:noFill/>
        </p:spPr>
        <p:txBody>
          <a:bodyPr wrap="square">
            <a:spAutoFit/>
          </a:bodyPr>
          <a:lstStyle/>
          <a:p>
            <a:pPr algn="ctr">
              <a:defRPr sz="850" b="0">
                <a:solidFill>
                  <a:srgbClr val="FFFFFF"/>
                </a:solidFill>
                <a:latin typeface="Calibri"/>
              </a:defRPr>
            </a:pPr>
            <a:r>
              <a:t>60% to goal</a:t>
            </a:r>
          </a:p>
        </p:txBody>
      </p:sp>
      <p:sp>
        <p:nvSpPr>
          <p:cNvPr id="58" name="Rectangle 57"/>
          <p:cNvSpPr/>
          <p:nvPr/>
        </p:nvSpPr>
        <p:spPr>
          <a:xfrm>
            <a:off x="7479792" y="24963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06640" y="2578608"/>
            <a:ext cx="2651760" cy="182880"/>
          </a:xfrm>
          <a:prstGeom prst="rect">
            <a:avLst/>
          </a:prstGeom>
          <a:noFill/>
        </p:spPr>
        <p:txBody>
          <a:bodyPr wrap="square">
            <a:spAutoFit/>
          </a:bodyPr>
          <a:lstStyle/>
          <a:p>
            <a:pPr algn="ctr">
              <a:defRPr sz="1800" b="1">
                <a:solidFill>
                  <a:srgbClr val="FFFFFF"/>
                </a:solidFill>
                <a:latin typeface="Calibri"/>
              </a:defRPr>
            </a:pPr>
            <a:r>
              <a:t>103</a:t>
            </a:r>
          </a:p>
        </p:txBody>
      </p:sp>
      <p:sp>
        <p:nvSpPr>
          <p:cNvPr id="60" name="TextBox 59"/>
          <p:cNvSpPr txBox="1"/>
          <p:nvPr/>
        </p:nvSpPr>
        <p:spPr>
          <a:xfrm>
            <a:off x="7406640" y="2478023"/>
            <a:ext cx="2651760" cy="128016"/>
          </a:xfrm>
          <a:prstGeom prst="rect">
            <a:avLst/>
          </a:prstGeom>
          <a:noFill/>
        </p:spPr>
        <p:txBody>
          <a:bodyPr wrap="square">
            <a:spAutoFit/>
          </a:bodyPr>
          <a:lstStyle/>
          <a:p>
            <a:pPr algn="ctr">
              <a:defRPr sz="850" b="0">
                <a:solidFill>
                  <a:srgbClr val="FFFFFF"/>
                </a:solidFill>
                <a:latin typeface="Calibri"/>
              </a:defRPr>
            </a:pPr>
            <a:r>
              <a:t>52% to goal</a:t>
            </a:r>
          </a:p>
        </p:txBody>
      </p:sp>
      <p:sp>
        <p:nvSpPr>
          <p:cNvPr id="61" name="TextBox 60"/>
          <p:cNvSpPr txBox="1"/>
          <p:nvPr/>
        </p:nvSpPr>
        <p:spPr>
          <a:xfrm>
            <a:off x="10058400" y="2560320"/>
            <a:ext cx="1005840" cy="228600"/>
          </a:xfrm>
          <a:prstGeom prst="rect">
            <a:avLst/>
          </a:prstGeom>
          <a:noFill/>
        </p:spPr>
        <p:txBody>
          <a:bodyPr wrap="square">
            <a:spAutoFit/>
          </a:bodyPr>
          <a:lstStyle/>
          <a:p>
            <a:pPr algn="ctr">
              <a:defRPr sz="1400" b="1">
                <a:solidFill>
                  <a:srgbClr val="DC2626"/>
                </a:solidFill>
                <a:latin typeface="Calibri"/>
              </a:defRPr>
            </a:pPr>
            <a:r>
              <a:t>50%</a:t>
            </a:r>
          </a:p>
        </p:txBody>
      </p:sp>
      <p:sp>
        <p:nvSpPr>
          <p:cNvPr id="62" name="TextBox 61"/>
          <p:cNvSpPr txBox="1"/>
          <p:nvPr/>
        </p:nvSpPr>
        <p:spPr>
          <a:xfrm>
            <a:off x="256032" y="3035808"/>
            <a:ext cx="1920240" cy="182880"/>
          </a:xfrm>
          <a:prstGeom prst="rect">
            <a:avLst/>
          </a:prstGeom>
          <a:noFill/>
        </p:spPr>
        <p:txBody>
          <a:bodyPr wrap="square">
            <a:spAutoFit/>
          </a:bodyPr>
          <a:lstStyle/>
          <a:p>
            <a:pPr algn="l">
              <a:defRPr sz="1000" b="1">
                <a:solidFill>
                  <a:srgbClr val="111827"/>
                </a:solidFill>
                <a:latin typeface="Calibri"/>
              </a:defRPr>
            </a:pPr>
            <a:r>
              <a:t>Christopher</a:t>
            </a:r>
          </a:p>
        </p:txBody>
      </p:sp>
      <p:sp>
        <p:nvSpPr>
          <p:cNvPr id="63" name="TextBox 62"/>
          <p:cNvSpPr txBox="1"/>
          <p:nvPr/>
        </p:nvSpPr>
        <p:spPr>
          <a:xfrm>
            <a:off x="256032" y="2926079"/>
            <a:ext cx="1920240" cy="146304"/>
          </a:xfrm>
          <a:prstGeom prst="rect">
            <a:avLst/>
          </a:prstGeom>
          <a:noFill/>
        </p:spPr>
        <p:txBody>
          <a:bodyPr wrap="square">
            <a:spAutoFit/>
          </a:bodyPr>
          <a:lstStyle/>
          <a:p>
            <a:pPr algn="l">
              <a:defRPr sz="950" b="0">
                <a:solidFill>
                  <a:srgbClr val="6B7280"/>
                </a:solidFill>
                <a:latin typeface="Calibri"/>
              </a:defRPr>
            </a:pPr>
            <a:r>
              <a:t>Hayes</a:t>
            </a:r>
          </a:p>
        </p:txBody>
      </p:sp>
      <p:sp>
        <p:nvSpPr>
          <p:cNvPr id="64" name="Rectangle 63"/>
          <p:cNvSpPr/>
          <p:nvPr/>
        </p:nvSpPr>
        <p:spPr>
          <a:xfrm>
            <a:off x="2176272" y="29535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103120" y="3035808"/>
            <a:ext cx="2651760" cy="182880"/>
          </a:xfrm>
          <a:prstGeom prst="rect">
            <a:avLst/>
          </a:prstGeom>
          <a:noFill/>
        </p:spPr>
        <p:txBody>
          <a:bodyPr wrap="square">
            <a:spAutoFit/>
          </a:bodyPr>
          <a:lstStyle/>
          <a:p>
            <a:pPr algn="ctr">
              <a:defRPr sz="1800" b="1">
                <a:solidFill>
                  <a:srgbClr val="FFFFFF"/>
                </a:solidFill>
                <a:latin typeface="Calibri"/>
              </a:defRPr>
            </a:pPr>
            <a:r>
              <a:t>54</a:t>
            </a:r>
          </a:p>
        </p:txBody>
      </p:sp>
      <p:sp>
        <p:nvSpPr>
          <p:cNvPr id="66" name="TextBox 65"/>
          <p:cNvSpPr txBox="1"/>
          <p:nvPr/>
        </p:nvSpPr>
        <p:spPr>
          <a:xfrm>
            <a:off x="2103120" y="2935223"/>
            <a:ext cx="2651760" cy="128016"/>
          </a:xfrm>
          <a:prstGeom prst="rect">
            <a:avLst/>
          </a:prstGeom>
          <a:noFill/>
        </p:spPr>
        <p:txBody>
          <a:bodyPr wrap="square">
            <a:spAutoFit/>
          </a:bodyPr>
          <a:lstStyle/>
          <a:p>
            <a:pPr algn="ctr">
              <a:defRPr sz="850" b="0">
                <a:solidFill>
                  <a:srgbClr val="FFFFFF"/>
                </a:solidFill>
                <a:latin typeface="Calibri"/>
              </a:defRPr>
            </a:pPr>
            <a:r>
              <a:t>34% to goal</a:t>
            </a:r>
          </a:p>
        </p:txBody>
      </p:sp>
      <p:sp>
        <p:nvSpPr>
          <p:cNvPr id="67" name="Rectangle 66"/>
          <p:cNvSpPr/>
          <p:nvPr/>
        </p:nvSpPr>
        <p:spPr>
          <a:xfrm>
            <a:off x="4828032" y="29535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754880" y="3035808"/>
            <a:ext cx="2651760" cy="182880"/>
          </a:xfrm>
          <a:prstGeom prst="rect">
            <a:avLst/>
          </a:prstGeom>
          <a:noFill/>
        </p:spPr>
        <p:txBody>
          <a:bodyPr wrap="square">
            <a:spAutoFit/>
          </a:bodyPr>
          <a:lstStyle/>
          <a:p>
            <a:pPr algn="ctr">
              <a:defRPr sz="1800" b="1">
                <a:solidFill>
                  <a:srgbClr val="FFFFFF"/>
                </a:solidFill>
                <a:latin typeface="Calibri"/>
              </a:defRPr>
            </a:pPr>
            <a:r>
              <a:t>54</a:t>
            </a:r>
          </a:p>
        </p:txBody>
      </p:sp>
      <p:sp>
        <p:nvSpPr>
          <p:cNvPr id="69" name="TextBox 68"/>
          <p:cNvSpPr txBox="1"/>
          <p:nvPr/>
        </p:nvSpPr>
        <p:spPr>
          <a:xfrm>
            <a:off x="4754880" y="2935223"/>
            <a:ext cx="2651760" cy="128016"/>
          </a:xfrm>
          <a:prstGeom prst="rect">
            <a:avLst/>
          </a:prstGeom>
          <a:noFill/>
        </p:spPr>
        <p:txBody>
          <a:bodyPr wrap="square">
            <a:spAutoFit/>
          </a:bodyPr>
          <a:lstStyle/>
          <a:p>
            <a:pPr algn="ctr">
              <a:defRPr sz="850" b="0">
                <a:solidFill>
                  <a:srgbClr val="FFFFFF"/>
                </a:solidFill>
                <a:latin typeface="Calibri"/>
              </a:defRPr>
            </a:pPr>
            <a:r>
              <a:t>34% to goal</a:t>
            </a:r>
          </a:p>
        </p:txBody>
      </p:sp>
      <p:sp>
        <p:nvSpPr>
          <p:cNvPr id="70" name="Rectangle 69"/>
          <p:cNvSpPr/>
          <p:nvPr/>
        </p:nvSpPr>
        <p:spPr>
          <a:xfrm>
            <a:off x="7479792" y="2953511"/>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406640" y="3035808"/>
            <a:ext cx="2651760" cy="182880"/>
          </a:xfrm>
          <a:prstGeom prst="rect">
            <a:avLst/>
          </a:prstGeom>
          <a:noFill/>
        </p:spPr>
        <p:txBody>
          <a:bodyPr wrap="square">
            <a:spAutoFit/>
          </a:bodyPr>
          <a:lstStyle/>
          <a:p>
            <a:pPr algn="ctr">
              <a:defRPr sz="1800" b="1">
                <a:solidFill>
                  <a:srgbClr val="FFFFFF"/>
                </a:solidFill>
                <a:latin typeface="Calibri"/>
              </a:defRPr>
            </a:pPr>
            <a:r>
              <a:t>72</a:t>
            </a:r>
          </a:p>
        </p:txBody>
      </p:sp>
      <p:sp>
        <p:nvSpPr>
          <p:cNvPr id="72" name="TextBox 71"/>
          <p:cNvSpPr txBox="1"/>
          <p:nvPr/>
        </p:nvSpPr>
        <p:spPr>
          <a:xfrm>
            <a:off x="7406640" y="2935223"/>
            <a:ext cx="2651760" cy="128016"/>
          </a:xfrm>
          <a:prstGeom prst="rect">
            <a:avLst/>
          </a:prstGeom>
          <a:noFill/>
        </p:spPr>
        <p:txBody>
          <a:bodyPr wrap="square">
            <a:spAutoFit/>
          </a:bodyPr>
          <a:lstStyle/>
          <a:p>
            <a:pPr algn="ctr">
              <a:defRPr sz="850" b="0">
                <a:solidFill>
                  <a:srgbClr val="FFFFFF"/>
                </a:solidFill>
                <a:latin typeface="Calibri"/>
              </a:defRPr>
            </a:pPr>
            <a:r>
              <a:t>36% to goal</a:t>
            </a:r>
          </a:p>
        </p:txBody>
      </p:sp>
      <p:sp>
        <p:nvSpPr>
          <p:cNvPr id="73" name="TextBox 72"/>
          <p:cNvSpPr txBox="1"/>
          <p:nvPr/>
        </p:nvSpPr>
        <p:spPr>
          <a:xfrm>
            <a:off x="10058400" y="3017520"/>
            <a:ext cx="1005840" cy="228600"/>
          </a:xfrm>
          <a:prstGeom prst="rect">
            <a:avLst/>
          </a:prstGeom>
          <a:noFill/>
        </p:spPr>
        <p:txBody>
          <a:bodyPr wrap="square">
            <a:spAutoFit/>
          </a:bodyPr>
          <a:lstStyle/>
          <a:p>
            <a:pPr algn="ctr">
              <a:defRPr sz="1400" b="1">
                <a:solidFill>
                  <a:srgbClr val="DC2626"/>
                </a:solidFill>
                <a:latin typeface="Calibri"/>
              </a:defRPr>
            </a:pPr>
            <a:r>
              <a:t>35%</a:t>
            </a:r>
          </a:p>
        </p:txBody>
      </p:sp>
      <p:sp>
        <p:nvSpPr>
          <p:cNvPr id="74" name="Rectangle 73"/>
          <p:cNvSpPr/>
          <p:nvPr/>
        </p:nvSpPr>
        <p:spPr>
          <a:xfrm>
            <a:off x="182880" y="3364991"/>
            <a:ext cx="10881359" cy="4572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56032" y="3493008"/>
            <a:ext cx="1920240" cy="182880"/>
          </a:xfrm>
          <a:prstGeom prst="rect">
            <a:avLst/>
          </a:prstGeom>
          <a:noFill/>
        </p:spPr>
        <p:txBody>
          <a:bodyPr wrap="square">
            <a:spAutoFit/>
          </a:bodyPr>
          <a:lstStyle/>
          <a:p>
            <a:pPr algn="l">
              <a:defRPr sz="1000" b="1">
                <a:solidFill>
                  <a:srgbClr val="111827"/>
                </a:solidFill>
                <a:latin typeface="Calibri"/>
              </a:defRPr>
            </a:pPr>
            <a:r>
              <a:t>Alexis</a:t>
            </a:r>
          </a:p>
        </p:txBody>
      </p:sp>
      <p:sp>
        <p:nvSpPr>
          <p:cNvPr id="76" name="TextBox 75"/>
          <p:cNvSpPr txBox="1"/>
          <p:nvPr/>
        </p:nvSpPr>
        <p:spPr>
          <a:xfrm>
            <a:off x="256032" y="3383279"/>
            <a:ext cx="1920240" cy="146304"/>
          </a:xfrm>
          <a:prstGeom prst="rect">
            <a:avLst/>
          </a:prstGeom>
          <a:noFill/>
        </p:spPr>
        <p:txBody>
          <a:bodyPr wrap="square">
            <a:spAutoFit/>
          </a:bodyPr>
          <a:lstStyle/>
          <a:p>
            <a:pPr algn="l">
              <a:defRPr sz="950" b="0">
                <a:solidFill>
                  <a:srgbClr val="6B7280"/>
                </a:solidFill>
                <a:latin typeface="Calibri"/>
              </a:defRPr>
            </a:pPr>
            <a:r>
              <a:t>Berry-Smith</a:t>
            </a:r>
          </a:p>
        </p:txBody>
      </p:sp>
      <p:sp>
        <p:nvSpPr>
          <p:cNvPr id="77" name="Rectangle 76"/>
          <p:cNvSpPr/>
          <p:nvPr/>
        </p:nvSpPr>
        <p:spPr>
          <a:xfrm>
            <a:off x="2176272" y="3410711"/>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103120" y="3493008"/>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79" name="TextBox 78"/>
          <p:cNvSpPr txBox="1"/>
          <p:nvPr/>
        </p:nvSpPr>
        <p:spPr>
          <a:xfrm>
            <a:off x="2103120" y="3392423"/>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80" name="Rectangle 79"/>
          <p:cNvSpPr/>
          <p:nvPr/>
        </p:nvSpPr>
        <p:spPr>
          <a:xfrm>
            <a:off x="4828032" y="3410711"/>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754880" y="3493008"/>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82" name="TextBox 81"/>
          <p:cNvSpPr txBox="1"/>
          <p:nvPr/>
        </p:nvSpPr>
        <p:spPr>
          <a:xfrm>
            <a:off x="4754880" y="3392423"/>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83" name="Rectangle 82"/>
          <p:cNvSpPr/>
          <p:nvPr/>
        </p:nvSpPr>
        <p:spPr>
          <a:xfrm>
            <a:off x="7479792" y="3410711"/>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406640" y="3493008"/>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85" name="TextBox 84"/>
          <p:cNvSpPr txBox="1"/>
          <p:nvPr/>
        </p:nvSpPr>
        <p:spPr>
          <a:xfrm>
            <a:off x="7406640" y="3392423"/>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86" name="TextBox 85"/>
          <p:cNvSpPr txBox="1"/>
          <p:nvPr/>
        </p:nvSpPr>
        <p:spPr>
          <a:xfrm>
            <a:off x="10058400" y="3474720"/>
            <a:ext cx="1005840" cy="228600"/>
          </a:xfrm>
          <a:prstGeom prst="rect">
            <a:avLst/>
          </a:prstGeom>
          <a:noFill/>
        </p:spPr>
        <p:txBody>
          <a:bodyPr wrap="square">
            <a:spAutoFit/>
          </a:bodyPr>
          <a:lstStyle/>
          <a:p>
            <a:pPr algn="ctr">
              <a:defRPr sz="1400" b="1">
                <a:solidFill>
                  <a:srgbClr val="DC2626"/>
                </a:solidFill>
                <a:latin typeface="Calibri"/>
              </a:defRPr>
            </a:pPr>
            <a:r>
              <a:t>0%</a:t>
            </a:r>
          </a:p>
        </p:txBody>
      </p:sp>
      <p:sp>
        <p:nvSpPr>
          <p:cNvPr id="87" name="Rectangle 86"/>
          <p:cNvSpPr/>
          <p:nvPr/>
        </p:nvSpPr>
        <p:spPr>
          <a:xfrm>
            <a:off x="182880" y="3822191"/>
            <a:ext cx="10881359" cy="219456"/>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56032" y="3867911"/>
            <a:ext cx="10735055" cy="146304"/>
          </a:xfrm>
          <a:prstGeom prst="rect">
            <a:avLst/>
          </a:prstGeom>
          <a:noFill/>
        </p:spPr>
        <p:txBody>
          <a:bodyPr wrap="square">
            <a:spAutoFit/>
          </a:bodyPr>
          <a:lstStyle/>
          <a:p>
            <a:pPr algn="l">
              <a:defRPr sz="900" b="1">
                <a:solidFill>
                  <a:srgbClr val="FFFFFF"/>
                </a:solidFill>
                <a:latin typeface="Calibri"/>
              </a:defRPr>
            </a:pPr>
            <a:r>
              <a:t>BDAs — Business Development Associates  (goal: 50 acts/wk)</a:t>
            </a:r>
          </a:p>
        </p:txBody>
      </p:sp>
      <p:sp>
        <p:nvSpPr>
          <p:cNvPr id="89" name="Rectangle 88"/>
          <p:cNvSpPr/>
          <p:nvPr/>
        </p:nvSpPr>
        <p:spPr>
          <a:xfrm>
            <a:off x="182880" y="4041648"/>
            <a:ext cx="10881359" cy="4572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56032" y="4169663"/>
            <a:ext cx="1920240" cy="182880"/>
          </a:xfrm>
          <a:prstGeom prst="rect">
            <a:avLst/>
          </a:prstGeom>
          <a:noFill/>
        </p:spPr>
        <p:txBody>
          <a:bodyPr wrap="square">
            <a:spAutoFit/>
          </a:bodyPr>
          <a:lstStyle/>
          <a:p>
            <a:pPr algn="l">
              <a:defRPr sz="1000" b="1">
                <a:solidFill>
                  <a:srgbClr val="111827"/>
                </a:solidFill>
                <a:latin typeface="Calibri"/>
              </a:defRPr>
            </a:pPr>
            <a:r>
              <a:t>Cameron</a:t>
            </a:r>
          </a:p>
        </p:txBody>
      </p:sp>
      <p:sp>
        <p:nvSpPr>
          <p:cNvPr id="91" name="TextBox 90"/>
          <p:cNvSpPr txBox="1"/>
          <p:nvPr/>
        </p:nvSpPr>
        <p:spPr>
          <a:xfrm>
            <a:off x="256032" y="4059935"/>
            <a:ext cx="1920240" cy="146304"/>
          </a:xfrm>
          <a:prstGeom prst="rect">
            <a:avLst/>
          </a:prstGeom>
          <a:noFill/>
        </p:spPr>
        <p:txBody>
          <a:bodyPr wrap="square">
            <a:spAutoFit/>
          </a:bodyPr>
          <a:lstStyle/>
          <a:p>
            <a:pPr algn="l">
              <a:defRPr sz="950" b="0">
                <a:solidFill>
                  <a:srgbClr val="6B7280"/>
                </a:solidFill>
                <a:latin typeface="Calibri"/>
              </a:defRPr>
            </a:pPr>
            <a:r>
              <a:t>Brader</a:t>
            </a:r>
          </a:p>
        </p:txBody>
      </p:sp>
      <p:sp>
        <p:nvSpPr>
          <p:cNvPr id="92" name="Rectangle 91"/>
          <p:cNvSpPr/>
          <p:nvPr/>
        </p:nvSpPr>
        <p:spPr>
          <a:xfrm>
            <a:off x="2176272" y="4087368"/>
            <a:ext cx="2505456" cy="365760"/>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103120" y="4169663"/>
            <a:ext cx="2651760" cy="182880"/>
          </a:xfrm>
          <a:prstGeom prst="rect">
            <a:avLst/>
          </a:prstGeom>
          <a:noFill/>
        </p:spPr>
        <p:txBody>
          <a:bodyPr wrap="square">
            <a:spAutoFit/>
          </a:bodyPr>
          <a:lstStyle/>
          <a:p>
            <a:pPr algn="ctr">
              <a:defRPr sz="1800" b="1">
                <a:solidFill>
                  <a:srgbClr val="FFFFFF"/>
                </a:solidFill>
                <a:latin typeface="Calibri"/>
              </a:defRPr>
            </a:pPr>
            <a:r>
              <a:t>208</a:t>
            </a:r>
          </a:p>
        </p:txBody>
      </p:sp>
      <p:sp>
        <p:nvSpPr>
          <p:cNvPr id="94" name="TextBox 93"/>
          <p:cNvSpPr txBox="1"/>
          <p:nvPr/>
        </p:nvSpPr>
        <p:spPr>
          <a:xfrm>
            <a:off x="2103120" y="4069080"/>
            <a:ext cx="2651760" cy="128016"/>
          </a:xfrm>
          <a:prstGeom prst="rect">
            <a:avLst/>
          </a:prstGeom>
          <a:noFill/>
        </p:spPr>
        <p:txBody>
          <a:bodyPr wrap="square">
            <a:spAutoFit/>
          </a:bodyPr>
          <a:lstStyle/>
          <a:p>
            <a:pPr algn="ctr">
              <a:defRPr sz="850" b="0">
                <a:solidFill>
                  <a:srgbClr val="FFFFFF"/>
                </a:solidFill>
                <a:latin typeface="Calibri"/>
              </a:defRPr>
            </a:pPr>
            <a:r>
              <a:t>104% to goal</a:t>
            </a:r>
          </a:p>
        </p:txBody>
      </p:sp>
      <p:sp>
        <p:nvSpPr>
          <p:cNvPr id="95" name="Rectangle 94"/>
          <p:cNvSpPr/>
          <p:nvPr/>
        </p:nvSpPr>
        <p:spPr>
          <a:xfrm>
            <a:off x="4828032" y="4087368"/>
            <a:ext cx="2505456"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754880" y="4169663"/>
            <a:ext cx="2651760" cy="182880"/>
          </a:xfrm>
          <a:prstGeom prst="rect">
            <a:avLst/>
          </a:prstGeom>
          <a:noFill/>
        </p:spPr>
        <p:txBody>
          <a:bodyPr wrap="square">
            <a:spAutoFit/>
          </a:bodyPr>
          <a:lstStyle/>
          <a:p>
            <a:pPr algn="ctr">
              <a:defRPr sz="1800" b="1">
                <a:solidFill>
                  <a:srgbClr val="FFFFFF"/>
                </a:solidFill>
                <a:latin typeface="Calibri"/>
              </a:defRPr>
            </a:pPr>
            <a:r>
              <a:t>190</a:t>
            </a:r>
          </a:p>
        </p:txBody>
      </p:sp>
      <p:sp>
        <p:nvSpPr>
          <p:cNvPr id="97" name="TextBox 96"/>
          <p:cNvSpPr txBox="1"/>
          <p:nvPr/>
        </p:nvSpPr>
        <p:spPr>
          <a:xfrm>
            <a:off x="4754880" y="4069080"/>
            <a:ext cx="2651760" cy="128016"/>
          </a:xfrm>
          <a:prstGeom prst="rect">
            <a:avLst/>
          </a:prstGeom>
          <a:noFill/>
        </p:spPr>
        <p:txBody>
          <a:bodyPr wrap="square">
            <a:spAutoFit/>
          </a:bodyPr>
          <a:lstStyle/>
          <a:p>
            <a:pPr algn="ctr">
              <a:defRPr sz="850" b="0">
                <a:solidFill>
                  <a:srgbClr val="FFFFFF"/>
                </a:solidFill>
                <a:latin typeface="Calibri"/>
              </a:defRPr>
            </a:pPr>
            <a:r>
              <a:t>95% to goal</a:t>
            </a:r>
          </a:p>
        </p:txBody>
      </p:sp>
      <p:sp>
        <p:nvSpPr>
          <p:cNvPr id="98" name="Rectangle 97"/>
          <p:cNvSpPr/>
          <p:nvPr/>
        </p:nvSpPr>
        <p:spPr>
          <a:xfrm>
            <a:off x="7479792" y="4087368"/>
            <a:ext cx="2505456"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406640" y="4169663"/>
            <a:ext cx="2651760" cy="182880"/>
          </a:xfrm>
          <a:prstGeom prst="rect">
            <a:avLst/>
          </a:prstGeom>
          <a:noFill/>
        </p:spPr>
        <p:txBody>
          <a:bodyPr wrap="square">
            <a:spAutoFit/>
          </a:bodyPr>
          <a:lstStyle/>
          <a:p>
            <a:pPr algn="ctr">
              <a:defRPr sz="1800" b="1">
                <a:solidFill>
                  <a:srgbClr val="FFFFFF"/>
                </a:solidFill>
                <a:latin typeface="Calibri"/>
              </a:defRPr>
            </a:pPr>
            <a:r>
              <a:t>183</a:t>
            </a:r>
          </a:p>
        </p:txBody>
      </p:sp>
      <p:sp>
        <p:nvSpPr>
          <p:cNvPr id="100" name="TextBox 99"/>
          <p:cNvSpPr txBox="1"/>
          <p:nvPr/>
        </p:nvSpPr>
        <p:spPr>
          <a:xfrm>
            <a:off x="7406640" y="4069080"/>
            <a:ext cx="2651760" cy="128016"/>
          </a:xfrm>
          <a:prstGeom prst="rect">
            <a:avLst/>
          </a:prstGeom>
          <a:noFill/>
        </p:spPr>
        <p:txBody>
          <a:bodyPr wrap="square">
            <a:spAutoFit/>
          </a:bodyPr>
          <a:lstStyle/>
          <a:p>
            <a:pPr algn="ctr">
              <a:defRPr sz="850" b="0">
                <a:solidFill>
                  <a:srgbClr val="FFFFFF"/>
                </a:solidFill>
                <a:latin typeface="Calibri"/>
              </a:defRPr>
            </a:pPr>
            <a:r>
              <a:t>73% to goal</a:t>
            </a:r>
          </a:p>
        </p:txBody>
      </p:sp>
      <p:sp>
        <p:nvSpPr>
          <p:cNvPr id="101" name="TextBox 100"/>
          <p:cNvSpPr txBox="1"/>
          <p:nvPr/>
        </p:nvSpPr>
        <p:spPr>
          <a:xfrm>
            <a:off x="10058400" y="4151376"/>
            <a:ext cx="1005840" cy="228600"/>
          </a:xfrm>
          <a:prstGeom prst="rect">
            <a:avLst/>
          </a:prstGeom>
          <a:noFill/>
        </p:spPr>
        <p:txBody>
          <a:bodyPr wrap="square">
            <a:spAutoFit/>
          </a:bodyPr>
          <a:lstStyle/>
          <a:p>
            <a:pPr algn="ctr">
              <a:defRPr sz="1400" b="1">
                <a:solidFill>
                  <a:srgbClr val="D97706"/>
                </a:solidFill>
                <a:latin typeface="Calibri"/>
              </a:defRPr>
            </a:pPr>
            <a:r>
              <a:t>89%</a:t>
            </a:r>
          </a:p>
        </p:txBody>
      </p:sp>
      <p:sp>
        <p:nvSpPr>
          <p:cNvPr id="102" name="TextBox 101"/>
          <p:cNvSpPr txBox="1"/>
          <p:nvPr/>
        </p:nvSpPr>
        <p:spPr>
          <a:xfrm>
            <a:off x="256032" y="4626864"/>
            <a:ext cx="1920240" cy="182880"/>
          </a:xfrm>
          <a:prstGeom prst="rect">
            <a:avLst/>
          </a:prstGeom>
          <a:noFill/>
        </p:spPr>
        <p:txBody>
          <a:bodyPr wrap="square">
            <a:spAutoFit/>
          </a:bodyPr>
          <a:lstStyle/>
          <a:p>
            <a:pPr algn="l">
              <a:defRPr sz="1000" b="1">
                <a:solidFill>
                  <a:srgbClr val="111827"/>
                </a:solidFill>
                <a:latin typeface="Calibri"/>
              </a:defRPr>
            </a:pPr>
            <a:r>
              <a:t>Erika</a:t>
            </a:r>
          </a:p>
        </p:txBody>
      </p:sp>
      <p:sp>
        <p:nvSpPr>
          <p:cNvPr id="103" name="TextBox 102"/>
          <p:cNvSpPr txBox="1"/>
          <p:nvPr/>
        </p:nvSpPr>
        <p:spPr>
          <a:xfrm>
            <a:off x="256032" y="4517136"/>
            <a:ext cx="1920240" cy="146304"/>
          </a:xfrm>
          <a:prstGeom prst="rect">
            <a:avLst/>
          </a:prstGeom>
          <a:noFill/>
        </p:spPr>
        <p:txBody>
          <a:bodyPr wrap="square">
            <a:spAutoFit/>
          </a:bodyPr>
          <a:lstStyle/>
          <a:p>
            <a:pPr algn="l">
              <a:defRPr sz="950" b="0">
                <a:solidFill>
                  <a:srgbClr val="6B7280"/>
                </a:solidFill>
                <a:latin typeface="Calibri"/>
              </a:defRPr>
            </a:pPr>
            <a:r>
              <a:t>Cabrera</a:t>
            </a:r>
          </a:p>
        </p:txBody>
      </p:sp>
      <p:sp>
        <p:nvSpPr>
          <p:cNvPr id="104" name="Rectangle 103"/>
          <p:cNvSpPr/>
          <p:nvPr/>
        </p:nvSpPr>
        <p:spPr>
          <a:xfrm>
            <a:off x="2176272" y="45445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103120" y="46268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06" name="TextBox 105"/>
          <p:cNvSpPr txBox="1"/>
          <p:nvPr/>
        </p:nvSpPr>
        <p:spPr>
          <a:xfrm>
            <a:off x="2103120" y="45262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07" name="Rectangle 106"/>
          <p:cNvSpPr/>
          <p:nvPr/>
        </p:nvSpPr>
        <p:spPr>
          <a:xfrm>
            <a:off x="4828032" y="45445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754880" y="46268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09" name="TextBox 108"/>
          <p:cNvSpPr txBox="1"/>
          <p:nvPr/>
        </p:nvSpPr>
        <p:spPr>
          <a:xfrm>
            <a:off x="4754880" y="45262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10" name="Rectangle 109"/>
          <p:cNvSpPr/>
          <p:nvPr/>
        </p:nvSpPr>
        <p:spPr>
          <a:xfrm>
            <a:off x="7479792" y="45445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406640" y="46268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12" name="TextBox 111"/>
          <p:cNvSpPr txBox="1"/>
          <p:nvPr/>
        </p:nvSpPr>
        <p:spPr>
          <a:xfrm>
            <a:off x="7406640" y="45262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13" name="TextBox 112"/>
          <p:cNvSpPr txBox="1"/>
          <p:nvPr/>
        </p:nvSpPr>
        <p:spPr>
          <a:xfrm>
            <a:off x="10058400" y="4608576"/>
            <a:ext cx="1005840" cy="228600"/>
          </a:xfrm>
          <a:prstGeom prst="rect">
            <a:avLst/>
          </a:prstGeom>
          <a:noFill/>
        </p:spPr>
        <p:txBody>
          <a:bodyPr wrap="square">
            <a:spAutoFit/>
          </a:bodyPr>
          <a:lstStyle/>
          <a:p>
            <a:pPr algn="ctr">
              <a:defRPr sz="1400" b="1">
                <a:solidFill>
                  <a:srgbClr val="DC2626"/>
                </a:solidFill>
                <a:latin typeface="Calibri"/>
              </a:defRPr>
            </a:pPr>
            <a:r>
              <a:t>0%</a:t>
            </a:r>
          </a:p>
        </p:txBody>
      </p:sp>
      <p:sp>
        <p:nvSpPr>
          <p:cNvPr id="114" name="Rectangle 113"/>
          <p:cNvSpPr/>
          <p:nvPr/>
        </p:nvSpPr>
        <p:spPr>
          <a:xfrm>
            <a:off x="182880" y="4956048"/>
            <a:ext cx="10881359" cy="4572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56032" y="5084064"/>
            <a:ext cx="1920240" cy="182880"/>
          </a:xfrm>
          <a:prstGeom prst="rect">
            <a:avLst/>
          </a:prstGeom>
          <a:noFill/>
        </p:spPr>
        <p:txBody>
          <a:bodyPr wrap="square">
            <a:spAutoFit/>
          </a:bodyPr>
          <a:lstStyle/>
          <a:p>
            <a:pPr algn="l">
              <a:defRPr sz="1000" b="1">
                <a:solidFill>
                  <a:srgbClr val="111827"/>
                </a:solidFill>
                <a:latin typeface="Calibri"/>
              </a:defRPr>
            </a:pPr>
            <a:r>
              <a:t>Portia</a:t>
            </a:r>
          </a:p>
        </p:txBody>
      </p:sp>
      <p:sp>
        <p:nvSpPr>
          <p:cNvPr id="116" name="TextBox 115"/>
          <p:cNvSpPr txBox="1"/>
          <p:nvPr/>
        </p:nvSpPr>
        <p:spPr>
          <a:xfrm>
            <a:off x="256032" y="4974336"/>
            <a:ext cx="1920240" cy="146304"/>
          </a:xfrm>
          <a:prstGeom prst="rect">
            <a:avLst/>
          </a:prstGeom>
          <a:noFill/>
        </p:spPr>
        <p:txBody>
          <a:bodyPr wrap="square">
            <a:spAutoFit/>
          </a:bodyPr>
          <a:lstStyle/>
          <a:p>
            <a:pPr algn="l">
              <a:defRPr sz="950" b="0">
                <a:solidFill>
                  <a:srgbClr val="6B7280"/>
                </a:solidFill>
                <a:latin typeface="Calibri"/>
              </a:defRPr>
            </a:pPr>
            <a:r>
              <a:t>Lewis</a:t>
            </a:r>
          </a:p>
        </p:txBody>
      </p:sp>
      <p:sp>
        <p:nvSpPr>
          <p:cNvPr id="117" name="Rectangle 116"/>
          <p:cNvSpPr/>
          <p:nvPr/>
        </p:nvSpPr>
        <p:spPr>
          <a:xfrm>
            <a:off x="2176272" y="50017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2103120" y="50840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19" name="TextBox 118"/>
          <p:cNvSpPr txBox="1"/>
          <p:nvPr/>
        </p:nvSpPr>
        <p:spPr>
          <a:xfrm>
            <a:off x="2103120" y="49834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20" name="Rectangle 119"/>
          <p:cNvSpPr/>
          <p:nvPr/>
        </p:nvSpPr>
        <p:spPr>
          <a:xfrm>
            <a:off x="4828032" y="50017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754880" y="50840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22" name="TextBox 121"/>
          <p:cNvSpPr txBox="1"/>
          <p:nvPr/>
        </p:nvSpPr>
        <p:spPr>
          <a:xfrm>
            <a:off x="4754880" y="49834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23" name="Rectangle 122"/>
          <p:cNvSpPr/>
          <p:nvPr/>
        </p:nvSpPr>
        <p:spPr>
          <a:xfrm>
            <a:off x="7479792" y="50017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406640" y="50840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25" name="TextBox 124"/>
          <p:cNvSpPr txBox="1"/>
          <p:nvPr/>
        </p:nvSpPr>
        <p:spPr>
          <a:xfrm>
            <a:off x="7406640" y="49834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26" name="TextBox 125"/>
          <p:cNvSpPr txBox="1"/>
          <p:nvPr/>
        </p:nvSpPr>
        <p:spPr>
          <a:xfrm>
            <a:off x="10058400" y="5065776"/>
            <a:ext cx="1005840" cy="228600"/>
          </a:xfrm>
          <a:prstGeom prst="rect">
            <a:avLst/>
          </a:prstGeom>
          <a:noFill/>
        </p:spPr>
        <p:txBody>
          <a:bodyPr wrap="square">
            <a:spAutoFit/>
          </a:bodyPr>
          <a:lstStyle/>
          <a:p>
            <a:pPr algn="ctr">
              <a:defRPr sz="1400" b="1">
                <a:solidFill>
                  <a:srgbClr val="DC2626"/>
                </a:solidFill>
                <a:latin typeface="Calibri"/>
              </a:defRPr>
            </a:pPr>
            <a:r>
              <a:t>0%</a:t>
            </a:r>
          </a:p>
        </p:txBody>
      </p:sp>
      <p:sp>
        <p:nvSpPr>
          <p:cNvPr id="127" name="TextBox 126"/>
          <p:cNvSpPr txBox="1"/>
          <p:nvPr/>
        </p:nvSpPr>
        <p:spPr>
          <a:xfrm>
            <a:off x="256032" y="5541264"/>
            <a:ext cx="1920240" cy="182880"/>
          </a:xfrm>
          <a:prstGeom prst="rect">
            <a:avLst/>
          </a:prstGeom>
          <a:noFill/>
        </p:spPr>
        <p:txBody>
          <a:bodyPr wrap="square">
            <a:spAutoFit/>
          </a:bodyPr>
          <a:lstStyle/>
          <a:p>
            <a:pPr algn="l">
              <a:defRPr sz="1000" b="1">
                <a:solidFill>
                  <a:srgbClr val="111827"/>
                </a:solidFill>
                <a:latin typeface="Calibri"/>
              </a:defRPr>
            </a:pPr>
            <a:r>
              <a:t>Taylor</a:t>
            </a:r>
          </a:p>
        </p:txBody>
      </p:sp>
      <p:sp>
        <p:nvSpPr>
          <p:cNvPr id="128" name="TextBox 127"/>
          <p:cNvSpPr txBox="1"/>
          <p:nvPr/>
        </p:nvSpPr>
        <p:spPr>
          <a:xfrm>
            <a:off x="256032" y="5431536"/>
            <a:ext cx="1920240" cy="146304"/>
          </a:xfrm>
          <a:prstGeom prst="rect">
            <a:avLst/>
          </a:prstGeom>
          <a:noFill/>
        </p:spPr>
        <p:txBody>
          <a:bodyPr wrap="square">
            <a:spAutoFit/>
          </a:bodyPr>
          <a:lstStyle/>
          <a:p>
            <a:pPr algn="l">
              <a:defRPr sz="950" b="0">
                <a:solidFill>
                  <a:srgbClr val="6B7280"/>
                </a:solidFill>
                <a:latin typeface="Calibri"/>
              </a:defRPr>
            </a:pPr>
            <a:r>
              <a:t>Sloan</a:t>
            </a:r>
          </a:p>
        </p:txBody>
      </p:sp>
      <p:sp>
        <p:nvSpPr>
          <p:cNvPr id="129" name="Rectangle 128"/>
          <p:cNvSpPr/>
          <p:nvPr/>
        </p:nvSpPr>
        <p:spPr>
          <a:xfrm>
            <a:off x="2176272" y="54589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103120" y="55412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31" name="TextBox 130"/>
          <p:cNvSpPr txBox="1"/>
          <p:nvPr/>
        </p:nvSpPr>
        <p:spPr>
          <a:xfrm>
            <a:off x="2103120" y="54406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32" name="Rectangle 131"/>
          <p:cNvSpPr/>
          <p:nvPr/>
        </p:nvSpPr>
        <p:spPr>
          <a:xfrm>
            <a:off x="4828032" y="54589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4754880" y="55412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34" name="TextBox 133"/>
          <p:cNvSpPr txBox="1"/>
          <p:nvPr/>
        </p:nvSpPr>
        <p:spPr>
          <a:xfrm>
            <a:off x="4754880" y="54406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35" name="Rectangle 134"/>
          <p:cNvSpPr/>
          <p:nvPr/>
        </p:nvSpPr>
        <p:spPr>
          <a:xfrm>
            <a:off x="7479792" y="54589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7406640" y="55412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37" name="TextBox 136"/>
          <p:cNvSpPr txBox="1"/>
          <p:nvPr/>
        </p:nvSpPr>
        <p:spPr>
          <a:xfrm>
            <a:off x="7406640" y="54406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38" name="TextBox 137"/>
          <p:cNvSpPr txBox="1"/>
          <p:nvPr/>
        </p:nvSpPr>
        <p:spPr>
          <a:xfrm>
            <a:off x="10058400" y="5522976"/>
            <a:ext cx="1005840" cy="228600"/>
          </a:xfrm>
          <a:prstGeom prst="rect">
            <a:avLst/>
          </a:prstGeom>
          <a:noFill/>
        </p:spPr>
        <p:txBody>
          <a:bodyPr wrap="square">
            <a:spAutoFit/>
          </a:bodyPr>
          <a:lstStyle/>
          <a:p>
            <a:pPr algn="ctr">
              <a:defRPr sz="1400" b="1">
                <a:solidFill>
                  <a:srgbClr val="DC2626"/>
                </a:solidFill>
                <a:latin typeface="Calibri"/>
              </a:defRPr>
            </a:pPr>
            <a:r>
              <a:t>0%</a:t>
            </a:r>
          </a:p>
        </p:txBody>
      </p:sp>
      <p:sp>
        <p:nvSpPr>
          <p:cNvPr id="139" name="Rectangle 138"/>
          <p:cNvSpPr/>
          <p:nvPr/>
        </p:nvSpPr>
        <p:spPr>
          <a:xfrm>
            <a:off x="182880" y="5870448"/>
            <a:ext cx="10881359" cy="45720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56032" y="5998464"/>
            <a:ext cx="1920240" cy="182880"/>
          </a:xfrm>
          <a:prstGeom prst="rect">
            <a:avLst/>
          </a:prstGeom>
          <a:noFill/>
        </p:spPr>
        <p:txBody>
          <a:bodyPr wrap="square">
            <a:spAutoFit/>
          </a:bodyPr>
          <a:lstStyle/>
          <a:p>
            <a:pPr algn="l">
              <a:defRPr sz="1000" b="1">
                <a:solidFill>
                  <a:srgbClr val="111827"/>
                </a:solidFill>
                <a:latin typeface="Calibri"/>
              </a:defRPr>
            </a:pPr>
            <a:r>
              <a:t>Kurt</a:t>
            </a:r>
          </a:p>
        </p:txBody>
      </p:sp>
      <p:sp>
        <p:nvSpPr>
          <p:cNvPr id="141" name="TextBox 140"/>
          <p:cNvSpPr txBox="1"/>
          <p:nvPr/>
        </p:nvSpPr>
        <p:spPr>
          <a:xfrm>
            <a:off x="256032" y="5888736"/>
            <a:ext cx="1920240" cy="146304"/>
          </a:xfrm>
          <a:prstGeom prst="rect">
            <a:avLst/>
          </a:prstGeom>
          <a:noFill/>
        </p:spPr>
        <p:txBody>
          <a:bodyPr wrap="square">
            <a:spAutoFit/>
          </a:bodyPr>
          <a:lstStyle/>
          <a:p>
            <a:pPr algn="l">
              <a:defRPr sz="950" b="0">
                <a:solidFill>
                  <a:srgbClr val="6B7280"/>
                </a:solidFill>
                <a:latin typeface="Calibri"/>
              </a:defRPr>
            </a:pPr>
            <a:r>
              <a:t>Butterfield</a:t>
            </a:r>
          </a:p>
        </p:txBody>
      </p:sp>
      <p:sp>
        <p:nvSpPr>
          <p:cNvPr id="142" name="Rectangle 141"/>
          <p:cNvSpPr/>
          <p:nvPr/>
        </p:nvSpPr>
        <p:spPr>
          <a:xfrm>
            <a:off x="2176272" y="59161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2103120" y="59984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44" name="TextBox 143"/>
          <p:cNvSpPr txBox="1"/>
          <p:nvPr/>
        </p:nvSpPr>
        <p:spPr>
          <a:xfrm>
            <a:off x="2103120" y="58978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45" name="Rectangle 144"/>
          <p:cNvSpPr/>
          <p:nvPr/>
        </p:nvSpPr>
        <p:spPr>
          <a:xfrm>
            <a:off x="4828032" y="59161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4754880" y="59984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47" name="TextBox 146"/>
          <p:cNvSpPr txBox="1"/>
          <p:nvPr/>
        </p:nvSpPr>
        <p:spPr>
          <a:xfrm>
            <a:off x="4754880" y="58978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48" name="Rectangle 147"/>
          <p:cNvSpPr/>
          <p:nvPr/>
        </p:nvSpPr>
        <p:spPr>
          <a:xfrm>
            <a:off x="7479792" y="5916168"/>
            <a:ext cx="2505456" cy="365760"/>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7406640" y="5998464"/>
            <a:ext cx="2651760" cy="182880"/>
          </a:xfrm>
          <a:prstGeom prst="rect">
            <a:avLst/>
          </a:prstGeom>
          <a:noFill/>
        </p:spPr>
        <p:txBody>
          <a:bodyPr wrap="square">
            <a:spAutoFit/>
          </a:bodyPr>
          <a:lstStyle/>
          <a:p>
            <a:pPr algn="ctr">
              <a:defRPr sz="1800" b="1">
                <a:solidFill>
                  <a:srgbClr val="FFFFFF"/>
                </a:solidFill>
                <a:latin typeface="Calibri"/>
              </a:defRPr>
            </a:pPr>
            <a:r>
              <a:t>0</a:t>
            </a:r>
          </a:p>
        </p:txBody>
      </p:sp>
      <p:sp>
        <p:nvSpPr>
          <p:cNvPr id="150" name="TextBox 149"/>
          <p:cNvSpPr txBox="1"/>
          <p:nvPr/>
        </p:nvSpPr>
        <p:spPr>
          <a:xfrm>
            <a:off x="7406640" y="5897880"/>
            <a:ext cx="2651760" cy="128016"/>
          </a:xfrm>
          <a:prstGeom prst="rect">
            <a:avLst/>
          </a:prstGeom>
          <a:noFill/>
        </p:spPr>
        <p:txBody>
          <a:bodyPr wrap="square">
            <a:spAutoFit/>
          </a:bodyPr>
          <a:lstStyle/>
          <a:p>
            <a:pPr algn="ctr">
              <a:defRPr sz="850" b="0">
                <a:solidFill>
                  <a:srgbClr val="FFFFFF"/>
                </a:solidFill>
                <a:latin typeface="Calibri"/>
              </a:defRPr>
            </a:pPr>
            <a:r>
              <a:t>0% to goal</a:t>
            </a:r>
          </a:p>
        </p:txBody>
      </p:sp>
      <p:sp>
        <p:nvSpPr>
          <p:cNvPr id="151" name="TextBox 150"/>
          <p:cNvSpPr txBox="1"/>
          <p:nvPr/>
        </p:nvSpPr>
        <p:spPr>
          <a:xfrm>
            <a:off x="10058400" y="5980176"/>
            <a:ext cx="1005840" cy="228600"/>
          </a:xfrm>
          <a:prstGeom prst="rect">
            <a:avLst/>
          </a:prstGeom>
          <a:noFill/>
        </p:spPr>
        <p:txBody>
          <a:bodyPr wrap="square">
            <a:spAutoFit/>
          </a:bodyPr>
          <a:lstStyle/>
          <a:p>
            <a:pPr algn="ctr">
              <a:defRPr sz="1400" b="1">
                <a:solidFill>
                  <a:srgbClr val="DC2626"/>
                </a:solidFill>
                <a:latin typeface="Calibri"/>
              </a:defRPr>
            </a:pPr>
            <a:r>
              <a:t>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Account Health &amp; Agency Engagement</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Active vs Dormant Agencies  |  BDMs + BDAs  |  Active = any 2026 submission on the agency  |  Engagement Rate vs portfolio</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TextBox 5"/>
          <p:cNvSpPr txBox="1"/>
          <p:nvPr/>
        </p:nvSpPr>
        <p:spPr>
          <a:xfrm>
            <a:off x="182880" y="841248"/>
            <a:ext cx="1234440" cy="201168"/>
          </a:xfrm>
          <a:prstGeom prst="rect">
            <a:avLst/>
          </a:prstGeom>
          <a:noFill/>
        </p:spPr>
        <p:txBody>
          <a:bodyPr wrap="square">
            <a:spAutoFit/>
          </a:bodyPr>
          <a:lstStyle/>
          <a:p>
            <a:pPr algn="l">
              <a:defRPr sz="850" b="1">
                <a:solidFill>
                  <a:srgbClr val="6B7280"/>
                </a:solidFill>
                <a:latin typeface="Calibri"/>
              </a:defRPr>
            </a:pPr>
            <a:r>
              <a:t>Rep</a:t>
            </a:r>
          </a:p>
        </p:txBody>
      </p:sp>
      <p:sp>
        <p:nvSpPr>
          <p:cNvPr id="7" name="TextBox 6"/>
          <p:cNvSpPr txBox="1"/>
          <p:nvPr/>
        </p:nvSpPr>
        <p:spPr>
          <a:xfrm>
            <a:off x="1417320" y="841248"/>
            <a:ext cx="594360" cy="201168"/>
          </a:xfrm>
          <a:prstGeom prst="rect">
            <a:avLst/>
          </a:prstGeom>
          <a:noFill/>
        </p:spPr>
        <p:txBody>
          <a:bodyPr wrap="square">
            <a:spAutoFit/>
          </a:bodyPr>
          <a:lstStyle/>
          <a:p>
            <a:pPr algn="ctr">
              <a:defRPr sz="850" b="1">
                <a:solidFill>
                  <a:srgbClr val="6B7280"/>
                </a:solidFill>
                <a:latin typeface="Calibri"/>
              </a:defRPr>
            </a:pPr>
            <a:r>
              <a:t>Portfolio</a:t>
            </a:r>
          </a:p>
        </p:txBody>
      </p:sp>
      <p:sp>
        <p:nvSpPr>
          <p:cNvPr id="8" name="TextBox 7"/>
          <p:cNvSpPr txBox="1"/>
          <p:nvPr/>
        </p:nvSpPr>
        <p:spPr>
          <a:xfrm>
            <a:off x="2011680" y="841248"/>
            <a:ext cx="530352" cy="201168"/>
          </a:xfrm>
          <a:prstGeom prst="rect">
            <a:avLst/>
          </a:prstGeom>
          <a:noFill/>
        </p:spPr>
        <p:txBody>
          <a:bodyPr wrap="square">
            <a:spAutoFit/>
          </a:bodyPr>
          <a:lstStyle/>
          <a:p>
            <a:pPr algn="ctr">
              <a:defRPr sz="850" b="1">
                <a:solidFill>
                  <a:srgbClr val="6B7280"/>
                </a:solidFill>
                <a:latin typeface="Calibri"/>
              </a:defRPr>
            </a:pPr>
            <a:r>
              <a:t>Active</a:t>
            </a:r>
          </a:p>
        </p:txBody>
      </p:sp>
      <p:sp>
        <p:nvSpPr>
          <p:cNvPr id="9" name="TextBox 8"/>
          <p:cNvSpPr txBox="1"/>
          <p:nvPr/>
        </p:nvSpPr>
        <p:spPr>
          <a:xfrm>
            <a:off x="2542032" y="841248"/>
            <a:ext cx="594360" cy="201168"/>
          </a:xfrm>
          <a:prstGeom prst="rect">
            <a:avLst/>
          </a:prstGeom>
          <a:noFill/>
        </p:spPr>
        <p:txBody>
          <a:bodyPr wrap="square">
            <a:spAutoFit/>
          </a:bodyPr>
          <a:lstStyle/>
          <a:p>
            <a:pPr algn="ctr">
              <a:defRPr sz="850" b="1">
                <a:solidFill>
                  <a:srgbClr val="6B7280"/>
                </a:solidFill>
                <a:latin typeface="Calibri"/>
              </a:defRPr>
            </a:pPr>
            <a:r>
              <a:t>Dormant</a:t>
            </a:r>
          </a:p>
        </p:txBody>
      </p:sp>
      <p:sp>
        <p:nvSpPr>
          <p:cNvPr id="10" name="TextBox 9"/>
          <p:cNvSpPr txBox="1"/>
          <p:nvPr/>
        </p:nvSpPr>
        <p:spPr>
          <a:xfrm>
            <a:off x="3136392" y="841248"/>
            <a:ext cx="530352" cy="201168"/>
          </a:xfrm>
          <a:prstGeom prst="rect">
            <a:avLst/>
          </a:prstGeom>
          <a:noFill/>
        </p:spPr>
        <p:txBody>
          <a:bodyPr wrap="square">
            <a:spAutoFit/>
          </a:bodyPr>
          <a:lstStyle/>
          <a:p>
            <a:pPr algn="ctr">
              <a:defRPr sz="850" b="1">
                <a:solidFill>
                  <a:srgbClr val="6B7280"/>
                </a:solidFill>
                <a:latin typeface="Calibri"/>
              </a:defRPr>
            </a:pPr>
            <a:r>
              <a:t>Eng. %</a:t>
            </a:r>
          </a:p>
        </p:txBody>
      </p:sp>
      <p:sp>
        <p:nvSpPr>
          <p:cNvPr id="11" name="TextBox 10"/>
          <p:cNvSpPr txBox="1"/>
          <p:nvPr/>
        </p:nvSpPr>
        <p:spPr>
          <a:xfrm>
            <a:off x="3666744" y="841248"/>
            <a:ext cx="804672" cy="201168"/>
          </a:xfrm>
          <a:prstGeom prst="rect">
            <a:avLst/>
          </a:prstGeom>
          <a:noFill/>
        </p:spPr>
        <p:txBody>
          <a:bodyPr wrap="square">
            <a:spAutoFit/>
          </a:bodyPr>
          <a:lstStyle/>
          <a:p>
            <a:pPr algn="ctr">
              <a:defRPr sz="850" b="1">
                <a:solidFill>
                  <a:srgbClr val="6B7280"/>
                </a:solidFill>
                <a:latin typeface="Calibri"/>
              </a:defRPr>
            </a:pPr>
            <a:r>
              <a:t>Q1 GWP</a:t>
            </a:r>
          </a:p>
        </p:txBody>
      </p:sp>
      <p:sp>
        <p:nvSpPr>
          <p:cNvPr id="12" name="TextBox 11"/>
          <p:cNvSpPr txBox="1"/>
          <p:nvPr/>
        </p:nvSpPr>
        <p:spPr>
          <a:xfrm>
            <a:off x="4471416" y="841248"/>
            <a:ext cx="658368" cy="201168"/>
          </a:xfrm>
          <a:prstGeom prst="rect">
            <a:avLst/>
          </a:prstGeom>
          <a:noFill/>
        </p:spPr>
        <p:txBody>
          <a:bodyPr wrap="square">
            <a:spAutoFit/>
          </a:bodyPr>
          <a:lstStyle/>
          <a:p>
            <a:pPr algn="ctr">
              <a:defRPr sz="850" b="1">
                <a:solidFill>
                  <a:srgbClr val="6B7280"/>
                </a:solidFill>
                <a:latin typeface="Calibri"/>
              </a:defRPr>
            </a:pPr>
            <a:r>
              <a:t>Q1 Renew</a:t>
            </a:r>
          </a:p>
        </p:txBody>
      </p:sp>
      <p:sp>
        <p:nvSpPr>
          <p:cNvPr id="13" name="TextBox 12"/>
          <p:cNvSpPr txBox="1"/>
          <p:nvPr/>
        </p:nvSpPr>
        <p:spPr>
          <a:xfrm>
            <a:off x="5129783" y="841248"/>
            <a:ext cx="658368" cy="201168"/>
          </a:xfrm>
          <a:prstGeom prst="rect">
            <a:avLst/>
          </a:prstGeom>
          <a:noFill/>
        </p:spPr>
        <p:txBody>
          <a:bodyPr wrap="square">
            <a:spAutoFit/>
          </a:bodyPr>
          <a:lstStyle/>
          <a:p>
            <a:pPr algn="ctr">
              <a:defRPr sz="850" b="1">
                <a:solidFill>
                  <a:srgbClr val="6B7280"/>
                </a:solidFill>
                <a:latin typeface="Calibri"/>
              </a:defRPr>
            </a:pPr>
            <a:r>
              <a:t>Q1 Cancel</a:t>
            </a:r>
          </a:p>
        </p:txBody>
      </p:sp>
      <p:sp>
        <p:nvSpPr>
          <p:cNvPr id="14" name="TextBox 13"/>
          <p:cNvSpPr txBox="1"/>
          <p:nvPr/>
        </p:nvSpPr>
        <p:spPr>
          <a:xfrm>
            <a:off x="5788151" y="841248"/>
            <a:ext cx="621792" cy="201168"/>
          </a:xfrm>
          <a:prstGeom prst="rect">
            <a:avLst/>
          </a:prstGeom>
          <a:noFill/>
        </p:spPr>
        <p:txBody>
          <a:bodyPr wrap="square">
            <a:spAutoFit/>
          </a:bodyPr>
          <a:lstStyle/>
          <a:p>
            <a:pPr algn="ctr">
              <a:defRPr sz="850" b="1">
                <a:solidFill>
                  <a:srgbClr val="6B7280"/>
                </a:solidFill>
                <a:latin typeface="Calibri"/>
              </a:defRPr>
            </a:pPr>
            <a:r>
              <a:t>Q1 Subs</a:t>
            </a:r>
          </a:p>
        </p:txBody>
      </p:sp>
      <p:sp>
        <p:nvSpPr>
          <p:cNvPr id="15" name="TextBox 14"/>
          <p:cNvSpPr txBox="1"/>
          <p:nvPr/>
        </p:nvSpPr>
        <p:spPr>
          <a:xfrm>
            <a:off x="6409943" y="841248"/>
            <a:ext cx="566928" cy="201168"/>
          </a:xfrm>
          <a:prstGeom prst="rect">
            <a:avLst/>
          </a:prstGeom>
          <a:noFill/>
        </p:spPr>
        <p:txBody>
          <a:bodyPr wrap="square">
            <a:spAutoFit/>
          </a:bodyPr>
          <a:lstStyle/>
          <a:p>
            <a:pPr algn="ctr">
              <a:defRPr sz="850" b="1">
                <a:solidFill>
                  <a:srgbClr val="6B7280"/>
                </a:solidFill>
                <a:latin typeface="Calibri"/>
              </a:defRPr>
            </a:pPr>
            <a:r>
              <a:t>Q1 Binds</a:t>
            </a:r>
          </a:p>
        </p:txBody>
      </p:sp>
      <p:sp>
        <p:nvSpPr>
          <p:cNvPr id="16" name="TextBox 15"/>
          <p:cNvSpPr txBox="1"/>
          <p:nvPr/>
        </p:nvSpPr>
        <p:spPr>
          <a:xfrm>
            <a:off x="6976871" y="841248"/>
            <a:ext cx="566928" cy="201168"/>
          </a:xfrm>
          <a:prstGeom prst="rect">
            <a:avLst/>
          </a:prstGeom>
          <a:noFill/>
        </p:spPr>
        <p:txBody>
          <a:bodyPr wrap="square">
            <a:spAutoFit/>
          </a:bodyPr>
          <a:lstStyle/>
          <a:p>
            <a:pPr algn="ctr">
              <a:defRPr sz="850" b="1">
                <a:solidFill>
                  <a:srgbClr val="6B7280"/>
                </a:solidFill>
                <a:latin typeface="Calibri"/>
              </a:defRPr>
            </a:pPr>
            <a:r>
              <a:t>Q2 Subs</a:t>
            </a:r>
          </a:p>
        </p:txBody>
      </p:sp>
      <p:sp>
        <p:nvSpPr>
          <p:cNvPr id="17" name="TextBox 16"/>
          <p:cNvSpPr txBox="1"/>
          <p:nvPr/>
        </p:nvSpPr>
        <p:spPr>
          <a:xfrm>
            <a:off x="7543799" y="841248"/>
            <a:ext cx="530352" cy="201168"/>
          </a:xfrm>
          <a:prstGeom prst="rect">
            <a:avLst/>
          </a:prstGeom>
          <a:noFill/>
        </p:spPr>
        <p:txBody>
          <a:bodyPr wrap="square">
            <a:spAutoFit/>
          </a:bodyPr>
          <a:lstStyle/>
          <a:p>
            <a:pPr algn="ctr">
              <a:defRPr sz="850" b="1">
                <a:solidFill>
                  <a:srgbClr val="6B7280"/>
                </a:solidFill>
                <a:latin typeface="Calibri"/>
              </a:defRPr>
            </a:pPr>
            <a:r>
              <a:t>Q2 Binds</a:t>
            </a:r>
          </a:p>
        </p:txBody>
      </p:sp>
      <p:sp>
        <p:nvSpPr>
          <p:cNvPr id="18" name="TextBox 17"/>
          <p:cNvSpPr txBox="1"/>
          <p:nvPr/>
        </p:nvSpPr>
        <p:spPr>
          <a:xfrm>
            <a:off x="8074151" y="841248"/>
            <a:ext cx="804672" cy="201168"/>
          </a:xfrm>
          <a:prstGeom prst="rect">
            <a:avLst/>
          </a:prstGeom>
          <a:noFill/>
        </p:spPr>
        <p:txBody>
          <a:bodyPr wrap="square">
            <a:spAutoFit/>
          </a:bodyPr>
          <a:lstStyle/>
          <a:p>
            <a:pPr algn="ctr">
              <a:defRPr sz="850" b="1">
                <a:solidFill>
                  <a:srgbClr val="6B7280"/>
                </a:solidFill>
                <a:latin typeface="Calibri"/>
              </a:defRPr>
            </a:pPr>
            <a:r>
              <a:t>Q2 GWP</a:t>
            </a:r>
          </a:p>
        </p:txBody>
      </p:sp>
      <p:sp>
        <p:nvSpPr>
          <p:cNvPr id="19" name="TextBox 18"/>
          <p:cNvSpPr txBox="1"/>
          <p:nvPr/>
        </p:nvSpPr>
        <p:spPr>
          <a:xfrm>
            <a:off x="8878824" y="841248"/>
            <a:ext cx="658368" cy="201168"/>
          </a:xfrm>
          <a:prstGeom prst="rect">
            <a:avLst/>
          </a:prstGeom>
          <a:noFill/>
        </p:spPr>
        <p:txBody>
          <a:bodyPr wrap="square">
            <a:spAutoFit/>
          </a:bodyPr>
          <a:lstStyle/>
          <a:p>
            <a:pPr algn="ctr">
              <a:defRPr sz="850" b="1">
                <a:solidFill>
                  <a:srgbClr val="6B7280"/>
                </a:solidFill>
                <a:latin typeface="Calibri"/>
              </a:defRPr>
            </a:pPr>
            <a:r>
              <a:t>Q2 Renew</a:t>
            </a:r>
          </a:p>
        </p:txBody>
      </p:sp>
      <p:sp>
        <p:nvSpPr>
          <p:cNvPr id="20" name="TextBox 19"/>
          <p:cNvSpPr txBox="1"/>
          <p:nvPr/>
        </p:nvSpPr>
        <p:spPr>
          <a:xfrm>
            <a:off x="9537192" y="841248"/>
            <a:ext cx="658368" cy="201168"/>
          </a:xfrm>
          <a:prstGeom prst="rect">
            <a:avLst/>
          </a:prstGeom>
          <a:noFill/>
        </p:spPr>
        <p:txBody>
          <a:bodyPr wrap="square">
            <a:spAutoFit/>
          </a:bodyPr>
          <a:lstStyle/>
          <a:p>
            <a:pPr algn="ctr">
              <a:defRPr sz="850" b="1">
                <a:solidFill>
                  <a:srgbClr val="6B7280"/>
                </a:solidFill>
                <a:latin typeface="Calibri"/>
              </a:defRPr>
            </a:pPr>
            <a:r>
              <a:t>Q2 Cancel</a:t>
            </a:r>
          </a:p>
        </p:txBody>
      </p:sp>
      <p:sp>
        <p:nvSpPr>
          <p:cNvPr id="21" name="TextBox 20"/>
          <p:cNvSpPr txBox="1"/>
          <p:nvPr/>
        </p:nvSpPr>
        <p:spPr>
          <a:xfrm>
            <a:off x="10195560" y="841248"/>
            <a:ext cx="685800" cy="201168"/>
          </a:xfrm>
          <a:prstGeom prst="rect">
            <a:avLst/>
          </a:prstGeom>
          <a:noFill/>
        </p:spPr>
        <p:txBody>
          <a:bodyPr wrap="square">
            <a:spAutoFit/>
          </a:bodyPr>
          <a:lstStyle/>
          <a:p>
            <a:pPr algn="ctr">
              <a:defRPr sz="850" b="1">
                <a:solidFill>
                  <a:srgbClr val="6B7280"/>
                </a:solidFill>
                <a:latin typeface="Calibri"/>
              </a:defRPr>
            </a:pPr>
            <a:r>
              <a:t>No Q2 Ctct</a:t>
            </a:r>
          </a:p>
        </p:txBody>
      </p:sp>
      <p:sp>
        <p:nvSpPr>
          <p:cNvPr id="22" name="Rectangle 21"/>
          <p:cNvSpPr/>
          <p:nvPr/>
        </p:nvSpPr>
        <p:spPr>
          <a:xfrm>
            <a:off x="182880" y="1042416"/>
            <a:ext cx="1069848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2880" y="1115568"/>
            <a:ext cx="1234440" cy="201168"/>
          </a:xfrm>
          <a:prstGeom prst="rect">
            <a:avLst/>
          </a:prstGeom>
          <a:noFill/>
        </p:spPr>
        <p:txBody>
          <a:bodyPr wrap="square">
            <a:spAutoFit/>
          </a:bodyPr>
          <a:lstStyle/>
          <a:p>
            <a:pPr algn="l">
              <a:defRPr sz="1000" b="1">
                <a:solidFill>
                  <a:srgbClr val="111827"/>
                </a:solidFill>
                <a:latin typeface="Calibri"/>
              </a:defRPr>
            </a:pPr>
            <a:r>
              <a:t>Derek Janssen</a:t>
            </a:r>
          </a:p>
        </p:txBody>
      </p:sp>
      <p:sp>
        <p:nvSpPr>
          <p:cNvPr id="24" name="TextBox 23"/>
          <p:cNvSpPr txBox="1"/>
          <p:nvPr/>
        </p:nvSpPr>
        <p:spPr>
          <a:xfrm>
            <a:off x="1417320" y="1115568"/>
            <a:ext cx="594360" cy="201168"/>
          </a:xfrm>
          <a:prstGeom prst="rect">
            <a:avLst/>
          </a:prstGeom>
          <a:noFill/>
        </p:spPr>
        <p:txBody>
          <a:bodyPr wrap="square">
            <a:spAutoFit/>
          </a:bodyPr>
          <a:lstStyle/>
          <a:p>
            <a:pPr algn="ctr">
              <a:defRPr sz="1000" b="0">
                <a:solidFill>
                  <a:srgbClr val="6B7280"/>
                </a:solidFill>
                <a:latin typeface="Calibri"/>
              </a:defRPr>
            </a:pPr>
            <a:r>
              <a:t>53</a:t>
            </a:r>
          </a:p>
        </p:txBody>
      </p:sp>
      <p:sp>
        <p:nvSpPr>
          <p:cNvPr id="25" name="TextBox 24"/>
          <p:cNvSpPr txBox="1"/>
          <p:nvPr/>
        </p:nvSpPr>
        <p:spPr>
          <a:xfrm>
            <a:off x="2011680" y="1115568"/>
            <a:ext cx="530352" cy="201168"/>
          </a:xfrm>
          <a:prstGeom prst="rect">
            <a:avLst/>
          </a:prstGeom>
          <a:noFill/>
        </p:spPr>
        <p:txBody>
          <a:bodyPr wrap="square">
            <a:spAutoFit/>
          </a:bodyPr>
          <a:lstStyle/>
          <a:p>
            <a:pPr algn="ctr">
              <a:defRPr sz="1000" b="0">
                <a:solidFill>
                  <a:srgbClr val="059669"/>
                </a:solidFill>
                <a:latin typeface="Calibri"/>
              </a:defRPr>
            </a:pPr>
            <a:r>
              <a:t>53</a:t>
            </a:r>
          </a:p>
        </p:txBody>
      </p:sp>
      <p:sp>
        <p:nvSpPr>
          <p:cNvPr id="26" name="TextBox 25"/>
          <p:cNvSpPr txBox="1"/>
          <p:nvPr/>
        </p:nvSpPr>
        <p:spPr>
          <a:xfrm>
            <a:off x="2542032" y="1115568"/>
            <a:ext cx="594360" cy="201168"/>
          </a:xfrm>
          <a:prstGeom prst="rect">
            <a:avLst/>
          </a:prstGeom>
          <a:noFill/>
        </p:spPr>
        <p:txBody>
          <a:bodyPr wrap="square">
            <a:spAutoFit/>
          </a:bodyPr>
          <a:lstStyle/>
          <a:p>
            <a:pPr algn="ctr">
              <a:defRPr sz="1000" b="1">
                <a:solidFill>
                  <a:srgbClr val="D97706"/>
                </a:solidFill>
                <a:latin typeface="Calibri"/>
              </a:defRPr>
            </a:pPr>
            <a:r>
              <a:t>0</a:t>
            </a:r>
          </a:p>
        </p:txBody>
      </p:sp>
      <p:sp>
        <p:nvSpPr>
          <p:cNvPr id="27" name="TextBox 26"/>
          <p:cNvSpPr txBox="1"/>
          <p:nvPr/>
        </p:nvSpPr>
        <p:spPr>
          <a:xfrm>
            <a:off x="3136392" y="1115568"/>
            <a:ext cx="530352" cy="201168"/>
          </a:xfrm>
          <a:prstGeom prst="rect">
            <a:avLst/>
          </a:prstGeom>
          <a:noFill/>
        </p:spPr>
        <p:txBody>
          <a:bodyPr wrap="square">
            <a:spAutoFit/>
          </a:bodyPr>
          <a:lstStyle/>
          <a:p>
            <a:pPr algn="ctr">
              <a:defRPr sz="1000" b="1">
                <a:solidFill>
                  <a:srgbClr val="059669"/>
                </a:solidFill>
                <a:latin typeface="Calibri"/>
              </a:defRPr>
            </a:pPr>
            <a:r>
              <a:t>100%</a:t>
            </a:r>
          </a:p>
        </p:txBody>
      </p:sp>
      <p:sp>
        <p:nvSpPr>
          <p:cNvPr id="28" name="TextBox 27"/>
          <p:cNvSpPr txBox="1"/>
          <p:nvPr/>
        </p:nvSpPr>
        <p:spPr>
          <a:xfrm>
            <a:off x="3666744" y="1115568"/>
            <a:ext cx="804672" cy="201168"/>
          </a:xfrm>
          <a:prstGeom prst="rect">
            <a:avLst/>
          </a:prstGeom>
          <a:noFill/>
        </p:spPr>
        <p:txBody>
          <a:bodyPr wrap="square">
            <a:spAutoFit/>
          </a:bodyPr>
          <a:lstStyle/>
          <a:p>
            <a:pPr algn="ctr">
              <a:defRPr sz="1000" b="0">
                <a:solidFill>
                  <a:srgbClr val="6D28D9"/>
                </a:solidFill>
                <a:latin typeface="Calibri"/>
              </a:defRPr>
            </a:pPr>
            <a:r>
              <a:t>$23.4M</a:t>
            </a:r>
          </a:p>
        </p:txBody>
      </p:sp>
      <p:sp>
        <p:nvSpPr>
          <p:cNvPr id="29" name="TextBox 28"/>
          <p:cNvSpPr txBox="1"/>
          <p:nvPr/>
        </p:nvSpPr>
        <p:spPr>
          <a:xfrm>
            <a:off x="4471416" y="1115568"/>
            <a:ext cx="658368" cy="201168"/>
          </a:xfrm>
          <a:prstGeom prst="rect">
            <a:avLst/>
          </a:prstGeom>
          <a:noFill/>
        </p:spPr>
        <p:txBody>
          <a:bodyPr wrap="square">
            <a:spAutoFit/>
          </a:bodyPr>
          <a:lstStyle/>
          <a:p>
            <a:pPr algn="ctr">
              <a:defRPr sz="1000" b="0">
                <a:solidFill>
                  <a:srgbClr val="059669"/>
                </a:solidFill>
                <a:latin typeface="Calibri"/>
              </a:defRPr>
            </a:pPr>
            <a:r>
              <a:t>$4.1M</a:t>
            </a:r>
          </a:p>
        </p:txBody>
      </p:sp>
      <p:sp>
        <p:nvSpPr>
          <p:cNvPr id="30" name="TextBox 29"/>
          <p:cNvSpPr txBox="1"/>
          <p:nvPr/>
        </p:nvSpPr>
        <p:spPr>
          <a:xfrm>
            <a:off x="5129783" y="1115568"/>
            <a:ext cx="658368" cy="201168"/>
          </a:xfrm>
          <a:prstGeom prst="rect">
            <a:avLst/>
          </a:prstGeom>
          <a:noFill/>
        </p:spPr>
        <p:txBody>
          <a:bodyPr wrap="square">
            <a:spAutoFit/>
          </a:bodyPr>
          <a:lstStyle/>
          <a:p>
            <a:pPr algn="ctr">
              <a:defRPr sz="1000" b="0">
                <a:solidFill>
                  <a:srgbClr val="DC2626"/>
                </a:solidFill>
                <a:latin typeface="Calibri"/>
              </a:defRPr>
            </a:pPr>
            <a:r>
              <a:t>$9.6M</a:t>
            </a:r>
          </a:p>
        </p:txBody>
      </p:sp>
      <p:sp>
        <p:nvSpPr>
          <p:cNvPr id="31" name="TextBox 30"/>
          <p:cNvSpPr txBox="1"/>
          <p:nvPr/>
        </p:nvSpPr>
        <p:spPr>
          <a:xfrm>
            <a:off x="5788151" y="1115568"/>
            <a:ext cx="621792" cy="201168"/>
          </a:xfrm>
          <a:prstGeom prst="rect">
            <a:avLst/>
          </a:prstGeom>
          <a:noFill/>
        </p:spPr>
        <p:txBody>
          <a:bodyPr wrap="square">
            <a:spAutoFit/>
          </a:bodyPr>
          <a:lstStyle/>
          <a:p>
            <a:pPr algn="ctr">
              <a:defRPr sz="1000" b="0">
                <a:solidFill>
                  <a:srgbClr val="111827"/>
                </a:solidFill>
                <a:latin typeface="Calibri"/>
              </a:defRPr>
            </a:pPr>
            <a:r>
              <a:t>12526</a:t>
            </a:r>
          </a:p>
        </p:txBody>
      </p:sp>
      <p:sp>
        <p:nvSpPr>
          <p:cNvPr id="32" name="TextBox 31"/>
          <p:cNvSpPr txBox="1"/>
          <p:nvPr/>
        </p:nvSpPr>
        <p:spPr>
          <a:xfrm>
            <a:off x="6409943" y="1115568"/>
            <a:ext cx="566928" cy="201168"/>
          </a:xfrm>
          <a:prstGeom prst="rect">
            <a:avLst/>
          </a:prstGeom>
          <a:noFill/>
        </p:spPr>
        <p:txBody>
          <a:bodyPr wrap="square">
            <a:spAutoFit/>
          </a:bodyPr>
          <a:lstStyle/>
          <a:p>
            <a:pPr algn="ctr">
              <a:defRPr sz="1000" b="0">
                <a:solidFill>
                  <a:srgbClr val="111827"/>
                </a:solidFill>
                <a:latin typeface="Calibri"/>
              </a:defRPr>
            </a:pPr>
            <a:r>
              <a:t>663</a:t>
            </a:r>
          </a:p>
        </p:txBody>
      </p:sp>
      <p:sp>
        <p:nvSpPr>
          <p:cNvPr id="33" name="TextBox 32"/>
          <p:cNvSpPr txBox="1"/>
          <p:nvPr/>
        </p:nvSpPr>
        <p:spPr>
          <a:xfrm>
            <a:off x="6976871" y="1115568"/>
            <a:ext cx="566928" cy="201168"/>
          </a:xfrm>
          <a:prstGeom prst="rect">
            <a:avLst/>
          </a:prstGeom>
          <a:noFill/>
        </p:spPr>
        <p:txBody>
          <a:bodyPr wrap="square">
            <a:spAutoFit/>
          </a:bodyPr>
          <a:lstStyle/>
          <a:p>
            <a:pPr algn="ctr">
              <a:defRPr sz="1000" b="0">
                <a:solidFill>
                  <a:srgbClr val="111827"/>
                </a:solidFill>
                <a:latin typeface="Calibri"/>
              </a:defRPr>
            </a:pPr>
            <a:r>
              <a:t>5472</a:t>
            </a:r>
          </a:p>
        </p:txBody>
      </p:sp>
      <p:sp>
        <p:nvSpPr>
          <p:cNvPr id="34" name="TextBox 33"/>
          <p:cNvSpPr txBox="1"/>
          <p:nvPr/>
        </p:nvSpPr>
        <p:spPr>
          <a:xfrm>
            <a:off x="7543799" y="1115568"/>
            <a:ext cx="530352" cy="201168"/>
          </a:xfrm>
          <a:prstGeom prst="rect">
            <a:avLst/>
          </a:prstGeom>
          <a:noFill/>
        </p:spPr>
        <p:txBody>
          <a:bodyPr wrap="square">
            <a:spAutoFit/>
          </a:bodyPr>
          <a:lstStyle/>
          <a:p>
            <a:pPr algn="ctr">
              <a:defRPr sz="1000" b="0">
                <a:solidFill>
                  <a:srgbClr val="111827"/>
                </a:solidFill>
                <a:latin typeface="Calibri"/>
              </a:defRPr>
            </a:pPr>
            <a:r>
              <a:t>415</a:t>
            </a:r>
          </a:p>
        </p:txBody>
      </p:sp>
      <p:sp>
        <p:nvSpPr>
          <p:cNvPr id="35" name="TextBox 34"/>
          <p:cNvSpPr txBox="1"/>
          <p:nvPr/>
        </p:nvSpPr>
        <p:spPr>
          <a:xfrm>
            <a:off x="8074151" y="1115568"/>
            <a:ext cx="804672" cy="201168"/>
          </a:xfrm>
          <a:prstGeom prst="rect">
            <a:avLst/>
          </a:prstGeom>
          <a:noFill/>
        </p:spPr>
        <p:txBody>
          <a:bodyPr wrap="square">
            <a:spAutoFit/>
          </a:bodyPr>
          <a:lstStyle/>
          <a:p>
            <a:pPr algn="ctr">
              <a:defRPr sz="1000" b="0">
                <a:solidFill>
                  <a:srgbClr val="6D28D9"/>
                </a:solidFill>
                <a:latin typeface="Calibri"/>
              </a:defRPr>
            </a:pPr>
            <a:r>
              <a:t>$10.3M</a:t>
            </a:r>
          </a:p>
        </p:txBody>
      </p:sp>
      <p:sp>
        <p:nvSpPr>
          <p:cNvPr id="36" name="TextBox 35"/>
          <p:cNvSpPr txBox="1"/>
          <p:nvPr/>
        </p:nvSpPr>
        <p:spPr>
          <a:xfrm>
            <a:off x="8878824" y="1115568"/>
            <a:ext cx="658368" cy="201168"/>
          </a:xfrm>
          <a:prstGeom prst="rect">
            <a:avLst/>
          </a:prstGeom>
          <a:noFill/>
        </p:spPr>
        <p:txBody>
          <a:bodyPr wrap="square">
            <a:spAutoFit/>
          </a:bodyPr>
          <a:lstStyle/>
          <a:p>
            <a:pPr algn="ctr">
              <a:defRPr sz="1000" b="0">
                <a:solidFill>
                  <a:srgbClr val="059669"/>
                </a:solidFill>
                <a:latin typeface="Calibri"/>
              </a:defRPr>
            </a:pPr>
            <a:r>
              <a:t>$3.3M</a:t>
            </a:r>
          </a:p>
        </p:txBody>
      </p:sp>
      <p:sp>
        <p:nvSpPr>
          <p:cNvPr id="37" name="TextBox 36"/>
          <p:cNvSpPr txBox="1"/>
          <p:nvPr/>
        </p:nvSpPr>
        <p:spPr>
          <a:xfrm>
            <a:off x="9537192" y="1115568"/>
            <a:ext cx="658368" cy="201168"/>
          </a:xfrm>
          <a:prstGeom prst="rect">
            <a:avLst/>
          </a:prstGeom>
          <a:noFill/>
        </p:spPr>
        <p:txBody>
          <a:bodyPr wrap="square">
            <a:spAutoFit/>
          </a:bodyPr>
          <a:lstStyle/>
          <a:p>
            <a:pPr algn="ctr">
              <a:defRPr sz="1000" b="0">
                <a:solidFill>
                  <a:srgbClr val="DC2626"/>
                </a:solidFill>
                <a:latin typeface="Calibri"/>
              </a:defRPr>
            </a:pPr>
            <a:r>
              <a:t>$3.2M</a:t>
            </a:r>
          </a:p>
        </p:txBody>
      </p:sp>
      <p:sp>
        <p:nvSpPr>
          <p:cNvPr id="38" name="TextBox 37"/>
          <p:cNvSpPr txBox="1"/>
          <p:nvPr/>
        </p:nvSpPr>
        <p:spPr>
          <a:xfrm>
            <a:off x="10195560" y="1115568"/>
            <a:ext cx="685800" cy="201168"/>
          </a:xfrm>
          <a:prstGeom prst="rect">
            <a:avLst/>
          </a:prstGeom>
          <a:noFill/>
        </p:spPr>
        <p:txBody>
          <a:bodyPr wrap="square">
            <a:spAutoFit/>
          </a:bodyPr>
          <a:lstStyle/>
          <a:p>
            <a:pPr algn="ctr">
              <a:defRPr sz="1000" b="0">
                <a:solidFill>
                  <a:srgbClr val="DC2626"/>
                </a:solidFill>
                <a:latin typeface="Calibri"/>
              </a:defRPr>
            </a:pPr>
            <a:r>
              <a:t>15</a:t>
            </a:r>
          </a:p>
        </p:txBody>
      </p:sp>
      <p:sp>
        <p:nvSpPr>
          <p:cNvPr id="39" name="Rectangle 38"/>
          <p:cNvSpPr/>
          <p:nvPr/>
        </p:nvSpPr>
        <p:spPr>
          <a:xfrm>
            <a:off x="182880" y="1499616"/>
            <a:ext cx="10698480" cy="402336"/>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82880" y="1517904"/>
            <a:ext cx="1234440" cy="201168"/>
          </a:xfrm>
          <a:prstGeom prst="rect">
            <a:avLst/>
          </a:prstGeom>
          <a:noFill/>
        </p:spPr>
        <p:txBody>
          <a:bodyPr wrap="square">
            <a:spAutoFit/>
          </a:bodyPr>
          <a:lstStyle/>
          <a:p>
            <a:pPr algn="l">
              <a:defRPr sz="1000" b="1">
                <a:solidFill>
                  <a:srgbClr val="111827"/>
                </a:solidFill>
                <a:latin typeface="Calibri"/>
              </a:defRPr>
            </a:pPr>
            <a:r>
              <a:t>Christopher Hayes</a:t>
            </a:r>
          </a:p>
        </p:txBody>
      </p:sp>
      <p:sp>
        <p:nvSpPr>
          <p:cNvPr id="41" name="TextBox 40"/>
          <p:cNvSpPr txBox="1"/>
          <p:nvPr/>
        </p:nvSpPr>
        <p:spPr>
          <a:xfrm>
            <a:off x="1417320" y="1517904"/>
            <a:ext cx="594360" cy="201168"/>
          </a:xfrm>
          <a:prstGeom prst="rect">
            <a:avLst/>
          </a:prstGeom>
          <a:noFill/>
        </p:spPr>
        <p:txBody>
          <a:bodyPr wrap="square">
            <a:spAutoFit/>
          </a:bodyPr>
          <a:lstStyle/>
          <a:p>
            <a:pPr algn="ctr">
              <a:defRPr sz="1000" b="0">
                <a:solidFill>
                  <a:srgbClr val="6B7280"/>
                </a:solidFill>
                <a:latin typeface="Calibri"/>
              </a:defRPr>
            </a:pPr>
            <a:r>
              <a:t>45</a:t>
            </a:r>
          </a:p>
        </p:txBody>
      </p:sp>
      <p:sp>
        <p:nvSpPr>
          <p:cNvPr id="42" name="TextBox 41"/>
          <p:cNvSpPr txBox="1"/>
          <p:nvPr/>
        </p:nvSpPr>
        <p:spPr>
          <a:xfrm>
            <a:off x="2011680" y="1517904"/>
            <a:ext cx="530352" cy="201168"/>
          </a:xfrm>
          <a:prstGeom prst="rect">
            <a:avLst/>
          </a:prstGeom>
          <a:noFill/>
        </p:spPr>
        <p:txBody>
          <a:bodyPr wrap="square">
            <a:spAutoFit/>
          </a:bodyPr>
          <a:lstStyle/>
          <a:p>
            <a:pPr algn="ctr">
              <a:defRPr sz="1000" b="0">
                <a:solidFill>
                  <a:srgbClr val="059669"/>
                </a:solidFill>
                <a:latin typeface="Calibri"/>
              </a:defRPr>
            </a:pPr>
            <a:r>
              <a:t>45</a:t>
            </a:r>
          </a:p>
        </p:txBody>
      </p:sp>
      <p:sp>
        <p:nvSpPr>
          <p:cNvPr id="43" name="TextBox 42"/>
          <p:cNvSpPr txBox="1"/>
          <p:nvPr/>
        </p:nvSpPr>
        <p:spPr>
          <a:xfrm>
            <a:off x="2542032" y="1517904"/>
            <a:ext cx="594360" cy="201168"/>
          </a:xfrm>
          <a:prstGeom prst="rect">
            <a:avLst/>
          </a:prstGeom>
          <a:noFill/>
        </p:spPr>
        <p:txBody>
          <a:bodyPr wrap="square">
            <a:spAutoFit/>
          </a:bodyPr>
          <a:lstStyle/>
          <a:p>
            <a:pPr algn="ctr">
              <a:defRPr sz="1000" b="1">
                <a:solidFill>
                  <a:srgbClr val="D97706"/>
                </a:solidFill>
                <a:latin typeface="Calibri"/>
              </a:defRPr>
            </a:pPr>
            <a:r>
              <a:t>0</a:t>
            </a:r>
          </a:p>
        </p:txBody>
      </p:sp>
      <p:sp>
        <p:nvSpPr>
          <p:cNvPr id="44" name="TextBox 43"/>
          <p:cNvSpPr txBox="1"/>
          <p:nvPr/>
        </p:nvSpPr>
        <p:spPr>
          <a:xfrm>
            <a:off x="3136392" y="1517904"/>
            <a:ext cx="530352" cy="201168"/>
          </a:xfrm>
          <a:prstGeom prst="rect">
            <a:avLst/>
          </a:prstGeom>
          <a:noFill/>
        </p:spPr>
        <p:txBody>
          <a:bodyPr wrap="square">
            <a:spAutoFit/>
          </a:bodyPr>
          <a:lstStyle/>
          <a:p>
            <a:pPr algn="ctr">
              <a:defRPr sz="1000" b="1">
                <a:solidFill>
                  <a:srgbClr val="059669"/>
                </a:solidFill>
                <a:latin typeface="Calibri"/>
              </a:defRPr>
            </a:pPr>
            <a:r>
              <a:t>100%</a:t>
            </a:r>
          </a:p>
        </p:txBody>
      </p:sp>
      <p:sp>
        <p:nvSpPr>
          <p:cNvPr id="45" name="TextBox 44"/>
          <p:cNvSpPr txBox="1"/>
          <p:nvPr/>
        </p:nvSpPr>
        <p:spPr>
          <a:xfrm>
            <a:off x="3666744" y="1517904"/>
            <a:ext cx="804672" cy="201168"/>
          </a:xfrm>
          <a:prstGeom prst="rect">
            <a:avLst/>
          </a:prstGeom>
          <a:noFill/>
        </p:spPr>
        <p:txBody>
          <a:bodyPr wrap="square">
            <a:spAutoFit/>
          </a:bodyPr>
          <a:lstStyle/>
          <a:p>
            <a:pPr algn="ctr">
              <a:defRPr sz="1000" b="0">
                <a:solidFill>
                  <a:srgbClr val="6D28D9"/>
                </a:solidFill>
                <a:latin typeface="Calibri"/>
              </a:defRPr>
            </a:pPr>
            <a:r>
              <a:t>$11.7M</a:t>
            </a:r>
          </a:p>
        </p:txBody>
      </p:sp>
      <p:sp>
        <p:nvSpPr>
          <p:cNvPr id="46" name="TextBox 45"/>
          <p:cNvSpPr txBox="1"/>
          <p:nvPr/>
        </p:nvSpPr>
        <p:spPr>
          <a:xfrm>
            <a:off x="4471416" y="1517904"/>
            <a:ext cx="658368" cy="201168"/>
          </a:xfrm>
          <a:prstGeom prst="rect">
            <a:avLst/>
          </a:prstGeom>
          <a:noFill/>
        </p:spPr>
        <p:txBody>
          <a:bodyPr wrap="square">
            <a:spAutoFit/>
          </a:bodyPr>
          <a:lstStyle/>
          <a:p>
            <a:pPr algn="ctr">
              <a:defRPr sz="1000" b="0">
                <a:solidFill>
                  <a:srgbClr val="059669"/>
                </a:solidFill>
                <a:latin typeface="Calibri"/>
              </a:defRPr>
            </a:pPr>
            <a:r>
              <a:t>$1.7M</a:t>
            </a:r>
          </a:p>
        </p:txBody>
      </p:sp>
      <p:sp>
        <p:nvSpPr>
          <p:cNvPr id="47" name="TextBox 46"/>
          <p:cNvSpPr txBox="1"/>
          <p:nvPr/>
        </p:nvSpPr>
        <p:spPr>
          <a:xfrm>
            <a:off x="5129783" y="1517904"/>
            <a:ext cx="658368" cy="201168"/>
          </a:xfrm>
          <a:prstGeom prst="rect">
            <a:avLst/>
          </a:prstGeom>
          <a:noFill/>
        </p:spPr>
        <p:txBody>
          <a:bodyPr wrap="square">
            <a:spAutoFit/>
          </a:bodyPr>
          <a:lstStyle/>
          <a:p>
            <a:pPr algn="ctr">
              <a:defRPr sz="1000" b="0">
                <a:solidFill>
                  <a:srgbClr val="DC2626"/>
                </a:solidFill>
                <a:latin typeface="Calibri"/>
              </a:defRPr>
            </a:pPr>
            <a:r>
              <a:t>$4.5M</a:t>
            </a:r>
          </a:p>
        </p:txBody>
      </p:sp>
      <p:sp>
        <p:nvSpPr>
          <p:cNvPr id="48" name="TextBox 47"/>
          <p:cNvSpPr txBox="1"/>
          <p:nvPr/>
        </p:nvSpPr>
        <p:spPr>
          <a:xfrm>
            <a:off x="5788151" y="1517904"/>
            <a:ext cx="621792" cy="201168"/>
          </a:xfrm>
          <a:prstGeom prst="rect">
            <a:avLst/>
          </a:prstGeom>
          <a:noFill/>
        </p:spPr>
        <p:txBody>
          <a:bodyPr wrap="square">
            <a:spAutoFit/>
          </a:bodyPr>
          <a:lstStyle/>
          <a:p>
            <a:pPr algn="ctr">
              <a:defRPr sz="1000" b="0">
                <a:solidFill>
                  <a:srgbClr val="111827"/>
                </a:solidFill>
                <a:latin typeface="Calibri"/>
              </a:defRPr>
            </a:pPr>
            <a:r>
              <a:t>4809</a:t>
            </a:r>
          </a:p>
        </p:txBody>
      </p:sp>
      <p:sp>
        <p:nvSpPr>
          <p:cNvPr id="49" name="TextBox 48"/>
          <p:cNvSpPr txBox="1"/>
          <p:nvPr/>
        </p:nvSpPr>
        <p:spPr>
          <a:xfrm>
            <a:off x="6409943" y="1517904"/>
            <a:ext cx="566928" cy="201168"/>
          </a:xfrm>
          <a:prstGeom prst="rect">
            <a:avLst/>
          </a:prstGeom>
          <a:noFill/>
        </p:spPr>
        <p:txBody>
          <a:bodyPr wrap="square">
            <a:spAutoFit/>
          </a:bodyPr>
          <a:lstStyle/>
          <a:p>
            <a:pPr algn="ctr">
              <a:defRPr sz="1000" b="0">
                <a:solidFill>
                  <a:srgbClr val="111827"/>
                </a:solidFill>
                <a:latin typeface="Calibri"/>
              </a:defRPr>
            </a:pPr>
            <a:r>
              <a:t>406</a:t>
            </a:r>
          </a:p>
        </p:txBody>
      </p:sp>
      <p:sp>
        <p:nvSpPr>
          <p:cNvPr id="50" name="TextBox 49"/>
          <p:cNvSpPr txBox="1"/>
          <p:nvPr/>
        </p:nvSpPr>
        <p:spPr>
          <a:xfrm>
            <a:off x="6976871" y="1517904"/>
            <a:ext cx="566928" cy="201168"/>
          </a:xfrm>
          <a:prstGeom prst="rect">
            <a:avLst/>
          </a:prstGeom>
          <a:noFill/>
        </p:spPr>
        <p:txBody>
          <a:bodyPr wrap="square">
            <a:spAutoFit/>
          </a:bodyPr>
          <a:lstStyle/>
          <a:p>
            <a:pPr algn="ctr">
              <a:defRPr sz="1000" b="0">
                <a:solidFill>
                  <a:srgbClr val="111827"/>
                </a:solidFill>
                <a:latin typeface="Calibri"/>
              </a:defRPr>
            </a:pPr>
            <a:r>
              <a:t>2636</a:t>
            </a:r>
          </a:p>
        </p:txBody>
      </p:sp>
      <p:sp>
        <p:nvSpPr>
          <p:cNvPr id="51" name="TextBox 50"/>
          <p:cNvSpPr txBox="1"/>
          <p:nvPr/>
        </p:nvSpPr>
        <p:spPr>
          <a:xfrm>
            <a:off x="7543799" y="1517904"/>
            <a:ext cx="530352" cy="201168"/>
          </a:xfrm>
          <a:prstGeom prst="rect">
            <a:avLst/>
          </a:prstGeom>
          <a:noFill/>
        </p:spPr>
        <p:txBody>
          <a:bodyPr wrap="square">
            <a:spAutoFit/>
          </a:bodyPr>
          <a:lstStyle/>
          <a:p>
            <a:pPr algn="ctr">
              <a:defRPr sz="1000" b="0">
                <a:solidFill>
                  <a:srgbClr val="111827"/>
                </a:solidFill>
                <a:latin typeface="Calibri"/>
              </a:defRPr>
            </a:pPr>
            <a:r>
              <a:t>272</a:t>
            </a:r>
          </a:p>
        </p:txBody>
      </p:sp>
      <p:sp>
        <p:nvSpPr>
          <p:cNvPr id="52" name="TextBox 51"/>
          <p:cNvSpPr txBox="1"/>
          <p:nvPr/>
        </p:nvSpPr>
        <p:spPr>
          <a:xfrm>
            <a:off x="8074151" y="1517904"/>
            <a:ext cx="804672" cy="201168"/>
          </a:xfrm>
          <a:prstGeom prst="rect">
            <a:avLst/>
          </a:prstGeom>
          <a:noFill/>
        </p:spPr>
        <p:txBody>
          <a:bodyPr wrap="square">
            <a:spAutoFit/>
          </a:bodyPr>
          <a:lstStyle/>
          <a:p>
            <a:pPr algn="ctr">
              <a:defRPr sz="1000" b="0">
                <a:solidFill>
                  <a:srgbClr val="6D28D9"/>
                </a:solidFill>
                <a:latin typeface="Calibri"/>
              </a:defRPr>
            </a:pPr>
            <a:r>
              <a:t>$5.4M</a:t>
            </a:r>
          </a:p>
        </p:txBody>
      </p:sp>
      <p:sp>
        <p:nvSpPr>
          <p:cNvPr id="53" name="TextBox 52"/>
          <p:cNvSpPr txBox="1"/>
          <p:nvPr/>
        </p:nvSpPr>
        <p:spPr>
          <a:xfrm>
            <a:off x="8878824" y="1517904"/>
            <a:ext cx="658368" cy="201168"/>
          </a:xfrm>
          <a:prstGeom prst="rect">
            <a:avLst/>
          </a:prstGeom>
          <a:noFill/>
        </p:spPr>
        <p:txBody>
          <a:bodyPr wrap="square">
            <a:spAutoFit/>
          </a:bodyPr>
          <a:lstStyle/>
          <a:p>
            <a:pPr algn="ctr">
              <a:defRPr sz="1000" b="0">
                <a:solidFill>
                  <a:srgbClr val="059669"/>
                </a:solidFill>
                <a:latin typeface="Calibri"/>
              </a:defRPr>
            </a:pPr>
            <a:r>
              <a:t>$830K</a:t>
            </a:r>
          </a:p>
        </p:txBody>
      </p:sp>
      <p:sp>
        <p:nvSpPr>
          <p:cNvPr id="54" name="TextBox 53"/>
          <p:cNvSpPr txBox="1"/>
          <p:nvPr/>
        </p:nvSpPr>
        <p:spPr>
          <a:xfrm>
            <a:off x="9537192" y="1517904"/>
            <a:ext cx="658368" cy="201168"/>
          </a:xfrm>
          <a:prstGeom prst="rect">
            <a:avLst/>
          </a:prstGeom>
          <a:noFill/>
        </p:spPr>
        <p:txBody>
          <a:bodyPr wrap="square">
            <a:spAutoFit/>
          </a:bodyPr>
          <a:lstStyle/>
          <a:p>
            <a:pPr algn="ctr">
              <a:defRPr sz="1000" b="0">
                <a:solidFill>
                  <a:srgbClr val="DC2626"/>
                </a:solidFill>
                <a:latin typeface="Calibri"/>
              </a:defRPr>
            </a:pPr>
            <a:r>
              <a:t>$2.2M</a:t>
            </a:r>
          </a:p>
        </p:txBody>
      </p:sp>
      <p:sp>
        <p:nvSpPr>
          <p:cNvPr id="55" name="TextBox 54"/>
          <p:cNvSpPr txBox="1"/>
          <p:nvPr/>
        </p:nvSpPr>
        <p:spPr>
          <a:xfrm>
            <a:off x="10195560" y="1517904"/>
            <a:ext cx="685800" cy="201168"/>
          </a:xfrm>
          <a:prstGeom prst="rect">
            <a:avLst/>
          </a:prstGeom>
          <a:noFill/>
        </p:spPr>
        <p:txBody>
          <a:bodyPr wrap="square">
            <a:spAutoFit/>
          </a:bodyPr>
          <a:lstStyle/>
          <a:p>
            <a:pPr algn="ctr">
              <a:defRPr sz="1000" b="0">
                <a:solidFill>
                  <a:srgbClr val="DC2626"/>
                </a:solidFill>
                <a:latin typeface="Calibri"/>
              </a:defRPr>
            </a:pPr>
            <a:r>
              <a:t>30</a:t>
            </a:r>
          </a:p>
        </p:txBody>
      </p:sp>
      <p:sp>
        <p:nvSpPr>
          <p:cNvPr id="56" name="TextBox 55"/>
          <p:cNvSpPr txBox="1"/>
          <p:nvPr/>
        </p:nvSpPr>
        <p:spPr>
          <a:xfrm>
            <a:off x="182880" y="1920240"/>
            <a:ext cx="1234440" cy="201168"/>
          </a:xfrm>
          <a:prstGeom prst="rect">
            <a:avLst/>
          </a:prstGeom>
          <a:noFill/>
        </p:spPr>
        <p:txBody>
          <a:bodyPr wrap="square">
            <a:spAutoFit/>
          </a:bodyPr>
          <a:lstStyle/>
          <a:p>
            <a:pPr algn="l">
              <a:defRPr sz="1000" b="1">
                <a:solidFill>
                  <a:srgbClr val="111827"/>
                </a:solidFill>
                <a:latin typeface="Calibri"/>
              </a:defRPr>
            </a:pPr>
            <a:r>
              <a:t>Ron Douglas</a:t>
            </a:r>
          </a:p>
        </p:txBody>
      </p:sp>
      <p:sp>
        <p:nvSpPr>
          <p:cNvPr id="57" name="TextBox 56"/>
          <p:cNvSpPr txBox="1"/>
          <p:nvPr/>
        </p:nvSpPr>
        <p:spPr>
          <a:xfrm>
            <a:off x="1417320" y="1920240"/>
            <a:ext cx="594360" cy="201168"/>
          </a:xfrm>
          <a:prstGeom prst="rect">
            <a:avLst/>
          </a:prstGeom>
          <a:noFill/>
        </p:spPr>
        <p:txBody>
          <a:bodyPr wrap="square">
            <a:spAutoFit/>
          </a:bodyPr>
          <a:lstStyle/>
          <a:p>
            <a:pPr algn="ctr">
              <a:defRPr sz="1000" b="0">
                <a:solidFill>
                  <a:srgbClr val="6B7280"/>
                </a:solidFill>
                <a:latin typeface="Calibri"/>
              </a:defRPr>
            </a:pPr>
            <a:r>
              <a:t>35</a:t>
            </a:r>
          </a:p>
        </p:txBody>
      </p:sp>
      <p:sp>
        <p:nvSpPr>
          <p:cNvPr id="58" name="TextBox 57"/>
          <p:cNvSpPr txBox="1"/>
          <p:nvPr/>
        </p:nvSpPr>
        <p:spPr>
          <a:xfrm>
            <a:off x="2011680" y="1920240"/>
            <a:ext cx="530352" cy="201168"/>
          </a:xfrm>
          <a:prstGeom prst="rect">
            <a:avLst/>
          </a:prstGeom>
          <a:noFill/>
        </p:spPr>
        <p:txBody>
          <a:bodyPr wrap="square">
            <a:spAutoFit/>
          </a:bodyPr>
          <a:lstStyle/>
          <a:p>
            <a:pPr algn="ctr">
              <a:defRPr sz="1000" b="0">
                <a:solidFill>
                  <a:srgbClr val="059669"/>
                </a:solidFill>
                <a:latin typeface="Calibri"/>
              </a:defRPr>
            </a:pPr>
            <a:r>
              <a:t>34</a:t>
            </a:r>
          </a:p>
        </p:txBody>
      </p:sp>
      <p:sp>
        <p:nvSpPr>
          <p:cNvPr id="59" name="TextBox 58"/>
          <p:cNvSpPr txBox="1"/>
          <p:nvPr/>
        </p:nvSpPr>
        <p:spPr>
          <a:xfrm>
            <a:off x="2542032" y="1920240"/>
            <a:ext cx="594360" cy="201168"/>
          </a:xfrm>
          <a:prstGeom prst="rect">
            <a:avLst/>
          </a:prstGeom>
          <a:noFill/>
        </p:spPr>
        <p:txBody>
          <a:bodyPr wrap="square">
            <a:spAutoFit/>
          </a:bodyPr>
          <a:lstStyle/>
          <a:p>
            <a:pPr algn="ctr">
              <a:defRPr sz="1000" b="1">
                <a:solidFill>
                  <a:srgbClr val="D97706"/>
                </a:solidFill>
                <a:latin typeface="Calibri"/>
              </a:defRPr>
            </a:pPr>
            <a:r>
              <a:t>1</a:t>
            </a:r>
          </a:p>
        </p:txBody>
      </p:sp>
      <p:sp>
        <p:nvSpPr>
          <p:cNvPr id="60" name="TextBox 59"/>
          <p:cNvSpPr txBox="1"/>
          <p:nvPr/>
        </p:nvSpPr>
        <p:spPr>
          <a:xfrm>
            <a:off x="3136392" y="1920240"/>
            <a:ext cx="530352" cy="201168"/>
          </a:xfrm>
          <a:prstGeom prst="rect">
            <a:avLst/>
          </a:prstGeom>
          <a:noFill/>
        </p:spPr>
        <p:txBody>
          <a:bodyPr wrap="square">
            <a:spAutoFit/>
          </a:bodyPr>
          <a:lstStyle/>
          <a:p>
            <a:pPr algn="ctr">
              <a:defRPr sz="1000" b="1">
                <a:solidFill>
                  <a:srgbClr val="D97706"/>
                </a:solidFill>
                <a:latin typeface="Calibri"/>
              </a:defRPr>
            </a:pPr>
            <a:r>
              <a:t>97%</a:t>
            </a:r>
          </a:p>
        </p:txBody>
      </p:sp>
      <p:sp>
        <p:nvSpPr>
          <p:cNvPr id="61" name="TextBox 60"/>
          <p:cNvSpPr txBox="1"/>
          <p:nvPr/>
        </p:nvSpPr>
        <p:spPr>
          <a:xfrm>
            <a:off x="3666744" y="1920240"/>
            <a:ext cx="804672" cy="201168"/>
          </a:xfrm>
          <a:prstGeom prst="rect">
            <a:avLst/>
          </a:prstGeom>
          <a:noFill/>
        </p:spPr>
        <p:txBody>
          <a:bodyPr wrap="square">
            <a:spAutoFit/>
          </a:bodyPr>
          <a:lstStyle/>
          <a:p>
            <a:pPr algn="ctr">
              <a:defRPr sz="1000" b="0">
                <a:solidFill>
                  <a:srgbClr val="6D28D9"/>
                </a:solidFill>
                <a:latin typeface="Calibri"/>
              </a:defRPr>
            </a:pPr>
            <a:r>
              <a:t>$9.7M</a:t>
            </a:r>
          </a:p>
        </p:txBody>
      </p:sp>
      <p:sp>
        <p:nvSpPr>
          <p:cNvPr id="62" name="TextBox 61"/>
          <p:cNvSpPr txBox="1"/>
          <p:nvPr/>
        </p:nvSpPr>
        <p:spPr>
          <a:xfrm>
            <a:off x="4471416" y="1920240"/>
            <a:ext cx="658368" cy="201168"/>
          </a:xfrm>
          <a:prstGeom prst="rect">
            <a:avLst/>
          </a:prstGeom>
          <a:noFill/>
        </p:spPr>
        <p:txBody>
          <a:bodyPr wrap="square">
            <a:spAutoFit/>
          </a:bodyPr>
          <a:lstStyle/>
          <a:p>
            <a:pPr algn="ctr">
              <a:defRPr sz="1000" b="0">
                <a:solidFill>
                  <a:srgbClr val="059669"/>
                </a:solidFill>
                <a:latin typeface="Calibri"/>
              </a:defRPr>
            </a:pPr>
            <a:r>
              <a:t>$818K</a:t>
            </a:r>
          </a:p>
        </p:txBody>
      </p:sp>
      <p:sp>
        <p:nvSpPr>
          <p:cNvPr id="63" name="TextBox 62"/>
          <p:cNvSpPr txBox="1"/>
          <p:nvPr/>
        </p:nvSpPr>
        <p:spPr>
          <a:xfrm>
            <a:off x="5129783" y="1920240"/>
            <a:ext cx="658368" cy="201168"/>
          </a:xfrm>
          <a:prstGeom prst="rect">
            <a:avLst/>
          </a:prstGeom>
          <a:noFill/>
        </p:spPr>
        <p:txBody>
          <a:bodyPr wrap="square">
            <a:spAutoFit/>
          </a:bodyPr>
          <a:lstStyle/>
          <a:p>
            <a:pPr algn="ctr">
              <a:defRPr sz="1000" b="0">
                <a:solidFill>
                  <a:srgbClr val="DC2626"/>
                </a:solidFill>
                <a:latin typeface="Calibri"/>
              </a:defRPr>
            </a:pPr>
            <a:r>
              <a:t>$4.0M</a:t>
            </a:r>
          </a:p>
        </p:txBody>
      </p:sp>
      <p:sp>
        <p:nvSpPr>
          <p:cNvPr id="64" name="TextBox 63"/>
          <p:cNvSpPr txBox="1"/>
          <p:nvPr/>
        </p:nvSpPr>
        <p:spPr>
          <a:xfrm>
            <a:off x="5788151" y="1920240"/>
            <a:ext cx="621792" cy="201168"/>
          </a:xfrm>
          <a:prstGeom prst="rect">
            <a:avLst/>
          </a:prstGeom>
          <a:noFill/>
        </p:spPr>
        <p:txBody>
          <a:bodyPr wrap="square">
            <a:spAutoFit/>
          </a:bodyPr>
          <a:lstStyle/>
          <a:p>
            <a:pPr algn="ctr">
              <a:defRPr sz="1000" b="0">
                <a:solidFill>
                  <a:srgbClr val="111827"/>
                </a:solidFill>
                <a:latin typeface="Calibri"/>
              </a:defRPr>
            </a:pPr>
            <a:r>
              <a:t>7985</a:t>
            </a:r>
          </a:p>
        </p:txBody>
      </p:sp>
      <p:sp>
        <p:nvSpPr>
          <p:cNvPr id="65" name="TextBox 64"/>
          <p:cNvSpPr txBox="1"/>
          <p:nvPr/>
        </p:nvSpPr>
        <p:spPr>
          <a:xfrm>
            <a:off x="6409943" y="1920240"/>
            <a:ext cx="566928" cy="201168"/>
          </a:xfrm>
          <a:prstGeom prst="rect">
            <a:avLst/>
          </a:prstGeom>
          <a:noFill/>
        </p:spPr>
        <p:txBody>
          <a:bodyPr wrap="square">
            <a:spAutoFit/>
          </a:bodyPr>
          <a:lstStyle/>
          <a:p>
            <a:pPr algn="ctr">
              <a:defRPr sz="1000" b="0">
                <a:solidFill>
                  <a:srgbClr val="111827"/>
                </a:solidFill>
                <a:latin typeface="Calibri"/>
              </a:defRPr>
            </a:pPr>
            <a:r>
              <a:t>353</a:t>
            </a:r>
          </a:p>
        </p:txBody>
      </p:sp>
      <p:sp>
        <p:nvSpPr>
          <p:cNvPr id="66" name="TextBox 65"/>
          <p:cNvSpPr txBox="1"/>
          <p:nvPr/>
        </p:nvSpPr>
        <p:spPr>
          <a:xfrm>
            <a:off x="6976871" y="1920240"/>
            <a:ext cx="566928" cy="201168"/>
          </a:xfrm>
          <a:prstGeom prst="rect">
            <a:avLst/>
          </a:prstGeom>
          <a:noFill/>
        </p:spPr>
        <p:txBody>
          <a:bodyPr wrap="square">
            <a:spAutoFit/>
          </a:bodyPr>
          <a:lstStyle/>
          <a:p>
            <a:pPr algn="ctr">
              <a:defRPr sz="1000" b="0">
                <a:solidFill>
                  <a:srgbClr val="111827"/>
                </a:solidFill>
                <a:latin typeface="Calibri"/>
              </a:defRPr>
            </a:pPr>
            <a:r>
              <a:t>4213</a:t>
            </a:r>
          </a:p>
        </p:txBody>
      </p:sp>
      <p:sp>
        <p:nvSpPr>
          <p:cNvPr id="67" name="TextBox 66"/>
          <p:cNvSpPr txBox="1"/>
          <p:nvPr/>
        </p:nvSpPr>
        <p:spPr>
          <a:xfrm>
            <a:off x="7543799" y="1920240"/>
            <a:ext cx="530352" cy="201168"/>
          </a:xfrm>
          <a:prstGeom prst="rect">
            <a:avLst/>
          </a:prstGeom>
          <a:noFill/>
        </p:spPr>
        <p:txBody>
          <a:bodyPr wrap="square">
            <a:spAutoFit/>
          </a:bodyPr>
          <a:lstStyle/>
          <a:p>
            <a:pPr algn="ctr">
              <a:defRPr sz="1000" b="0">
                <a:solidFill>
                  <a:srgbClr val="111827"/>
                </a:solidFill>
                <a:latin typeface="Calibri"/>
              </a:defRPr>
            </a:pPr>
            <a:r>
              <a:t>238</a:t>
            </a:r>
          </a:p>
        </p:txBody>
      </p:sp>
      <p:sp>
        <p:nvSpPr>
          <p:cNvPr id="68" name="TextBox 67"/>
          <p:cNvSpPr txBox="1"/>
          <p:nvPr/>
        </p:nvSpPr>
        <p:spPr>
          <a:xfrm>
            <a:off x="8074151" y="1920240"/>
            <a:ext cx="804672" cy="201168"/>
          </a:xfrm>
          <a:prstGeom prst="rect">
            <a:avLst/>
          </a:prstGeom>
          <a:noFill/>
        </p:spPr>
        <p:txBody>
          <a:bodyPr wrap="square">
            <a:spAutoFit/>
          </a:bodyPr>
          <a:lstStyle/>
          <a:p>
            <a:pPr algn="ctr">
              <a:defRPr sz="1000" b="0">
                <a:solidFill>
                  <a:srgbClr val="6D28D9"/>
                </a:solidFill>
                <a:latin typeface="Calibri"/>
              </a:defRPr>
            </a:pPr>
            <a:r>
              <a:t>$5.7M</a:t>
            </a:r>
          </a:p>
        </p:txBody>
      </p:sp>
      <p:sp>
        <p:nvSpPr>
          <p:cNvPr id="69" name="TextBox 68"/>
          <p:cNvSpPr txBox="1"/>
          <p:nvPr/>
        </p:nvSpPr>
        <p:spPr>
          <a:xfrm>
            <a:off x="8878824" y="1920240"/>
            <a:ext cx="658368" cy="201168"/>
          </a:xfrm>
          <a:prstGeom prst="rect">
            <a:avLst/>
          </a:prstGeom>
          <a:noFill/>
        </p:spPr>
        <p:txBody>
          <a:bodyPr wrap="square">
            <a:spAutoFit/>
          </a:bodyPr>
          <a:lstStyle/>
          <a:p>
            <a:pPr algn="ctr">
              <a:defRPr sz="1000" b="0">
                <a:solidFill>
                  <a:srgbClr val="059669"/>
                </a:solidFill>
                <a:latin typeface="Calibri"/>
              </a:defRPr>
            </a:pPr>
            <a:r>
              <a:t>$982K</a:t>
            </a:r>
          </a:p>
        </p:txBody>
      </p:sp>
      <p:sp>
        <p:nvSpPr>
          <p:cNvPr id="70" name="TextBox 69"/>
          <p:cNvSpPr txBox="1"/>
          <p:nvPr/>
        </p:nvSpPr>
        <p:spPr>
          <a:xfrm>
            <a:off x="9537192" y="1920240"/>
            <a:ext cx="658368" cy="201168"/>
          </a:xfrm>
          <a:prstGeom prst="rect">
            <a:avLst/>
          </a:prstGeom>
          <a:noFill/>
        </p:spPr>
        <p:txBody>
          <a:bodyPr wrap="square">
            <a:spAutoFit/>
          </a:bodyPr>
          <a:lstStyle/>
          <a:p>
            <a:pPr algn="ctr">
              <a:defRPr sz="1000" b="0">
                <a:solidFill>
                  <a:srgbClr val="DC2626"/>
                </a:solidFill>
                <a:latin typeface="Calibri"/>
              </a:defRPr>
            </a:pPr>
            <a:r>
              <a:t>$2.8M</a:t>
            </a:r>
          </a:p>
        </p:txBody>
      </p:sp>
      <p:sp>
        <p:nvSpPr>
          <p:cNvPr id="71" name="TextBox 70"/>
          <p:cNvSpPr txBox="1"/>
          <p:nvPr/>
        </p:nvSpPr>
        <p:spPr>
          <a:xfrm>
            <a:off x="10195560" y="1920240"/>
            <a:ext cx="685800" cy="201168"/>
          </a:xfrm>
          <a:prstGeom prst="rect">
            <a:avLst/>
          </a:prstGeom>
          <a:noFill/>
        </p:spPr>
        <p:txBody>
          <a:bodyPr wrap="square">
            <a:spAutoFit/>
          </a:bodyPr>
          <a:lstStyle/>
          <a:p>
            <a:pPr algn="ctr">
              <a:defRPr sz="1000" b="0">
                <a:solidFill>
                  <a:srgbClr val="DC2626"/>
                </a:solidFill>
                <a:latin typeface="Calibri"/>
              </a:defRPr>
            </a:pPr>
            <a:r>
              <a:t>18</a:t>
            </a:r>
          </a:p>
        </p:txBody>
      </p:sp>
      <p:sp>
        <p:nvSpPr>
          <p:cNvPr id="72" name="Rectangle 71"/>
          <p:cNvSpPr/>
          <p:nvPr/>
        </p:nvSpPr>
        <p:spPr>
          <a:xfrm>
            <a:off x="182880" y="2304288"/>
            <a:ext cx="10698480" cy="402336"/>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82880" y="2322576"/>
            <a:ext cx="1234440" cy="201168"/>
          </a:xfrm>
          <a:prstGeom prst="rect">
            <a:avLst/>
          </a:prstGeom>
          <a:noFill/>
        </p:spPr>
        <p:txBody>
          <a:bodyPr wrap="square">
            <a:spAutoFit/>
          </a:bodyPr>
          <a:lstStyle/>
          <a:p>
            <a:pPr algn="l">
              <a:defRPr sz="1000" b="1">
                <a:solidFill>
                  <a:srgbClr val="111827"/>
                </a:solidFill>
                <a:latin typeface="Calibri"/>
              </a:defRPr>
            </a:pPr>
            <a:r>
              <a:t>Derrick Leroy</a:t>
            </a:r>
          </a:p>
        </p:txBody>
      </p:sp>
      <p:sp>
        <p:nvSpPr>
          <p:cNvPr id="74" name="TextBox 73"/>
          <p:cNvSpPr txBox="1"/>
          <p:nvPr/>
        </p:nvSpPr>
        <p:spPr>
          <a:xfrm>
            <a:off x="1417320" y="2322576"/>
            <a:ext cx="594360" cy="201168"/>
          </a:xfrm>
          <a:prstGeom prst="rect">
            <a:avLst/>
          </a:prstGeom>
          <a:noFill/>
        </p:spPr>
        <p:txBody>
          <a:bodyPr wrap="square">
            <a:spAutoFit/>
          </a:bodyPr>
          <a:lstStyle/>
          <a:p>
            <a:pPr algn="ctr">
              <a:defRPr sz="1000" b="0">
                <a:solidFill>
                  <a:srgbClr val="6B7280"/>
                </a:solidFill>
                <a:latin typeface="Calibri"/>
              </a:defRPr>
            </a:pPr>
            <a:r>
              <a:t>30</a:t>
            </a:r>
          </a:p>
        </p:txBody>
      </p:sp>
      <p:sp>
        <p:nvSpPr>
          <p:cNvPr id="75" name="TextBox 74"/>
          <p:cNvSpPr txBox="1"/>
          <p:nvPr/>
        </p:nvSpPr>
        <p:spPr>
          <a:xfrm>
            <a:off x="2011680" y="2322576"/>
            <a:ext cx="530352" cy="201168"/>
          </a:xfrm>
          <a:prstGeom prst="rect">
            <a:avLst/>
          </a:prstGeom>
          <a:noFill/>
        </p:spPr>
        <p:txBody>
          <a:bodyPr wrap="square">
            <a:spAutoFit/>
          </a:bodyPr>
          <a:lstStyle/>
          <a:p>
            <a:pPr algn="ctr">
              <a:defRPr sz="1000" b="0">
                <a:solidFill>
                  <a:srgbClr val="059669"/>
                </a:solidFill>
                <a:latin typeface="Calibri"/>
              </a:defRPr>
            </a:pPr>
            <a:r>
              <a:t>28</a:t>
            </a:r>
          </a:p>
        </p:txBody>
      </p:sp>
      <p:sp>
        <p:nvSpPr>
          <p:cNvPr id="76" name="TextBox 75"/>
          <p:cNvSpPr txBox="1"/>
          <p:nvPr/>
        </p:nvSpPr>
        <p:spPr>
          <a:xfrm>
            <a:off x="2542032" y="2322576"/>
            <a:ext cx="594360" cy="201168"/>
          </a:xfrm>
          <a:prstGeom prst="rect">
            <a:avLst/>
          </a:prstGeom>
          <a:noFill/>
        </p:spPr>
        <p:txBody>
          <a:bodyPr wrap="square">
            <a:spAutoFit/>
          </a:bodyPr>
          <a:lstStyle/>
          <a:p>
            <a:pPr algn="ctr">
              <a:defRPr sz="1000" b="1">
                <a:solidFill>
                  <a:srgbClr val="D97706"/>
                </a:solidFill>
                <a:latin typeface="Calibri"/>
              </a:defRPr>
            </a:pPr>
            <a:r>
              <a:t>2</a:t>
            </a:r>
          </a:p>
        </p:txBody>
      </p:sp>
      <p:sp>
        <p:nvSpPr>
          <p:cNvPr id="77" name="TextBox 76"/>
          <p:cNvSpPr txBox="1"/>
          <p:nvPr/>
        </p:nvSpPr>
        <p:spPr>
          <a:xfrm>
            <a:off x="3136392" y="2322576"/>
            <a:ext cx="530352" cy="201168"/>
          </a:xfrm>
          <a:prstGeom prst="rect">
            <a:avLst/>
          </a:prstGeom>
          <a:noFill/>
        </p:spPr>
        <p:txBody>
          <a:bodyPr wrap="square">
            <a:spAutoFit/>
          </a:bodyPr>
          <a:lstStyle/>
          <a:p>
            <a:pPr algn="ctr">
              <a:defRPr sz="1000" b="1">
                <a:solidFill>
                  <a:srgbClr val="D97706"/>
                </a:solidFill>
                <a:latin typeface="Calibri"/>
              </a:defRPr>
            </a:pPr>
            <a:r>
              <a:t>93%</a:t>
            </a:r>
          </a:p>
        </p:txBody>
      </p:sp>
      <p:sp>
        <p:nvSpPr>
          <p:cNvPr id="78" name="TextBox 77"/>
          <p:cNvSpPr txBox="1"/>
          <p:nvPr/>
        </p:nvSpPr>
        <p:spPr>
          <a:xfrm>
            <a:off x="3666744" y="2322576"/>
            <a:ext cx="804672" cy="201168"/>
          </a:xfrm>
          <a:prstGeom prst="rect">
            <a:avLst/>
          </a:prstGeom>
          <a:noFill/>
        </p:spPr>
        <p:txBody>
          <a:bodyPr wrap="square">
            <a:spAutoFit/>
          </a:bodyPr>
          <a:lstStyle/>
          <a:p>
            <a:pPr algn="ctr">
              <a:defRPr sz="1000" b="0">
                <a:solidFill>
                  <a:srgbClr val="6D28D9"/>
                </a:solidFill>
                <a:latin typeface="Calibri"/>
              </a:defRPr>
            </a:pPr>
            <a:r>
              <a:t>$7.7M</a:t>
            </a:r>
          </a:p>
        </p:txBody>
      </p:sp>
      <p:sp>
        <p:nvSpPr>
          <p:cNvPr id="79" name="TextBox 78"/>
          <p:cNvSpPr txBox="1"/>
          <p:nvPr/>
        </p:nvSpPr>
        <p:spPr>
          <a:xfrm>
            <a:off x="4471416" y="2322576"/>
            <a:ext cx="658368" cy="201168"/>
          </a:xfrm>
          <a:prstGeom prst="rect">
            <a:avLst/>
          </a:prstGeom>
          <a:noFill/>
        </p:spPr>
        <p:txBody>
          <a:bodyPr wrap="square">
            <a:spAutoFit/>
          </a:bodyPr>
          <a:lstStyle/>
          <a:p>
            <a:pPr algn="ctr">
              <a:defRPr sz="1000" b="0">
                <a:solidFill>
                  <a:srgbClr val="059669"/>
                </a:solidFill>
                <a:latin typeface="Calibri"/>
              </a:defRPr>
            </a:pPr>
            <a:r>
              <a:t>$738K</a:t>
            </a:r>
          </a:p>
        </p:txBody>
      </p:sp>
      <p:sp>
        <p:nvSpPr>
          <p:cNvPr id="80" name="TextBox 79"/>
          <p:cNvSpPr txBox="1"/>
          <p:nvPr/>
        </p:nvSpPr>
        <p:spPr>
          <a:xfrm>
            <a:off x="5129783" y="2322576"/>
            <a:ext cx="658368" cy="201168"/>
          </a:xfrm>
          <a:prstGeom prst="rect">
            <a:avLst/>
          </a:prstGeom>
          <a:noFill/>
        </p:spPr>
        <p:txBody>
          <a:bodyPr wrap="square">
            <a:spAutoFit/>
          </a:bodyPr>
          <a:lstStyle/>
          <a:p>
            <a:pPr algn="ctr">
              <a:defRPr sz="1000" b="0">
                <a:solidFill>
                  <a:srgbClr val="DC2626"/>
                </a:solidFill>
                <a:latin typeface="Calibri"/>
              </a:defRPr>
            </a:pPr>
            <a:r>
              <a:t>$3.9M</a:t>
            </a:r>
          </a:p>
        </p:txBody>
      </p:sp>
      <p:sp>
        <p:nvSpPr>
          <p:cNvPr id="81" name="TextBox 80"/>
          <p:cNvSpPr txBox="1"/>
          <p:nvPr/>
        </p:nvSpPr>
        <p:spPr>
          <a:xfrm>
            <a:off x="5788151" y="2322576"/>
            <a:ext cx="621792" cy="201168"/>
          </a:xfrm>
          <a:prstGeom prst="rect">
            <a:avLst/>
          </a:prstGeom>
          <a:noFill/>
        </p:spPr>
        <p:txBody>
          <a:bodyPr wrap="square">
            <a:spAutoFit/>
          </a:bodyPr>
          <a:lstStyle/>
          <a:p>
            <a:pPr algn="ctr">
              <a:defRPr sz="1000" b="0">
                <a:solidFill>
                  <a:srgbClr val="111827"/>
                </a:solidFill>
                <a:latin typeface="Calibri"/>
              </a:defRPr>
            </a:pPr>
            <a:r>
              <a:t>5078</a:t>
            </a:r>
          </a:p>
        </p:txBody>
      </p:sp>
      <p:sp>
        <p:nvSpPr>
          <p:cNvPr id="82" name="TextBox 81"/>
          <p:cNvSpPr txBox="1"/>
          <p:nvPr/>
        </p:nvSpPr>
        <p:spPr>
          <a:xfrm>
            <a:off x="6409943" y="2322576"/>
            <a:ext cx="566928" cy="201168"/>
          </a:xfrm>
          <a:prstGeom prst="rect">
            <a:avLst/>
          </a:prstGeom>
          <a:noFill/>
        </p:spPr>
        <p:txBody>
          <a:bodyPr wrap="square">
            <a:spAutoFit/>
          </a:bodyPr>
          <a:lstStyle/>
          <a:p>
            <a:pPr algn="ctr">
              <a:defRPr sz="1000" b="0">
                <a:solidFill>
                  <a:srgbClr val="111827"/>
                </a:solidFill>
                <a:latin typeface="Calibri"/>
              </a:defRPr>
            </a:pPr>
            <a:r>
              <a:t>311</a:t>
            </a:r>
          </a:p>
        </p:txBody>
      </p:sp>
      <p:sp>
        <p:nvSpPr>
          <p:cNvPr id="83" name="TextBox 82"/>
          <p:cNvSpPr txBox="1"/>
          <p:nvPr/>
        </p:nvSpPr>
        <p:spPr>
          <a:xfrm>
            <a:off x="6976871" y="2322576"/>
            <a:ext cx="566928" cy="201168"/>
          </a:xfrm>
          <a:prstGeom prst="rect">
            <a:avLst/>
          </a:prstGeom>
          <a:noFill/>
        </p:spPr>
        <p:txBody>
          <a:bodyPr wrap="square">
            <a:spAutoFit/>
          </a:bodyPr>
          <a:lstStyle/>
          <a:p>
            <a:pPr algn="ctr">
              <a:defRPr sz="1000" b="0">
                <a:solidFill>
                  <a:srgbClr val="111827"/>
                </a:solidFill>
                <a:latin typeface="Calibri"/>
              </a:defRPr>
            </a:pPr>
            <a:r>
              <a:t>2470</a:t>
            </a:r>
          </a:p>
        </p:txBody>
      </p:sp>
      <p:sp>
        <p:nvSpPr>
          <p:cNvPr id="84" name="TextBox 83"/>
          <p:cNvSpPr txBox="1"/>
          <p:nvPr/>
        </p:nvSpPr>
        <p:spPr>
          <a:xfrm>
            <a:off x="7543799" y="2322576"/>
            <a:ext cx="530352" cy="201168"/>
          </a:xfrm>
          <a:prstGeom prst="rect">
            <a:avLst/>
          </a:prstGeom>
          <a:noFill/>
        </p:spPr>
        <p:txBody>
          <a:bodyPr wrap="square">
            <a:spAutoFit/>
          </a:bodyPr>
          <a:lstStyle/>
          <a:p>
            <a:pPr algn="ctr">
              <a:defRPr sz="1000" b="0">
                <a:solidFill>
                  <a:srgbClr val="111827"/>
                </a:solidFill>
                <a:latin typeface="Calibri"/>
              </a:defRPr>
            </a:pPr>
            <a:r>
              <a:t>197</a:t>
            </a:r>
          </a:p>
        </p:txBody>
      </p:sp>
      <p:sp>
        <p:nvSpPr>
          <p:cNvPr id="85" name="TextBox 84"/>
          <p:cNvSpPr txBox="1"/>
          <p:nvPr/>
        </p:nvSpPr>
        <p:spPr>
          <a:xfrm>
            <a:off x="8074151" y="2322576"/>
            <a:ext cx="804672" cy="201168"/>
          </a:xfrm>
          <a:prstGeom prst="rect">
            <a:avLst/>
          </a:prstGeom>
          <a:noFill/>
        </p:spPr>
        <p:txBody>
          <a:bodyPr wrap="square">
            <a:spAutoFit/>
          </a:bodyPr>
          <a:lstStyle/>
          <a:p>
            <a:pPr algn="ctr">
              <a:defRPr sz="1000" b="0">
                <a:solidFill>
                  <a:srgbClr val="6D28D9"/>
                </a:solidFill>
                <a:latin typeface="Calibri"/>
              </a:defRPr>
            </a:pPr>
            <a:r>
              <a:t>$3.2M</a:t>
            </a:r>
          </a:p>
        </p:txBody>
      </p:sp>
      <p:sp>
        <p:nvSpPr>
          <p:cNvPr id="86" name="TextBox 85"/>
          <p:cNvSpPr txBox="1"/>
          <p:nvPr/>
        </p:nvSpPr>
        <p:spPr>
          <a:xfrm>
            <a:off x="8878824" y="2322576"/>
            <a:ext cx="658368" cy="201168"/>
          </a:xfrm>
          <a:prstGeom prst="rect">
            <a:avLst/>
          </a:prstGeom>
          <a:noFill/>
        </p:spPr>
        <p:txBody>
          <a:bodyPr wrap="square">
            <a:spAutoFit/>
          </a:bodyPr>
          <a:lstStyle/>
          <a:p>
            <a:pPr algn="ctr">
              <a:defRPr sz="1000" b="0">
                <a:solidFill>
                  <a:srgbClr val="059669"/>
                </a:solidFill>
                <a:latin typeface="Calibri"/>
              </a:defRPr>
            </a:pPr>
            <a:r>
              <a:t>$483K</a:t>
            </a:r>
          </a:p>
        </p:txBody>
      </p:sp>
      <p:sp>
        <p:nvSpPr>
          <p:cNvPr id="87" name="TextBox 86"/>
          <p:cNvSpPr txBox="1"/>
          <p:nvPr/>
        </p:nvSpPr>
        <p:spPr>
          <a:xfrm>
            <a:off x="9537192" y="2322576"/>
            <a:ext cx="658368" cy="201168"/>
          </a:xfrm>
          <a:prstGeom prst="rect">
            <a:avLst/>
          </a:prstGeom>
          <a:noFill/>
        </p:spPr>
        <p:txBody>
          <a:bodyPr wrap="square">
            <a:spAutoFit/>
          </a:bodyPr>
          <a:lstStyle/>
          <a:p>
            <a:pPr algn="ctr">
              <a:defRPr sz="1000" b="0">
                <a:solidFill>
                  <a:srgbClr val="DC2626"/>
                </a:solidFill>
                <a:latin typeface="Calibri"/>
              </a:defRPr>
            </a:pPr>
            <a:r>
              <a:t>$1.2M</a:t>
            </a:r>
          </a:p>
        </p:txBody>
      </p:sp>
      <p:sp>
        <p:nvSpPr>
          <p:cNvPr id="88" name="TextBox 87"/>
          <p:cNvSpPr txBox="1"/>
          <p:nvPr/>
        </p:nvSpPr>
        <p:spPr>
          <a:xfrm>
            <a:off x="10195560" y="2322576"/>
            <a:ext cx="685800" cy="201168"/>
          </a:xfrm>
          <a:prstGeom prst="rect">
            <a:avLst/>
          </a:prstGeom>
          <a:noFill/>
        </p:spPr>
        <p:txBody>
          <a:bodyPr wrap="square">
            <a:spAutoFit/>
          </a:bodyPr>
          <a:lstStyle/>
          <a:p>
            <a:pPr algn="ctr">
              <a:defRPr sz="1000" b="0">
                <a:solidFill>
                  <a:srgbClr val="DC2626"/>
                </a:solidFill>
                <a:latin typeface="Calibri"/>
              </a:defRPr>
            </a:pPr>
            <a:r>
              <a:t>7</a:t>
            </a:r>
          </a:p>
        </p:txBody>
      </p:sp>
      <p:sp>
        <p:nvSpPr>
          <p:cNvPr id="89" name="TextBox 88"/>
          <p:cNvSpPr txBox="1"/>
          <p:nvPr/>
        </p:nvSpPr>
        <p:spPr>
          <a:xfrm>
            <a:off x="182880" y="2724912"/>
            <a:ext cx="1234440" cy="201168"/>
          </a:xfrm>
          <a:prstGeom prst="rect">
            <a:avLst/>
          </a:prstGeom>
          <a:noFill/>
        </p:spPr>
        <p:txBody>
          <a:bodyPr wrap="square">
            <a:spAutoFit/>
          </a:bodyPr>
          <a:lstStyle/>
          <a:p>
            <a:pPr algn="l">
              <a:defRPr sz="1000" b="1">
                <a:solidFill>
                  <a:srgbClr val="111827"/>
                </a:solidFill>
                <a:latin typeface="Calibri"/>
              </a:defRPr>
            </a:pPr>
            <a:r>
              <a:t>Alexis Berry-Smith</a:t>
            </a:r>
          </a:p>
        </p:txBody>
      </p:sp>
      <p:sp>
        <p:nvSpPr>
          <p:cNvPr id="90" name="TextBox 89"/>
          <p:cNvSpPr txBox="1"/>
          <p:nvPr/>
        </p:nvSpPr>
        <p:spPr>
          <a:xfrm>
            <a:off x="1417320" y="2724912"/>
            <a:ext cx="594360" cy="201168"/>
          </a:xfrm>
          <a:prstGeom prst="rect">
            <a:avLst/>
          </a:prstGeom>
          <a:noFill/>
        </p:spPr>
        <p:txBody>
          <a:bodyPr wrap="square">
            <a:spAutoFit/>
          </a:bodyPr>
          <a:lstStyle/>
          <a:p>
            <a:pPr algn="ctr">
              <a:defRPr sz="1000" b="0">
                <a:solidFill>
                  <a:srgbClr val="6B7280"/>
                </a:solidFill>
                <a:latin typeface="Calibri"/>
              </a:defRPr>
            </a:pPr>
            <a:r>
              <a:t>22</a:t>
            </a:r>
          </a:p>
        </p:txBody>
      </p:sp>
      <p:sp>
        <p:nvSpPr>
          <p:cNvPr id="91" name="TextBox 90"/>
          <p:cNvSpPr txBox="1"/>
          <p:nvPr/>
        </p:nvSpPr>
        <p:spPr>
          <a:xfrm>
            <a:off x="2011680" y="2724912"/>
            <a:ext cx="530352" cy="201168"/>
          </a:xfrm>
          <a:prstGeom prst="rect">
            <a:avLst/>
          </a:prstGeom>
          <a:noFill/>
        </p:spPr>
        <p:txBody>
          <a:bodyPr wrap="square">
            <a:spAutoFit/>
          </a:bodyPr>
          <a:lstStyle/>
          <a:p>
            <a:pPr algn="ctr">
              <a:defRPr sz="1000" b="0">
                <a:solidFill>
                  <a:srgbClr val="059669"/>
                </a:solidFill>
                <a:latin typeface="Calibri"/>
              </a:defRPr>
            </a:pPr>
            <a:r>
              <a:t>22</a:t>
            </a:r>
          </a:p>
        </p:txBody>
      </p:sp>
      <p:sp>
        <p:nvSpPr>
          <p:cNvPr id="92" name="TextBox 91"/>
          <p:cNvSpPr txBox="1"/>
          <p:nvPr/>
        </p:nvSpPr>
        <p:spPr>
          <a:xfrm>
            <a:off x="2542032" y="2724912"/>
            <a:ext cx="594360" cy="201168"/>
          </a:xfrm>
          <a:prstGeom prst="rect">
            <a:avLst/>
          </a:prstGeom>
          <a:noFill/>
        </p:spPr>
        <p:txBody>
          <a:bodyPr wrap="square">
            <a:spAutoFit/>
          </a:bodyPr>
          <a:lstStyle/>
          <a:p>
            <a:pPr algn="ctr">
              <a:defRPr sz="1000" b="1">
                <a:solidFill>
                  <a:srgbClr val="D97706"/>
                </a:solidFill>
                <a:latin typeface="Calibri"/>
              </a:defRPr>
            </a:pPr>
            <a:r>
              <a:t>0</a:t>
            </a:r>
          </a:p>
        </p:txBody>
      </p:sp>
      <p:sp>
        <p:nvSpPr>
          <p:cNvPr id="93" name="TextBox 92"/>
          <p:cNvSpPr txBox="1"/>
          <p:nvPr/>
        </p:nvSpPr>
        <p:spPr>
          <a:xfrm>
            <a:off x="3136392" y="2724912"/>
            <a:ext cx="530352" cy="201168"/>
          </a:xfrm>
          <a:prstGeom prst="rect">
            <a:avLst/>
          </a:prstGeom>
          <a:noFill/>
        </p:spPr>
        <p:txBody>
          <a:bodyPr wrap="square">
            <a:spAutoFit/>
          </a:bodyPr>
          <a:lstStyle/>
          <a:p>
            <a:pPr algn="ctr">
              <a:defRPr sz="1000" b="1">
                <a:solidFill>
                  <a:srgbClr val="059669"/>
                </a:solidFill>
                <a:latin typeface="Calibri"/>
              </a:defRPr>
            </a:pPr>
            <a:r>
              <a:t>100%</a:t>
            </a:r>
          </a:p>
        </p:txBody>
      </p:sp>
      <p:sp>
        <p:nvSpPr>
          <p:cNvPr id="94" name="TextBox 93"/>
          <p:cNvSpPr txBox="1"/>
          <p:nvPr/>
        </p:nvSpPr>
        <p:spPr>
          <a:xfrm>
            <a:off x="3666744" y="2724912"/>
            <a:ext cx="804672" cy="201168"/>
          </a:xfrm>
          <a:prstGeom prst="rect">
            <a:avLst/>
          </a:prstGeom>
          <a:noFill/>
        </p:spPr>
        <p:txBody>
          <a:bodyPr wrap="square">
            <a:spAutoFit/>
          </a:bodyPr>
          <a:lstStyle/>
          <a:p>
            <a:pPr algn="ctr">
              <a:defRPr sz="1000" b="0">
                <a:solidFill>
                  <a:srgbClr val="6D28D9"/>
                </a:solidFill>
                <a:latin typeface="Calibri"/>
              </a:defRPr>
            </a:pPr>
            <a:r>
              <a:t>$1.4M</a:t>
            </a:r>
          </a:p>
        </p:txBody>
      </p:sp>
      <p:sp>
        <p:nvSpPr>
          <p:cNvPr id="95" name="TextBox 94"/>
          <p:cNvSpPr txBox="1"/>
          <p:nvPr/>
        </p:nvSpPr>
        <p:spPr>
          <a:xfrm>
            <a:off x="4471416" y="2724912"/>
            <a:ext cx="658368" cy="201168"/>
          </a:xfrm>
          <a:prstGeom prst="rect">
            <a:avLst/>
          </a:prstGeom>
          <a:noFill/>
        </p:spPr>
        <p:txBody>
          <a:bodyPr wrap="square">
            <a:spAutoFit/>
          </a:bodyPr>
          <a:lstStyle/>
          <a:p>
            <a:pPr algn="ctr">
              <a:defRPr sz="1000" b="0">
                <a:solidFill>
                  <a:srgbClr val="059669"/>
                </a:solidFill>
                <a:latin typeface="Calibri"/>
              </a:defRPr>
            </a:pPr>
            <a:r>
              <a:t>$407K</a:t>
            </a:r>
          </a:p>
        </p:txBody>
      </p:sp>
      <p:sp>
        <p:nvSpPr>
          <p:cNvPr id="96" name="TextBox 95"/>
          <p:cNvSpPr txBox="1"/>
          <p:nvPr/>
        </p:nvSpPr>
        <p:spPr>
          <a:xfrm>
            <a:off x="5129783" y="2724912"/>
            <a:ext cx="658368" cy="201168"/>
          </a:xfrm>
          <a:prstGeom prst="rect">
            <a:avLst/>
          </a:prstGeom>
          <a:noFill/>
        </p:spPr>
        <p:txBody>
          <a:bodyPr wrap="square">
            <a:spAutoFit/>
          </a:bodyPr>
          <a:lstStyle/>
          <a:p>
            <a:pPr algn="ctr">
              <a:defRPr sz="1000" b="0">
                <a:solidFill>
                  <a:srgbClr val="DC2626"/>
                </a:solidFill>
                <a:latin typeface="Calibri"/>
              </a:defRPr>
            </a:pPr>
            <a:r>
              <a:t>$388K</a:t>
            </a:r>
          </a:p>
        </p:txBody>
      </p:sp>
      <p:sp>
        <p:nvSpPr>
          <p:cNvPr id="97" name="TextBox 96"/>
          <p:cNvSpPr txBox="1"/>
          <p:nvPr/>
        </p:nvSpPr>
        <p:spPr>
          <a:xfrm>
            <a:off x="5788151" y="2724912"/>
            <a:ext cx="621792" cy="201168"/>
          </a:xfrm>
          <a:prstGeom prst="rect">
            <a:avLst/>
          </a:prstGeom>
          <a:noFill/>
        </p:spPr>
        <p:txBody>
          <a:bodyPr wrap="square">
            <a:spAutoFit/>
          </a:bodyPr>
          <a:lstStyle/>
          <a:p>
            <a:pPr algn="ctr">
              <a:defRPr sz="1000" b="0">
                <a:solidFill>
                  <a:srgbClr val="111827"/>
                </a:solidFill>
                <a:latin typeface="Calibri"/>
              </a:defRPr>
            </a:pPr>
            <a:r>
              <a:t>959</a:t>
            </a:r>
          </a:p>
        </p:txBody>
      </p:sp>
      <p:sp>
        <p:nvSpPr>
          <p:cNvPr id="98" name="TextBox 97"/>
          <p:cNvSpPr txBox="1"/>
          <p:nvPr/>
        </p:nvSpPr>
        <p:spPr>
          <a:xfrm>
            <a:off x="6409943" y="2724912"/>
            <a:ext cx="566928" cy="201168"/>
          </a:xfrm>
          <a:prstGeom prst="rect">
            <a:avLst/>
          </a:prstGeom>
          <a:noFill/>
        </p:spPr>
        <p:txBody>
          <a:bodyPr wrap="square">
            <a:spAutoFit/>
          </a:bodyPr>
          <a:lstStyle/>
          <a:p>
            <a:pPr algn="ctr">
              <a:defRPr sz="1000" b="0">
                <a:solidFill>
                  <a:srgbClr val="111827"/>
                </a:solidFill>
                <a:latin typeface="Calibri"/>
              </a:defRPr>
            </a:pPr>
            <a:r>
              <a:t>31</a:t>
            </a:r>
          </a:p>
        </p:txBody>
      </p:sp>
      <p:sp>
        <p:nvSpPr>
          <p:cNvPr id="99" name="TextBox 98"/>
          <p:cNvSpPr txBox="1"/>
          <p:nvPr/>
        </p:nvSpPr>
        <p:spPr>
          <a:xfrm>
            <a:off x="6976871" y="2724912"/>
            <a:ext cx="566928" cy="201168"/>
          </a:xfrm>
          <a:prstGeom prst="rect">
            <a:avLst/>
          </a:prstGeom>
          <a:noFill/>
        </p:spPr>
        <p:txBody>
          <a:bodyPr wrap="square">
            <a:spAutoFit/>
          </a:bodyPr>
          <a:lstStyle/>
          <a:p>
            <a:pPr algn="ctr">
              <a:defRPr sz="1000" b="0">
                <a:solidFill>
                  <a:srgbClr val="111827"/>
                </a:solidFill>
                <a:latin typeface="Calibri"/>
              </a:defRPr>
            </a:pPr>
            <a:r>
              <a:t>1400</a:t>
            </a:r>
          </a:p>
        </p:txBody>
      </p:sp>
      <p:sp>
        <p:nvSpPr>
          <p:cNvPr id="100" name="TextBox 99"/>
          <p:cNvSpPr txBox="1"/>
          <p:nvPr/>
        </p:nvSpPr>
        <p:spPr>
          <a:xfrm>
            <a:off x="7543799" y="2724912"/>
            <a:ext cx="530352" cy="201168"/>
          </a:xfrm>
          <a:prstGeom prst="rect">
            <a:avLst/>
          </a:prstGeom>
          <a:noFill/>
        </p:spPr>
        <p:txBody>
          <a:bodyPr wrap="square">
            <a:spAutoFit/>
          </a:bodyPr>
          <a:lstStyle/>
          <a:p>
            <a:pPr algn="ctr">
              <a:defRPr sz="1000" b="0">
                <a:solidFill>
                  <a:srgbClr val="111827"/>
                </a:solidFill>
                <a:latin typeface="Calibri"/>
              </a:defRPr>
            </a:pPr>
            <a:r>
              <a:t>110</a:t>
            </a:r>
          </a:p>
        </p:txBody>
      </p:sp>
      <p:sp>
        <p:nvSpPr>
          <p:cNvPr id="101" name="TextBox 100"/>
          <p:cNvSpPr txBox="1"/>
          <p:nvPr/>
        </p:nvSpPr>
        <p:spPr>
          <a:xfrm>
            <a:off x="8074151" y="2724912"/>
            <a:ext cx="804672" cy="201168"/>
          </a:xfrm>
          <a:prstGeom prst="rect">
            <a:avLst/>
          </a:prstGeom>
          <a:noFill/>
        </p:spPr>
        <p:txBody>
          <a:bodyPr wrap="square">
            <a:spAutoFit/>
          </a:bodyPr>
          <a:lstStyle/>
          <a:p>
            <a:pPr algn="ctr">
              <a:defRPr sz="1000" b="0">
                <a:solidFill>
                  <a:srgbClr val="6D28D9"/>
                </a:solidFill>
                <a:latin typeface="Calibri"/>
              </a:defRPr>
            </a:pPr>
            <a:r>
              <a:t>$2.6M</a:t>
            </a:r>
          </a:p>
        </p:txBody>
      </p:sp>
      <p:sp>
        <p:nvSpPr>
          <p:cNvPr id="102" name="TextBox 101"/>
          <p:cNvSpPr txBox="1"/>
          <p:nvPr/>
        </p:nvSpPr>
        <p:spPr>
          <a:xfrm>
            <a:off x="8878824" y="2724912"/>
            <a:ext cx="658368" cy="201168"/>
          </a:xfrm>
          <a:prstGeom prst="rect">
            <a:avLst/>
          </a:prstGeom>
          <a:noFill/>
        </p:spPr>
        <p:txBody>
          <a:bodyPr wrap="square">
            <a:spAutoFit/>
          </a:bodyPr>
          <a:lstStyle/>
          <a:p>
            <a:pPr algn="ctr">
              <a:defRPr sz="1000" b="0">
                <a:solidFill>
                  <a:srgbClr val="059669"/>
                </a:solidFill>
                <a:latin typeface="Calibri"/>
              </a:defRPr>
            </a:pPr>
            <a:r>
              <a:t>$118K</a:t>
            </a:r>
          </a:p>
        </p:txBody>
      </p:sp>
      <p:sp>
        <p:nvSpPr>
          <p:cNvPr id="103" name="TextBox 102"/>
          <p:cNvSpPr txBox="1"/>
          <p:nvPr/>
        </p:nvSpPr>
        <p:spPr>
          <a:xfrm>
            <a:off x="9537192" y="2724912"/>
            <a:ext cx="658368" cy="201168"/>
          </a:xfrm>
          <a:prstGeom prst="rect">
            <a:avLst/>
          </a:prstGeom>
          <a:noFill/>
        </p:spPr>
        <p:txBody>
          <a:bodyPr wrap="square">
            <a:spAutoFit/>
          </a:bodyPr>
          <a:lstStyle/>
          <a:p>
            <a:pPr algn="ctr">
              <a:defRPr sz="1000" b="0">
                <a:solidFill>
                  <a:srgbClr val="DC2626"/>
                </a:solidFill>
                <a:latin typeface="Calibri"/>
              </a:defRPr>
            </a:pPr>
            <a:r>
              <a:t>$1.2M</a:t>
            </a:r>
          </a:p>
        </p:txBody>
      </p:sp>
      <p:sp>
        <p:nvSpPr>
          <p:cNvPr id="104" name="TextBox 103"/>
          <p:cNvSpPr txBox="1"/>
          <p:nvPr/>
        </p:nvSpPr>
        <p:spPr>
          <a:xfrm>
            <a:off x="10195560" y="2724912"/>
            <a:ext cx="685800" cy="201168"/>
          </a:xfrm>
          <a:prstGeom prst="rect">
            <a:avLst/>
          </a:prstGeom>
          <a:noFill/>
        </p:spPr>
        <p:txBody>
          <a:bodyPr wrap="square">
            <a:spAutoFit/>
          </a:bodyPr>
          <a:lstStyle/>
          <a:p>
            <a:pPr algn="ctr">
              <a:defRPr sz="1000" b="0">
                <a:solidFill>
                  <a:srgbClr val="DC2626"/>
                </a:solidFill>
                <a:latin typeface="Calibri"/>
              </a:defRPr>
            </a:pPr>
            <a:r>
              <a:t>9</a:t>
            </a:r>
          </a:p>
        </p:txBody>
      </p:sp>
      <p:sp>
        <p:nvSpPr>
          <p:cNvPr id="105" name="Rectangle 104"/>
          <p:cNvSpPr/>
          <p:nvPr/>
        </p:nvSpPr>
        <p:spPr>
          <a:xfrm>
            <a:off x="182880" y="3108960"/>
            <a:ext cx="10698480" cy="402336"/>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82880" y="3127248"/>
            <a:ext cx="1234440" cy="201168"/>
          </a:xfrm>
          <a:prstGeom prst="rect">
            <a:avLst/>
          </a:prstGeom>
          <a:noFill/>
        </p:spPr>
        <p:txBody>
          <a:bodyPr wrap="square">
            <a:spAutoFit/>
          </a:bodyPr>
          <a:lstStyle/>
          <a:p>
            <a:pPr algn="l">
              <a:defRPr sz="1000" b="1">
                <a:solidFill>
                  <a:srgbClr val="111827"/>
                </a:solidFill>
                <a:latin typeface="Calibri"/>
              </a:defRPr>
            </a:pPr>
            <a:r>
              <a:t>Westy McLaughlin</a:t>
            </a:r>
          </a:p>
        </p:txBody>
      </p:sp>
      <p:sp>
        <p:nvSpPr>
          <p:cNvPr id="107" name="TextBox 106"/>
          <p:cNvSpPr txBox="1"/>
          <p:nvPr/>
        </p:nvSpPr>
        <p:spPr>
          <a:xfrm>
            <a:off x="1417320" y="3127248"/>
            <a:ext cx="594360" cy="201168"/>
          </a:xfrm>
          <a:prstGeom prst="rect">
            <a:avLst/>
          </a:prstGeom>
          <a:noFill/>
        </p:spPr>
        <p:txBody>
          <a:bodyPr wrap="square">
            <a:spAutoFit/>
          </a:bodyPr>
          <a:lstStyle/>
          <a:p>
            <a:pPr algn="ctr">
              <a:defRPr sz="1000" b="0">
                <a:solidFill>
                  <a:srgbClr val="6B7280"/>
                </a:solidFill>
                <a:latin typeface="Calibri"/>
              </a:defRPr>
            </a:pPr>
            <a:r>
              <a:t>14</a:t>
            </a:r>
          </a:p>
        </p:txBody>
      </p:sp>
      <p:sp>
        <p:nvSpPr>
          <p:cNvPr id="108" name="TextBox 107"/>
          <p:cNvSpPr txBox="1"/>
          <p:nvPr/>
        </p:nvSpPr>
        <p:spPr>
          <a:xfrm>
            <a:off x="2011680" y="3127248"/>
            <a:ext cx="530352" cy="201168"/>
          </a:xfrm>
          <a:prstGeom prst="rect">
            <a:avLst/>
          </a:prstGeom>
          <a:noFill/>
        </p:spPr>
        <p:txBody>
          <a:bodyPr wrap="square">
            <a:spAutoFit/>
          </a:bodyPr>
          <a:lstStyle/>
          <a:p>
            <a:pPr algn="ctr">
              <a:defRPr sz="1000" b="0">
                <a:solidFill>
                  <a:srgbClr val="059669"/>
                </a:solidFill>
                <a:latin typeface="Calibri"/>
              </a:defRPr>
            </a:pPr>
            <a:r>
              <a:t>11</a:t>
            </a:r>
          </a:p>
        </p:txBody>
      </p:sp>
      <p:sp>
        <p:nvSpPr>
          <p:cNvPr id="109" name="TextBox 108"/>
          <p:cNvSpPr txBox="1"/>
          <p:nvPr/>
        </p:nvSpPr>
        <p:spPr>
          <a:xfrm>
            <a:off x="2542032" y="3127248"/>
            <a:ext cx="594360" cy="201168"/>
          </a:xfrm>
          <a:prstGeom prst="rect">
            <a:avLst/>
          </a:prstGeom>
          <a:noFill/>
        </p:spPr>
        <p:txBody>
          <a:bodyPr wrap="square">
            <a:spAutoFit/>
          </a:bodyPr>
          <a:lstStyle/>
          <a:p>
            <a:pPr algn="ctr">
              <a:defRPr sz="1000" b="1">
                <a:solidFill>
                  <a:srgbClr val="D97706"/>
                </a:solidFill>
                <a:latin typeface="Calibri"/>
              </a:defRPr>
            </a:pPr>
            <a:r>
              <a:t>3</a:t>
            </a:r>
          </a:p>
        </p:txBody>
      </p:sp>
      <p:sp>
        <p:nvSpPr>
          <p:cNvPr id="110" name="TextBox 109"/>
          <p:cNvSpPr txBox="1"/>
          <p:nvPr/>
        </p:nvSpPr>
        <p:spPr>
          <a:xfrm>
            <a:off x="3136392" y="3127248"/>
            <a:ext cx="530352" cy="201168"/>
          </a:xfrm>
          <a:prstGeom prst="rect">
            <a:avLst/>
          </a:prstGeom>
          <a:noFill/>
        </p:spPr>
        <p:txBody>
          <a:bodyPr wrap="square">
            <a:spAutoFit/>
          </a:bodyPr>
          <a:lstStyle/>
          <a:p>
            <a:pPr algn="ctr">
              <a:defRPr sz="1000" b="1">
                <a:solidFill>
                  <a:srgbClr val="D97706"/>
                </a:solidFill>
                <a:latin typeface="Calibri"/>
              </a:defRPr>
            </a:pPr>
            <a:r>
              <a:t>79%</a:t>
            </a:r>
          </a:p>
        </p:txBody>
      </p:sp>
      <p:sp>
        <p:nvSpPr>
          <p:cNvPr id="111" name="TextBox 110"/>
          <p:cNvSpPr txBox="1"/>
          <p:nvPr/>
        </p:nvSpPr>
        <p:spPr>
          <a:xfrm>
            <a:off x="3666744" y="3127248"/>
            <a:ext cx="804672" cy="201168"/>
          </a:xfrm>
          <a:prstGeom prst="rect">
            <a:avLst/>
          </a:prstGeom>
          <a:noFill/>
        </p:spPr>
        <p:txBody>
          <a:bodyPr wrap="square">
            <a:spAutoFit/>
          </a:bodyPr>
          <a:lstStyle/>
          <a:p>
            <a:pPr algn="ctr">
              <a:defRPr sz="1000" b="0">
                <a:solidFill>
                  <a:srgbClr val="6D28D9"/>
                </a:solidFill>
                <a:latin typeface="Calibri"/>
              </a:defRPr>
            </a:pPr>
            <a:r>
              <a:t>$275K</a:t>
            </a:r>
          </a:p>
        </p:txBody>
      </p:sp>
      <p:sp>
        <p:nvSpPr>
          <p:cNvPr id="112" name="TextBox 111"/>
          <p:cNvSpPr txBox="1"/>
          <p:nvPr/>
        </p:nvSpPr>
        <p:spPr>
          <a:xfrm>
            <a:off x="4471416" y="3127248"/>
            <a:ext cx="658368" cy="201168"/>
          </a:xfrm>
          <a:prstGeom prst="rect">
            <a:avLst/>
          </a:prstGeom>
          <a:noFill/>
        </p:spPr>
        <p:txBody>
          <a:bodyPr wrap="square">
            <a:spAutoFit/>
          </a:bodyPr>
          <a:lstStyle/>
          <a:p>
            <a:pPr algn="ctr">
              <a:defRPr sz="1000" b="0">
                <a:solidFill>
                  <a:srgbClr val="059669"/>
                </a:solidFill>
                <a:latin typeface="Calibri"/>
              </a:defRPr>
            </a:pPr>
            <a:r>
              <a:t>$44K</a:t>
            </a:r>
          </a:p>
        </p:txBody>
      </p:sp>
      <p:sp>
        <p:nvSpPr>
          <p:cNvPr id="113" name="TextBox 112"/>
          <p:cNvSpPr txBox="1"/>
          <p:nvPr/>
        </p:nvSpPr>
        <p:spPr>
          <a:xfrm>
            <a:off x="5129783" y="3127248"/>
            <a:ext cx="658368" cy="201168"/>
          </a:xfrm>
          <a:prstGeom prst="rect">
            <a:avLst/>
          </a:prstGeom>
          <a:noFill/>
        </p:spPr>
        <p:txBody>
          <a:bodyPr wrap="square">
            <a:spAutoFit/>
          </a:bodyPr>
          <a:lstStyle/>
          <a:p>
            <a:pPr algn="ctr">
              <a:defRPr sz="1000" b="0">
                <a:solidFill>
                  <a:srgbClr val="DC2626"/>
                </a:solidFill>
                <a:latin typeface="Calibri"/>
              </a:defRPr>
            </a:pPr>
            <a:r>
              <a:t>$154K</a:t>
            </a:r>
          </a:p>
        </p:txBody>
      </p:sp>
      <p:sp>
        <p:nvSpPr>
          <p:cNvPr id="114" name="TextBox 113"/>
          <p:cNvSpPr txBox="1"/>
          <p:nvPr/>
        </p:nvSpPr>
        <p:spPr>
          <a:xfrm>
            <a:off x="5788151" y="3127248"/>
            <a:ext cx="621792" cy="201168"/>
          </a:xfrm>
          <a:prstGeom prst="rect">
            <a:avLst/>
          </a:prstGeom>
          <a:noFill/>
        </p:spPr>
        <p:txBody>
          <a:bodyPr wrap="square">
            <a:spAutoFit/>
          </a:bodyPr>
          <a:lstStyle/>
          <a:p>
            <a:pPr algn="ctr">
              <a:defRPr sz="1000" b="0">
                <a:solidFill>
                  <a:srgbClr val="111827"/>
                </a:solidFill>
                <a:latin typeface="Calibri"/>
              </a:defRPr>
            </a:pPr>
            <a:r>
              <a:t>257</a:t>
            </a:r>
          </a:p>
        </p:txBody>
      </p:sp>
      <p:sp>
        <p:nvSpPr>
          <p:cNvPr id="115" name="TextBox 114"/>
          <p:cNvSpPr txBox="1"/>
          <p:nvPr/>
        </p:nvSpPr>
        <p:spPr>
          <a:xfrm>
            <a:off x="6409943" y="3127248"/>
            <a:ext cx="566928" cy="201168"/>
          </a:xfrm>
          <a:prstGeom prst="rect">
            <a:avLst/>
          </a:prstGeom>
          <a:noFill/>
        </p:spPr>
        <p:txBody>
          <a:bodyPr wrap="square">
            <a:spAutoFit/>
          </a:bodyPr>
          <a:lstStyle/>
          <a:p>
            <a:pPr algn="ctr">
              <a:defRPr sz="1000" b="0">
                <a:solidFill>
                  <a:srgbClr val="111827"/>
                </a:solidFill>
                <a:latin typeface="Calibri"/>
              </a:defRPr>
            </a:pPr>
            <a:r>
              <a:t>15</a:t>
            </a:r>
          </a:p>
        </p:txBody>
      </p:sp>
      <p:sp>
        <p:nvSpPr>
          <p:cNvPr id="116" name="TextBox 115"/>
          <p:cNvSpPr txBox="1"/>
          <p:nvPr/>
        </p:nvSpPr>
        <p:spPr>
          <a:xfrm>
            <a:off x="6976871" y="3127248"/>
            <a:ext cx="566928" cy="201168"/>
          </a:xfrm>
          <a:prstGeom prst="rect">
            <a:avLst/>
          </a:prstGeom>
          <a:noFill/>
        </p:spPr>
        <p:txBody>
          <a:bodyPr wrap="square">
            <a:spAutoFit/>
          </a:bodyPr>
          <a:lstStyle/>
          <a:p>
            <a:pPr algn="ctr">
              <a:defRPr sz="1000" b="0">
                <a:solidFill>
                  <a:srgbClr val="111827"/>
                </a:solidFill>
                <a:latin typeface="Calibri"/>
              </a:defRPr>
            </a:pPr>
            <a:r>
              <a:t>147</a:t>
            </a:r>
          </a:p>
        </p:txBody>
      </p:sp>
      <p:sp>
        <p:nvSpPr>
          <p:cNvPr id="117" name="TextBox 116"/>
          <p:cNvSpPr txBox="1"/>
          <p:nvPr/>
        </p:nvSpPr>
        <p:spPr>
          <a:xfrm>
            <a:off x="7543799" y="3127248"/>
            <a:ext cx="530352" cy="201168"/>
          </a:xfrm>
          <a:prstGeom prst="rect">
            <a:avLst/>
          </a:prstGeom>
          <a:noFill/>
        </p:spPr>
        <p:txBody>
          <a:bodyPr wrap="square">
            <a:spAutoFit/>
          </a:bodyPr>
          <a:lstStyle/>
          <a:p>
            <a:pPr algn="ctr">
              <a:defRPr sz="1000" b="0">
                <a:solidFill>
                  <a:srgbClr val="111827"/>
                </a:solidFill>
                <a:latin typeface="Calibri"/>
              </a:defRPr>
            </a:pPr>
            <a:r>
              <a:t>6</a:t>
            </a:r>
          </a:p>
        </p:txBody>
      </p:sp>
      <p:sp>
        <p:nvSpPr>
          <p:cNvPr id="118" name="TextBox 117"/>
          <p:cNvSpPr txBox="1"/>
          <p:nvPr/>
        </p:nvSpPr>
        <p:spPr>
          <a:xfrm>
            <a:off x="8074151" y="3127248"/>
            <a:ext cx="804672" cy="201168"/>
          </a:xfrm>
          <a:prstGeom prst="rect">
            <a:avLst/>
          </a:prstGeom>
          <a:noFill/>
        </p:spPr>
        <p:txBody>
          <a:bodyPr wrap="square">
            <a:spAutoFit/>
          </a:bodyPr>
          <a:lstStyle/>
          <a:p>
            <a:pPr algn="ctr">
              <a:defRPr sz="1000" b="0">
                <a:solidFill>
                  <a:srgbClr val="6D28D9"/>
                </a:solidFill>
                <a:latin typeface="Calibri"/>
              </a:defRPr>
            </a:pPr>
            <a:r>
              <a:t>$67K</a:t>
            </a:r>
          </a:p>
        </p:txBody>
      </p:sp>
      <p:sp>
        <p:nvSpPr>
          <p:cNvPr id="119" name="TextBox 118"/>
          <p:cNvSpPr txBox="1"/>
          <p:nvPr/>
        </p:nvSpPr>
        <p:spPr>
          <a:xfrm>
            <a:off x="8878824" y="3127248"/>
            <a:ext cx="658368" cy="201168"/>
          </a:xfrm>
          <a:prstGeom prst="rect">
            <a:avLst/>
          </a:prstGeom>
          <a:noFill/>
        </p:spPr>
        <p:txBody>
          <a:bodyPr wrap="square">
            <a:spAutoFit/>
          </a:bodyPr>
          <a:lstStyle/>
          <a:p>
            <a:pPr algn="ctr">
              <a:defRPr sz="1000" b="0">
                <a:solidFill>
                  <a:srgbClr val="059669"/>
                </a:solidFill>
                <a:latin typeface="Calibri"/>
              </a:defRPr>
            </a:pPr>
            <a:r>
              <a:t>$15K</a:t>
            </a:r>
          </a:p>
        </p:txBody>
      </p:sp>
      <p:sp>
        <p:nvSpPr>
          <p:cNvPr id="120" name="TextBox 119"/>
          <p:cNvSpPr txBox="1"/>
          <p:nvPr/>
        </p:nvSpPr>
        <p:spPr>
          <a:xfrm>
            <a:off x="9537192" y="3127248"/>
            <a:ext cx="658368" cy="201168"/>
          </a:xfrm>
          <a:prstGeom prst="rect">
            <a:avLst/>
          </a:prstGeom>
          <a:noFill/>
        </p:spPr>
        <p:txBody>
          <a:bodyPr wrap="square">
            <a:spAutoFit/>
          </a:bodyPr>
          <a:lstStyle/>
          <a:p>
            <a:pPr algn="ctr">
              <a:defRPr sz="1000" b="0">
                <a:solidFill>
                  <a:srgbClr val="DC2626"/>
                </a:solidFill>
                <a:latin typeface="Calibri"/>
              </a:defRPr>
            </a:pPr>
            <a:r>
              <a:t>$44K</a:t>
            </a:r>
          </a:p>
        </p:txBody>
      </p:sp>
      <p:sp>
        <p:nvSpPr>
          <p:cNvPr id="121" name="TextBox 120"/>
          <p:cNvSpPr txBox="1"/>
          <p:nvPr/>
        </p:nvSpPr>
        <p:spPr>
          <a:xfrm>
            <a:off x="10195560" y="3127248"/>
            <a:ext cx="685800" cy="201168"/>
          </a:xfrm>
          <a:prstGeom prst="rect">
            <a:avLst/>
          </a:prstGeom>
          <a:noFill/>
        </p:spPr>
        <p:txBody>
          <a:bodyPr wrap="square">
            <a:spAutoFit/>
          </a:bodyPr>
          <a:lstStyle/>
          <a:p>
            <a:pPr algn="ctr">
              <a:defRPr sz="1000" b="0">
                <a:solidFill>
                  <a:srgbClr val="DC2626"/>
                </a:solidFill>
                <a:latin typeface="Calibri"/>
              </a:defRPr>
            </a:pPr>
            <a:r>
              <a:t>7</a:t>
            </a:r>
          </a:p>
        </p:txBody>
      </p:sp>
      <p:sp>
        <p:nvSpPr>
          <p:cNvPr id="122" name="Rectangle 121"/>
          <p:cNvSpPr/>
          <p:nvPr/>
        </p:nvSpPr>
        <p:spPr>
          <a:xfrm>
            <a:off x="182880" y="3602736"/>
            <a:ext cx="10698480" cy="201168"/>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274320" y="3630168"/>
            <a:ext cx="10515600" cy="146304"/>
          </a:xfrm>
          <a:prstGeom prst="rect">
            <a:avLst/>
          </a:prstGeom>
          <a:noFill/>
        </p:spPr>
        <p:txBody>
          <a:bodyPr wrap="square">
            <a:spAutoFit/>
          </a:bodyPr>
          <a:lstStyle/>
          <a:p>
            <a:pPr algn="l">
              <a:defRPr sz="850" b="1">
                <a:solidFill>
                  <a:srgbClr val="FFFFFF"/>
                </a:solidFill>
                <a:latin typeface="Calibri"/>
              </a:defRPr>
            </a:pPr>
            <a:r>
              <a:t>BDAs — Business Development Associates  (goal: ≥70% portfolio active)</a:t>
            </a:r>
          </a:p>
        </p:txBody>
      </p:sp>
      <p:sp>
        <p:nvSpPr>
          <p:cNvPr id="124" name="Rectangle 123"/>
          <p:cNvSpPr/>
          <p:nvPr/>
        </p:nvSpPr>
        <p:spPr>
          <a:xfrm>
            <a:off x="182880" y="3803904"/>
            <a:ext cx="10698480" cy="384048"/>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82880" y="3822192"/>
            <a:ext cx="1234440" cy="201168"/>
          </a:xfrm>
          <a:prstGeom prst="rect">
            <a:avLst/>
          </a:prstGeom>
          <a:noFill/>
        </p:spPr>
        <p:txBody>
          <a:bodyPr wrap="square">
            <a:spAutoFit/>
          </a:bodyPr>
          <a:lstStyle/>
          <a:p>
            <a:pPr algn="l">
              <a:defRPr sz="1000" b="1">
                <a:solidFill>
                  <a:srgbClr val="111827"/>
                </a:solidFill>
                <a:latin typeface="Calibri"/>
              </a:defRPr>
            </a:pPr>
            <a:r>
              <a:t>Kurt Butterfield</a:t>
            </a:r>
          </a:p>
        </p:txBody>
      </p:sp>
      <p:sp>
        <p:nvSpPr>
          <p:cNvPr id="126" name="TextBox 125"/>
          <p:cNvSpPr txBox="1"/>
          <p:nvPr/>
        </p:nvSpPr>
        <p:spPr>
          <a:xfrm>
            <a:off x="1417320" y="3822192"/>
            <a:ext cx="594360" cy="201168"/>
          </a:xfrm>
          <a:prstGeom prst="rect">
            <a:avLst/>
          </a:prstGeom>
          <a:noFill/>
        </p:spPr>
        <p:txBody>
          <a:bodyPr wrap="square">
            <a:spAutoFit/>
          </a:bodyPr>
          <a:lstStyle/>
          <a:p>
            <a:pPr algn="ctr">
              <a:defRPr sz="1000" b="0">
                <a:solidFill>
                  <a:srgbClr val="6B7280"/>
                </a:solidFill>
                <a:latin typeface="Calibri"/>
              </a:defRPr>
            </a:pPr>
            <a:r>
              <a:t>42</a:t>
            </a:r>
          </a:p>
        </p:txBody>
      </p:sp>
      <p:sp>
        <p:nvSpPr>
          <p:cNvPr id="127" name="TextBox 126"/>
          <p:cNvSpPr txBox="1"/>
          <p:nvPr/>
        </p:nvSpPr>
        <p:spPr>
          <a:xfrm>
            <a:off x="2011680" y="3822192"/>
            <a:ext cx="530352" cy="201168"/>
          </a:xfrm>
          <a:prstGeom prst="rect">
            <a:avLst/>
          </a:prstGeom>
          <a:noFill/>
        </p:spPr>
        <p:txBody>
          <a:bodyPr wrap="square">
            <a:spAutoFit/>
          </a:bodyPr>
          <a:lstStyle/>
          <a:p>
            <a:pPr algn="ctr">
              <a:defRPr sz="1000" b="0">
                <a:solidFill>
                  <a:srgbClr val="059669"/>
                </a:solidFill>
                <a:latin typeface="Calibri"/>
              </a:defRPr>
            </a:pPr>
            <a:r>
              <a:t>41</a:t>
            </a:r>
          </a:p>
        </p:txBody>
      </p:sp>
      <p:sp>
        <p:nvSpPr>
          <p:cNvPr id="128" name="TextBox 127"/>
          <p:cNvSpPr txBox="1"/>
          <p:nvPr/>
        </p:nvSpPr>
        <p:spPr>
          <a:xfrm>
            <a:off x="2542032" y="3822192"/>
            <a:ext cx="594360" cy="201168"/>
          </a:xfrm>
          <a:prstGeom prst="rect">
            <a:avLst/>
          </a:prstGeom>
          <a:noFill/>
        </p:spPr>
        <p:txBody>
          <a:bodyPr wrap="square">
            <a:spAutoFit/>
          </a:bodyPr>
          <a:lstStyle/>
          <a:p>
            <a:pPr algn="ctr">
              <a:defRPr sz="1000" b="1">
                <a:solidFill>
                  <a:srgbClr val="D97706"/>
                </a:solidFill>
                <a:latin typeface="Calibri"/>
              </a:defRPr>
            </a:pPr>
            <a:r>
              <a:t>1</a:t>
            </a:r>
          </a:p>
        </p:txBody>
      </p:sp>
      <p:sp>
        <p:nvSpPr>
          <p:cNvPr id="129" name="TextBox 128"/>
          <p:cNvSpPr txBox="1"/>
          <p:nvPr/>
        </p:nvSpPr>
        <p:spPr>
          <a:xfrm>
            <a:off x="3136392" y="3822192"/>
            <a:ext cx="530352" cy="201168"/>
          </a:xfrm>
          <a:prstGeom prst="rect">
            <a:avLst/>
          </a:prstGeom>
          <a:noFill/>
        </p:spPr>
        <p:txBody>
          <a:bodyPr wrap="square">
            <a:spAutoFit/>
          </a:bodyPr>
          <a:lstStyle/>
          <a:p>
            <a:pPr algn="ctr">
              <a:defRPr sz="1000" b="1">
                <a:solidFill>
                  <a:srgbClr val="D97706"/>
                </a:solidFill>
                <a:latin typeface="Calibri"/>
              </a:defRPr>
            </a:pPr>
            <a:r>
              <a:t>98%</a:t>
            </a:r>
          </a:p>
        </p:txBody>
      </p:sp>
      <p:sp>
        <p:nvSpPr>
          <p:cNvPr id="130" name="TextBox 129"/>
          <p:cNvSpPr txBox="1"/>
          <p:nvPr/>
        </p:nvSpPr>
        <p:spPr>
          <a:xfrm>
            <a:off x="3666744" y="3822192"/>
            <a:ext cx="804672" cy="201168"/>
          </a:xfrm>
          <a:prstGeom prst="rect">
            <a:avLst/>
          </a:prstGeom>
          <a:noFill/>
        </p:spPr>
        <p:txBody>
          <a:bodyPr wrap="square">
            <a:spAutoFit/>
          </a:bodyPr>
          <a:lstStyle/>
          <a:p>
            <a:pPr algn="ctr">
              <a:defRPr sz="1000" b="0">
                <a:solidFill>
                  <a:srgbClr val="065F46"/>
                </a:solidFill>
                <a:latin typeface="Calibri"/>
              </a:defRPr>
            </a:pPr>
            <a:r>
              <a:t>$2.9M</a:t>
            </a:r>
          </a:p>
        </p:txBody>
      </p:sp>
      <p:sp>
        <p:nvSpPr>
          <p:cNvPr id="131" name="TextBox 130"/>
          <p:cNvSpPr txBox="1"/>
          <p:nvPr/>
        </p:nvSpPr>
        <p:spPr>
          <a:xfrm>
            <a:off x="4471416" y="3822192"/>
            <a:ext cx="658368" cy="201168"/>
          </a:xfrm>
          <a:prstGeom prst="rect">
            <a:avLst/>
          </a:prstGeom>
          <a:noFill/>
        </p:spPr>
        <p:txBody>
          <a:bodyPr wrap="square">
            <a:spAutoFit/>
          </a:bodyPr>
          <a:lstStyle/>
          <a:p>
            <a:pPr algn="ctr">
              <a:defRPr sz="1000" b="0">
                <a:solidFill>
                  <a:srgbClr val="059669"/>
                </a:solidFill>
                <a:latin typeface="Calibri"/>
              </a:defRPr>
            </a:pPr>
            <a:r>
              <a:t>$179K</a:t>
            </a:r>
          </a:p>
        </p:txBody>
      </p:sp>
      <p:sp>
        <p:nvSpPr>
          <p:cNvPr id="132" name="TextBox 131"/>
          <p:cNvSpPr txBox="1"/>
          <p:nvPr/>
        </p:nvSpPr>
        <p:spPr>
          <a:xfrm>
            <a:off x="5129783" y="3822192"/>
            <a:ext cx="658368" cy="201168"/>
          </a:xfrm>
          <a:prstGeom prst="rect">
            <a:avLst/>
          </a:prstGeom>
          <a:noFill/>
        </p:spPr>
        <p:txBody>
          <a:bodyPr wrap="square">
            <a:spAutoFit/>
          </a:bodyPr>
          <a:lstStyle/>
          <a:p>
            <a:pPr algn="ctr">
              <a:defRPr sz="1000" b="0">
                <a:solidFill>
                  <a:srgbClr val="DC2626"/>
                </a:solidFill>
                <a:latin typeface="Calibri"/>
              </a:defRPr>
            </a:pPr>
            <a:r>
              <a:t>$1.3M</a:t>
            </a:r>
          </a:p>
        </p:txBody>
      </p:sp>
      <p:sp>
        <p:nvSpPr>
          <p:cNvPr id="133" name="TextBox 132"/>
          <p:cNvSpPr txBox="1"/>
          <p:nvPr/>
        </p:nvSpPr>
        <p:spPr>
          <a:xfrm>
            <a:off x="5788151" y="3822192"/>
            <a:ext cx="621792" cy="201168"/>
          </a:xfrm>
          <a:prstGeom prst="rect">
            <a:avLst/>
          </a:prstGeom>
          <a:noFill/>
        </p:spPr>
        <p:txBody>
          <a:bodyPr wrap="square">
            <a:spAutoFit/>
          </a:bodyPr>
          <a:lstStyle/>
          <a:p>
            <a:pPr algn="ctr">
              <a:defRPr sz="1000" b="0">
                <a:solidFill>
                  <a:srgbClr val="111827"/>
                </a:solidFill>
                <a:latin typeface="Calibri"/>
              </a:defRPr>
            </a:pPr>
            <a:r>
              <a:t>5782</a:t>
            </a:r>
          </a:p>
        </p:txBody>
      </p:sp>
      <p:sp>
        <p:nvSpPr>
          <p:cNvPr id="134" name="TextBox 133"/>
          <p:cNvSpPr txBox="1"/>
          <p:nvPr/>
        </p:nvSpPr>
        <p:spPr>
          <a:xfrm>
            <a:off x="6409943" y="3822192"/>
            <a:ext cx="566928" cy="201168"/>
          </a:xfrm>
          <a:prstGeom prst="rect">
            <a:avLst/>
          </a:prstGeom>
          <a:noFill/>
        </p:spPr>
        <p:txBody>
          <a:bodyPr wrap="square">
            <a:spAutoFit/>
          </a:bodyPr>
          <a:lstStyle/>
          <a:p>
            <a:pPr algn="ctr">
              <a:defRPr sz="1000" b="0">
                <a:solidFill>
                  <a:srgbClr val="111827"/>
                </a:solidFill>
                <a:latin typeface="Calibri"/>
              </a:defRPr>
            </a:pPr>
            <a:r>
              <a:t>94</a:t>
            </a:r>
          </a:p>
        </p:txBody>
      </p:sp>
      <p:sp>
        <p:nvSpPr>
          <p:cNvPr id="135" name="TextBox 134"/>
          <p:cNvSpPr txBox="1"/>
          <p:nvPr/>
        </p:nvSpPr>
        <p:spPr>
          <a:xfrm>
            <a:off x="6976871" y="3822192"/>
            <a:ext cx="566928" cy="201168"/>
          </a:xfrm>
          <a:prstGeom prst="rect">
            <a:avLst/>
          </a:prstGeom>
          <a:noFill/>
        </p:spPr>
        <p:txBody>
          <a:bodyPr wrap="square">
            <a:spAutoFit/>
          </a:bodyPr>
          <a:lstStyle/>
          <a:p>
            <a:pPr algn="ctr">
              <a:defRPr sz="1000" b="0">
                <a:solidFill>
                  <a:srgbClr val="111827"/>
                </a:solidFill>
                <a:latin typeface="Calibri"/>
              </a:defRPr>
            </a:pPr>
            <a:r>
              <a:t>3054</a:t>
            </a:r>
          </a:p>
        </p:txBody>
      </p:sp>
      <p:sp>
        <p:nvSpPr>
          <p:cNvPr id="136" name="TextBox 135"/>
          <p:cNvSpPr txBox="1"/>
          <p:nvPr/>
        </p:nvSpPr>
        <p:spPr>
          <a:xfrm>
            <a:off x="7543799" y="3822192"/>
            <a:ext cx="530352" cy="201168"/>
          </a:xfrm>
          <a:prstGeom prst="rect">
            <a:avLst/>
          </a:prstGeom>
          <a:noFill/>
        </p:spPr>
        <p:txBody>
          <a:bodyPr wrap="square">
            <a:spAutoFit/>
          </a:bodyPr>
          <a:lstStyle/>
          <a:p>
            <a:pPr algn="ctr">
              <a:defRPr sz="1000" b="0">
                <a:solidFill>
                  <a:srgbClr val="111827"/>
                </a:solidFill>
                <a:latin typeface="Calibri"/>
              </a:defRPr>
            </a:pPr>
            <a:r>
              <a:t>77</a:t>
            </a:r>
          </a:p>
        </p:txBody>
      </p:sp>
      <p:sp>
        <p:nvSpPr>
          <p:cNvPr id="137" name="TextBox 136"/>
          <p:cNvSpPr txBox="1"/>
          <p:nvPr/>
        </p:nvSpPr>
        <p:spPr>
          <a:xfrm>
            <a:off x="8074151" y="3822192"/>
            <a:ext cx="804672" cy="201168"/>
          </a:xfrm>
          <a:prstGeom prst="rect">
            <a:avLst/>
          </a:prstGeom>
          <a:noFill/>
        </p:spPr>
        <p:txBody>
          <a:bodyPr wrap="square">
            <a:spAutoFit/>
          </a:bodyPr>
          <a:lstStyle/>
          <a:p>
            <a:pPr algn="ctr">
              <a:defRPr sz="1000" b="0">
                <a:solidFill>
                  <a:srgbClr val="065F46"/>
                </a:solidFill>
                <a:latin typeface="Calibri"/>
              </a:defRPr>
            </a:pPr>
            <a:r>
              <a:t>$2.0M</a:t>
            </a:r>
          </a:p>
        </p:txBody>
      </p:sp>
      <p:sp>
        <p:nvSpPr>
          <p:cNvPr id="138" name="TextBox 137"/>
          <p:cNvSpPr txBox="1"/>
          <p:nvPr/>
        </p:nvSpPr>
        <p:spPr>
          <a:xfrm>
            <a:off x="8878824" y="3822192"/>
            <a:ext cx="658368" cy="201168"/>
          </a:xfrm>
          <a:prstGeom prst="rect">
            <a:avLst/>
          </a:prstGeom>
          <a:noFill/>
        </p:spPr>
        <p:txBody>
          <a:bodyPr wrap="square">
            <a:spAutoFit/>
          </a:bodyPr>
          <a:lstStyle/>
          <a:p>
            <a:pPr algn="ctr">
              <a:defRPr sz="1000" b="0">
                <a:solidFill>
                  <a:srgbClr val="059669"/>
                </a:solidFill>
                <a:latin typeface="Calibri"/>
              </a:defRPr>
            </a:pPr>
            <a:r>
              <a:t>$74K</a:t>
            </a:r>
          </a:p>
        </p:txBody>
      </p:sp>
      <p:sp>
        <p:nvSpPr>
          <p:cNvPr id="139" name="TextBox 138"/>
          <p:cNvSpPr txBox="1"/>
          <p:nvPr/>
        </p:nvSpPr>
        <p:spPr>
          <a:xfrm>
            <a:off x="9537192" y="3822192"/>
            <a:ext cx="658368" cy="201168"/>
          </a:xfrm>
          <a:prstGeom prst="rect">
            <a:avLst/>
          </a:prstGeom>
          <a:noFill/>
        </p:spPr>
        <p:txBody>
          <a:bodyPr wrap="square">
            <a:spAutoFit/>
          </a:bodyPr>
          <a:lstStyle/>
          <a:p>
            <a:pPr algn="ctr">
              <a:defRPr sz="1000" b="0">
                <a:solidFill>
                  <a:srgbClr val="DC2626"/>
                </a:solidFill>
                <a:latin typeface="Calibri"/>
              </a:defRPr>
            </a:pPr>
            <a:r>
              <a:t>$561K</a:t>
            </a:r>
          </a:p>
        </p:txBody>
      </p:sp>
      <p:sp>
        <p:nvSpPr>
          <p:cNvPr id="140" name="TextBox 139"/>
          <p:cNvSpPr txBox="1"/>
          <p:nvPr/>
        </p:nvSpPr>
        <p:spPr>
          <a:xfrm>
            <a:off x="10195560" y="3822192"/>
            <a:ext cx="685800" cy="201168"/>
          </a:xfrm>
          <a:prstGeom prst="rect">
            <a:avLst/>
          </a:prstGeom>
          <a:noFill/>
        </p:spPr>
        <p:txBody>
          <a:bodyPr wrap="square">
            <a:spAutoFit/>
          </a:bodyPr>
          <a:lstStyle/>
          <a:p>
            <a:pPr algn="ctr">
              <a:defRPr sz="1000" b="0">
                <a:solidFill>
                  <a:srgbClr val="DC2626"/>
                </a:solidFill>
                <a:latin typeface="Calibri"/>
              </a:defRPr>
            </a:pPr>
            <a:r>
              <a:t>13</a:t>
            </a:r>
          </a:p>
        </p:txBody>
      </p:sp>
      <p:sp>
        <p:nvSpPr>
          <p:cNvPr id="141" name="TextBox 140"/>
          <p:cNvSpPr txBox="1"/>
          <p:nvPr/>
        </p:nvSpPr>
        <p:spPr>
          <a:xfrm>
            <a:off x="182880" y="4206240"/>
            <a:ext cx="1234440" cy="201168"/>
          </a:xfrm>
          <a:prstGeom prst="rect">
            <a:avLst/>
          </a:prstGeom>
          <a:noFill/>
        </p:spPr>
        <p:txBody>
          <a:bodyPr wrap="square">
            <a:spAutoFit/>
          </a:bodyPr>
          <a:lstStyle/>
          <a:p>
            <a:pPr algn="l">
              <a:defRPr sz="1000" b="1">
                <a:solidFill>
                  <a:srgbClr val="111827"/>
                </a:solidFill>
                <a:latin typeface="Calibri"/>
              </a:defRPr>
            </a:pPr>
            <a:r>
              <a:t>Cameron Brader</a:t>
            </a:r>
          </a:p>
        </p:txBody>
      </p:sp>
      <p:sp>
        <p:nvSpPr>
          <p:cNvPr id="142" name="TextBox 141"/>
          <p:cNvSpPr txBox="1"/>
          <p:nvPr/>
        </p:nvSpPr>
        <p:spPr>
          <a:xfrm>
            <a:off x="1417320" y="4206240"/>
            <a:ext cx="594360" cy="201168"/>
          </a:xfrm>
          <a:prstGeom prst="rect">
            <a:avLst/>
          </a:prstGeom>
          <a:noFill/>
        </p:spPr>
        <p:txBody>
          <a:bodyPr wrap="square">
            <a:spAutoFit/>
          </a:bodyPr>
          <a:lstStyle/>
          <a:p>
            <a:pPr algn="ctr">
              <a:defRPr sz="1000" b="0">
                <a:solidFill>
                  <a:srgbClr val="6B7280"/>
                </a:solidFill>
                <a:latin typeface="Calibri"/>
              </a:defRPr>
            </a:pPr>
            <a:r>
              <a:t>48</a:t>
            </a:r>
          </a:p>
        </p:txBody>
      </p:sp>
      <p:sp>
        <p:nvSpPr>
          <p:cNvPr id="143" name="TextBox 142"/>
          <p:cNvSpPr txBox="1"/>
          <p:nvPr/>
        </p:nvSpPr>
        <p:spPr>
          <a:xfrm>
            <a:off x="2011680" y="4206240"/>
            <a:ext cx="530352" cy="201168"/>
          </a:xfrm>
          <a:prstGeom prst="rect">
            <a:avLst/>
          </a:prstGeom>
          <a:noFill/>
        </p:spPr>
        <p:txBody>
          <a:bodyPr wrap="square">
            <a:spAutoFit/>
          </a:bodyPr>
          <a:lstStyle/>
          <a:p>
            <a:pPr algn="ctr">
              <a:defRPr sz="1000" b="0">
                <a:solidFill>
                  <a:srgbClr val="059669"/>
                </a:solidFill>
                <a:latin typeface="Calibri"/>
              </a:defRPr>
            </a:pPr>
            <a:r>
              <a:t>47</a:t>
            </a:r>
          </a:p>
        </p:txBody>
      </p:sp>
      <p:sp>
        <p:nvSpPr>
          <p:cNvPr id="144" name="TextBox 143"/>
          <p:cNvSpPr txBox="1"/>
          <p:nvPr/>
        </p:nvSpPr>
        <p:spPr>
          <a:xfrm>
            <a:off x="2542032" y="4206240"/>
            <a:ext cx="594360" cy="201168"/>
          </a:xfrm>
          <a:prstGeom prst="rect">
            <a:avLst/>
          </a:prstGeom>
          <a:noFill/>
        </p:spPr>
        <p:txBody>
          <a:bodyPr wrap="square">
            <a:spAutoFit/>
          </a:bodyPr>
          <a:lstStyle/>
          <a:p>
            <a:pPr algn="ctr">
              <a:defRPr sz="1000" b="1">
                <a:solidFill>
                  <a:srgbClr val="D97706"/>
                </a:solidFill>
                <a:latin typeface="Calibri"/>
              </a:defRPr>
            </a:pPr>
            <a:r>
              <a:t>1</a:t>
            </a:r>
          </a:p>
        </p:txBody>
      </p:sp>
      <p:sp>
        <p:nvSpPr>
          <p:cNvPr id="145" name="TextBox 144"/>
          <p:cNvSpPr txBox="1"/>
          <p:nvPr/>
        </p:nvSpPr>
        <p:spPr>
          <a:xfrm>
            <a:off x="3136392" y="4206240"/>
            <a:ext cx="530352" cy="201168"/>
          </a:xfrm>
          <a:prstGeom prst="rect">
            <a:avLst/>
          </a:prstGeom>
          <a:noFill/>
        </p:spPr>
        <p:txBody>
          <a:bodyPr wrap="square">
            <a:spAutoFit/>
          </a:bodyPr>
          <a:lstStyle/>
          <a:p>
            <a:pPr algn="ctr">
              <a:defRPr sz="1000" b="1">
                <a:solidFill>
                  <a:srgbClr val="D97706"/>
                </a:solidFill>
                <a:latin typeface="Calibri"/>
              </a:defRPr>
            </a:pPr>
            <a:r>
              <a:t>98%</a:t>
            </a:r>
          </a:p>
        </p:txBody>
      </p:sp>
      <p:sp>
        <p:nvSpPr>
          <p:cNvPr id="146" name="TextBox 145"/>
          <p:cNvSpPr txBox="1"/>
          <p:nvPr/>
        </p:nvSpPr>
        <p:spPr>
          <a:xfrm>
            <a:off x="3666744" y="4206240"/>
            <a:ext cx="804672" cy="201168"/>
          </a:xfrm>
          <a:prstGeom prst="rect">
            <a:avLst/>
          </a:prstGeom>
          <a:noFill/>
        </p:spPr>
        <p:txBody>
          <a:bodyPr wrap="square">
            <a:spAutoFit/>
          </a:bodyPr>
          <a:lstStyle/>
          <a:p>
            <a:pPr algn="ctr">
              <a:defRPr sz="1000" b="0">
                <a:solidFill>
                  <a:srgbClr val="065F46"/>
                </a:solidFill>
                <a:latin typeface="Calibri"/>
              </a:defRPr>
            </a:pPr>
            <a:r>
              <a:t>$2.5M</a:t>
            </a:r>
          </a:p>
        </p:txBody>
      </p:sp>
      <p:sp>
        <p:nvSpPr>
          <p:cNvPr id="147" name="TextBox 146"/>
          <p:cNvSpPr txBox="1"/>
          <p:nvPr/>
        </p:nvSpPr>
        <p:spPr>
          <a:xfrm>
            <a:off x="4471416" y="4206240"/>
            <a:ext cx="658368" cy="201168"/>
          </a:xfrm>
          <a:prstGeom prst="rect">
            <a:avLst/>
          </a:prstGeom>
          <a:noFill/>
        </p:spPr>
        <p:txBody>
          <a:bodyPr wrap="square">
            <a:spAutoFit/>
          </a:bodyPr>
          <a:lstStyle/>
          <a:p>
            <a:pPr algn="ctr">
              <a:defRPr sz="1000" b="0">
                <a:solidFill>
                  <a:srgbClr val="059669"/>
                </a:solidFill>
                <a:latin typeface="Calibri"/>
              </a:defRPr>
            </a:pPr>
            <a:r>
              <a:t>$154K</a:t>
            </a:r>
          </a:p>
        </p:txBody>
      </p:sp>
      <p:sp>
        <p:nvSpPr>
          <p:cNvPr id="148" name="TextBox 147"/>
          <p:cNvSpPr txBox="1"/>
          <p:nvPr/>
        </p:nvSpPr>
        <p:spPr>
          <a:xfrm>
            <a:off x="5129783" y="4206240"/>
            <a:ext cx="658368" cy="201168"/>
          </a:xfrm>
          <a:prstGeom prst="rect">
            <a:avLst/>
          </a:prstGeom>
          <a:noFill/>
        </p:spPr>
        <p:txBody>
          <a:bodyPr wrap="square">
            <a:spAutoFit/>
          </a:bodyPr>
          <a:lstStyle/>
          <a:p>
            <a:pPr algn="ctr">
              <a:defRPr sz="1000" b="0">
                <a:solidFill>
                  <a:srgbClr val="DC2626"/>
                </a:solidFill>
                <a:latin typeface="Calibri"/>
              </a:defRPr>
            </a:pPr>
            <a:r>
              <a:t>$1.1M</a:t>
            </a:r>
          </a:p>
        </p:txBody>
      </p:sp>
      <p:sp>
        <p:nvSpPr>
          <p:cNvPr id="149" name="TextBox 148"/>
          <p:cNvSpPr txBox="1"/>
          <p:nvPr/>
        </p:nvSpPr>
        <p:spPr>
          <a:xfrm>
            <a:off x="5788151" y="4206240"/>
            <a:ext cx="621792" cy="201168"/>
          </a:xfrm>
          <a:prstGeom prst="rect">
            <a:avLst/>
          </a:prstGeom>
          <a:noFill/>
        </p:spPr>
        <p:txBody>
          <a:bodyPr wrap="square">
            <a:spAutoFit/>
          </a:bodyPr>
          <a:lstStyle/>
          <a:p>
            <a:pPr algn="ctr">
              <a:defRPr sz="1000" b="0">
                <a:solidFill>
                  <a:srgbClr val="111827"/>
                </a:solidFill>
                <a:latin typeface="Calibri"/>
              </a:defRPr>
            </a:pPr>
            <a:r>
              <a:t>7330</a:t>
            </a:r>
          </a:p>
        </p:txBody>
      </p:sp>
      <p:sp>
        <p:nvSpPr>
          <p:cNvPr id="150" name="TextBox 149"/>
          <p:cNvSpPr txBox="1"/>
          <p:nvPr/>
        </p:nvSpPr>
        <p:spPr>
          <a:xfrm>
            <a:off x="6409943" y="4206240"/>
            <a:ext cx="566928" cy="201168"/>
          </a:xfrm>
          <a:prstGeom prst="rect">
            <a:avLst/>
          </a:prstGeom>
          <a:noFill/>
        </p:spPr>
        <p:txBody>
          <a:bodyPr wrap="square">
            <a:spAutoFit/>
          </a:bodyPr>
          <a:lstStyle/>
          <a:p>
            <a:pPr algn="ctr">
              <a:defRPr sz="1000" b="0">
                <a:solidFill>
                  <a:srgbClr val="111827"/>
                </a:solidFill>
                <a:latin typeface="Calibri"/>
              </a:defRPr>
            </a:pPr>
            <a:r>
              <a:t>112</a:t>
            </a:r>
          </a:p>
        </p:txBody>
      </p:sp>
      <p:sp>
        <p:nvSpPr>
          <p:cNvPr id="151" name="TextBox 150"/>
          <p:cNvSpPr txBox="1"/>
          <p:nvPr/>
        </p:nvSpPr>
        <p:spPr>
          <a:xfrm>
            <a:off x="6976871" y="4206240"/>
            <a:ext cx="566928" cy="201168"/>
          </a:xfrm>
          <a:prstGeom prst="rect">
            <a:avLst/>
          </a:prstGeom>
          <a:noFill/>
        </p:spPr>
        <p:txBody>
          <a:bodyPr wrap="square">
            <a:spAutoFit/>
          </a:bodyPr>
          <a:lstStyle/>
          <a:p>
            <a:pPr algn="ctr">
              <a:defRPr sz="1000" b="0">
                <a:solidFill>
                  <a:srgbClr val="111827"/>
                </a:solidFill>
                <a:latin typeface="Calibri"/>
              </a:defRPr>
            </a:pPr>
            <a:r>
              <a:t>712</a:t>
            </a:r>
          </a:p>
        </p:txBody>
      </p:sp>
      <p:sp>
        <p:nvSpPr>
          <p:cNvPr id="152" name="TextBox 151"/>
          <p:cNvSpPr txBox="1"/>
          <p:nvPr/>
        </p:nvSpPr>
        <p:spPr>
          <a:xfrm>
            <a:off x="7543799" y="4206240"/>
            <a:ext cx="530352" cy="201168"/>
          </a:xfrm>
          <a:prstGeom prst="rect">
            <a:avLst/>
          </a:prstGeom>
          <a:noFill/>
        </p:spPr>
        <p:txBody>
          <a:bodyPr wrap="square">
            <a:spAutoFit/>
          </a:bodyPr>
          <a:lstStyle/>
          <a:p>
            <a:pPr algn="ctr">
              <a:defRPr sz="1000" b="0">
                <a:solidFill>
                  <a:srgbClr val="111827"/>
                </a:solidFill>
                <a:latin typeface="Calibri"/>
              </a:defRPr>
            </a:pPr>
            <a:r>
              <a:t>36</a:t>
            </a:r>
          </a:p>
        </p:txBody>
      </p:sp>
      <p:sp>
        <p:nvSpPr>
          <p:cNvPr id="153" name="TextBox 152"/>
          <p:cNvSpPr txBox="1"/>
          <p:nvPr/>
        </p:nvSpPr>
        <p:spPr>
          <a:xfrm>
            <a:off x="8074151" y="4206240"/>
            <a:ext cx="804672" cy="201168"/>
          </a:xfrm>
          <a:prstGeom prst="rect">
            <a:avLst/>
          </a:prstGeom>
          <a:noFill/>
        </p:spPr>
        <p:txBody>
          <a:bodyPr wrap="square">
            <a:spAutoFit/>
          </a:bodyPr>
          <a:lstStyle/>
          <a:p>
            <a:pPr algn="ctr">
              <a:defRPr sz="1000" b="0">
                <a:solidFill>
                  <a:srgbClr val="065F46"/>
                </a:solidFill>
                <a:latin typeface="Calibri"/>
              </a:defRPr>
            </a:pPr>
            <a:r>
              <a:t>$970K</a:t>
            </a:r>
          </a:p>
        </p:txBody>
      </p:sp>
      <p:sp>
        <p:nvSpPr>
          <p:cNvPr id="154" name="TextBox 153"/>
          <p:cNvSpPr txBox="1"/>
          <p:nvPr/>
        </p:nvSpPr>
        <p:spPr>
          <a:xfrm>
            <a:off x="8878824" y="4206240"/>
            <a:ext cx="658368" cy="201168"/>
          </a:xfrm>
          <a:prstGeom prst="rect">
            <a:avLst/>
          </a:prstGeom>
          <a:noFill/>
        </p:spPr>
        <p:txBody>
          <a:bodyPr wrap="square">
            <a:spAutoFit/>
          </a:bodyPr>
          <a:lstStyle/>
          <a:p>
            <a:pPr algn="ctr">
              <a:defRPr sz="1000" b="0">
                <a:solidFill>
                  <a:srgbClr val="059669"/>
                </a:solidFill>
                <a:latin typeface="Calibri"/>
              </a:defRPr>
            </a:pPr>
            <a:r>
              <a:t>$187K</a:t>
            </a:r>
          </a:p>
        </p:txBody>
      </p:sp>
      <p:sp>
        <p:nvSpPr>
          <p:cNvPr id="155" name="TextBox 154"/>
          <p:cNvSpPr txBox="1"/>
          <p:nvPr/>
        </p:nvSpPr>
        <p:spPr>
          <a:xfrm>
            <a:off x="9537192" y="4206240"/>
            <a:ext cx="658368" cy="201168"/>
          </a:xfrm>
          <a:prstGeom prst="rect">
            <a:avLst/>
          </a:prstGeom>
          <a:noFill/>
        </p:spPr>
        <p:txBody>
          <a:bodyPr wrap="square">
            <a:spAutoFit/>
          </a:bodyPr>
          <a:lstStyle/>
          <a:p>
            <a:pPr algn="ctr">
              <a:defRPr sz="1000" b="0">
                <a:solidFill>
                  <a:srgbClr val="DC2626"/>
                </a:solidFill>
                <a:latin typeface="Calibri"/>
              </a:defRPr>
            </a:pPr>
            <a:r>
              <a:t>$30K</a:t>
            </a:r>
          </a:p>
        </p:txBody>
      </p:sp>
      <p:sp>
        <p:nvSpPr>
          <p:cNvPr id="156" name="TextBox 155"/>
          <p:cNvSpPr txBox="1"/>
          <p:nvPr/>
        </p:nvSpPr>
        <p:spPr>
          <a:xfrm>
            <a:off x="10195560" y="4206240"/>
            <a:ext cx="685800" cy="201168"/>
          </a:xfrm>
          <a:prstGeom prst="rect">
            <a:avLst/>
          </a:prstGeom>
          <a:noFill/>
        </p:spPr>
        <p:txBody>
          <a:bodyPr wrap="square">
            <a:spAutoFit/>
          </a:bodyPr>
          <a:lstStyle/>
          <a:p>
            <a:pPr algn="ctr">
              <a:defRPr sz="1000" b="0">
                <a:solidFill>
                  <a:srgbClr val="DC2626"/>
                </a:solidFill>
                <a:latin typeface="Calibri"/>
              </a:defRPr>
            </a:pPr>
            <a:r>
              <a:t>21</a:t>
            </a:r>
          </a:p>
        </p:txBody>
      </p:sp>
      <p:sp>
        <p:nvSpPr>
          <p:cNvPr id="157" name="Rectangle 156"/>
          <p:cNvSpPr/>
          <p:nvPr/>
        </p:nvSpPr>
        <p:spPr>
          <a:xfrm>
            <a:off x="182880" y="4572000"/>
            <a:ext cx="10698480" cy="384048"/>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82880" y="4590288"/>
            <a:ext cx="1234440" cy="201168"/>
          </a:xfrm>
          <a:prstGeom prst="rect">
            <a:avLst/>
          </a:prstGeom>
          <a:noFill/>
        </p:spPr>
        <p:txBody>
          <a:bodyPr wrap="square">
            <a:spAutoFit/>
          </a:bodyPr>
          <a:lstStyle/>
          <a:p>
            <a:pPr algn="l">
              <a:defRPr sz="1000" b="1">
                <a:solidFill>
                  <a:srgbClr val="111827"/>
                </a:solidFill>
                <a:latin typeface="Calibri"/>
              </a:defRPr>
            </a:pPr>
            <a:r>
              <a:t>Taylor Sloan</a:t>
            </a:r>
          </a:p>
        </p:txBody>
      </p:sp>
      <p:sp>
        <p:nvSpPr>
          <p:cNvPr id="159" name="TextBox 158"/>
          <p:cNvSpPr txBox="1"/>
          <p:nvPr/>
        </p:nvSpPr>
        <p:spPr>
          <a:xfrm>
            <a:off x="1417320" y="4590288"/>
            <a:ext cx="594360" cy="201168"/>
          </a:xfrm>
          <a:prstGeom prst="rect">
            <a:avLst/>
          </a:prstGeom>
          <a:noFill/>
        </p:spPr>
        <p:txBody>
          <a:bodyPr wrap="square">
            <a:spAutoFit/>
          </a:bodyPr>
          <a:lstStyle/>
          <a:p>
            <a:pPr algn="ctr">
              <a:defRPr sz="1000" b="0">
                <a:solidFill>
                  <a:srgbClr val="6B7280"/>
                </a:solidFill>
                <a:latin typeface="Calibri"/>
              </a:defRPr>
            </a:pPr>
            <a:r>
              <a:t>26</a:t>
            </a:r>
          </a:p>
        </p:txBody>
      </p:sp>
      <p:sp>
        <p:nvSpPr>
          <p:cNvPr id="160" name="TextBox 159"/>
          <p:cNvSpPr txBox="1"/>
          <p:nvPr/>
        </p:nvSpPr>
        <p:spPr>
          <a:xfrm>
            <a:off x="2011680" y="4590288"/>
            <a:ext cx="530352" cy="201168"/>
          </a:xfrm>
          <a:prstGeom prst="rect">
            <a:avLst/>
          </a:prstGeom>
          <a:noFill/>
        </p:spPr>
        <p:txBody>
          <a:bodyPr wrap="square">
            <a:spAutoFit/>
          </a:bodyPr>
          <a:lstStyle/>
          <a:p>
            <a:pPr algn="ctr">
              <a:defRPr sz="1000" b="0">
                <a:solidFill>
                  <a:srgbClr val="059669"/>
                </a:solidFill>
                <a:latin typeface="Calibri"/>
              </a:defRPr>
            </a:pPr>
            <a:r>
              <a:t>25</a:t>
            </a:r>
          </a:p>
        </p:txBody>
      </p:sp>
      <p:sp>
        <p:nvSpPr>
          <p:cNvPr id="161" name="TextBox 160"/>
          <p:cNvSpPr txBox="1"/>
          <p:nvPr/>
        </p:nvSpPr>
        <p:spPr>
          <a:xfrm>
            <a:off x="2542032" y="4590288"/>
            <a:ext cx="594360" cy="201168"/>
          </a:xfrm>
          <a:prstGeom prst="rect">
            <a:avLst/>
          </a:prstGeom>
          <a:noFill/>
        </p:spPr>
        <p:txBody>
          <a:bodyPr wrap="square">
            <a:spAutoFit/>
          </a:bodyPr>
          <a:lstStyle/>
          <a:p>
            <a:pPr algn="ctr">
              <a:defRPr sz="1000" b="1">
                <a:solidFill>
                  <a:srgbClr val="D97706"/>
                </a:solidFill>
                <a:latin typeface="Calibri"/>
              </a:defRPr>
            </a:pPr>
            <a:r>
              <a:t>1</a:t>
            </a:r>
          </a:p>
        </p:txBody>
      </p:sp>
      <p:sp>
        <p:nvSpPr>
          <p:cNvPr id="162" name="TextBox 161"/>
          <p:cNvSpPr txBox="1"/>
          <p:nvPr/>
        </p:nvSpPr>
        <p:spPr>
          <a:xfrm>
            <a:off x="3136392" y="4590288"/>
            <a:ext cx="530352" cy="201168"/>
          </a:xfrm>
          <a:prstGeom prst="rect">
            <a:avLst/>
          </a:prstGeom>
          <a:noFill/>
        </p:spPr>
        <p:txBody>
          <a:bodyPr wrap="square">
            <a:spAutoFit/>
          </a:bodyPr>
          <a:lstStyle/>
          <a:p>
            <a:pPr algn="ctr">
              <a:defRPr sz="1000" b="1">
                <a:solidFill>
                  <a:srgbClr val="D97706"/>
                </a:solidFill>
                <a:latin typeface="Calibri"/>
              </a:defRPr>
            </a:pPr>
            <a:r>
              <a:t>96%</a:t>
            </a:r>
          </a:p>
        </p:txBody>
      </p:sp>
      <p:sp>
        <p:nvSpPr>
          <p:cNvPr id="163" name="TextBox 162"/>
          <p:cNvSpPr txBox="1"/>
          <p:nvPr/>
        </p:nvSpPr>
        <p:spPr>
          <a:xfrm>
            <a:off x="3666744" y="4590288"/>
            <a:ext cx="804672" cy="201168"/>
          </a:xfrm>
          <a:prstGeom prst="rect">
            <a:avLst/>
          </a:prstGeom>
          <a:noFill/>
        </p:spPr>
        <p:txBody>
          <a:bodyPr wrap="square">
            <a:spAutoFit/>
          </a:bodyPr>
          <a:lstStyle/>
          <a:p>
            <a:pPr algn="ctr">
              <a:defRPr sz="1000" b="0">
                <a:solidFill>
                  <a:srgbClr val="065F46"/>
                </a:solidFill>
                <a:latin typeface="Calibri"/>
              </a:defRPr>
            </a:pPr>
            <a:r>
              <a:t>$728K</a:t>
            </a:r>
          </a:p>
        </p:txBody>
      </p:sp>
      <p:sp>
        <p:nvSpPr>
          <p:cNvPr id="164" name="TextBox 163"/>
          <p:cNvSpPr txBox="1"/>
          <p:nvPr/>
        </p:nvSpPr>
        <p:spPr>
          <a:xfrm>
            <a:off x="4471416" y="4590288"/>
            <a:ext cx="658368" cy="201168"/>
          </a:xfrm>
          <a:prstGeom prst="rect">
            <a:avLst/>
          </a:prstGeom>
          <a:noFill/>
        </p:spPr>
        <p:txBody>
          <a:bodyPr wrap="square">
            <a:spAutoFit/>
          </a:bodyPr>
          <a:lstStyle/>
          <a:p>
            <a:pPr algn="ctr">
              <a:defRPr sz="1000" b="0">
                <a:solidFill>
                  <a:srgbClr val="059669"/>
                </a:solidFill>
                <a:latin typeface="Calibri"/>
              </a:defRPr>
            </a:pPr>
            <a:r>
              <a:t>$65K</a:t>
            </a:r>
          </a:p>
        </p:txBody>
      </p:sp>
      <p:sp>
        <p:nvSpPr>
          <p:cNvPr id="165" name="TextBox 164"/>
          <p:cNvSpPr txBox="1"/>
          <p:nvPr/>
        </p:nvSpPr>
        <p:spPr>
          <a:xfrm>
            <a:off x="5129783" y="4590288"/>
            <a:ext cx="658368" cy="201168"/>
          </a:xfrm>
          <a:prstGeom prst="rect">
            <a:avLst/>
          </a:prstGeom>
          <a:noFill/>
        </p:spPr>
        <p:txBody>
          <a:bodyPr wrap="square">
            <a:spAutoFit/>
          </a:bodyPr>
          <a:lstStyle/>
          <a:p>
            <a:pPr algn="ctr">
              <a:defRPr sz="1000" b="0">
                <a:solidFill>
                  <a:srgbClr val="DC2626"/>
                </a:solidFill>
                <a:latin typeface="Calibri"/>
              </a:defRPr>
            </a:pPr>
            <a:r>
              <a:t>$203K</a:t>
            </a:r>
          </a:p>
        </p:txBody>
      </p:sp>
      <p:sp>
        <p:nvSpPr>
          <p:cNvPr id="166" name="TextBox 165"/>
          <p:cNvSpPr txBox="1"/>
          <p:nvPr/>
        </p:nvSpPr>
        <p:spPr>
          <a:xfrm>
            <a:off x="5788151" y="4590288"/>
            <a:ext cx="621792" cy="201168"/>
          </a:xfrm>
          <a:prstGeom prst="rect">
            <a:avLst/>
          </a:prstGeom>
          <a:noFill/>
        </p:spPr>
        <p:txBody>
          <a:bodyPr wrap="square">
            <a:spAutoFit/>
          </a:bodyPr>
          <a:lstStyle/>
          <a:p>
            <a:pPr algn="ctr">
              <a:defRPr sz="1000" b="0">
                <a:solidFill>
                  <a:srgbClr val="111827"/>
                </a:solidFill>
                <a:latin typeface="Calibri"/>
              </a:defRPr>
            </a:pPr>
            <a:r>
              <a:t>670</a:t>
            </a:r>
          </a:p>
        </p:txBody>
      </p:sp>
      <p:sp>
        <p:nvSpPr>
          <p:cNvPr id="167" name="TextBox 166"/>
          <p:cNvSpPr txBox="1"/>
          <p:nvPr/>
        </p:nvSpPr>
        <p:spPr>
          <a:xfrm>
            <a:off x="6409943" y="4590288"/>
            <a:ext cx="566928" cy="201168"/>
          </a:xfrm>
          <a:prstGeom prst="rect">
            <a:avLst/>
          </a:prstGeom>
          <a:noFill/>
        </p:spPr>
        <p:txBody>
          <a:bodyPr wrap="square">
            <a:spAutoFit/>
          </a:bodyPr>
          <a:lstStyle/>
          <a:p>
            <a:pPr algn="ctr">
              <a:defRPr sz="1000" b="0">
                <a:solidFill>
                  <a:srgbClr val="111827"/>
                </a:solidFill>
                <a:latin typeface="Calibri"/>
              </a:defRPr>
            </a:pPr>
            <a:r>
              <a:t>20</a:t>
            </a:r>
          </a:p>
        </p:txBody>
      </p:sp>
      <p:sp>
        <p:nvSpPr>
          <p:cNvPr id="168" name="TextBox 167"/>
          <p:cNvSpPr txBox="1"/>
          <p:nvPr/>
        </p:nvSpPr>
        <p:spPr>
          <a:xfrm>
            <a:off x="6976871" y="4590288"/>
            <a:ext cx="566928" cy="201168"/>
          </a:xfrm>
          <a:prstGeom prst="rect">
            <a:avLst/>
          </a:prstGeom>
          <a:noFill/>
        </p:spPr>
        <p:txBody>
          <a:bodyPr wrap="square">
            <a:spAutoFit/>
          </a:bodyPr>
          <a:lstStyle/>
          <a:p>
            <a:pPr algn="ctr">
              <a:defRPr sz="1000" b="0">
                <a:solidFill>
                  <a:srgbClr val="111827"/>
                </a:solidFill>
                <a:latin typeface="Calibri"/>
              </a:defRPr>
            </a:pPr>
            <a:r>
              <a:t>436</a:t>
            </a:r>
          </a:p>
        </p:txBody>
      </p:sp>
      <p:sp>
        <p:nvSpPr>
          <p:cNvPr id="169" name="TextBox 168"/>
          <p:cNvSpPr txBox="1"/>
          <p:nvPr/>
        </p:nvSpPr>
        <p:spPr>
          <a:xfrm>
            <a:off x="7543799" y="4590288"/>
            <a:ext cx="530352" cy="201168"/>
          </a:xfrm>
          <a:prstGeom prst="rect">
            <a:avLst/>
          </a:prstGeom>
          <a:noFill/>
        </p:spPr>
        <p:txBody>
          <a:bodyPr wrap="square">
            <a:spAutoFit/>
          </a:bodyPr>
          <a:lstStyle/>
          <a:p>
            <a:pPr algn="ctr">
              <a:defRPr sz="1000" b="0">
                <a:solidFill>
                  <a:srgbClr val="111827"/>
                </a:solidFill>
                <a:latin typeface="Calibri"/>
              </a:defRPr>
            </a:pPr>
            <a:r>
              <a:t>15</a:t>
            </a:r>
          </a:p>
        </p:txBody>
      </p:sp>
      <p:sp>
        <p:nvSpPr>
          <p:cNvPr id="170" name="TextBox 169"/>
          <p:cNvSpPr txBox="1"/>
          <p:nvPr/>
        </p:nvSpPr>
        <p:spPr>
          <a:xfrm>
            <a:off x="8074151" y="4590288"/>
            <a:ext cx="804672" cy="201168"/>
          </a:xfrm>
          <a:prstGeom prst="rect">
            <a:avLst/>
          </a:prstGeom>
          <a:noFill/>
        </p:spPr>
        <p:txBody>
          <a:bodyPr wrap="square">
            <a:spAutoFit/>
          </a:bodyPr>
          <a:lstStyle/>
          <a:p>
            <a:pPr algn="ctr">
              <a:defRPr sz="1000" b="0">
                <a:solidFill>
                  <a:srgbClr val="065F46"/>
                </a:solidFill>
                <a:latin typeface="Calibri"/>
              </a:defRPr>
            </a:pPr>
            <a:r>
              <a:t>$280K</a:t>
            </a:r>
          </a:p>
        </p:txBody>
      </p:sp>
      <p:sp>
        <p:nvSpPr>
          <p:cNvPr id="171" name="TextBox 170"/>
          <p:cNvSpPr txBox="1"/>
          <p:nvPr/>
        </p:nvSpPr>
        <p:spPr>
          <a:xfrm>
            <a:off x="8878824" y="4590288"/>
            <a:ext cx="658368" cy="201168"/>
          </a:xfrm>
          <a:prstGeom prst="rect">
            <a:avLst/>
          </a:prstGeom>
          <a:noFill/>
        </p:spPr>
        <p:txBody>
          <a:bodyPr wrap="square">
            <a:spAutoFit/>
          </a:bodyPr>
          <a:lstStyle/>
          <a:p>
            <a:pPr algn="ctr">
              <a:defRPr sz="1000" b="0">
                <a:solidFill>
                  <a:srgbClr val="059669"/>
                </a:solidFill>
                <a:latin typeface="Calibri"/>
              </a:defRPr>
            </a:pPr>
            <a:r>
              <a:t>$61K</a:t>
            </a:r>
          </a:p>
        </p:txBody>
      </p:sp>
      <p:sp>
        <p:nvSpPr>
          <p:cNvPr id="172" name="TextBox 171"/>
          <p:cNvSpPr txBox="1"/>
          <p:nvPr/>
        </p:nvSpPr>
        <p:spPr>
          <a:xfrm>
            <a:off x="9537192" y="4590288"/>
            <a:ext cx="658368" cy="201168"/>
          </a:xfrm>
          <a:prstGeom prst="rect">
            <a:avLst/>
          </a:prstGeom>
          <a:noFill/>
        </p:spPr>
        <p:txBody>
          <a:bodyPr wrap="square">
            <a:spAutoFit/>
          </a:bodyPr>
          <a:lstStyle/>
          <a:p>
            <a:pPr algn="ctr">
              <a:defRPr sz="1000" b="0">
                <a:solidFill>
                  <a:srgbClr val="DC2626"/>
                </a:solidFill>
                <a:latin typeface="Calibri"/>
              </a:defRPr>
            </a:pPr>
            <a:r>
              <a:t>$243K</a:t>
            </a:r>
          </a:p>
        </p:txBody>
      </p:sp>
      <p:sp>
        <p:nvSpPr>
          <p:cNvPr id="173" name="TextBox 172"/>
          <p:cNvSpPr txBox="1"/>
          <p:nvPr/>
        </p:nvSpPr>
        <p:spPr>
          <a:xfrm>
            <a:off x="10195560" y="4590288"/>
            <a:ext cx="685800" cy="201168"/>
          </a:xfrm>
          <a:prstGeom prst="rect">
            <a:avLst/>
          </a:prstGeom>
          <a:noFill/>
        </p:spPr>
        <p:txBody>
          <a:bodyPr wrap="square">
            <a:spAutoFit/>
          </a:bodyPr>
          <a:lstStyle/>
          <a:p>
            <a:pPr algn="ctr">
              <a:defRPr sz="1000" b="0">
                <a:solidFill>
                  <a:srgbClr val="DC2626"/>
                </a:solidFill>
                <a:latin typeface="Calibri"/>
              </a:defRPr>
            </a:pPr>
            <a:r>
              <a:t>2</a:t>
            </a:r>
          </a:p>
        </p:txBody>
      </p:sp>
      <p:sp>
        <p:nvSpPr>
          <p:cNvPr id="174" name="TextBox 173"/>
          <p:cNvSpPr txBox="1"/>
          <p:nvPr/>
        </p:nvSpPr>
        <p:spPr>
          <a:xfrm>
            <a:off x="182880" y="4974336"/>
            <a:ext cx="1234440" cy="201168"/>
          </a:xfrm>
          <a:prstGeom prst="rect">
            <a:avLst/>
          </a:prstGeom>
          <a:noFill/>
        </p:spPr>
        <p:txBody>
          <a:bodyPr wrap="square">
            <a:spAutoFit/>
          </a:bodyPr>
          <a:lstStyle/>
          <a:p>
            <a:pPr algn="l">
              <a:defRPr sz="1000" b="1">
                <a:solidFill>
                  <a:srgbClr val="111827"/>
                </a:solidFill>
                <a:latin typeface="Calibri"/>
              </a:defRPr>
            </a:pPr>
            <a:r>
              <a:t>Portia Lewis</a:t>
            </a:r>
          </a:p>
        </p:txBody>
      </p:sp>
      <p:sp>
        <p:nvSpPr>
          <p:cNvPr id="175" name="TextBox 174"/>
          <p:cNvSpPr txBox="1"/>
          <p:nvPr/>
        </p:nvSpPr>
        <p:spPr>
          <a:xfrm>
            <a:off x="1417320" y="4974336"/>
            <a:ext cx="594360" cy="201168"/>
          </a:xfrm>
          <a:prstGeom prst="rect">
            <a:avLst/>
          </a:prstGeom>
          <a:noFill/>
        </p:spPr>
        <p:txBody>
          <a:bodyPr wrap="square">
            <a:spAutoFit/>
          </a:bodyPr>
          <a:lstStyle/>
          <a:p>
            <a:pPr algn="ctr">
              <a:defRPr sz="1000" b="0">
                <a:solidFill>
                  <a:srgbClr val="6B7280"/>
                </a:solidFill>
                <a:latin typeface="Calibri"/>
              </a:defRPr>
            </a:pPr>
            <a:r>
              <a:t>53</a:t>
            </a:r>
          </a:p>
        </p:txBody>
      </p:sp>
      <p:sp>
        <p:nvSpPr>
          <p:cNvPr id="176" name="TextBox 175"/>
          <p:cNvSpPr txBox="1"/>
          <p:nvPr/>
        </p:nvSpPr>
        <p:spPr>
          <a:xfrm>
            <a:off x="2011680" y="4974336"/>
            <a:ext cx="530352" cy="201168"/>
          </a:xfrm>
          <a:prstGeom prst="rect">
            <a:avLst/>
          </a:prstGeom>
          <a:noFill/>
        </p:spPr>
        <p:txBody>
          <a:bodyPr wrap="square">
            <a:spAutoFit/>
          </a:bodyPr>
          <a:lstStyle/>
          <a:p>
            <a:pPr algn="ctr">
              <a:defRPr sz="1000" b="0">
                <a:solidFill>
                  <a:srgbClr val="059669"/>
                </a:solidFill>
                <a:latin typeface="Calibri"/>
              </a:defRPr>
            </a:pPr>
            <a:r>
              <a:t>45</a:t>
            </a:r>
          </a:p>
        </p:txBody>
      </p:sp>
      <p:sp>
        <p:nvSpPr>
          <p:cNvPr id="177" name="TextBox 176"/>
          <p:cNvSpPr txBox="1"/>
          <p:nvPr/>
        </p:nvSpPr>
        <p:spPr>
          <a:xfrm>
            <a:off x="2542032" y="4974336"/>
            <a:ext cx="594360" cy="201168"/>
          </a:xfrm>
          <a:prstGeom prst="rect">
            <a:avLst/>
          </a:prstGeom>
          <a:noFill/>
        </p:spPr>
        <p:txBody>
          <a:bodyPr wrap="square">
            <a:spAutoFit/>
          </a:bodyPr>
          <a:lstStyle/>
          <a:p>
            <a:pPr algn="ctr">
              <a:defRPr sz="1000" b="1">
                <a:solidFill>
                  <a:srgbClr val="DC2626"/>
                </a:solidFill>
                <a:latin typeface="Calibri"/>
              </a:defRPr>
            </a:pPr>
            <a:r>
              <a:t>8</a:t>
            </a:r>
          </a:p>
        </p:txBody>
      </p:sp>
      <p:sp>
        <p:nvSpPr>
          <p:cNvPr id="178" name="TextBox 177"/>
          <p:cNvSpPr txBox="1"/>
          <p:nvPr/>
        </p:nvSpPr>
        <p:spPr>
          <a:xfrm>
            <a:off x="3136392" y="4974336"/>
            <a:ext cx="530352" cy="201168"/>
          </a:xfrm>
          <a:prstGeom prst="rect">
            <a:avLst/>
          </a:prstGeom>
          <a:noFill/>
        </p:spPr>
        <p:txBody>
          <a:bodyPr wrap="square">
            <a:spAutoFit/>
          </a:bodyPr>
          <a:lstStyle/>
          <a:p>
            <a:pPr algn="ctr">
              <a:defRPr sz="1000" b="1">
                <a:solidFill>
                  <a:srgbClr val="D97706"/>
                </a:solidFill>
                <a:latin typeface="Calibri"/>
              </a:defRPr>
            </a:pPr>
            <a:r>
              <a:t>85%</a:t>
            </a:r>
          </a:p>
        </p:txBody>
      </p:sp>
      <p:sp>
        <p:nvSpPr>
          <p:cNvPr id="179" name="TextBox 178"/>
          <p:cNvSpPr txBox="1"/>
          <p:nvPr/>
        </p:nvSpPr>
        <p:spPr>
          <a:xfrm>
            <a:off x="3666744" y="4974336"/>
            <a:ext cx="804672" cy="201168"/>
          </a:xfrm>
          <a:prstGeom prst="rect">
            <a:avLst/>
          </a:prstGeom>
          <a:noFill/>
        </p:spPr>
        <p:txBody>
          <a:bodyPr wrap="square">
            <a:spAutoFit/>
          </a:bodyPr>
          <a:lstStyle/>
          <a:p>
            <a:pPr algn="ctr">
              <a:defRPr sz="1000" b="0">
                <a:solidFill>
                  <a:srgbClr val="065F46"/>
                </a:solidFill>
                <a:latin typeface="Calibri"/>
              </a:defRPr>
            </a:pPr>
            <a:r>
              <a:t>$406K</a:t>
            </a:r>
          </a:p>
        </p:txBody>
      </p:sp>
      <p:sp>
        <p:nvSpPr>
          <p:cNvPr id="180" name="TextBox 179"/>
          <p:cNvSpPr txBox="1"/>
          <p:nvPr/>
        </p:nvSpPr>
        <p:spPr>
          <a:xfrm>
            <a:off x="4471416" y="4974336"/>
            <a:ext cx="658368" cy="201168"/>
          </a:xfrm>
          <a:prstGeom prst="rect">
            <a:avLst/>
          </a:prstGeom>
          <a:noFill/>
        </p:spPr>
        <p:txBody>
          <a:bodyPr wrap="square">
            <a:spAutoFit/>
          </a:bodyPr>
          <a:lstStyle/>
          <a:p>
            <a:pPr algn="ctr">
              <a:defRPr sz="1000" b="0">
                <a:solidFill>
                  <a:srgbClr val="059669"/>
                </a:solidFill>
                <a:latin typeface="Calibri"/>
              </a:defRPr>
            </a:pPr>
            <a:r>
              <a:t>$44K</a:t>
            </a:r>
          </a:p>
        </p:txBody>
      </p:sp>
      <p:sp>
        <p:nvSpPr>
          <p:cNvPr id="181" name="TextBox 180"/>
          <p:cNvSpPr txBox="1"/>
          <p:nvPr/>
        </p:nvSpPr>
        <p:spPr>
          <a:xfrm>
            <a:off x="5129783" y="4974336"/>
            <a:ext cx="658368" cy="201168"/>
          </a:xfrm>
          <a:prstGeom prst="rect">
            <a:avLst/>
          </a:prstGeom>
          <a:noFill/>
        </p:spPr>
        <p:txBody>
          <a:bodyPr wrap="square">
            <a:spAutoFit/>
          </a:bodyPr>
          <a:lstStyle/>
          <a:p>
            <a:pPr algn="ctr">
              <a:defRPr sz="1000" b="0">
                <a:solidFill>
                  <a:srgbClr val="DC2626"/>
                </a:solidFill>
                <a:latin typeface="Calibri"/>
              </a:defRPr>
            </a:pPr>
            <a:r>
              <a:t>$202K</a:t>
            </a:r>
          </a:p>
        </p:txBody>
      </p:sp>
      <p:sp>
        <p:nvSpPr>
          <p:cNvPr id="182" name="TextBox 181"/>
          <p:cNvSpPr txBox="1"/>
          <p:nvPr/>
        </p:nvSpPr>
        <p:spPr>
          <a:xfrm>
            <a:off x="5788151" y="4974336"/>
            <a:ext cx="621792" cy="201168"/>
          </a:xfrm>
          <a:prstGeom prst="rect">
            <a:avLst/>
          </a:prstGeom>
          <a:noFill/>
        </p:spPr>
        <p:txBody>
          <a:bodyPr wrap="square">
            <a:spAutoFit/>
          </a:bodyPr>
          <a:lstStyle/>
          <a:p>
            <a:pPr algn="ctr">
              <a:defRPr sz="1000" b="0">
                <a:solidFill>
                  <a:srgbClr val="111827"/>
                </a:solidFill>
                <a:latin typeface="Calibri"/>
              </a:defRPr>
            </a:pPr>
            <a:r>
              <a:t>492</a:t>
            </a:r>
          </a:p>
        </p:txBody>
      </p:sp>
      <p:sp>
        <p:nvSpPr>
          <p:cNvPr id="183" name="TextBox 182"/>
          <p:cNvSpPr txBox="1"/>
          <p:nvPr/>
        </p:nvSpPr>
        <p:spPr>
          <a:xfrm>
            <a:off x="6409943" y="4974336"/>
            <a:ext cx="566928" cy="201168"/>
          </a:xfrm>
          <a:prstGeom prst="rect">
            <a:avLst/>
          </a:prstGeom>
          <a:noFill/>
        </p:spPr>
        <p:txBody>
          <a:bodyPr wrap="square">
            <a:spAutoFit/>
          </a:bodyPr>
          <a:lstStyle/>
          <a:p>
            <a:pPr algn="ctr">
              <a:defRPr sz="1000" b="0">
                <a:solidFill>
                  <a:srgbClr val="111827"/>
                </a:solidFill>
                <a:latin typeface="Calibri"/>
              </a:defRPr>
            </a:pPr>
            <a:r>
              <a:t>10</a:t>
            </a:r>
          </a:p>
        </p:txBody>
      </p:sp>
      <p:sp>
        <p:nvSpPr>
          <p:cNvPr id="184" name="TextBox 183"/>
          <p:cNvSpPr txBox="1"/>
          <p:nvPr/>
        </p:nvSpPr>
        <p:spPr>
          <a:xfrm>
            <a:off x="6976871" y="4974336"/>
            <a:ext cx="566928" cy="201168"/>
          </a:xfrm>
          <a:prstGeom prst="rect">
            <a:avLst/>
          </a:prstGeom>
          <a:noFill/>
        </p:spPr>
        <p:txBody>
          <a:bodyPr wrap="square">
            <a:spAutoFit/>
          </a:bodyPr>
          <a:lstStyle/>
          <a:p>
            <a:pPr algn="ctr">
              <a:defRPr sz="1000" b="0">
                <a:solidFill>
                  <a:srgbClr val="111827"/>
                </a:solidFill>
                <a:latin typeface="Calibri"/>
              </a:defRPr>
            </a:pPr>
            <a:r>
              <a:t>1190</a:t>
            </a:r>
          </a:p>
        </p:txBody>
      </p:sp>
      <p:sp>
        <p:nvSpPr>
          <p:cNvPr id="185" name="TextBox 184"/>
          <p:cNvSpPr txBox="1"/>
          <p:nvPr/>
        </p:nvSpPr>
        <p:spPr>
          <a:xfrm>
            <a:off x="7543799" y="4974336"/>
            <a:ext cx="530352" cy="201168"/>
          </a:xfrm>
          <a:prstGeom prst="rect">
            <a:avLst/>
          </a:prstGeom>
          <a:noFill/>
        </p:spPr>
        <p:txBody>
          <a:bodyPr wrap="square">
            <a:spAutoFit/>
          </a:bodyPr>
          <a:lstStyle/>
          <a:p>
            <a:pPr algn="ctr">
              <a:defRPr sz="1000" b="0">
                <a:solidFill>
                  <a:srgbClr val="111827"/>
                </a:solidFill>
                <a:latin typeface="Calibri"/>
              </a:defRPr>
            </a:pPr>
            <a:r>
              <a:t>27</a:t>
            </a:r>
          </a:p>
        </p:txBody>
      </p:sp>
      <p:sp>
        <p:nvSpPr>
          <p:cNvPr id="186" name="TextBox 185"/>
          <p:cNvSpPr txBox="1"/>
          <p:nvPr/>
        </p:nvSpPr>
        <p:spPr>
          <a:xfrm>
            <a:off x="8074151" y="4974336"/>
            <a:ext cx="804672" cy="201168"/>
          </a:xfrm>
          <a:prstGeom prst="rect">
            <a:avLst/>
          </a:prstGeom>
          <a:noFill/>
        </p:spPr>
        <p:txBody>
          <a:bodyPr wrap="square">
            <a:spAutoFit/>
          </a:bodyPr>
          <a:lstStyle/>
          <a:p>
            <a:pPr algn="ctr">
              <a:defRPr sz="1000" b="0">
                <a:solidFill>
                  <a:srgbClr val="065F46"/>
                </a:solidFill>
                <a:latin typeface="Calibri"/>
              </a:defRPr>
            </a:pPr>
            <a:r>
              <a:t>$757K</a:t>
            </a:r>
          </a:p>
        </p:txBody>
      </p:sp>
      <p:sp>
        <p:nvSpPr>
          <p:cNvPr id="187" name="TextBox 186"/>
          <p:cNvSpPr txBox="1"/>
          <p:nvPr/>
        </p:nvSpPr>
        <p:spPr>
          <a:xfrm>
            <a:off x="8878824" y="4974336"/>
            <a:ext cx="658368" cy="201168"/>
          </a:xfrm>
          <a:prstGeom prst="rect">
            <a:avLst/>
          </a:prstGeom>
          <a:noFill/>
        </p:spPr>
        <p:txBody>
          <a:bodyPr wrap="square">
            <a:spAutoFit/>
          </a:bodyPr>
          <a:lstStyle/>
          <a:p>
            <a:pPr algn="ctr">
              <a:defRPr sz="1000" b="0">
                <a:solidFill>
                  <a:srgbClr val="059669"/>
                </a:solidFill>
                <a:latin typeface="Calibri"/>
              </a:defRPr>
            </a:pPr>
            <a:r>
              <a:t>$24K</a:t>
            </a:r>
          </a:p>
        </p:txBody>
      </p:sp>
      <p:sp>
        <p:nvSpPr>
          <p:cNvPr id="188" name="TextBox 187"/>
          <p:cNvSpPr txBox="1"/>
          <p:nvPr/>
        </p:nvSpPr>
        <p:spPr>
          <a:xfrm>
            <a:off x="9537192" y="4974336"/>
            <a:ext cx="658368" cy="201168"/>
          </a:xfrm>
          <a:prstGeom prst="rect">
            <a:avLst/>
          </a:prstGeom>
          <a:noFill/>
        </p:spPr>
        <p:txBody>
          <a:bodyPr wrap="square">
            <a:spAutoFit/>
          </a:bodyPr>
          <a:lstStyle/>
          <a:p>
            <a:pPr algn="ctr">
              <a:defRPr sz="1000" b="0">
                <a:solidFill>
                  <a:srgbClr val="DC2626"/>
                </a:solidFill>
                <a:latin typeface="Calibri"/>
              </a:defRPr>
            </a:pPr>
            <a:r>
              <a:t>$158K</a:t>
            </a:r>
          </a:p>
        </p:txBody>
      </p:sp>
      <p:sp>
        <p:nvSpPr>
          <p:cNvPr id="189" name="TextBox 188"/>
          <p:cNvSpPr txBox="1"/>
          <p:nvPr/>
        </p:nvSpPr>
        <p:spPr>
          <a:xfrm>
            <a:off x="10195560" y="4974336"/>
            <a:ext cx="685800" cy="201168"/>
          </a:xfrm>
          <a:prstGeom prst="rect">
            <a:avLst/>
          </a:prstGeom>
          <a:noFill/>
        </p:spPr>
        <p:txBody>
          <a:bodyPr wrap="square">
            <a:spAutoFit/>
          </a:bodyPr>
          <a:lstStyle/>
          <a:p>
            <a:pPr algn="ctr">
              <a:defRPr sz="1000" b="0">
                <a:solidFill>
                  <a:srgbClr val="DC2626"/>
                </a:solidFill>
                <a:latin typeface="Calibri"/>
              </a:defRPr>
            </a:pPr>
            <a:r>
              <a:t>7</a:t>
            </a:r>
          </a:p>
        </p:txBody>
      </p:sp>
      <p:sp>
        <p:nvSpPr>
          <p:cNvPr id="190" name="Rectangle 189"/>
          <p:cNvSpPr/>
          <p:nvPr/>
        </p:nvSpPr>
        <p:spPr>
          <a:xfrm>
            <a:off x="182880" y="5340096"/>
            <a:ext cx="10698480" cy="384048"/>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182880" y="5358384"/>
            <a:ext cx="1234440" cy="201168"/>
          </a:xfrm>
          <a:prstGeom prst="rect">
            <a:avLst/>
          </a:prstGeom>
          <a:noFill/>
        </p:spPr>
        <p:txBody>
          <a:bodyPr wrap="square">
            <a:spAutoFit/>
          </a:bodyPr>
          <a:lstStyle/>
          <a:p>
            <a:pPr algn="l">
              <a:defRPr sz="1000" b="1">
                <a:solidFill>
                  <a:srgbClr val="111827"/>
                </a:solidFill>
                <a:latin typeface="Calibri"/>
              </a:defRPr>
            </a:pPr>
            <a:r>
              <a:t>Erika Cabrera</a:t>
            </a:r>
          </a:p>
        </p:txBody>
      </p:sp>
      <p:sp>
        <p:nvSpPr>
          <p:cNvPr id="192" name="TextBox 191"/>
          <p:cNvSpPr txBox="1"/>
          <p:nvPr/>
        </p:nvSpPr>
        <p:spPr>
          <a:xfrm>
            <a:off x="1417320" y="5358384"/>
            <a:ext cx="594360" cy="201168"/>
          </a:xfrm>
          <a:prstGeom prst="rect">
            <a:avLst/>
          </a:prstGeom>
          <a:noFill/>
        </p:spPr>
        <p:txBody>
          <a:bodyPr wrap="square">
            <a:spAutoFit/>
          </a:bodyPr>
          <a:lstStyle/>
          <a:p>
            <a:pPr algn="ctr">
              <a:defRPr sz="1000" b="0">
                <a:solidFill>
                  <a:srgbClr val="6B7280"/>
                </a:solidFill>
                <a:latin typeface="Calibri"/>
              </a:defRPr>
            </a:pPr>
            <a:r>
              <a:t>42</a:t>
            </a:r>
          </a:p>
        </p:txBody>
      </p:sp>
      <p:sp>
        <p:nvSpPr>
          <p:cNvPr id="193" name="TextBox 192"/>
          <p:cNvSpPr txBox="1"/>
          <p:nvPr/>
        </p:nvSpPr>
        <p:spPr>
          <a:xfrm>
            <a:off x="2011680" y="5358384"/>
            <a:ext cx="530352" cy="201168"/>
          </a:xfrm>
          <a:prstGeom prst="rect">
            <a:avLst/>
          </a:prstGeom>
          <a:noFill/>
        </p:spPr>
        <p:txBody>
          <a:bodyPr wrap="square">
            <a:spAutoFit/>
          </a:bodyPr>
          <a:lstStyle/>
          <a:p>
            <a:pPr algn="ctr">
              <a:defRPr sz="1000" b="0">
                <a:solidFill>
                  <a:srgbClr val="059669"/>
                </a:solidFill>
                <a:latin typeface="Calibri"/>
              </a:defRPr>
            </a:pPr>
            <a:r>
              <a:t>41</a:t>
            </a:r>
          </a:p>
        </p:txBody>
      </p:sp>
      <p:sp>
        <p:nvSpPr>
          <p:cNvPr id="194" name="TextBox 193"/>
          <p:cNvSpPr txBox="1"/>
          <p:nvPr/>
        </p:nvSpPr>
        <p:spPr>
          <a:xfrm>
            <a:off x="2542032" y="5358384"/>
            <a:ext cx="594360" cy="201168"/>
          </a:xfrm>
          <a:prstGeom prst="rect">
            <a:avLst/>
          </a:prstGeom>
          <a:noFill/>
        </p:spPr>
        <p:txBody>
          <a:bodyPr wrap="square">
            <a:spAutoFit/>
          </a:bodyPr>
          <a:lstStyle/>
          <a:p>
            <a:pPr algn="ctr">
              <a:defRPr sz="1000" b="1">
                <a:solidFill>
                  <a:srgbClr val="D97706"/>
                </a:solidFill>
                <a:latin typeface="Calibri"/>
              </a:defRPr>
            </a:pPr>
            <a:r>
              <a:t>1</a:t>
            </a:r>
          </a:p>
        </p:txBody>
      </p:sp>
      <p:sp>
        <p:nvSpPr>
          <p:cNvPr id="195" name="TextBox 194"/>
          <p:cNvSpPr txBox="1"/>
          <p:nvPr/>
        </p:nvSpPr>
        <p:spPr>
          <a:xfrm>
            <a:off x="3136392" y="5358384"/>
            <a:ext cx="530352" cy="201168"/>
          </a:xfrm>
          <a:prstGeom prst="rect">
            <a:avLst/>
          </a:prstGeom>
          <a:noFill/>
        </p:spPr>
        <p:txBody>
          <a:bodyPr wrap="square">
            <a:spAutoFit/>
          </a:bodyPr>
          <a:lstStyle/>
          <a:p>
            <a:pPr algn="ctr">
              <a:defRPr sz="1000" b="1">
                <a:solidFill>
                  <a:srgbClr val="D97706"/>
                </a:solidFill>
                <a:latin typeface="Calibri"/>
              </a:defRPr>
            </a:pPr>
            <a:r>
              <a:t>98%</a:t>
            </a:r>
          </a:p>
        </p:txBody>
      </p:sp>
      <p:sp>
        <p:nvSpPr>
          <p:cNvPr id="196" name="TextBox 195"/>
          <p:cNvSpPr txBox="1"/>
          <p:nvPr/>
        </p:nvSpPr>
        <p:spPr>
          <a:xfrm>
            <a:off x="3666744" y="5358384"/>
            <a:ext cx="804672" cy="201168"/>
          </a:xfrm>
          <a:prstGeom prst="rect">
            <a:avLst/>
          </a:prstGeom>
          <a:noFill/>
        </p:spPr>
        <p:txBody>
          <a:bodyPr wrap="square">
            <a:spAutoFit/>
          </a:bodyPr>
          <a:lstStyle/>
          <a:p>
            <a:pPr algn="ctr">
              <a:defRPr sz="1000" b="0">
                <a:solidFill>
                  <a:srgbClr val="065F46"/>
                </a:solidFill>
                <a:latin typeface="Calibri"/>
              </a:defRPr>
            </a:pPr>
            <a:r>
              <a:t>$72K</a:t>
            </a:r>
          </a:p>
        </p:txBody>
      </p:sp>
      <p:sp>
        <p:nvSpPr>
          <p:cNvPr id="197" name="TextBox 196"/>
          <p:cNvSpPr txBox="1"/>
          <p:nvPr/>
        </p:nvSpPr>
        <p:spPr>
          <a:xfrm>
            <a:off x="4471416" y="5358384"/>
            <a:ext cx="658368" cy="201168"/>
          </a:xfrm>
          <a:prstGeom prst="rect">
            <a:avLst/>
          </a:prstGeom>
          <a:noFill/>
        </p:spPr>
        <p:txBody>
          <a:bodyPr wrap="square">
            <a:spAutoFit/>
          </a:bodyPr>
          <a:lstStyle/>
          <a:p>
            <a:pPr algn="ctr">
              <a:defRPr sz="1000" b="0">
                <a:solidFill>
                  <a:srgbClr val="059669"/>
                </a:solidFill>
                <a:latin typeface="Calibri"/>
              </a:defRPr>
            </a:pPr>
            <a:r>
              <a:t>$18K</a:t>
            </a:r>
          </a:p>
        </p:txBody>
      </p:sp>
      <p:sp>
        <p:nvSpPr>
          <p:cNvPr id="198" name="TextBox 197"/>
          <p:cNvSpPr txBox="1"/>
          <p:nvPr/>
        </p:nvSpPr>
        <p:spPr>
          <a:xfrm>
            <a:off x="5129783" y="5358384"/>
            <a:ext cx="658368" cy="201168"/>
          </a:xfrm>
          <a:prstGeom prst="rect">
            <a:avLst/>
          </a:prstGeom>
          <a:noFill/>
        </p:spPr>
        <p:txBody>
          <a:bodyPr wrap="square">
            <a:spAutoFit/>
          </a:bodyPr>
          <a:lstStyle/>
          <a:p>
            <a:pPr algn="ctr">
              <a:defRPr sz="1000" b="0">
                <a:solidFill>
                  <a:srgbClr val="DC2626"/>
                </a:solidFill>
                <a:latin typeface="Calibri"/>
              </a:defRPr>
            </a:pPr>
            <a:r>
              <a:t>$30K</a:t>
            </a:r>
          </a:p>
        </p:txBody>
      </p:sp>
      <p:sp>
        <p:nvSpPr>
          <p:cNvPr id="199" name="TextBox 198"/>
          <p:cNvSpPr txBox="1"/>
          <p:nvPr/>
        </p:nvSpPr>
        <p:spPr>
          <a:xfrm>
            <a:off x="5788151" y="5358384"/>
            <a:ext cx="621792" cy="201168"/>
          </a:xfrm>
          <a:prstGeom prst="rect">
            <a:avLst/>
          </a:prstGeom>
          <a:noFill/>
        </p:spPr>
        <p:txBody>
          <a:bodyPr wrap="square">
            <a:spAutoFit/>
          </a:bodyPr>
          <a:lstStyle/>
          <a:p>
            <a:pPr algn="ctr">
              <a:defRPr sz="1000" b="0">
                <a:solidFill>
                  <a:srgbClr val="111827"/>
                </a:solidFill>
                <a:latin typeface="Calibri"/>
              </a:defRPr>
            </a:pPr>
            <a:r>
              <a:t>64</a:t>
            </a:r>
          </a:p>
        </p:txBody>
      </p:sp>
      <p:sp>
        <p:nvSpPr>
          <p:cNvPr id="200" name="TextBox 199"/>
          <p:cNvSpPr txBox="1"/>
          <p:nvPr/>
        </p:nvSpPr>
        <p:spPr>
          <a:xfrm>
            <a:off x="6409943" y="5358384"/>
            <a:ext cx="566928" cy="201168"/>
          </a:xfrm>
          <a:prstGeom prst="rect">
            <a:avLst/>
          </a:prstGeom>
          <a:noFill/>
        </p:spPr>
        <p:txBody>
          <a:bodyPr wrap="square">
            <a:spAutoFit/>
          </a:bodyPr>
          <a:lstStyle/>
          <a:p>
            <a:pPr algn="ctr">
              <a:defRPr sz="1000" b="0">
                <a:solidFill>
                  <a:srgbClr val="111827"/>
                </a:solidFill>
                <a:latin typeface="Calibri"/>
              </a:defRPr>
            </a:pPr>
            <a:r>
              <a:t>5</a:t>
            </a:r>
          </a:p>
        </p:txBody>
      </p:sp>
      <p:sp>
        <p:nvSpPr>
          <p:cNvPr id="201" name="TextBox 200"/>
          <p:cNvSpPr txBox="1"/>
          <p:nvPr/>
        </p:nvSpPr>
        <p:spPr>
          <a:xfrm>
            <a:off x="6976871" y="5358384"/>
            <a:ext cx="566928" cy="201168"/>
          </a:xfrm>
          <a:prstGeom prst="rect">
            <a:avLst/>
          </a:prstGeom>
          <a:noFill/>
        </p:spPr>
        <p:txBody>
          <a:bodyPr wrap="square">
            <a:spAutoFit/>
          </a:bodyPr>
          <a:lstStyle/>
          <a:p>
            <a:pPr algn="ctr">
              <a:defRPr sz="1000" b="0">
                <a:solidFill>
                  <a:srgbClr val="111827"/>
                </a:solidFill>
                <a:latin typeface="Calibri"/>
              </a:defRPr>
            </a:pPr>
            <a:r>
              <a:t>2078</a:t>
            </a:r>
          </a:p>
        </p:txBody>
      </p:sp>
      <p:sp>
        <p:nvSpPr>
          <p:cNvPr id="202" name="TextBox 201"/>
          <p:cNvSpPr txBox="1"/>
          <p:nvPr/>
        </p:nvSpPr>
        <p:spPr>
          <a:xfrm>
            <a:off x="7543799" y="5358384"/>
            <a:ext cx="530352" cy="201168"/>
          </a:xfrm>
          <a:prstGeom prst="rect">
            <a:avLst/>
          </a:prstGeom>
          <a:noFill/>
        </p:spPr>
        <p:txBody>
          <a:bodyPr wrap="square">
            <a:spAutoFit/>
          </a:bodyPr>
          <a:lstStyle/>
          <a:p>
            <a:pPr algn="ctr">
              <a:defRPr sz="1000" b="0">
                <a:solidFill>
                  <a:srgbClr val="111827"/>
                </a:solidFill>
                <a:latin typeface="Calibri"/>
              </a:defRPr>
            </a:pPr>
            <a:r>
              <a:t>41</a:t>
            </a:r>
          </a:p>
        </p:txBody>
      </p:sp>
      <p:sp>
        <p:nvSpPr>
          <p:cNvPr id="203" name="TextBox 202"/>
          <p:cNvSpPr txBox="1"/>
          <p:nvPr/>
        </p:nvSpPr>
        <p:spPr>
          <a:xfrm>
            <a:off x="8074151" y="5358384"/>
            <a:ext cx="804672" cy="201168"/>
          </a:xfrm>
          <a:prstGeom prst="rect">
            <a:avLst/>
          </a:prstGeom>
          <a:noFill/>
        </p:spPr>
        <p:txBody>
          <a:bodyPr wrap="square">
            <a:spAutoFit/>
          </a:bodyPr>
          <a:lstStyle/>
          <a:p>
            <a:pPr algn="ctr">
              <a:defRPr sz="1000" b="0">
                <a:solidFill>
                  <a:srgbClr val="065F46"/>
                </a:solidFill>
                <a:latin typeface="Calibri"/>
              </a:defRPr>
            </a:pPr>
            <a:r>
              <a:t>$513K</a:t>
            </a:r>
          </a:p>
        </p:txBody>
      </p:sp>
      <p:sp>
        <p:nvSpPr>
          <p:cNvPr id="204" name="TextBox 203"/>
          <p:cNvSpPr txBox="1"/>
          <p:nvPr/>
        </p:nvSpPr>
        <p:spPr>
          <a:xfrm>
            <a:off x="8878824" y="5358384"/>
            <a:ext cx="658368" cy="201168"/>
          </a:xfrm>
          <a:prstGeom prst="rect">
            <a:avLst/>
          </a:prstGeom>
          <a:noFill/>
        </p:spPr>
        <p:txBody>
          <a:bodyPr wrap="square">
            <a:spAutoFit/>
          </a:bodyPr>
          <a:lstStyle/>
          <a:p>
            <a:pPr algn="ctr">
              <a:defRPr sz="1000" b="0">
                <a:solidFill>
                  <a:srgbClr val="111827"/>
                </a:solidFill>
                <a:latin typeface="Calibri"/>
              </a:defRPr>
            </a:pPr>
            <a:r>
              <a:t>$0</a:t>
            </a:r>
          </a:p>
        </p:txBody>
      </p:sp>
      <p:sp>
        <p:nvSpPr>
          <p:cNvPr id="205" name="TextBox 204"/>
          <p:cNvSpPr txBox="1"/>
          <p:nvPr/>
        </p:nvSpPr>
        <p:spPr>
          <a:xfrm>
            <a:off x="9537192" y="5358384"/>
            <a:ext cx="658368" cy="201168"/>
          </a:xfrm>
          <a:prstGeom prst="rect">
            <a:avLst/>
          </a:prstGeom>
          <a:noFill/>
        </p:spPr>
        <p:txBody>
          <a:bodyPr wrap="square">
            <a:spAutoFit/>
          </a:bodyPr>
          <a:lstStyle/>
          <a:p>
            <a:pPr algn="ctr">
              <a:defRPr sz="1000" b="0">
                <a:solidFill>
                  <a:srgbClr val="DC2626"/>
                </a:solidFill>
                <a:latin typeface="Calibri"/>
              </a:defRPr>
            </a:pPr>
            <a:r>
              <a:t>$188K</a:t>
            </a:r>
          </a:p>
        </p:txBody>
      </p:sp>
      <p:sp>
        <p:nvSpPr>
          <p:cNvPr id="206" name="TextBox 205"/>
          <p:cNvSpPr txBox="1"/>
          <p:nvPr/>
        </p:nvSpPr>
        <p:spPr>
          <a:xfrm>
            <a:off x="10195560" y="5358384"/>
            <a:ext cx="685800" cy="201168"/>
          </a:xfrm>
          <a:prstGeom prst="rect">
            <a:avLst/>
          </a:prstGeom>
          <a:noFill/>
        </p:spPr>
        <p:txBody>
          <a:bodyPr wrap="square">
            <a:spAutoFit/>
          </a:bodyPr>
          <a:lstStyle/>
          <a:p>
            <a:pPr algn="ctr">
              <a:defRPr sz="1000" b="0">
                <a:solidFill>
                  <a:srgbClr val="DC2626"/>
                </a:solidFill>
                <a:latin typeface="Calibri"/>
              </a:defRPr>
            </a:pPr>
            <a:r>
              <a:t>16</a:t>
            </a:r>
          </a:p>
        </p:txBody>
      </p:sp>
      <p:sp>
        <p:nvSpPr>
          <p:cNvPr id="207" name="Rectangle 206"/>
          <p:cNvSpPr/>
          <p:nvPr/>
        </p:nvSpPr>
        <p:spPr>
          <a:xfrm>
            <a:off x="182880" y="5815584"/>
            <a:ext cx="10698480" cy="420624"/>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182880" y="5833872"/>
            <a:ext cx="1234440" cy="201168"/>
          </a:xfrm>
          <a:prstGeom prst="rect">
            <a:avLst/>
          </a:prstGeom>
          <a:noFill/>
        </p:spPr>
        <p:txBody>
          <a:bodyPr wrap="square">
            <a:spAutoFit/>
          </a:bodyPr>
          <a:lstStyle/>
          <a:p>
            <a:pPr algn="l">
              <a:defRPr sz="1000" b="1">
                <a:solidFill>
                  <a:srgbClr val="6D28D9"/>
                </a:solidFill>
                <a:latin typeface="Calibri"/>
              </a:defRPr>
            </a:pPr>
            <a:r>
              <a:t>Unassigned</a:t>
            </a:r>
          </a:p>
        </p:txBody>
      </p:sp>
      <p:sp>
        <p:nvSpPr>
          <p:cNvPr id="209" name="TextBox 208"/>
          <p:cNvSpPr txBox="1"/>
          <p:nvPr/>
        </p:nvSpPr>
        <p:spPr>
          <a:xfrm>
            <a:off x="1417320" y="5833872"/>
            <a:ext cx="594360" cy="201168"/>
          </a:xfrm>
          <a:prstGeom prst="rect">
            <a:avLst/>
          </a:prstGeom>
          <a:noFill/>
        </p:spPr>
        <p:txBody>
          <a:bodyPr wrap="square">
            <a:spAutoFit/>
          </a:bodyPr>
          <a:lstStyle/>
          <a:p>
            <a:pPr algn="ctr">
              <a:defRPr sz="1000" b="0">
                <a:solidFill>
                  <a:srgbClr val="6B7280"/>
                </a:solidFill>
                <a:latin typeface="Calibri"/>
              </a:defRPr>
            </a:pPr>
            <a:r>
              <a:t>1027</a:t>
            </a:r>
          </a:p>
        </p:txBody>
      </p:sp>
      <p:sp>
        <p:nvSpPr>
          <p:cNvPr id="210" name="TextBox 209"/>
          <p:cNvSpPr txBox="1"/>
          <p:nvPr/>
        </p:nvSpPr>
        <p:spPr>
          <a:xfrm>
            <a:off x="2011680" y="5833872"/>
            <a:ext cx="530352" cy="201168"/>
          </a:xfrm>
          <a:prstGeom prst="rect">
            <a:avLst/>
          </a:prstGeom>
          <a:noFill/>
        </p:spPr>
        <p:txBody>
          <a:bodyPr wrap="square">
            <a:spAutoFit/>
          </a:bodyPr>
          <a:lstStyle/>
          <a:p>
            <a:pPr algn="ctr">
              <a:defRPr sz="1000" b="0">
                <a:solidFill>
                  <a:srgbClr val="111827"/>
                </a:solidFill>
                <a:latin typeface="Calibri"/>
              </a:defRPr>
            </a:pPr>
            <a:r>
              <a:t>754</a:t>
            </a:r>
          </a:p>
        </p:txBody>
      </p:sp>
      <p:sp>
        <p:nvSpPr>
          <p:cNvPr id="211" name="TextBox 210"/>
          <p:cNvSpPr txBox="1"/>
          <p:nvPr/>
        </p:nvSpPr>
        <p:spPr>
          <a:xfrm>
            <a:off x="2542032" y="5833872"/>
            <a:ext cx="594360" cy="201168"/>
          </a:xfrm>
          <a:prstGeom prst="rect">
            <a:avLst/>
          </a:prstGeom>
          <a:noFill/>
        </p:spPr>
        <p:txBody>
          <a:bodyPr wrap="square">
            <a:spAutoFit/>
          </a:bodyPr>
          <a:lstStyle/>
          <a:p>
            <a:pPr algn="ctr">
              <a:defRPr sz="1000" b="0">
                <a:solidFill>
                  <a:srgbClr val="DC2626"/>
                </a:solidFill>
                <a:latin typeface="Calibri"/>
              </a:defRPr>
            </a:pPr>
            <a:r>
              <a:t>273</a:t>
            </a:r>
          </a:p>
        </p:txBody>
      </p:sp>
      <p:sp>
        <p:nvSpPr>
          <p:cNvPr id="212" name="TextBox 211"/>
          <p:cNvSpPr txBox="1"/>
          <p:nvPr/>
        </p:nvSpPr>
        <p:spPr>
          <a:xfrm>
            <a:off x="3136392" y="5833872"/>
            <a:ext cx="530352" cy="201168"/>
          </a:xfrm>
          <a:prstGeom prst="rect">
            <a:avLst/>
          </a:prstGeom>
          <a:noFill/>
        </p:spPr>
        <p:txBody>
          <a:bodyPr wrap="square">
            <a:spAutoFit/>
          </a:bodyPr>
          <a:lstStyle/>
          <a:p>
            <a:pPr algn="ctr">
              <a:defRPr sz="1000" b="0">
                <a:solidFill>
                  <a:srgbClr val="DC2626"/>
                </a:solidFill>
                <a:latin typeface="Calibri"/>
              </a:defRPr>
            </a:pPr>
            <a:r>
              <a:t>73%</a:t>
            </a:r>
          </a:p>
        </p:txBody>
      </p:sp>
      <p:sp>
        <p:nvSpPr>
          <p:cNvPr id="213" name="TextBox 212"/>
          <p:cNvSpPr txBox="1"/>
          <p:nvPr/>
        </p:nvSpPr>
        <p:spPr>
          <a:xfrm>
            <a:off x="3666744" y="5833872"/>
            <a:ext cx="804672" cy="201168"/>
          </a:xfrm>
          <a:prstGeom prst="rect">
            <a:avLst/>
          </a:prstGeom>
          <a:noFill/>
        </p:spPr>
        <p:txBody>
          <a:bodyPr wrap="square">
            <a:spAutoFit/>
          </a:bodyPr>
          <a:lstStyle/>
          <a:p>
            <a:pPr algn="ctr">
              <a:defRPr sz="1000" b="0">
                <a:solidFill>
                  <a:srgbClr val="6D28D9"/>
                </a:solidFill>
                <a:latin typeface="Calibri"/>
              </a:defRPr>
            </a:pPr>
            <a:r>
              <a:t>$36.5M</a:t>
            </a:r>
          </a:p>
        </p:txBody>
      </p:sp>
      <p:sp>
        <p:nvSpPr>
          <p:cNvPr id="214" name="TextBox 213"/>
          <p:cNvSpPr txBox="1"/>
          <p:nvPr/>
        </p:nvSpPr>
        <p:spPr>
          <a:xfrm>
            <a:off x="4471416" y="5833872"/>
            <a:ext cx="658368" cy="201168"/>
          </a:xfrm>
          <a:prstGeom prst="rect">
            <a:avLst/>
          </a:prstGeom>
          <a:noFill/>
        </p:spPr>
        <p:txBody>
          <a:bodyPr wrap="square">
            <a:spAutoFit/>
          </a:bodyPr>
          <a:lstStyle/>
          <a:p>
            <a:pPr algn="ctr">
              <a:defRPr sz="1000" b="0">
                <a:solidFill>
                  <a:srgbClr val="059669"/>
                </a:solidFill>
                <a:latin typeface="Calibri"/>
              </a:defRPr>
            </a:pPr>
            <a:r>
              <a:t>$6.2M</a:t>
            </a:r>
          </a:p>
        </p:txBody>
      </p:sp>
      <p:sp>
        <p:nvSpPr>
          <p:cNvPr id="215" name="TextBox 214"/>
          <p:cNvSpPr txBox="1"/>
          <p:nvPr/>
        </p:nvSpPr>
        <p:spPr>
          <a:xfrm>
            <a:off x="5129783" y="5833872"/>
            <a:ext cx="658368" cy="201168"/>
          </a:xfrm>
          <a:prstGeom prst="rect">
            <a:avLst/>
          </a:prstGeom>
          <a:noFill/>
        </p:spPr>
        <p:txBody>
          <a:bodyPr wrap="square">
            <a:spAutoFit/>
          </a:bodyPr>
          <a:lstStyle/>
          <a:p>
            <a:pPr algn="ctr">
              <a:defRPr sz="1000" b="0">
                <a:solidFill>
                  <a:srgbClr val="DC2626"/>
                </a:solidFill>
                <a:latin typeface="Calibri"/>
              </a:defRPr>
            </a:pPr>
            <a:r>
              <a:t>$17.0M</a:t>
            </a:r>
          </a:p>
        </p:txBody>
      </p:sp>
      <p:sp>
        <p:nvSpPr>
          <p:cNvPr id="216" name="TextBox 215"/>
          <p:cNvSpPr txBox="1"/>
          <p:nvPr/>
        </p:nvSpPr>
        <p:spPr>
          <a:xfrm>
            <a:off x="5788151" y="5833872"/>
            <a:ext cx="621792" cy="201168"/>
          </a:xfrm>
          <a:prstGeom prst="rect">
            <a:avLst/>
          </a:prstGeom>
          <a:noFill/>
        </p:spPr>
        <p:txBody>
          <a:bodyPr wrap="square">
            <a:spAutoFit/>
          </a:bodyPr>
          <a:lstStyle/>
          <a:p>
            <a:pPr algn="ctr">
              <a:defRPr sz="1000" b="0">
                <a:solidFill>
                  <a:srgbClr val="111827"/>
                </a:solidFill>
                <a:latin typeface="Calibri"/>
              </a:defRPr>
            </a:pPr>
            <a:r>
              <a:t>79642</a:t>
            </a:r>
          </a:p>
        </p:txBody>
      </p:sp>
      <p:sp>
        <p:nvSpPr>
          <p:cNvPr id="217" name="TextBox 216"/>
          <p:cNvSpPr txBox="1"/>
          <p:nvPr/>
        </p:nvSpPr>
        <p:spPr>
          <a:xfrm>
            <a:off x="6409943" y="5833872"/>
            <a:ext cx="566928" cy="201168"/>
          </a:xfrm>
          <a:prstGeom prst="rect">
            <a:avLst/>
          </a:prstGeom>
          <a:noFill/>
        </p:spPr>
        <p:txBody>
          <a:bodyPr wrap="square">
            <a:spAutoFit/>
          </a:bodyPr>
          <a:lstStyle/>
          <a:p>
            <a:pPr algn="ctr">
              <a:defRPr sz="1000" b="0">
                <a:solidFill>
                  <a:srgbClr val="111827"/>
                </a:solidFill>
                <a:latin typeface="Calibri"/>
              </a:defRPr>
            </a:pPr>
            <a:r>
              <a:t>2293</a:t>
            </a:r>
          </a:p>
        </p:txBody>
      </p:sp>
      <p:sp>
        <p:nvSpPr>
          <p:cNvPr id="218" name="TextBox 217"/>
          <p:cNvSpPr txBox="1"/>
          <p:nvPr/>
        </p:nvSpPr>
        <p:spPr>
          <a:xfrm>
            <a:off x="6976871" y="5833872"/>
            <a:ext cx="566928" cy="201168"/>
          </a:xfrm>
          <a:prstGeom prst="rect">
            <a:avLst/>
          </a:prstGeom>
          <a:noFill/>
        </p:spPr>
        <p:txBody>
          <a:bodyPr wrap="square">
            <a:spAutoFit/>
          </a:bodyPr>
          <a:lstStyle/>
          <a:p>
            <a:pPr algn="ctr">
              <a:defRPr sz="1000" b="0">
                <a:solidFill>
                  <a:srgbClr val="6B7280"/>
                </a:solidFill>
                <a:latin typeface="Calibri"/>
              </a:defRPr>
            </a:pPr>
            <a:r>
              <a:t>—</a:t>
            </a:r>
          </a:p>
        </p:txBody>
      </p:sp>
      <p:sp>
        <p:nvSpPr>
          <p:cNvPr id="219" name="TextBox 218"/>
          <p:cNvSpPr txBox="1"/>
          <p:nvPr/>
        </p:nvSpPr>
        <p:spPr>
          <a:xfrm>
            <a:off x="7543799" y="5833872"/>
            <a:ext cx="530352" cy="201168"/>
          </a:xfrm>
          <a:prstGeom prst="rect">
            <a:avLst/>
          </a:prstGeom>
          <a:noFill/>
        </p:spPr>
        <p:txBody>
          <a:bodyPr wrap="square">
            <a:spAutoFit/>
          </a:bodyPr>
          <a:lstStyle/>
          <a:p>
            <a:pPr algn="ctr">
              <a:defRPr sz="1000" b="0">
                <a:solidFill>
                  <a:srgbClr val="6B7280"/>
                </a:solidFill>
                <a:latin typeface="Calibri"/>
              </a:defRPr>
            </a:pPr>
            <a:r>
              <a:t>—</a:t>
            </a:r>
          </a:p>
        </p:txBody>
      </p:sp>
      <p:sp>
        <p:nvSpPr>
          <p:cNvPr id="220" name="TextBox 219"/>
          <p:cNvSpPr txBox="1"/>
          <p:nvPr/>
        </p:nvSpPr>
        <p:spPr>
          <a:xfrm>
            <a:off x="8074151" y="5833872"/>
            <a:ext cx="804672" cy="201168"/>
          </a:xfrm>
          <a:prstGeom prst="rect">
            <a:avLst/>
          </a:prstGeom>
          <a:noFill/>
        </p:spPr>
        <p:txBody>
          <a:bodyPr wrap="square">
            <a:spAutoFit/>
          </a:bodyPr>
          <a:lstStyle/>
          <a:p>
            <a:pPr algn="ctr">
              <a:defRPr sz="1000" b="0">
                <a:solidFill>
                  <a:srgbClr val="6B7280"/>
                </a:solidFill>
                <a:latin typeface="Calibri"/>
              </a:defRPr>
            </a:pPr>
            <a:r>
              <a:t>—</a:t>
            </a:r>
          </a:p>
        </p:txBody>
      </p:sp>
      <p:sp>
        <p:nvSpPr>
          <p:cNvPr id="221" name="TextBox 220"/>
          <p:cNvSpPr txBox="1"/>
          <p:nvPr/>
        </p:nvSpPr>
        <p:spPr>
          <a:xfrm>
            <a:off x="8878824" y="5833872"/>
            <a:ext cx="658368" cy="201168"/>
          </a:xfrm>
          <a:prstGeom prst="rect">
            <a:avLst/>
          </a:prstGeom>
          <a:noFill/>
        </p:spPr>
        <p:txBody>
          <a:bodyPr wrap="square">
            <a:spAutoFit/>
          </a:bodyPr>
          <a:lstStyle/>
          <a:p>
            <a:pPr algn="ctr">
              <a:defRPr sz="1000" b="0">
                <a:solidFill>
                  <a:srgbClr val="6B7280"/>
                </a:solidFill>
                <a:latin typeface="Calibri"/>
              </a:defRPr>
            </a:pPr>
            <a:r>
              <a:t>—</a:t>
            </a:r>
          </a:p>
        </p:txBody>
      </p:sp>
      <p:sp>
        <p:nvSpPr>
          <p:cNvPr id="222" name="TextBox 221"/>
          <p:cNvSpPr txBox="1"/>
          <p:nvPr/>
        </p:nvSpPr>
        <p:spPr>
          <a:xfrm>
            <a:off x="9537192" y="5833872"/>
            <a:ext cx="658368" cy="201168"/>
          </a:xfrm>
          <a:prstGeom prst="rect">
            <a:avLst/>
          </a:prstGeom>
          <a:noFill/>
        </p:spPr>
        <p:txBody>
          <a:bodyPr wrap="square">
            <a:spAutoFit/>
          </a:bodyPr>
          <a:lstStyle/>
          <a:p>
            <a:pPr algn="ctr">
              <a:defRPr sz="1000" b="0">
                <a:solidFill>
                  <a:srgbClr val="6B7280"/>
                </a:solidFill>
                <a:latin typeface="Calibri"/>
              </a:defRPr>
            </a:pPr>
            <a:r>
              <a:t>—</a:t>
            </a:r>
          </a:p>
        </p:txBody>
      </p:sp>
      <p:sp>
        <p:nvSpPr>
          <p:cNvPr id="223" name="TextBox 222"/>
          <p:cNvSpPr txBox="1"/>
          <p:nvPr/>
        </p:nvSpPr>
        <p:spPr>
          <a:xfrm>
            <a:off x="10195560" y="5833872"/>
            <a:ext cx="685800" cy="201168"/>
          </a:xfrm>
          <a:prstGeom prst="rect">
            <a:avLst/>
          </a:prstGeom>
          <a:noFill/>
        </p:spPr>
        <p:txBody>
          <a:bodyPr wrap="square">
            <a:spAutoFit/>
          </a:bodyPr>
          <a:lstStyle/>
          <a:p>
            <a:pPr algn="ctr">
              <a:defRPr sz="1000" b="0">
                <a:solidFill>
                  <a:srgbClr val="6B7280"/>
                </a:solidFill>
                <a:latin typeface="Calibri"/>
              </a:defRPr>
            </a:pPr>
            <a:r>
              <a:t>—</a:t>
            </a:r>
          </a:p>
        </p:txBody>
      </p:sp>
      <p:sp>
        <p:nvSpPr>
          <p:cNvPr id="224" name="Rectangle 223"/>
          <p:cNvSpPr/>
          <p:nvPr/>
        </p:nvSpPr>
        <p:spPr>
          <a:xfrm>
            <a:off x="182880" y="6291072"/>
            <a:ext cx="3907536" cy="32918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182880" y="6291072"/>
            <a:ext cx="54864" cy="329184"/>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274320" y="6327648"/>
            <a:ext cx="438912" cy="137160"/>
          </a:xfrm>
          <a:prstGeom prst="rect">
            <a:avLst/>
          </a:prstGeom>
          <a:noFill/>
        </p:spPr>
        <p:txBody>
          <a:bodyPr wrap="square">
            <a:spAutoFit/>
          </a:bodyPr>
          <a:lstStyle/>
          <a:p>
            <a:pPr algn="l">
              <a:defRPr sz="850" b="1">
                <a:solidFill>
                  <a:srgbClr val="6D28D9"/>
                </a:solidFill>
                <a:latin typeface="Calibri"/>
              </a:defRPr>
            </a:pPr>
            <a:r>
              <a:t>BDMs</a:t>
            </a:r>
          </a:p>
        </p:txBody>
      </p:sp>
      <p:sp>
        <p:nvSpPr>
          <p:cNvPr id="227" name="TextBox 226"/>
          <p:cNvSpPr txBox="1"/>
          <p:nvPr/>
        </p:nvSpPr>
        <p:spPr>
          <a:xfrm>
            <a:off x="731520" y="6364224"/>
            <a:ext cx="3285744" cy="201168"/>
          </a:xfrm>
          <a:prstGeom prst="rect">
            <a:avLst/>
          </a:prstGeom>
          <a:noFill/>
        </p:spPr>
        <p:txBody>
          <a:bodyPr wrap="square">
            <a:spAutoFit/>
          </a:bodyPr>
          <a:lstStyle/>
          <a:p>
            <a:pPr algn="l">
              <a:defRPr sz="850" b="0">
                <a:solidFill>
                  <a:srgbClr val="FFFFFF"/>
                </a:solidFill>
                <a:latin typeface="Calibri"/>
              </a:defRPr>
            </a:pPr>
            <a:r>
              <a:t>199 portfolio  ·  193 active  ·  6 dormant</a:t>
            </a:r>
          </a:p>
        </p:txBody>
      </p:sp>
      <p:sp>
        <p:nvSpPr>
          <p:cNvPr id="228" name="Rectangle 227"/>
          <p:cNvSpPr/>
          <p:nvPr/>
        </p:nvSpPr>
        <p:spPr>
          <a:xfrm>
            <a:off x="4126992" y="6291072"/>
            <a:ext cx="3907536" cy="32918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4126992" y="6291072"/>
            <a:ext cx="54864" cy="32918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4218432" y="6327648"/>
            <a:ext cx="438912" cy="137160"/>
          </a:xfrm>
          <a:prstGeom prst="rect">
            <a:avLst/>
          </a:prstGeom>
          <a:noFill/>
        </p:spPr>
        <p:txBody>
          <a:bodyPr wrap="square">
            <a:spAutoFit/>
          </a:bodyPr>
          <a:lstStyle/>
          <a:p>
            <a:pPr algn="l">
              <a:defRPr sz="850" b="1">
                <a:solidFill>
                  <a:srgbClr val="059669"/>
                </a:solidFill>
                <a:latin typeface="Calibri"/>
              </a:defRPr>
            </a:pPr>
            <a:r>
              <a:t>BDAs</a:t>
            </a:r>
          </a:p>
        </p:txBody>
      </p:sp>
      <p:sp>
        <p:nvSpPr>
          <p:cNvPr id="231" name="TextBox 230"/>
          <p:cNvSpPr txBox="1"/>
          <p:nvPr/>
        </p:nvSpPr>
        <p:spPr>
          <a:xfrm>
            <a:off x="4675632" y="6364224"/>
            <a:ext cx="3285744" cy="201168"/>
          </a:xfrm>
          <a:prstGeom prst="rect">
            <a:avLst/>
          </a:prstGeom>
          <a:noFill/>
        </p:spPr>
        <p:txBody>
          <a:bodyPr wrap="square">
            <a:spAutoFit/>
          </a:bodyPr>
          <a:lstStyle/>
          <a:p>
            <a:pPr algn="l">
              <a:defRPr sz="850" b="0">
                <a:solidFill>
                  <a:srgbClr val="FFFFFF"/>
                </a:solidFill>
                <a:latin typeface="Calibri"/>
              </a:defRPr>
            </a:pPr>
            <a:r>
              <a:t>211 portfolio  ·  199 active  ·  12 dormant</a:t>
            </a:r>
          </a:p>
        </p:txBody>
      </p:sp>
      <p:sp>
        <p:nvSpPr>
          <p:cNvPr id="232" name="Rectangle 231"/>
          <p:cNvSpPr/>
          <p:nvPr/>
        </p:nvSpPr>
        <p:spPr>
          <a:xfrm>
            <a:off x="8071104" y="6291072"/>
            <a:ext cx="3907536" cy="32918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8071104" y="6291072"/>
            <a:ext cx="54864" cy="329184"/>
          </a:xfrm>
          <a:prstGeom prst="rect">
            <a:avLst/>
          </a:prstGeom>
          <a:solidFill>
            <a:srgbClr val="A0AE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8162543" y="6327648"/>
            <a:ext cx="438912" cy="137160"/>
          </a:xfrm>
          <a:prstGeom prst="rect">
            <a:avLst/>
          </a:prstGeom>
          <a:noFill/>
        </p:spPr>
        <p:txBody>
          <a:bodyPr wrap="square">
            <a:spAutoFit/>
          </a:bodyPr>
          <a:lstStyle/>
          <a:p>
            <a:pPr algn="l">
              <a:defRPr sz="850" b="1">
                <a:solidFill>
                  <a:srgbClr val="A0AEC0"/>
                </a:solidFill>
                <a:latin typeface="Calibri"/>
              </a:defRPr>
            </a:pPr>
            <a:r>
              <a:t>TEAM</a:t>
            </a:r>
          </a:p>
        </p:txBody>
      </p:sp>
      <p:sp>
        <p:nvSpPr>
          <p:cNvPr id="235" name="TextBox 234"/>
          <p:cNvSpPr txBox="1"/>
          <p:nvPr/>
        </p:nvSpPr>
        <p:spPr>
          <a:xfrm>
            <a:off x="8619744" y="6364224"/>
            <a:ext cx="3285744" cy="201168"/>
          </a:xfrm>
          <a:prstGeom prst="rect">
            <a:avLst/>
          </a:prstGeom>
          <a:noFill/>
        </p:spPr>
        <p:txBody>
          <a:bodyPr wrap="square">
            <a:spAutoFit/>
          </a:bodyPr>
          <a:lstStyle/>
          <a:p>
            <a:pPr algn="l">
              <a:defRPr sz="850" b="0">
                <a:solidFill>
                  <a:srgbClr val="FFFFFF"/>
                </a:solidFill>
                <a:latin typeface="Calibri"/>
              </a:defRPr>
            </a:pPr>
            <a:r>
              <a:t>410 portfolio  ·  392 active  ·  18 dormant  ·  96% engaged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Strategic Assessment — Q2 2026</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What the data tells us  |  Where we are strong  |  Where the gaps are  |  What to do next</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Rectangle 5"/>
          <p:cNvSpPr/>
          <p:nvPr/>
        </p:nvSpPr>
        <p:spPr>
          <a:xfrm>
            <a:off x="182880" y="777240"/>
            <a:ext cx="11795760" cy="182880"/>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804672"/>
            <a:ext cx="11430000" cy="137160"/>
          </a:xfrm>
          <a:prstGeom prst="rect">
            <a:avLst/>
          </a:prstGeom>
          <a:noFill/>
        </p:spPr>
        <p:txBody>
          <a:bodyPr wrap="square">
            <a:spAutoFit/>
          </a:bodyPr>
          <a:lstStyle/>
          <a:p>
            <a:pPr algn="l">
              <a:defRPr sz="850" b="1">
                <a:solidFill>
                  <a:srgbClr val="FFFFFF"/>
                </a:solidFill>
                <a:latin typeface="Calibri"/>
              </a:defRPr>
            </a:pPr>
            <a:r>
              <a:t>ON TRACK</a:t>
            </a:r>
          </a:p>
        </p:txBody>
      </p:sp>
      <p:sp>
        <p:nvSpPr>
          <p:cNvPr id="8" name="Rectangle 7"/>
          <p:cNvSpPr/>
          <p:nvPr/>
        </p:nvSpPr>
        <p:spPr>
          <a:xfrm>
            <a:off x="182880" y="960120"/>
            <a:ext cx="91440" cy="390144"/>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2608" y="960120"/>
            <a:ext cx="11686032" cy="390144"/>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 y="987552"/>
            <a:ext cx="2560320" cy="344424"/>
          </a:xfrm>
          <a:prstGeom prst="rect">
            <a:avLst/>
          </a:prstGeom>
          <a:noFill/>
        </p:spPr>
        <p:txBody>
          <a:bodyPr wrap="square">
            <a:spAutoFit/>
          </a:bodyPr>
          <a:lstStyle/>
          <a:p>
            <a:pPr algn="l">
              <a:defRPr sz="850" b="1">
                <a:solidFill>
                  <a:srgbClr val="05784C"/>
                </a:solidFill>
                <a:latin typeface="Calibri"/>
              </a:defRPr>
            </a:pPr>
            <a:r>
              <a:t>SUBMISSION GROWTH (YOY)</a:t>
            </a:r>
          </a:p>
        </p:txBody>
      </p:sp>
      <p:sp>
        <p:nvSpPr>
          <p:cNvPr id="11" name="TextBox 10"/>
          <p:cNvSpPr txBox="1"/>
          <p:nvPr/>
        </p:nvSpPr>
        <p:spPr>
          <a:xfrm>
            <a:off x="2926080" y="987552"/>
            <a:ext cx="5029200" cy="335280"/>
          </a:xfrm>
          <a:prstGeom prst="rect">
            <a:avLst/>
          </a:prstGeom>
          <a:noFill/>
        </p:spPr>
        <p:txBody>
          <a:bodyPr wrap="square">
            <a:spAutoFit/>
          </a:bodyPr>
          <a:lstStyle/>
          <a:p>
            <a:pPr algn="l">
              <a:defRPr sz="850" b="0">
                <a:solidFill>
                  <a:srgbClr val="111827"/>
                </a:solidFill>
                <a:latin typeface="Calibri"/>
              </a:defRPr>
            </a:pPr>
            <a:r>
              <a:t>Q1 subs +27.6% YOY — above 10% target. Pipeline input expanding.</a:t>
            </a:r>
          </a:p>
        </p:txBody>
      </p:sp>
      <p:sp>
        <p:nvSpPr>
          <p:cNvPr id="12" name="TextBox 11"/>
          <p:cNvSpPr txBox="1"/>
          <p:nvPr/>
        </p:nvSpPr>
        <p:spPr>
          <a:xfrm>
            <a:off x="8001000" y="987552"/>
            <a:ext cx="3931920" cy="335280"/>
          </a:xfrm>
          <a:prstGeom prst="rect">
            <a:avLst/>
          </a:prstGeom>
          <a:noFill/>
        </p:spPr>
        <p:txBody>
          <a:bodyPr wrap="square">
            <a:spAutoFit/>
          </a:bodyPr>
          <a:lstStyle/>
          <a:p>
            <a:pPr algn="l">
              <a:defRPr sz="800" b="0">
                <a:solidFill>
                  <a:srgbClr val="4B4662"/>
                </a:solidFill>
                <a:latin typeface="Calibri"/>
              </a:defRPr>
            </a:pPr>
            <a:r>
              <a:t>→  Sub growth leads production by 60-90 days — sustained growth should lift Q3.</a:t>
            </a:r>
          </a:p>
        </p:txBody>
      </p:sp>
      <p:sp>
        <p:nvSpPr>
          <p:cNvPr id="13" name="Rectangle 12"/>
          <p:cNvSpPr/>
          <p:nvPr/>
        </p:nvSpPr>
        <p:spPr>
          <a:xfrm>
            <a:off x="182880" y="1386840"/>
            <a:ext cx="91440" cy="390144"/>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608" y="1386840"/>
            <a:ext cx="11686032" cy="390144"/>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1414272"/>
            <a:ext cx="2560320" cy="344424"/>
          </a:xfrm>
          <a:prstGeom prst="rect">
            <a:avLst/>
          </a:prstGeom>
          <a:noFill/>
        </p:spPr>
        <p:txBody>
          <a:bodyPr wrap="square">
            <a:spAutoFit/>
          </a:bodyPr>
          <a:lstStyle/>
          <a:p>
            <a:pPr algn="l">
              <a:defRPr sz="850" b="1">
                <a:solidFill>
                  <a:srgbClr val="05784C"/>
                </a:solidFill>
                <a:latin typeface="Calibri"/>
              </a:defRPr>
            </a:pPr>
            <a:r>
              <a:t>PORTFOLIO ENGAGEMENT</a:t>
            </a:r>
          </a:p>
        </p:txBody>
      </p:sp>
      <p:sp>
        <p:nvSpPr>
          <p:cNvPr id="16" name="TextBox 15"/>
          <p:cNvSpPr txBox="1"/>
          <p:nvPr/>
        </p:nvSpPr>
        <p:spPr>
          <a:xfrm>
            <a:off x="2926080" y="1414272"/>
            <a:ext cx="5029200" cy="335280"/>
          </a:xfrm>
          <a:prstGeom prst="rect">
            <a:avLst/>
          </a:prstGeom>
          <a:noFill/>
        </p:spPr>
        <p:txBody>
          <a:bodyPr wrap="square">
            <a:spAutoFit/>
          </a:bodyPr>
          <a:lstStyle/>
          <a:p>
            <a:pPr algn="l">
              <a:defRPr sz="850" b="0">
                <a:solidFill>
                  <a:srgbClr val="111827"/>
                </a:solidFill>
                <a:latin typeface="Calibri"/>
              </a:defRPr>
            </a:pPr>
            <a:r>
              <a:t>96% of 410 assigned agencies active in Q1 — healthy.</a:t>
            </a:r>
          </a:p>
        </p:txBody>
      </p:sp>
      <p:sp>
        <p:nvSpPr>
          <p:cNvPr id="17" name="TextBox 16"/>
          <p:cNvSpPr txBox="1"/>
          <p:nvPr/>
        </p:nvSpPr>
        <p:spPr>
          <a:xfrm>
            <a:off x="8001000" y="1414272"/>
            <a:ext cx="3931920" cy="335280"/>
          </a:xfrm>
          <a:prstGeom prst="rect">
            <a:avLst/>
          </a:prstGeom>
          <a:noFill/>
        </p:spPr>
        <p:txBody>
          <a:bodyPr wrap="square">
            <a:spAutoFit/>
          </a:bodyPr>
          <a:lstStyle/>
          <a:p>
            <a:pPr algn="l">
              <a:defRPr sz="800" b="0">
                <a:solidFill>
                  <a:srgbClr val="4B4662"/>
                </a:solidFill>
                <a:latin typeface="Calibri"/>
              </a:defRPr>
            </a:pPr>
            <a:r>
              <a:t>→  Deepen share-of-wallet with active agencies.</a:t>
            </a:r>
          </a:p>
        </p:txBody>
      </p:sp>
      <p:sp>
        <p:nvSpPr>
          <p:cNvPr id="18" name="Rectangle 17"/>
          <p:cNvSpPr/>
          <p:nvPr/>
        </p:nvSpPr>
        <p:spPr>
          <a:xfrm>
            <a:off x="182880" y="1813559"/>
            <a:ext cx="91440" cy="390144"/>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2608" y="1813559"/>
            <a:ext cx="11686032" cy="390144"/>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 y="1840991"/>
            <a:ext cx="2560320" cy="344424"/>
          </a:xfrm>
          <a:prstGeom prst="rect">
            <a:avLst/>
          </a:prstGeom>
          <a:noFill/>
        </p:spPr>
        <p:txBody>
          <a:bodyPr wrap="square">
            <a:spAutoFit/>
          </a:bodyPr>
          <a:lstStyle/>
          <a:p>
            <a:pPr algn="l">
              <a:defRPr sz="850" b="1">
                <a:solidFill>
                  <a:srgbClr val="05784C"/>
                </a:solidFill>
                <a:latin typeface="Calibri"/>
              </a:defRPr>
            </a:pPr>
            <a:r>
              <a:t>Q2 QUOTA PACING</a:t>
            </a:r>
          </a:p>
        </p:txBody>
      </p:sp>
      <p:sp>
        <p:nvSpPr>
          <p:cNvPr id="21" name="TextBox 20"/>
          <p:cNvSpPr txBox="1"/>
          <p:nvPr/>
        </p:nvSpPr>
        <p:spPr>
          <a:xfrm>
            <a:off x="2926080" y="1840991"/>
            <a:ext cx="5029200" cy="335280"/>
          </a:xfrm>
          <a:prstGeom prst="rect">
            <a:avLst/>
          </a:prstGeom>
          <a:noFill/>
        </p:spPr>
        <p:txBody>
          <a:bodyPr wrap="square">
            <a:spAutoFit/>
          </a:bodyPr>
          <a:lstStyle/>
          <a:p>
            <a:pPr algn="l">
              <a:defRPr sz="850" b="0">
                <a:solidFill>
                  <a:srgbClr val="111827"/>
                </a:solidFill>
                <a:latin typeface="Calibri"/>
              </a:defRPr>
            </a:pPr>
            <a:r>
              <a:t>BDM avg Q2 quota pace 113% — on track.  Above quota: R.Douglas, A.Berry-Smith.</a:t>
            </a:r>
          </a:p>
        </p:txBody>
      </p:sp>
      <p:sp>
        <p:nvSpPr>
          <p:cNvPr id="22" name="TextBox 21"/>
          <p:cNvSpPr txBox="1"/>
          <p:nvPr/>
        </p:nvSpPr>
        <p:spPr>
          <a:xfrm>
            <a:off x="8001000" y="1840991"/>
            <a:ext cx="3931920" cy="335280"/>
          </a:xfrm>
          <a:prstGeom prst="rect">
            <a:avLst/>
          </a:prstGeom>
          <a:noFill/>
        </p:spPr>
        <p:txBody>
          <a:bodyPr wrap="square">
            <a:spAutoFit/>
          </a:bodyPr>
          <a:lstStyle/>
          <a:p>
            <a:pPr algn="l">
              <a:defRPr sz="800" b="0">
                <a:solidFill>
                  <a:srgbClr val="4B4662"/>
                </a:solidFill>
                <a:latin typeface="Calibri"/>
              </a:defRPr>
            </a:pPr>
            <a:r>
              <a:t>→  Ensure pipeline stays 2x+ to sustain close rate through June.</a:t>
            </a:r>
          </a:p>
        </p:txBody>
      </p:sp>
      <p:sp>
        <p:nvSpPr>
          <p:cNvPr id="23" name="Rectangle 22"/>
          <p:cNvSpPr/>
          <p:nvPr/>
        </p:nvSpPr>
        <p:spPr>
          <a:xfrm>
            <a:off x="182880" y="2240279"/>
            <a:ext cx="91440" cy="390144"/>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92608" y="2240279"/>
            <a:ext cx="11686032" cy="390144"/>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 y="2267711"/>
            <a:ext cx="2560320" cy="344424"/>
          </a:xfrm>
          <a:prstGeom prst="rect">
            <a:avLst/>
          </a:prstGeom>
          <a:noFill/>
        </p:spPr>
        <p:txBody>
          <a:bodyPr wrap="square">
            <a:spAutoFit/>
          </a:bodyPr>
          <a:lstStyle/>
          <a:p>
            <a:pPr algn="l">
              <a:defRPr sz="850" b="1">
                <a:solidFill>
                  <a:srgbClr val="05784C"/>
                </a:solidFill>
                <a:latin typeface="Calibri"/>
              </a:defRPr>
            </a:pPr>
            <a:r>
              <a:t>NEW VS. RENEWAL MIX</a:t>
            </a:r>
          </a:p>
        </p:txBody>
      </p:sp>
      <p:sp>
        <p:nvSpPr>
          <p:cNvPr id="26" name="TextBox 25"/>
          <p:cNvSpPr txBox="1"/>
          <p:nvPr/>
        </p:nvSpPr>
        <p:spPr>
          <a:xfrm>
            <a:off x="2926080" y="2267711"/>
            <a:ext cx="5029200" cy="335280"/>
          </a:xfrm>
          <a:prstGeom prst="rect">
            <a:avLst/>
          </a:prstGeom>
          <a:noFill/>
        </p:spPr>
        <p:txBody>
          <a:bodyPr wrap="square">
            <a:spAutoFit/>
          </a:bodyPr>
          <a:lstStyle/>
          <a:p>
            <a:pPr algn="l">
              <a:defRPr sz="850" b="0">
                <a:solidFill>
                  <a:srgbClr val="111827"/>
                </a:solidFill>
                <a:latin typeface="Calibri"/>
              </a:defRPr>
            </a:pPr>
            <a:r>
              <a:t>Q1 new biz $39.7M (65%) vs renewals $8.3M (14%) — healthy growth engine.</a:t>
            </a:r>
          </a:p>
        </p:txBody>
      </p:sp>
      <p:sp>
        <p:nvSpPr>
          <p:cNvPr id="27" name="TextBox 26"/>
          <p:cNvSpPr txBox="1"/>
          <p:nvPr/>
        </p:nvSpPr>
        <p:spPr>
          <a:xfrm>
            <a:off x="8001000" y="2267711"/>
            <a:ext cx="3931920" cy="335280"/>
          </a:xfrm>
          <a:prstGeom prst="rect">
            <a:avLst/>
          </a:prstGeom>
          <a:noFill/>
        </p:spPr>
        <p:txBody>
          <a:bodyPr wrap="square">
            <a:spAutoFit/>
          </a:bodyPr>
          <a:lstStyle/>
          <a:p>
            <a:pPr algn="l">
              <a:defRPr sz="800" b="0">
                <a:solidFill>
                  <a:srgbClr val="4B4662"/>
                </a:solidFill>
                <a:latin typeface="Calibri"/>
              </a:defRPr>
            </a:pPr>
            <a:r>
              <a:t>→  Ensure onboarding quality keeps new agencies submitting in Q2.</a:t>
            </a:r>
          </a:p>
        </p:txBody>
      </p:sp>
      <p:sp>
        <p:nvSpPr>
          <p:cNvPr id="28" name="Rectangle 27"/>
          <p:cNvSpPr/>
          <p:nvPr/>
        </p:nvSpPr>
        <p:spPr>
          <a:xfrm>
            <a:off x="182880" y="2667000"/>
            <a:ext cx="91440" cy="390144"/>
          </a:xfrm>
          <a:prstGeom prst="rect">
            <a:avLst/>
          </a:prstGeom>
          <a:solidFill>
            <a:srgbClr val="057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2608" y="2667000"/>
            <a:ext cx="11686032" cy="390144"/>
          </a:xfrm>
          <a:prstGeom prst="rect">
            <a:avLst/>
          </a:prstGeom>
          <a:solidFill>
            <a:srgbClr val="D1FA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7472" y="2694431"/>
            <a:ext cx="2560320" cy="344424"/>
          </a:xfrm>
          <a:prstGeom prst="rect">
            <a:avLst/>
          </a:prstGeom>
          <a:noFill/>
        </p:spPr>
        <p:txBody>
          <a:bodyPr wrap="square">
            <a:spAutoFit/>
          </a:bodyPr>
          <a:lstStyle/>
          <a:p>
            <a:pPr algn="l">
              <a:defRPr sz="850" b="1">
                <a:solidFill>
                  <a:srgbClr val="05784C"/>
                </a:solidFill>
                <a:latin typeface="Calibri"/>
              </a:defRPr>
            </a:pPr>
            <a:r>
              <a:t>BDA EARLY SIGNAL</a:t>
            </a:r>
          </a:p>
        </p:txBody>
      </p:sp>
      <p:sp>
        <p:nvSpPr>
          <p:cNvPr id="31" name="TextBox 30"/>
          <p:cNvSpPr txBox="1"/>
          <p:nvPr/>
        </p:nvSpPr>
        <p:spPr>
          <a:xfrm>
            <a:off x="2926080" y="2694431"/>
            <a:ext cx="5029200" cy="335280"/>
          </a:xfrm>
          <a:prstGeom prst="rect">
            <a:avLst/>
          </a:prstGeom>
          <a:noFill/>
        </p:spPr>
        <p:txBody>
          <a:bodyPr wrap="square">
            <a:spAutoFit/>
          </a:bodyPr>
          <a:lstStyle/>
          <a:p>
            <a:pPr algn="l">
              <a:defRPr sz="850" b="0">
                <a:solidFill>
                  <a:srgbClr val="111827"/>
                </a:solidFill>
                <a:latin typeface="Calibri"/>
              </a:defRPr>
            </a:pPr>
            <a:r>
              <a:t>BDA Q2 YTD: $4.5M GWP / 7470 subs (accountability started Apr 20) — traction confirmed.</a:t>
            </a:r>
          </a:p>
        </p:txBody>
      </p:sp>
      <p:sp>
        <p:nvSpPr>
          <p:cNvPr id="32" name="TextBox 31"/>
          <p:cNvSpPr txBox="1"/>
          <p:nvPr/>
        </p:nvSpPr>
        <p:spPr>
          <a:xfrm>
            <a:off x="8001000" y="2694431"/>
            <a:ext cx="3931920" cy="335280"/>
          </a:xfrm>
          <a:prstGeom prst="rect">
            <a:avLst/>
          </a:prstGeom>
          <a:noFill/>
        </p:spPr>
        <p:txBody>
          <a:bodyPr wrap="square">
            <a:spAutoFit/>
          </a:bodyPr>
          <a:lstStyle/>
          <a:p>
            <a:pPr algn="l">
              <a:defRPr sz="800" b="0">
                <a:solidFill>
                  <a:srgbClr val="4B4662"/>
                </a:solidFill>
                <a:latin typeface="Calibri"/>
              </a:defRPr>
            </a:pPr>
            <a:r>
              <a:t>→  Support with agency introductions. Monitor weekly — ramp trajectory locks in around week 6.</a:t>
            </a:r>
          </a:p>
        </p:txBody>
      </p:sp>
      <p:sp>
        <p:nvSpPr>
          <p:cNvPr id="33" name="Rectangle 32"/>
          <p:cNvSpPr/>
          <p:nvPr/>
        </p:nvSpPr>
        <p:spPr>
          <a:xfrm>
            <a:off x="182880" y="3093720"/>
            <a:ext cx="11795760" cy="1828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0040" y="3121152"/>
            <a:ext cx="11430000" cy="137160"/>
          </a:xfrm>
          <a:prstGeom prst="rect">
            <a:avLst/>
          </a:prstGeom>
          <a:noFill/>
        </p:spPr>
        <p:txBody>
          <a:bodyPr wrap="square">
            <a:spAutoFit/>
          </a:bodyPr>
          <a:lstStyle/>
          <a:p>
            <a:pPr algn="l">
              <a:defRPr sz="850" b="1">
                <a:solidFill>
                  <a:srgbClr val="FFFFFF"/>
                </a:solidFill>
                <a:latin typeface="Calibri"/>
              </a:defRPr>
            </a:pPr>
            <a:r>
              <a:t>WATCH</a:t>
            </a:r>
          </a:p>
        </p:txBody>
      </p:sp>
      <p:sp>
        <p:nvSpPr>
          <p:cNvPr id="35" name="Rectangle 34"/>
          <p:cNvSpPr/>
          <p:nvPr/>
        </p:nvSpPr>
        <p:spPr>
          <a:xfrm>
            <a:off x="182880" y="3276600"/>
            <a:ext cx="91440" cy="39014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92608" y="3276600"/>
            <a:ext cx="11686032" cy="390144"/>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7472" y="3304032"/>
            <a:ext cx="2560320" cy="344424"/>
          </a:xfrm>
          <a:prstGeom prst="rect">
            <a:avLst/>
          </a:prstGeom>
          <a:noFill/>
        </p:spPr>
        <p:txBody>
          <a:bodyPr wrap="square">
            <a:spAutoFit/>
          </a:bodyPr>
          <a:lstStyle/>
          <a:p>
            <a:pPr algn="l">
              <a:defRPr sz="850" b="1">
                <a:solidFill>
                  <a:srgbClr val="D97706"/>
                </a:solidFill>
                <a:latin typeface="Calibri"/>
              </a:defRPr>
            </a:pPr>
            <a:r>
              <a:t>ACTIVITY % TO GOAL</a:t>
            </a:r>
          </a:p>
        </p:txBody>
      </p:sp>
      <p:sp>
        <p:nvSpPr>
          <p:cNvPr id="38" name="TextBox 37"/>
          <p:cNvSpPr txBox="1"/>
          <p:nvPr/>
        </p:nvSpPr>
        <p:spPr>
          <a:xfrm>
            <a:off x="2926080" y="3304032"/>
            <a:ext cx="5029200" cy="335280"/>
          </a:xfrm>
          <a:prstGeom prst="rect">
            <a:avLst/>
          </a:prstGeom>
          <a:noFill/>
        </p:spPr>
        <p:txBody>
          <a:bodyPr wrap="square">
            <a:spAutoFit/>
          </a:bodyPr>
          <a:lstStyle/>
          <a:p>
            <a:pPr algn="l">
              <a:defRPr sz="850" b="0">
                <a:solidFill>
                  <a:srgbClr val="111827"/>
                </a:solidFill>
                <a:latin typeface="Calibri"/>
              </a:defRPr>
            </a:pPr>
            <a:r>
              <a:t>Q2 activity 77% of goal (Q1: 48%).  Under 75%: R.Douglas, A.Berry-Smith, K.Butterfield.</a:t>
            </a:r>
          </a:p>
        </p:txBody>
      </p:sp>
      <p:sp>
        <p:nvSpPr>
          <p:cNvPr id="39" name="TextBox 38"/>
          <p:cNvSpPr txBox="1"/>
          <p:nvPr/>
        </p:nvSpPr>
        <p:spPr>
          <a:xfrm>
            <a:off x="8001000" y="3304032"/>
            <a:ext cx="3931920" cy="335280"/>
          </a:xfrm>
          <a:prstGeom prst="rect">
            <a:avLst/>
          </a:prstGeom>
          <a:noFill/>
        </p:spPr>
        <p:txBody>
          <a:bodyPr wrap="square">
            <a:spAutoFit/>
          </a:bodyPr>
          <a:lstStyle/>
          <a:p>
            <a:pPr algn="l">
              <a:defRPr sz="800" b="0">
                <a:solidFill>
                  <a:srgbClr val="4B4662"/>
                </a:solidFill>
                <a:latin typeface="Calibri"/>
              </a:defRPr>
            </a:pPr>
            <a:r>
              <a:t>→  No rep below 75% for 2 consecutive weeks. Coach laggards individually.</a:t>
            </a:r>
          </a:p>
        </p:txBody>
      </p:sp>
      <p:sp>
        <p:nvSpPr>
          <p:cNvPr id="40" name="Rectangle 39"/>
          <p:cNvSpPr/>
          <p:nvPr/>
        </p:nvSpPr>
        <p:spPr>
          <a:xfrm>
            <a:off x="182880" y="3703320"/>
            <a:ext cx="91440" cy="39014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92608" y="3703320"/>
            <a:ext cx="11686032" cy="390144"/>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7472" y="3730752"/>
            <a:ext cx="2560320" cy="344424"/>
          </a:xfrm>
          <a:prstGeom prst="rect">
            <a:avLst/>
          </a:prstGeom>
          <a:noFill/>
        </p:spPr>
        <p:txBody>
          <a:bodyPr wrap="square">
            <a:spAutoFit/>
          </a:bodyPr>
          <a:lstStyle/>
          <a:p>
            <a:pPr algn="l">
              <a:defRPr sz="850" b="1">
                <a:solidFill>
                  <a:srgbClr val="D97706"/>
                </a:solidFill>
                <a:latin typeface="Calibri"/>
              </a:defRPr>
            </a:pPr>
            <a:r>
              <a:t>PIPELINE COVERAGE</a:t>
            </a:r>
          </a:p>
        </p:txBody>
      </p:sp>
      <p:sp>
        <p:nvSpPr>
          <p:cNvPr id="43" name="TextBox 42"/>
          <p:cNvSpPr txBox="1"/>
          <p:nvPr/>
        </p:nvSpPr>
        <p:spPr>
          <a:xfrm>
            <a:off x="2926080" y="3730752"/>
            <a:ext cx="5029200" cy="335280"/>
          </a:xfrm>
          <a:prstGeom prst="rect">
            <a:avLst/>
          </a:prstGeom>
          <a:noFill/>
        </p:spPr>
        <p:txBody>
          <a:bodyPr wrap="square">
            <a:spAutoFit/>
          </a:bodyPr>
          <a:lstStyle/>
          <a:p>
            <a:pPr algn="l">
              <a:defRPr sz="850" b="0">
                <a:solidFill>
                  <a:srgbClr val="111827"/>
                </a:solidFill>
                <a:latin typeface="Calibri"/>
              </a:defRPr>
            </a:pPr>
            <a:r>
              <a:t>Team pipeline coverage 1.7× goal. Below 2× healthy threshold.</a:t>
            </a:r>
          </a:p>
        </p:txBody>
      </p:sp>
      <p:sp>
        <p:nvSpPr>
          <p:cNvPr id="44" name="TextBox 43"/>
          <p:cNvSpPr txBox="1"/>
          <p:nvPr/>
        </p:nvSpPr>
        <p:spPr>
          <a:xfrm>
            <a:off x="8001000" y="3730752"/>
            <a:ext cx="3931920" cy="335280"/>
          </a:xfrm>
          <a:prstGeom prst="rect">
            <a:avLst/>
          </a:prstGeom>
          <a:noFill/>
        </p:spPr>
        <p:txBody>
          <a:bodyPr wrap="square">
            <a:spAutoFit/>
          </a:bodyPr>
          <a:lstStyle/>
          <a:p>
            <a:pPr algn="l">
              <a:defRPr sz="800" b="0">
                <a:solidFill>
                  <a:srgbClr val="4B4662"/>
                </a:solidFill>
                <a:latin typeface="Calibri"/>
              </a:defRPr>
            </a:pPr>
            <a:r>
              <a:t>→  Reps need more open quotes or better follow-up on stale ones.</a:t>
            </a:r>
          </a:p>
        </p:txBody>
      </p:sp>
      <p:sp>
        <p:nvSpPr>
          <p:cNvPr id="45" name="Rectangle 44"/>
          <p:cNvSpPr/>
          <p:nvPr/>
        </p:nvSpPr>
        <p:spPr>
          <a:xfrm>
            <a:off x="182880" y="4130040"/>
            <a:ext cx="91440" cy="39014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92608" y="4130040"/>
            <a:ext cx="11686032" cy="390144"/>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7472" y="4157472"/>
            <a:ext cx="2560320" cy="344424"/>
          </a:xfrm>
          <a:prstGeom prst="rect">
            <a:avLst/>
          </a:prstGeom>
          <a:noFill/>
        </p:spPr>
        <p:txBody>
          <a:bodyPr wrap="square">
            <a:spAutoFit/>
          </a:bodyPr>
          <a:lstStyle/>
          <a:p>
            <a:pPr algn="l">
              <a:defRPr sz="850" b="1">
                <a:solidFill>
                  <a:srgbClr val="D97706"/>
                </a:solidFill>
                <a:latin typeface="Calibri"/>
              </a:defRPr>
            </a:pPr>
            <a:r>
              <a:t>GWP CONCENTRATION RISK</a:t>
            </a:r>
          </a:p>
        </p:txBody>
      </p:sp>
      <p:sp>
        <p:nvSpPr>
          <p:cNvPr id="48" name="TextBox 47"/>
          <p:cNvSpPr txBox="1"/>
          <p:nvPr/>
        </p:nvSpPr>
        <p:spPr>
          <a:xfrm>
            <a:off x="2926080" y="4157472"/>
            <a:ext cx="5029200" cy="335280"/>
          </a:xfrm>
          <a:prstGeom prst="rect">
            <a:avLst/>
          </a:prstGeom>
          <a:noFill/>
        </p:spPr>
        <p:txBody>
          <a:bodyPr wrap="square">
            <a:spAutoFit/>
          </a:bodyPr>
          <a:lstStyle/>
          <a:p>
            <a:pPr algn="l">
              <a:defRPr sz="850" b="0">
                <a:solidFill>
                  <a:srgbClr val="111827"/>
                </a:solidFill>
                <a:latin typeface="Calibri"/>
              </a:defRPr>
            </a:pPr>
            <a:r>
              <a:t>D.Janssen = 38% of team Q1 GWP $60.7M — high dependency.</a:t>
            </a:r>
          </a:p>
        </p:txBody>
      </p:sp>
      <p:sp>
        <p:nvSpPr>
          <p:cNvPr id="49" name="TextBox 48"/>
          <p:cNvSpPr txBox="1"/>
          <p:nvPr/>
        </p:nvSpPr>
        <p:spPr>
          <a:xfrm>
            <a:off x="8001000" y="4157472"/>
            <a:ext cx="3931920" cy="335280"/>
          </a:xfrm>
          <a:prstGeom prst="rect">
            <a:avLst/>
          </a:prstGeom>
          <a:noFill/>
        </p:spPr>
        <p:txBody>
          <a:bodyPr wrap="square">
            <a:spAutoFit/>
          </a:bodyPr>
          <a:lstStyle/>
          <a:p>
            <a:pPr algn="l">
              <a:defRPr sz="800" b="0">
                <a:solidFill>
                  <a:srgbClr val="4B4662"/>
                </a:solidFill>
                <a:latin typeface="Calibri"/>
              </a:defRPr>
            </a:pPr>
            <a:r>
              <a:t>→  Accelerate 2nd/3rd-tier BDM development. Protect this rep’s book from reassignment.</a:t>
            </a:r>
          </a:p>
        </p:txBody>
      </p:sp>
      <p:sp>
        <p:nvSpPr>
          <p:cNvPr id="50" name="Rectangle 49"/>
          <p:cNvSpPr/>
          <p:nvPr/>
        </p:nvSpPr>
        <p:spPr>
          <a:xfrm>
            <a:off x="182880" y="4556760"/>
            <a:ext cx="11795760" cy="1828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0040" y="4584192"/>
            <a:ext cx="11430000" cy="137160"/>
          </a:xfrm>
          <a:prstGeom prst="rect">
            <a:avLst/>
          </a:prstGeom>
          <a:noFill/>
        </p:spPr>
        <p:txBody>
          <a:bodyPr wrap="square">
            <a:spAutoFit/>
          </a:bodyPr>
          <a:lstStyle/>
          <a:p>
            <a:pPr algn="l">
              <a:defRPr sz="850" b="1">
                <a:solidFill>
                  <a:srgbClr val="FFFFFF"/>
                </a:solidFill>
                <a:latin typeface="Calibri"/>
              </a:defRPr>
            </a:pPr>
            <a:r>
              <a:t>GAP — ACTION REQUIRED</a:t>
            </a:r>
          </a:p>
        </p:txBody>
      </p:sp>
      <p:sp>
        <p:nvSpPr>
          <p:cNvPr id="52" name="Rectangle 51"/>
          <p:cNvSpPr/>
          <p:nvPr/>
        </p:nvSpPr>
        <p:spPr>
          <a:xfrm>
            <a:off x="182880" y="4739640"/>
            <a:ext cx="91440" cy="39014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92608" y="4739640"/>
            <a:ext cx="11686032" cy="390144"/>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47472" y="4767072"/>
            <a:ext cx="2560320" cy="344424"/>
          </a:xfrm>
          <a:prstGeom prst="rect">
            <a:avLst/>
          </a:prstGeom>
          <a:noFill/>
        </p:spPr>
        <p:txBody>
          <a:bodyPr wrap="square">
            <a:spAutoFit/>
          </a:bodyPr>
          <a:lstStyle/>
          <a:p>
            <a:pPr algn="l">
              <a:defRPr sz="850" b="1">
                <a:solidFill>
                  <a:srgbClr val="DC2626"/>
                </a:solidFill>
                <a:latin typeface="Calibri"/>
              </a:defRPr>
            </a:pPr>
            <a:r>
              <a:t>GWP GROWTH (YOY)</a:t>
            </a:r>
          </a:p>
        </p:txBody>
      </p:sp>
      <p:sp>
        <p:nvSpPr>
          <p:cNvPr id="55" name="TextBox 54"/>
          <p:cNvSpPr txBox="1"/>
          <p:nvPr/>
        </p:nvSpPr>
        <p:spPr>
          <a:xfrm>
            <a:off x="2926080" y="4767072"/>
            <a:ext cx="5029200" cy="335280"/>
          </a:xfrm>
          <a:prstGeom prst="rect">
            <a:avLst/>
          </a:prstGeom>
          <a:noFill/>
        </p:spPr>
        <p:txBody>
          <a:bodyPr wrap="square">
            <a:spAutoFit/>
          </a:bodyPr>
          <a:lstStyle/>
          <a:p>
            <a:pPr algn="l">
              <a:defRPr sz="850" b="0">
                <a:solidFill>
                  <a:srgbClr val="111827"/>
                </a:solidFill>
                <a:latin typeface="Calibri"/>
              </a:defRPr>
            </a:pPr>
            <a:r>
              <a:t>Q2 pace-adj -32.8% YOY (Q1 Final: -10.8%) — GWP declining YOY.</a:t>
            </a:r>
          </a:p>
        </p:txBody>
      </p:sp>
      <p:sp>
        <p:nvSpPr>
          <p:cNvPr id="56" name="TextBox 55"/>
          <p:cNvSpPr txBox="1"/>
          <p:nvPr/>
        </p:nvSpPr>
        <p:spPr>
          <a:xfrm>
            <a:off x="8001000" y="4767072"/>
            <a:ext cx="3931920" cy="335280"/>
          </a:xfrm>
          <a:prstGeom prst="rect">
            <a:avLst/>
          </a:prstGeom>
          <a:noFill/>
        </p:spPr>
        <p:txBody>
          <a:bodyPr wrap="square">
            <a:spAutoFit/>
          </a:bodyPr>
          <a:lstStyle/>
          <a:p>
            <a:pPr algn="l">
              <a:defRPr sz="800" b="0">
                <a:solidFill>
                  <a:srgbClr val="4B4662"/>
                </a:solidFill>
                <a:latin typeface="Calibri"/>
              </a:defRPr>
            </a:pPr>
            <a:r>
              <a:t>→  Stabilize existing book. Audit top cancellations before layering in new volume.</a:t>
            </a:r>
          </a:p>
        </p:txBody>
      </p:sp>
      <p:sp>
        <p:nvSpPr>
          <p:cNvPr id="57" name="Rectangle 56"/>
          <p:cNvSpPr/>
          <p:nvPr/>
        </p:nvSpPr>
        <p:spPr>
          <a:xfrm>
            <a:off x="182880" y="5166360"/>
            <a:ext cx="91440" cy="39014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92608" y="5166360"/>
            <a:ext cx="11686032" cy="390144"/>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7472" y="5193792"/>
            <a:ext cx="2560320" cy="344424"/>
          </a:xfrm>
          <a:prstGeom prst="rect">
            <a:avLst/>
          </a:prstGeom>
          <a:noFill/>
        </p:spPr>
        <p:txBody>
          <a:bodyPr wrap="square">
            <a:spAutoFit/>
          </a:bodyPr>
          <a:lstStyle/>
          <a:p>
            <a:pPr algn="l">
              <a:defRPr sz="850" b="1">
                <a:solidFill>
                  <a:srgbClr val="DC2626"/>
                </a:solidFill>
                <a:latin typeface="Calibri"/>
              </a:defRPr>
            </a:pPr>
            <a:r>
              <a:t>SUBMISSION HIT RATIO</a:t>
            </a:r>
          </a:p>
        </p:txBody>
      </p:sp>
      <p:sp>
        <p:nvSpPr>
          <p:cNvPr id="60" name="TextBox 59"/>
          <p:cNvSpPr txBox="1"/>
          <p:nvPr/>
        </p:nvSpPr>
        <p:spPr>
          <a:xfrm>
            <a:off x="2926080" y="5193792"/>
            <a:ext cx="5029200" cy="335280"/>
          </a:xfrm>
          <a:prstGeom prst="rect">
            <a:avLst/>
          </a:prstGeom>
          <a:noFill/>
        </p:spPr>
        <p:txBody>
          <a:bodyPr wrap="square">
            <a:spAutoFit/>
          </a:bodyPr>
          <a:lstStyle/>
          <a:p>
            <a:pPr algn="l">
              <a:defRPr sz="850" b="0">
                <a:solidFill>
                  <a:srgbClr val="111827"/>
                </a:solidFill>
                <a:latin typeface="Calibri"/>
              </a:defRPr>
            </a:pPr>
            <a:r>
              <a:t>Q1 hit ratio 3.8% vs 5.4% prior year — well below 10% target.</a:t>
            </a:r>
          </a:p>
        </p:txBody>
      </p:sp>
      <p:sp>
        <p:nvSpPr>
          <p:cNvPr id="61" name="TextBox 60"/>
          <p:cNvSpPr txBox="1"/>
          <p:nvPr/>
        </p:nvSpPr>
        <p:spPr>
          <a:xfrm>
            <a:off x="8001000" y="5193792"/>
            <a:ext cx="3931920" cy="335280"/>
          </a:xfrm>
          <a:prstGeom prst="rect">
            <a:avLst/>
          </a:prstGeom>
          <a:noFill/>
        </p:spPr>
        <p:txBody>
          <a:bodyPr wrap="square">
            <a:spAutoFit/>
          </a:bodyPr>
          <a:lstStyle/>
          <a:p>
            <a:pPr algn="l">
              <a:defRPr sz="800" b="0">
                <a:solidFill>
                  <a:srgbClr val="4B4662"/>
                </a:solidFill>
                <a:latin typeface="Calibri"/>
              </a:defRPr>
            </a:pPr>
            <a:r>
              <a:t>→  Root cause by rep and agency. Likely pricing fit or insufficient follow-through.</a:t>
            </a:r>
          </a:p>
        </p:txBody>
      </p:sp>
      <p:sp>
        <p:nvSpPr>
          <p:cNvPr id="62" name="Rectangle 61"/>
          <p:cNvSpPr/>
          <p:nvPr/>
        </p:nvSpPr>
        <p:spPr>
          <a:xfrm>
            <a:off x="182880" y="5593080"/>
            <a:ext cx="91440" cy="39014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92608" y="5593080"/>
            <a:ext cx="11686032" cy="390144"/>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7472" y="5620512"/>
            <a:ext cx="2560320" cy="344424"/>
          </a:xfrm>
          <a:prstGeom prst="rect">
            <a:avLst/>
          </a:prstGeom>
          <a:noFill/>
        </p:spPr>
        <p:txBody>
          <a:bodyPr wrap="square">
            <a:spAutoFit/>
          </a:bodyPr>
          <a:lstStyle/>
          <a:p>
            <a:pPr algn="l">
              <a:defRPr sz="850" b="1">
                <a:solidFill>
                  <a:srgbClr val="DC2626"/>
                </a:solidFill>
                <a:latin typeface="Calibri"/>
              </a:defRPr>
            </a:pPr>
            <a:r>
              <a:t>AGENCY COVERAGE</a:t>
            </a:r>
          </a:p>
        </p:txBody>
      </p:sp>
      <p:sp>
        <p:nvSpPr>
          <p:cNvPr id="65" name="TextBox 64"/>
          <p:cNvSpPr txBox="1"/>
          <p:nvPr/>
        </p:nvSpPr>
        <p:spPr>
          <a:xfrm>
            <a:off x="2926080" y="5620512"/>
            <a:ext cx="5029200" cy="335280"/>
          </a:xfrm>
          <a:prstGeom prst="rect">
            <a:avLst/>
          </a:prstGeom>
          <a:noFill/>
        </p:spPr>
        <p:txBody>
          <a:bodyPr wrap="square">
            <a:spAutoFit/>
          </a:bodyPr>
          <a:lstStyle/>
          <a:p>
            <a:pPr algn="l">
              <a:defRPr sz="850" b="0">
                <a:solidFill>
                  <a:srgbClr val="111827"/>
                </a:solidFill>
                <a:latin typeface="Calibri"/>
              </a:defRPr>
            </a:pPr>
            <a:r>
              <a:t>70.0% of submissions (57,834) have no rep — revenue orphaned.</a:t>
            </a:r>
          </a:p>
        </p:txBody>
      </p:sp>
      <p:sp>
        <p:nvSpPr>
          <p:cNvPr id="66" name="TextBox 65"/>
          <p:cNvSpPr txBox="1"/>
          <p:nvPr/>
        </p:nvSpPr>
        <p:spPr>
          <a:xfrm>
            <a:off x="8001000" y="5620512"/>
            <a:ext cx="3931920" cy="335280"/>
          </a:xfrm>
          <a:prstGeom prst="rect">
            <a:avLst/>
          </a:prstGeom>
          <a:noFill/>
        </p:spPr>
        <p:txBody>
          <a:bodyPr wrap="square">
            <a:spAutoFit/>
          </a:bodyPr>
          <a:lstStyle/>
          <a:p>
            <a:pPr algn="l">
              <a:defRPr sz="800" b="0">
                <a:solidFill>
                  <a:srgbClr val="4B4662"/>
                </a:solidFill>
                <a:latin typeface="Calibri"/>
              </a:defRPr>
            </a:pPr>
            <a:r>
              <a:t>→  Assign immediately. Sort by volume — highest-volume agencies get priority.</a:t>
            </a:r>
          </a:p>
        </p:txBody>
      </p:sp>
      <p:sp>
        <p:nvSpPr>
          <p:cNvPr id="67" name="Rectangle 66"/>
          <p:cNvSpPr/>
          <p:nvPr/>
        </p:nvSpPr>
        <p:spPr>
          <a:xfrm>
            <a:off x="182880" y="6019800"/>
            <a:ext cx="91440" cy="39014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292608" y="6019800"/>
            <a:ext cx="11686032" cy="390144"/>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47472" y="6047232"/>
            <a:ext cx="2560320" cy="344424"/>
          </a:xfrm>
          <a:prstGeom prst="rect">
            <a:avLst/>
          </a:prstGeom>
          <a:noFill/>
        </p:spPr>
        <p:txBody>
          <a:bodyPr wrap="square">
            <a:spAutoFit/>
          </a:bodyPr>
          <a:lstStyle/>
          <a:p>
            <a:pPr algn="l">
              <a:defRPr sz="850" b="1">
                <a:solidFill>
                  <a:srgbClr val="DC2626"/>
                </a:solidFill>
                <a:latin typeface="Calibri"/>
              </a:defRPr>
            </a:pPr>
            <a:r>
              <a:t>CANCELLATION ACTIVITY</a:t>
            </a:r>
          </a:p>
        </p:txBody>
      </p:sp>
      <p:sp>
        <p:nvSpPr>
          <p:cNvPr id="70" name="TextBox 69"/>
          <p:cNvSpPr txBox="1"/>
          <p:nvPr/>
        </p:nvSpPr>
        <p:spPr>
          <a:xfrm>
            <a:off x="2926080" y="6047232"/>
            <a:ext cx="5029200" cy="335280"/>
          </a:xfrm>
          <a:prstGeom prst="rect">
            <a:avLst/>
          </a:prstGeom>
          <a:noFill/>
        </p:spPr>
        <p:txBody>
          <a:bodyPr wrap="square">
            <a:spAutoFit/>
          </a:bodyPr>
          <a:lstStyle/>
          <a:p>
            <a:pPr algn="l">
              <a:defRPr sz="850" b="0">
                <a:solidFill>
                  <a:srgbClr val="111827"/>
                </a:solidFill>
                <a:latin typeface="Calibri"/>
              </a:defRPr>
            </a:pPr>
            <a:r>
              <a:t>Q1 cancellations $25.4M (42% of gross GWP) — high fleet churn.</a:t>
            </a:r>
          </a:p>
        </p:txBody>
      </p:sp>
      <p:sp>
        <p:nvSpPr>
          <p:cNvPr id="71" name="TextBox 70"/>
          <p:cNvSpPr txBox="1"/>
          <p:nvPr/>
        </p:nvSpPr>
        <p:spPr>
          <a:xfrm>
            <a:off x="8001000" y="6047232"/>
            <a:ext cx="3931920" cy="335280"/>
          </a:xfrm>
          <a:prstGeom prst="rect">
            <a:avLst/>
          </a:prstGeom>
          <a:noFill/>
        </p:spPr>
        <p:txBody>
          <a:bodyPr wrap="square">
            <a:spAutoFit/>
          </a:bodyPr>
          <a:lstStyle/>
          <a:p>
            <a:pPr algn="l">
              <a:defRPr sz="800" b="0">
                <a:solidFill>
                  <a:srgbClr val="4B4662"/>
                </a:solidFill>
                <a:latin typeface="Calibri"/>
              </a:defRPr>
            </a:pPr>
            <a:r>
              <a:t>→  Audit by rep. A few large fleet accounts likely drive the bulk.</a:t>
            </a:r>
          </a:p>
        </p:txBody>
      </p:sp>
      <p:sp>
        <p:nvSpPr>
          <p:cNvPr id="72" name="Rectangle 71"/>
          <p:cNvSpPr/>
          <p:nvPr/>
        </p:nvSpPr>
        <p:spPr>
          <a:xfrm>
            <a:off x="182880" y="6501384"/>
            <a:ext cx="11795760" cy="32918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20040" y="6565392"/>
            <a:ext cx="11430000" cy="219456"/>
          </a:xfrm>
          <a:prstGeom prst="rect">
            <a:avLst/>
          </a:prstGeom>
          <a:noFill/>
        </p:spPr>
        <p:txBody>
          <a:bodyPr wrap="square">
            <a:spAutoFit/>
          </a:bodyPr>
          <a:lstStyle/>
          <a:p>
            <a:pPr algn="ctr">
              <a:defRPr sz="1000" b="1">
                <a:solidFill>
                  <a:srgbClr val="FFFFFF"/>
                </a:solidFill>
                <a:latin typeface="Calibri"/>
              </a:defRPr>
            </a:pPr>
            <a:r>
              <a:t>5 ON TRACK  |  3 WATCH  |  4 GAPS     ||     No reps fully on track across all Q2 dimensions     |     7 reps require attention (below Q2 quota or activity)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Individual Rep Key Findings — Q1 2026 Final</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Jan 1 – Mar 31, 2026  |  Final OKR snapshot per rep  |  Reference for Q2 progress comparisons</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key_findings_q1_final.png"/>
          <p:cNvPicPr>
            <a:picLocks noChangeAspect="1"/>
          </p:cNvPicPr>
          <p:nvPr/>
        </p:nvPicPr>
        <p:blipFill>
          <a:blip r:embed="rId2"/>
          <a:stretch>
            <a:fillRect/>
          </a:stretch>
        </p:blipFill>
        <p:spPr>
          <a:xfrm>
            <a:off x="91440" y="749808"/>
            <a:ext cx="11978640" cy="5989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Agency Tier Breakdown</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Tier 1 = highest value  ·  Tier 5 = lowest  ·  Untiered = not yet classified in HubSpot  ·  Top 3 Conc% = top 3 agencies as % of rep Q1 GWP</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TextBox 5"/>
          <p:cNvSpPr txBox="1"/>
          <p:nvPr/>
        </p:nvSpPr>
        <p:spPr>
          <a:xfrm>
            <a:off x="182880" y="804672"/>
            <a:ext cx="1463040" cy="201168"/>
          </a:xfrm>
          <a:prstGeom prst="rect">
            <a:avLst/>
          </a:prstGeom>
          <a:noFill/>
        </p:spPr>
        <p:txBody>
          <a:bodyPr wrap="square">
            <a:spAutoFit/>
          </a:bodyPr>
          <a:lstStyle/>
          <a:p>
            <a:pPr algn="l">
              <a:defRPr sz="850" b="1">
                <a:solidFill>
                  <a:srgbClr val="6B7280"/>
                </a:solidFill>
                <a:latin typeface="Calibri"/>
              </a:defRPr>
            </a:pPr>
            <a:r>
              <a:t>Rep</a:t>
            </a:r>
          </a:p>
        </p:txBody>
      </p:sp>
      <p:sp>
        <p:nvSpPr>
          <p:cNvPr id="7" name="TextBox 6"/>
          <p:cNvSpPr txBox="1"/>
          <p:nvPr/>
        </p:nvSpPr>
        <p:spPr>
          <a:xfrm>
            <a:off x="1645920" y="804672"/>
            <a:ext cx="777240" cy="201168"/>
          </a:xfrm>
          <a:prstGeom prst="rect">
            <a:avLst/>
          </a:prstGeom>
          <a:noFill/>
        </p:spPr>
        <p:txBody>
          <a:bodyPr wrap="square">
            <a:spAutoFit/>
          </a:bodyPr>
          <a:lstStyle/>
          <a:p>
            <a:pPr algn="ctr">
              <a:defRPr sz="850" b="1">
                <a:solidFill>
                  <a:srgbClr val="6B7280"/>
                </a:solidFill>
                <a:latin typeface="Calibri"/>
              </a:defRPr>
            </a:pPr>
            <a:r>
              <a:t>Tier 1</a:t>
            </a:r>
          </a:p>
        </p:txBody>
      </p:sp>
      <p:sp>
        <p:nvSpPr>
          <p:cNvPr id="8" name="TextBox 7"/>
          <p:cNvSpPr txBox="1"/>
          <p:nvPr/>
        </p:nvSpPr>
        <p:spPr>
          <a:xfrm>
            <a:off x="2423160" y="804672"/>
            <a:ext cx="777240" cy="201168"/>
          </a:xfrm>
          <a:prstGeom prst="rect">
            <a:avLst/>
          </a:prstGeom>
          <a:noFill/>
        </p:spPr>
        <p:txBody>
          <a:bodyPr wrap="square">
            <a:spAutoFit/>
          </a:bodyPr>
          <a:lstStyle/>
          <a:p>
            <a:pPr algn="ctr">
              <a:defRPr sz="850" b="1">
                <a:solidFill>
                  <a:srgbClr val="6B7280"/>
                </a:solidFill>
                <a:latin typeface="Calibri"/>
              </a:defRPr>
            </a:pPr>
            <a:r>
              <a:t>Tier 2</a:t>
            </a:r>
          </a:p>
        </p:txBody>
      </p:sp>
      <p:sp>
        <p:nvSpPr>
          <p:cNvPr id="9" name="TextBox 8"/>
          <p:cNvSpPr txBox="1"/>
          <p:nvPr/>
        </p:nvSpPr>
        <p:spPr>
          <a:xfrm>
            <a:off x="3200400" y="804672"/>
            <a:ext cx="777240" cy="201168"/>
          </a:xfrm>
          <a:prstGeom prst="rect">
            <a:avLst/>
          </a:prstGeom>
          <a:noFill/>
        </p:spPr>
        <p:txBody>
          <a:bodyPr wrap="square">
            <a:spAutoFit/>
          </a:bodyPr>
          <a:lstStyle/>
          <a:p>
            <a:pPr algn="ctr">
              <a:defRPr sz="850" b="1">
                <a:solidFill>
                  <a:srgbClr val="6B7280"/>
                </a:solidFill>
                <a:latin typeface="Calibri"/>
              </a:defRPr>
            </a:pPr>
            <a:r>
              <a:t>Tier 3</a:t>
            </a:r>
          </a:p>
        </p:txBody>
      </p:sp>
      <p:sp>
        <p:nvSpPr>
          <p:cNvPr id="10" name="TextBox 9"/>
          <p:cNvSpPr txBox="1"/>
          <p:nvPr/>
        </p:nvSpPr>
        <p:spPr>
          <a:xfrm>
            <a:off x="3977639" y="804672"/>
            <a:ext cx="777240" cy="201168"/>
          </a:xfrm>
          <a:prstGeom prst="rect">
            <a:avLst/>
          </a:prstGeom>
          <a:noFill/>
        </p:spPr>
        <p:txBody>
          <a:bodyPr wrap="square">
            <a:spAutoFit/>
          </a:bodyPr>
          <a:lstStyle/>
          <a:p>
            <a:pPr algn="ctr">
              <a:defRPr sz="850" b="1">
                <a:solidFill>
                  <a:srgbClr val="6B7280"/>
                </a:solidFill>
                <a:latin typeface="Calibri"/>
              </a:defRPr>
            </a:pPr>
            <a:r>
              <a:t>Tier 4</a:t>
            </a:r>
          </a:p>
        </p:txBody>
      </p:sp>
      <p:sp>
        <p:nvSpPr>
          <p:cNvPr id="11" name="TextBox 10"/>
          <p:cNvSpPr txBox="1"/>
          <p:nvPr/>
        </p:nvSpPr>
        <p:spPr>
          <a:xfrm>
            <a:off x="4754879" y="804672"/>
            <a:ext cx="777240" cy="201168"/>
          </a:xfrm>
          <a:prstGeom prst="rect">
            <a:avLst/>
          </a:prstGeom>
          <a:noFill/>
        </p:spPr>
        <p:txBody>
          <a:bodyPr wrap="square">
            <a:spAutoFit/>
          </a:bodyPr>
          <a:lstStyle/>
          <a:p>
            <a:pPr algn="ctr">
              <a:defRPr sz="850" b="1">
                <a:solidFill>
                  <a:srgbClr val="6B7280"/>
                </a:solidFill>
                <a:latin typeface="Calibri"/>
              </a:defRPr>
            </a:pPr>
            <a:r>
              <a:t>Tier 5</a:t>
            </a:r>
          </a:p>
        </p:txBody>
      </p:sp>
      <p:sp>
        <p:nvSpPr>
          <p:cNvPr id="12" name="TextBox 11"/>
          <p:cNvSpPr txBox="1"/>
          <p:nvPr/>
        </p:nvSpPr>
        <p:spPr>
          <a:xfrm>
            <a:off x="5532119" y="804672"/>
            <a:ext cx="822960" cy="201168"/>
          </a:xfrm>
          <a:prstGeom prst="rect">
            <a:avLst/>
          </a:prstGeom>
          <a:noFill/>
        </p:spPr>
        <p:txBody>
          <a:bodyPr wrap="square">
            <a:spAutoFit/>
          </a:bodyPr>
          <a:lstStyle/>
          <a:p>
            <a:pPr algn="ctr">
              <a:defRPr sz="850" b="1">
                <a:solidFill>
                  <a:srgbClr val="6B7280"/>
                </a:solidFill>
                <a:latin typeface="Calibri"/>
              </a:defRPr>
            </a:pPr>
            <a:r>
              <a:t>Untiered</a:t>
            </a:r>
          </a:p>
        </p:txBody>
      </p:sp>
      <p:sp>
        <p:nvSpPr>
          <p:cNvPr id="13" name="TextBox 12"/>
          <p:cNvSpPr txBox="1"/>
          <p:nvPr/>
        </p:nvSpPr>
        <p:spPr>
          <a:xfrm>
            <a:off x="6355079" y="804672"/>
            <a:ext cx="658368" cy="201168"/>
          </a:xfrm>
          <a:prstGeom prst="rect">
            <a:avLst/>
          </a:prstGeom>
          <a:noFill/>
        </p:spPr>
        <p:txBody>
          <a:bodyPr wrap="square">
            <a:spAutoFit/>
          </a:bodyPr>
          <a:lstStyle/>
          <a:p>
            <a:pPr algn="ctr">
              <a:defRPr sz="850" b="1">
                <a:solidFill>
                  <a:srgbClr val="6B7280"/>
                </a:solidFill>
                <a:latin typeface="Calibri"/>
              </a:defRPr>
            </a:pPr>
            <a:r>
              <a:t>Total</a:t>
            </a:r>
          </a:p>
        </p:txBody>
      </p:sp>
      <p:sp>
        <p:nvSpPr>
          <p:cNvPr id="14" name="TextBox 13"/>
          <p:cNvSpPr txBox="1"/>
          <p:nvPr/>
        </p:nvSpPr>
        <p:spPr>
          <a:xfrm>
            <a:off x="7013447" y="804672"/>
            <a:ext cx="868680" cy="201168"/>
          </a:xfrm>
          <a:prstGeom prst="rect">
            <a:avLst/>
          </a:prstGeom>
          <a:noFill/>
        </p:spPr>
        <p:txBody>
          <a:bodyPr wrap="square">
            <a:spAutoFit/>
          </a:bodyPr>
          <a:lstStyle/>
          <a:p>
            <a:pPr algn="ctr">
              <a:defRPr sz="850" b="1">
                <a:solidFill>
                  <a:srgbClr val="6B7280"/>
                </a:solidFill>
                <a:latin typeface="Calibri"/>
              </a:defRPr>
            </a:pPr>
            <a:r>
              <a:t>Top 3 Conc%</a:t>
            </a:r>
          </a:p>
        </p:txBody>
      </p:sp>
      <p:sp>
        <p:nvSpPr>
          <p:cNvPr id="15" name="TextBox 14"/>
          <p:cNvSpPr txBox="1"/>
          <p:nvPr/>
        </p:nvSpPr>
        <p:spPr>
          <a:xfrm>
            <a:off x="7882127" y="804672"/>
            <a:ext cx="1920240" cy="201168"/>
          </a:xfrm>
          <a:prstGeom prst="rect">
            <a:avLst/>
          </a:prstGeom>
          <a:noFill/>
        </p:spPr>
        <p:txBody>
          <a:bodyPr wrap="square">
            <a:spAutoFit/>
          </a:bodyPr>
          <a:lstStyle/>
          <a:p>
            <a:pPr algn="l">
              <a:defRPr sz="850" b="1">
                <a:solidFill>
                  <a:srgbClr val="6B7280"/>
                </a:solidFill>
                <a:latin typeface="Calibri"/>
              </a:defRPr>
            </a:pPr>
            <a:r>
              <a:t>Top Agency</a:t>
            </a:r>
          </a:p>
        </p:txBody>
      </p:sp>
      <p:sp>
        <p:nvSpPr>
          <p:cNvPr id="16" name="TextBox 15"/>
          <p:cNvSpPr txBox="1"/>
          <p:nvPr/>
        </p:nvSpPr>
        <p:spPr>
          <a:xfrm>
            <a:off x="9802367" y="804672"/>
            <a:ext cx="914400" cy="201168"/>
          </a:xfrm>
          <a:prstGeom prst="rect">
            <a:avLst/>
          </a:prstGeom>
          <a:noFill/>
        </p:spPr>
        <p:txBody>
          <a:bodyPr wrap="square">
            <a:spAutoFit/>
          </a:bodyPr>
          <a:lstStyle/>
          <a:p>
            <a:pPr algn="ctr">
              <a:defRPr sz="850" b="1">
                <a:solidFill>
                  <a:srgbClr val="6B7280"/>
                </a:solidFill>
                <a:latin typeface="Calibri"/>
              </a:defRPr>
            </a:pPr>
            <a:r>
              <a:t>Top Agency GWP</a:t>
            </a:r>
          </a:p>
        </p:txBody>
      </p:sp>
      <p:sp>
        <p:nvSpPr>
          <p:cNvPr id="17" name="Rectangle 16"/>
          <p:cNvSpPr/>
          <p:nvPr/>
        </p:nvSpPr>
        <p:spPr>
          <a:xfrm>
            <a:off x="182880" y="1005840"/>
            <a:ext cx="10533888"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2880" y="1014984"/>
            <a:ext cx="10533888"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2880" y="1042416"/>
            <a:ext cx="1463040" cy="219456"/>
          </a:xfrm>
          <a:prstGeom prst="rect">
            <a:avLst/>
          </a:prstGeom>
          <a:noFill/>
        </p:spPr>
        <p:txBody>
          <a:bodyPr wrap="square">
            <a:spAutoFit/>
          </a:bodyPr>
          <a:lstStyle/>
          <a:p>
            <a:pPr algn="l">
              <a:defRPr sz="900" b="1">
                <a:solidFill>
                  <a:srgbClr val="111827"/>
                </a:solidFill>
                <a:latin typeface="Calibri"/>
              </a:defRPr>
            </a:pPr>
            <a:r>
              <a:t>Derek Janssen</a:t>
            </a:r>
          </a:p>
        </p:txBody>
      </p:sp>
      <p:sp>
        <p:nvSpPr>
          <p:cNvPr id="20" name="TextBox 19"/>
          <p:cNvSpPr txBox="1"/>
          <p:nvPr/>
        </p:nvSpPr>
        <p:spPr>
          <a:xfrm>
            <a:off x="1645920" y="1042416"/>
            <a:ext cx="777240" cy="219456"/>
          </a:xfrm>
          <a:prstGeom prst="rect">
            <a:avLst/>
          </a:prstGeom>
          <a:noFill/>
        </p:spPr>
        <p:txBody>
          <a:bodyPr wrap="square">
            <a:spAutoFit/>
          </a:bodyPr>
          <a:lstStyle/>
          <a:p>
            <a:pPr algn="ctr">
              <a:defRPr sz="900" b="0">
                <a:solidFill>
                  <a:srgbClr val="6D28D9"/>
                </a:solidFill>
                <a:latin typeface="Calibri"/>
              </a:defRPr>
            </a:pPr>
            <a:r>
              <a:t>18</a:t>
            </a:r>
          </a:p>
        </p:txBody>
      </p:sp>
      <p:sp>
        <p:nvSpPr>
          <p:cNvPr id="21" name="TextBox 20"/>
          <p:cNvSpPr txBox="1"/>
          <p:nvPr/>
        </p:nvSpPr>
        <p:spPr>
          <a:xfrm>
            <a:off x="2423160" y="1042416"/>
            <a:ext cx="777240" cy="219456"/>
          </a:xfrm>
          <a:prstGeom prst="rect">
            <a:avLst/>
          </a:prstGeom>
          <a:noFill/>
        </p:spPr>
        <p:txBody>
          <a:bodyPr wrap="square">
            <a:spAutoFit/>
          </a:bodyPr>
          <a:lstStyle/>
          <a:p>
            <a:pPr algn="ctr">
              <a:defRPr sz="900" b="0">
                <a:solidFill>
                  <a:srgbClr val="059669"/>
                </a:solidFill>
                <a:latin typeface="Calibri"/>
              </a:defRPr>
            </a:pPr>
            <a:r>
              <a:t>35</a:t>
            </a:r>
          </a:p>
        </p:txBody>
      </p:sp>
      <p:sp>
        <p:nvSpPr>
          <p:cNvPr id="22" name="TextBox 21"/>
          <p:cNvSpPr txBox="1"/>
          <p:nvPr/>
        </p:nvSpPr>
        <p:spPr>
          <a:xfrm>
            <a:off x="3200400" y="104241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23" name="TextBox 22"/>
          <p:cNvSpPr txBox="1"/>
          <p:nvPr/>
        </p:nvSpPr>
        <p:spPr>
          <a:xfrm>
            <a:off x="3977639" y="104241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24" name="TextBox 23"/>
          <p:cNvSpPr txBox="1"/>
          <p:nvPr/>
        </p:nvSpPr>
        <p:spPr>
          <a:xfrm>
            <a:off x="4754879" y="104241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25" name="TextBox 24"/>
          <p:cNvSpPr txBox="1"/>
          <p:nvPr/>
        </p:nvSpPr>
        <p:spPr>
          <a:xfrm>
            <a:off x="5532119" y="1042416"/>
            <a:ext cx="82296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26" name="TextBox 25"/>
          <p:cNvSpPr txBox="1"/>
          <p:nvPr/>
        </p:nvSpPr>
        <p:spPr>
          <a:xfrm>
            <a:off x="6355079" y="1042416"/>
            <a:ext cx="658368" cy="219456"/>
          </a:xfrm>
          <a:prstGeom prst="rect">
            <a:avLst/>
          </a:prstGeom>
          <a:noFill/>
        </p:spPr>
        <p:txBody>
          <a:bodyPr wrap="square">
            <a:spAutoFit/>
          </a:bodyPr>
          <a:lstStyle/>
          <a:p>
            <a:pPr algn="ctr">
              <a:defRPr sz="900" b="0">
                <a:solidFill>
                  <a:srgbClr val="111827"/>
                </a:solidFill>
                <a:latin typeface="Calibri"/>
              </a:defRPr>
            </a:pPr>
            <a:r>
              <a:t>53</a:t>
            </a:r>
          </a:p>
        </p:txBody>
      </p:sp>
      <p:sp>
        <p:nvSpPr>
          <p:cNvPr id="27" name="TextBox 26"/>
          <p:cNvSpPr txBox="1"/>
          <p:nvPr/>
        </p:nvSpPr>
        <p:spPr>
          <a:xfrm>
            <a:off x="7013447" y="1042416"/>
            <a:ext cx="868680" cy="219456"/>
          </a:xfrm>
          <a:prstGeom prst="rect">
            <a:avLst/>
          </a:prstGeom>
          <a:noFill/>
        </p:spPr>
        <p:txBody>
          <a:bodyPr wrap="square">
            <a:spAutoFit/>
          </a:bodyPr>
          <a:lstStyle/>
          <a:p>
            <a:pPr algn="ctr">
              <a:defRPr sz="900" b="0">
                <a:solidFill>
                  <a:srgbClr val="059669"/>
                </a:solidFill>
                <a:latin typeface="Calibri"/>
              </a:defRPr>
            </a:pPr>
            <a:r>
              <a:t>31%</a:t>
            </a:r>
          </a:p>
        </p:txBody>
      </p:sp>
      <p:sp>
        <p:nvSpPr>
          <p:cNvPr id="28" name="TextBox 27"/>
          <p:cNvSpPr txBox="1"/>
          <p:nvPr/>
        </p:nvSpPr>
        <p:spPr>
          <a:xfrm>
            <a:off x="7882127" y="1042416"/>
            <a:ext cx="1920240" cy="219456"/>
          </a:xfrm>
          <a:prstGeom prst="rect">
            <a:avLst/>
          </a:prstGeom>
          <a:noFill/>
        </p:spPr>
        <p:txBody>
          <a:bodyPr wrap="square">
            <a:spAutoFit/>
          </a:bodyPr>
          <a:lstStyle/>
          <a:p>
            <a:pPr algn="l">
              <a:defRPr sz="900" b="0">
                <a:solidFill>
                  <a:srgbClr val="111827"/>
                </a:solidFill>
                <a:latin typeface="Calibri"/>
              </a:defRPr>
            </a:pPr>
            <a:r>
              <a:t>Safeline Insurance Agency, …</a:t>
            </a:r>
          </a:p>
        </p:txBody>
      </p:sp>
      <p:sp>
        <p:nvSpPr>
          <p:cNvPr id="29" name="TextBox 28"/>
          <p:cNvSpPr txBox="1"/>
          <p:nvPr/>
        </p:nvSpPr>
        <p:spPr>
          <a:xfrm>
            <a:off x="9802367" y="1042416"/>
            <a:ext cx="914400" cy="219456"/>
          </a:xfrm>
          <a:prstGeom prst="rect">
            <a:avLst/>
          </a:prstGeom>
          <a:noFill/>
        </p:spPr>
        <p:txBody>
          <a:bodyPr wrap="square">
            <a:spAutoFit/>
          </a:bodyPr>
          <a:lstStyle/>
          <a:p>
            <a:pPr algn="ctr">
              <a:defRPr sz="900" b="0">
                <a:solidFill>
                  <a:srgbClr val="6D28D9"/>
                </a:solidFill>
                <a:latin typeface="Calibri"/>
              </a:defRPr>
            </a:pPr>
            <a:r>
              <a:t>$3.3M</a:t>
            </a:r>
          </a:p>
        </p:txBody>
      </p:sp>
      <p:sp>
        <p:nvSpPr>
          <p:cNvPr id="30" name="Rectangle 29"/>
          <p:cNvSpPr/>
          <p:nvPr/>
        </p:nvSpPr>
        <p:spPr>
          <a:xfrm>
            <a:off x="182880" y="1271016"/>
            <a:ext cx="10533888" cy="2743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82880" y="1298448"/>
            <a:ext cx="1463040" cy="219456"/>
          </a:xfrm>
          <a:prstGeom prst="rect">
            <a:avLst/>
          </a:prstGeom>
          <a:noFill/>
        </p:spPr>
        <p:txBody>
          <a:bodyPr wrap="square">
            <a:spAutoFit/>
          </a:bodyPr>
          <a:lstStyle/>
          <a:p>
            <a:pPr algn="l">
              <a:defRPr sz="900" b="1">
                <a:solidFill>
                  <a:srgbClr val="111827"/>
                </a:solidFill>
                <a:latin typeface="Calibri"/>
              </a:defRPr>
            </a:pPr>
            <a:r>
              <a:t>Christopher Hayes</a:t>
            </a:r>
          </a:p>
        </p:txBody>
      </p:sp>
      <p:sp>
        <p:nvSpPr>
          <p:cNvPr id="32" name="TextBox 31"/>
          <p:cNvSpPr txBox="1"/>
          <p:nvPr/>
        </p:nvSpPr>
        <p:spPr>
          <a:xfrm>
            <a:off x="1645920" y="1298448"/>
            <a:ext cx="777240" cy="219456"/>
          </a:xfrm>
          <a:prstGeom prst="rect">
            <a:avLst/>
          </a:prstGeom>
          <a:noFill/>
        </p:spPr>
        <p:txBody>
          <a:bodyPr wrap="square">
            <a:spAutoFit/>
          </a:bodyPr>
          <a:lstStyle/>
          <a:p>
            <a:pPr algn="ctr">
              <a:defRPr sz="900" b="0">
                <a:solidFill>
                  <a:srgbClr val="6D28D9"/>
                </a:solidFill>
                <a:latin typeface="Calibri"/>
              </a:defRPr>
            </a:pPr>
            <a:r>
              <a:t>10</a:t>
            </a:r>
          </a:p>
        </p:txBody>
      </p:sp>
      <p:sp>
        <p:nvSpPr>
          <p:cNvPr id="33" name="TextBox 32"/>
          <p:cNvSpPr txBox="1"/>
          <p:nvPr/>
        </p:nvSpPr>
        <p:spPr>
          <a:xfrm>
            <a:off x="2423160" y="1298448"/>
            <a:ext cx="777240" cy="219456"/>
          </a:xfrm>
          <a:prstGeom prst="rect">
            <a:avLst/>
          </a:prstGeom>
          <a:noFill/>
        </p:spPr>
        <p:txBody>
          <a:bodyPr wrap="square">
            <a:spAutoFit/>
          </a:bodyPr>
          <a:lstStyle/>
          <a:p>
            <a:pPr algn="ctr">
              <a:defRPr sz="900" b="0">
                <a:solidFill>
                  <a:srgbClr val="059669"/>
                </a:solidFill>
                <a:latin typeface="Calibri"/>
              </a:defRPr>
            </a:pPr>
            <a:r>
              <a:t>35</a:t>
            </a:r>
          </a:p>
        </p:txBody>
      </p:sp>
      <p:sp>
        <p:nvSpPr>
          <p:cNvPr id="34" name="TextBox 33"/>
          <p:cNvSpPr txBox="1"/>
          <p:nvPr/>
        </p:nvSpPr>
        <p:spPr>
          <a:xfrm>
            <a:off x="3200400" y="1298448"/>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35" name="TextBox 34"/>
          <p:cNvSpPr txBox="1"/>
          <p:nvPr/>
        </p:nvSpPr>
        <p:spPr>
          <a:xfrm>
            <a:off x="3977639" y="1298448"/>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36" name="TextBox 35"/>
          <p:cNvSpPr txBox="1"/>
          <p:nvPr/>
        </p:nvSpPr>
        <p:spPr>
          <a:xfrm>
            <a:off x="4754879" y="1298448"/>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37" name="TextBox 36"/>
          <p:cNvSpPr txBox="1"/>
          <p:nvPr/>
        </p:nvSpPr>
        <p:spPr>
          <a:xfrm>
            <a:off x="5532119" y="1298448"/>
            <a:ext cx="82296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38" name="TextBox 37"/>
          <p:cNvSpPr txBox="1"/>
          <p:nvPr/>
        </p:nvSpPr>
        <p:spPr>
          <a:xfrm>
            <a:off x="6355079" y="1298448"/>
            <a:ext cx="658368" cy="219456"/>
          </a:xfrm>
          <a:prstGeom prst="rect">
            <a:avLst/>
          </a:prstGeom>
          <a:noFill/>
        </p:spPr>
        <p:txBody>
          <a:bodyPr wrap="square">
            <a:spAutoFit/>
          </a:bodyPr>
          <a:lstStyle/>
          <a:p>
            <a:pPr algn="ctr">
              <a:defRPr sz="900" b="0">
                <a:solidFill>
                  <a:srgbClr val="111827"/>
                </a:solidFill>
                <a:latin typeface="Calibri"/>
              </a:defRPr>
            </a:pPr>
            <a:r>
              <a:t>45</a:t>
            </a:r>
          </a:p>
        </p:txBody>
      </p:sp>
      <p:sp>
        <p:nvSpPr>
          <p:cNvPr id="39" name="TextBox 38"/>
          <p:cNvSpPr txBox="1"/>
          <p:nvPr/>
        </p:nvSpPr>
        <p:spPr>
          <a:xfrm>
            <a:off x="7013447" y="1298448"/>
            <a:ext cx="868680" cy="219456"/>
          </a:xfrm>
          <a:prstGeom prst="rect">
            <a:avLst/>
          </a:prstGeom>
          <a:noFill/>
        </p:spPr>
        <p:txBody>
          <a:bodyPr wrap="square">
            <a:spAutoFit/>
          </a:bodyPr>
          <a:lstStyle/>
          <a:p>
            <a:pPr algn="ctr">
              <a:defRPr sz="900" b="0">
                <a:solidFill>
                  <a:srgbClr val="D97706"/>
                </a:solidFill>
                <a:latin typeface="Calibri"/>
              </a:defRPr>
            </a:pPr>
            <a:r>
              <a:t>53%</a:t>
            </a:r>
          </a:p>
        </p:txBody>
      </p:sp>
      <p:sp>
        <p:nvSpPr>
          <p:cNvPr id="40" name="TextBox 39"/>
          <p:cNvSpPr txBox="1"/>
          <p:nvPr/>
        </p:nvSpPr>
        <p:spPr>
          <a:xfrm>
            <a:off x="7882127" y="1298448"/>
            <a:ext cx="1920240" cy="219456"/>
          </a:xfrm>
          <a:prstGeom prst="rect">
            <a:avLst/>
          </a:prstGeom>
          <a:noFill/>
        </p:spPr>
        <p:txBody>
          <a:bodyPr wrap="square">
            <a:spAutoFit/>
          </a:bodyPr>
          <a:lstStyle/>
          <a:p>
            <a:pPr algn="l">
              <a:defRPr sz="900" b="0">
                <a:solidFill>
                  <a:srgbClr val="111827"/>
                </a:solidFill>
                <a:latin typeface="Calibri"/>
              </a:defRPr>
            </a:pPr>
            <a:r>
              <a:t>Commercial Trucking Insuran…</a:t>
            </a:r>
          </a:p>
        </p:txBody>
      </p:sp>
      <p:sp>
        <p:nvSpPr>
          <p:cNvPr id="41" name="TextBox 40"/>
          <p:cNvSpPr txBox="1"/>
          <p:nvPr/>
        </p:nvSpPr>
        <p:spPr>
          <a:xfrm>
            <a:off x="9802367" y="1298448"/>
            <a:ext cx="914400" cy="219456"/>
          </a:xfrm>
          <a:prstGeom prst="rect">
            <a:avLst/>
          </a:prstGeom>
          <a:noFill/>
        </p:spPr>
        <p:txBody>
          <a:bodyPr wrap="square">
            <a:spAutoFit/>
          </a:bodyPr>
          <a:lstStyle/>
          <a:p>
            <a:pPr algn="ctr">
              <a:defRPr sz="900" b="0">
                <a:solidFill>
                  <a:srgbClr val="6D28D9"/>
                </a:solidFill>
                <a:latin typeface="Calibri"/>
              </a:defRPr>
            </a:pPr>
            <a:r>
              <a:t>$2.6M</a:t>
            </a:r>
          </a:p>
        </p:txBody>
      </p:sp>
      <p:sp>
        <p:nvSpPr>
          <p:cNvPr id="42" name="Rectangle 41"/>
          <p:cNvSpPr/>
          <p:nvPr/>
        </p:nvSpPr>
        <p:spPr>
          <a:xfrm>
            <a:off x="182880" y="1527048"/>
            <a:ext cx="10533888"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2880" y="1554480"/>
            <a:ext cx="1463040" cy="219456"/>
          </a:xfrm>
          <a:prstGeom prst="rect">
            <a:avLst/>
          </a:prstGeom>
          <a:noFill/>
        </p:spPr>
        <p:txBody>
          <a:bodyPr wrap="square">
            <a:spAutoFit/>
          </a:bodyPr>
          <a:lstStyle/>
          <a:p>
            <a:pPr algn="l">
              <a:defRPr sz="900" b="1">
                <a:solidFill>
                  <a:srgbClr val="111827"/>
                </a:solidFill>
                <a:latin typeface="Calibri"/>
              </a:defRPr>
            </a:pPr>
            <a:r>
              <a:t>Ron Douglas</a:t>
            </a:r>
          </a:p>
        </p:txBody>
      </p:sp>
      <p:sp>
        <p:nvSpPr>
          <p:cNvPr id="44" name="TextBox 43"/>
          <p:cNvSpPr txBox="1"/>
          <p:nvPr/>
        </p:nvSpPr>
        <p:spPr>
          <a:xfrm>
            <a:off x="1645920" y="1554480"/>
            <a:ext cx="777240" cy="219456"/>
          </a:xfrm>
          <a:prstGeom prst="rect">
            <a:avLst/>
          </a:prstGeom>
          <a:noFill/>
        </p:spPr>
        <p:txBody>
          <a:bodyPr wrap="square">
            <a:spAutoFit/>
          </a:bodyPr>
          <a:lstStyle/>
          <a:p>
            <a:pPr algn="ctr">
              <a:defRPr sz="900" b="0">
                <a:solidFill>
                  <a:srgbClr val="6D28D9"/>
                </a:solidFill>
                <a:latin typeface="Calibri"/>
              </a:defRPr>
            </a:pPr>
            <a:r>
              <a:t>5</a:t>
            </a:r>
          </a:p>
        </p:txBody>
      </p:sp>
      <p:sp>
        <p:nvSpPr>
          <p:cNvPr id="45" name="TextBox 44"/>
          <p:cNvSpPr txBox="1"/>
          <p:nvPr/>
        </p:nvSpPr>
        <p:spPr>
          <a:xfrm>
            <a:off x="2423160" y="1554480"/>
            <a:ext cx="777240" cy="219456"/>
          </a:xfrm>
          <a:prstGeom prst="rect">
            <a:avLst/>
          </a:prstGeom>
          <a:noFill/>
        </p:spPr>
        <p:txBody>
          <a:bodyPr wrap="square">
            <a:spAutoFit/>
          </a:bodyPr>
          <a:lstStyle/>
          <a:p>
            <a:pPr algn="ctr">
              <a:defRPr sz="900" b="0">
                <a:solidFill>
                  <a:srgbClr val="059669"/>
                </a:solidFill>
                <a:latin typeface="Calibri"/>
              </a:defRPr>
            </a:pPr>
            <a:r>
              <a:t>28</a:t>
            </a:r>
          </a:p>
        </p:txBody>
      </p:sp>
      <p:sp>
        <p:nvSpPr>
          <p:cNvPr id="46" name="TextBox 45"/>
          <p:cNvSpPr txBox="1"/>
          <p:nvPr/>
        </p:nvSpPr>
        <p:spPr>
          <a:xfrm>
            <a:off x="3200400" y="1554480"/>
            <a:ext cx="777240" cy="219456"/>
          </a:xfrm>
          <a:prstGeom prst="rect">
            <a:avLst/>
          </a:prstGeom>
          <a:noFill/>
        </p:spPr>
        <p:txBody>
          <a:bodyPr wrap="square">
            <a:spAutoFit/>
          </a:bodyPr>
          <a:lstStyle/>
          <a:p>
            <a:pPr algn="ctr">
              <a:defRPr sz="900" b="0">
                <a:solidFill>
                  <a:srgbClr val="D97706"/>
                </a:solidFill>
                <a:latin typeface="Calibri"/>
              </a:defRPr>
            </a:pPr>
            <a:r>
              <a:t>2</a:t>
            </a:r>
          </a:p>
        </p:txBody>
      </p:sp>
      <p:sp>
        <p:nvSpPr>
          <p:cNvPr id="47" name="TextBox 46"/>
          <p:cNvSpPr txBox="1"/>
          <p:nvPr/>
        </p:nvSpPr>
        <p:spPr>
          <a:xfrm>
            <a:off x="3977639" y="1554480"/>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48" name="TextBox 47"/>
          <p:cNvSpPr txBox="1"/>
          <p:nvPr/>
        </p:nvSpPr>
        <p:spPr>
          <a:xfrm>
            <a:off x="4754879" y="1554480"/>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49" name="TextBox 48"/>
          <p:cNvSpPr txBox="1"/>
          <p:nvPr/>
        </p:nvSpPr>
        <p:spPr>
          <a:xfrm>
            <a:off x="5532119" y="1554480"/>
            <a:ext cx="82296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50" name="TextBox 49"/>
          <p:cNvSpPr txBox="1"/>
          <p:nvPr/>
        </p:nvSpPr>
        <p:spPr>
          <a:xfrm>
            <a:off x="6355079" y="1554480"/>
            <a:ext cx="658368" cy="219456"/>
          </a:xfrm>
          <a:prstGeom prst="rect">
            <a:avLst/>
          </a:prstGeom>
          <a:noFill/>
        </p:spPr>
        <p:txBody>
          <a:bodyPr wrap="square">
            <a:spAutoFit/>
          </a:bodyPr>
          <a:lstStyle/>
          <a:p>
            <a:pPr algn="ctr">
              <a:defRPr sz="900" b="0">
                <a:solidFill>
                  <a:srgbClr val="111827"/>
                </a:solidFill>
                <a:latin typeface="Calibri"/>
              </a:defRPr>
            </a:pPr>
            <a:r>
              <a:t>35</a:t>
            </a:r>
          </a:p>
        </p:txBody>
      </p:sp>
      <p:sp>
        <p:nvSpPr>
          <p:cNvPr id="51" name="TextBox 50"/>
          <p:cNvSpPr txBox="1"/>
          <p:nvPr/>
        </p:nvSpPr>
        <p:spPr>
          <a:xfrm>
            <a:off x="7013447" y="1554480"/>
            <a:ext cx="868680" cy="219456"/>
          </a:xfrm>
          <a:prstGeom prst="rect">
            <a:avLst/>
          </a:prstGeom>
          <a:noFill/>
        </p:spPr>
        <p:txBody>
          <a:bodyPr wrap="square">
            <a:spAutoFit/>
          </a:bodyPr>
          <a:lstStyle/>
          <a:p>
            <a:pPr algn="ctr">
              <a:defRPr sz="900" b="0">
                <a:solidFill>
                  <a:srgbClr val="DC2626"/>
                </a:solidFill>
                <a:latin typeface="Calibri"/>
              </a:defRPr>
            </a:pPr>
            <a:r>
              <a:t>75%</a:t>
            </a:r>
          </a:p>
        </p:txBody>
      </p:sp>
      <p:sp>
        <p:nvSpPr>
          <p:cNvPr id="52" name="TextBox 51"/>
          <p:cNvSpPr txBox="1"/>
          <p:nvPr/>
        </p:nvSpPr>
        <p:spPr>
          <a:xfrm>
            <a:off x="7882127" y="1554480"/>
            <a:ext cx="1920240" cy="219456"/>
          </a:xfrm>
          <a:prstGeom prst="rect">
            <a:avLst/>
          </a:prstGeom>
          <a:noFill/>
        </p:spPr>
        <p:txBody>
          <a:bodyPr wrap="square">
            <a:spAutoFit/>
          </a:bodyPr>
          <a:lstStyle/>
          <a:p>
            <a:pPr algn="l">
              <a:defRPr sz="900" b="0">
                <a:solidFill>
                  <a:srgbClr val="111827"/>
                </a:solidFill>
                <a:latin typeface="Calibri"/>
              </a:defRPr>
            </a:pPr>
            <a:r>
              <a:t>USA SPECIALTY INSURANCE/DBA…</a:t>
            </a:r>
          </a:p>
        </p:txBody>
      </p:sp>
      <p:sp>
        <p:nvSpPr>
          <p:cNvPr id="53" name="TextBox 52"/>
          <p:cNvSpPr txBox="1"/>
          <p:nvPr/>
        </p:nvSpPr>
        <p:spPr>
          <a:xfrm>
            <a:off x="9802367" y="1554480"/>
            <a:ext cx="914400" cy="219456"/>
          </a:xfrm>
          <a:prstGeom prst="rect">
            <a:avLst/>
          </a:prstGeom>
          <a:noFill/>
        </p:spPr>
        <p:txBody>
          <a:bodyPr wrap="square">
            <a:spAutoFit/>
          </a:bodyPr>
          <a:lstStyle/>
          <a:p>
            <a:pPr algn="ctr">
              <a:defRPr sz="900" b="0">
                <a:solidFill>
                  <a:srgbClr val="6D28D9"/>
                </a:solidFill>
                <a:latin typeface="Calibri"/>
              </a:defRPr>
            </a:pPr>
            <a:r>
              <a:t>$4.3M</a:t>
            </a:r>
          </a:p>
        </p:txBody>
      </p:sp>
      <p:sp>
        <p:nvSpPr>
          <p:cNvPr id="54" name="Rectangle 53"/>
          <p:cNvSpPr/>
          <p:nvPr/>
        </p:nvSpPr>
        <p:spPr>
          <a:xfrm>
            <a:off x="182880" y="1783080"/>
            <a:ext cx="10533888" cy="2743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82880" y="1810512"/>
            <a:ext cx="1463040" cy="219456"/>
          </a:xfrm>
          <a:prstGeom prst="rect">
            <a:avLst/>
          </a:prstGeom>
          <a:noFill/>
        </p:spPr>
        <p:txBody>
          <a:bodyPr wrap="square">
            <a:spAutoFit/>
          </a:bodyPr>
          <a:lstStyle/>
          <a:p>
            <a:pPr algn="l">
              <a:defRPr sz="900" b="1">
                <a:solidFill>
                  <a:srgbClr val="111827"/>
                </a:solidFill>
                <a:latin typeface="Calibri"/>
              </a:defRPr>
            </a:pPr>
            <a:r>
              <a:t>Derrick Leroy</a:t>
            </a:r>
          </a:p>
        </p:txBody>
      </p:sp>
      <p:sp>
        <p:nvSpPr>
          <p:cNvPr id="56" name="TextBox 55"/>
          <p:cNvSpPr txBox="1"/>
          <p:nvPr/>
        </p:nvSpPr>
        <p:spPr>
          <a:xfrm>
            <a:off x="1645920" y="1810512"/>
            <a:ext cx="777240" cy="219456"/>
          </a:xfrm>
          <a:prstGeom prst="rect">
            <a:avLst/>
          </a:prstGeom>
          <a:noFill/>
        </p:spPr>
        <p:txBody>
          <a:bodyPr wrap="square">
            <a:spAutoFit/>
          </a:bodyPr>
          <a:lstStyle/>
          <a:p>
            <a:pPr algn="ctr">
              <a:defRPr sz="900" b="0">
                <a:solidFill>
                  <a:srgbClr val="6D28D9"/>
                </a:solidFill>
                <a:latin typeface="Calibri"/>
              </a:defRPr>
            </a:pPr>
            <a:r>
              <a:t>8</a:t>
            </a:r>
          </a:p>
        </p:txBody>
      </p:sp>
      <p:sp>
        <p:nvSpPr>
          <p:cNvPr id="57" name="TextBox 56"/>
          <p:cNvSpPr txBox="1"/>
          <p:nvPr/>
        </p:nvSpPr>
        <p:spPr>
          <a:xfrm>
            <a:off x="2423160" y="1810512"/>
            <a:ext cx="777240" cy="219456"/>
          </a:xfrm>
          <a:prstGeom prst="rect">
            <a:avLst/>
          </a:prstGeom>
          <a:noFill/>
        </p:spPr>
        <p:txBody>
          <a:bodyPr wrap="square">
            <a:spAutoFit/>
          </a:bodyPr>
          <a:lstStyle/>
          <a:p>
            <a:pPr algn="ctr">
              <a:defRPr sz="900" b="0">
                <a:solidFill>
                  <a:srgbClr val="059669"/>
                </a:solidFill>
                <a:latin typeface="Calibri"/>
              </a:defRPr>
            </a:pPr>
            <a:r>
              <a:t>14</a:t>
            </a:r>
          </a:p>
        </p:txBody>
      </p:sp>
      <p:sp>
        <p:nvSpPr>
          <p:cNvPr id="58" name="TextBox 57"/>
          <p:cNvSpPr txBox="1"/>
          <p:nvPr/>
        </p:nvSpPr>
        <p:spPr>
          <a:xfrm>
            <a:off x="3200400" y="1810512"/>
            <a:ext cx="777240" cy="219456"/>
          </a:xfrm>
          <a:prstGeom prst="rect">
            <a:avLst/>
          </a:prstGeom>
          <a:noFill/>
        </p:spPr>
        <p:txBody>
          <a:bodyPr wrap="square">
            <a:spAutoFit/>
          </a:bodyPr>
          <a:lstStyle/>
          <a:p>
            <a:pPr algn="ctr">
              <a:defRPr sz="900" b="0">
                <a:solidFill>
                  <a:srgbClr val="D97706"/>
                </a:solidFill>
                <a:latin typeface="Calibri"/>
              </a:defRPr>
            </a:pPr>
            <a:r>
              <a:t>3</a:t>
            </a:r>
          </a:p>
        </p:txBody>
      </p:sp>
      <p:sp>
        <p:nvSpPr>
          <p:cNvPr id="59" name="TextBox 58"/>
          <p:cNvSpPr txBox="1"/>
          <p:nvPr/>
        </p:nvSpPr>
        <p:spPr>
          <a:xfrm>
            <a:off x="3977639" y="1810512"/>
            <a:ext cx="777240" cy="219456"/>
          </a:xfrm>
          <a:prstGeom prst="rect">
            <a:avLst/>
          </a:prstGeom>
          <a:noFill/>
        </p:spPr>
        <p:txBody>
          <a:bodyPr wrap="square">
            <a:spAutoFit/>
          </a:bodyPr>
          <a:lstStyle/>
          <a:p>
            <a:pPr algn="ctr">
              <a:defRPr sz="900" b="0">
                <a:solidFill>
                  <a:srgbClr val="6B7280"/>
                </a:solidFill>
                <a:latin typeface="Calibri"/>
              </a:defRPr>
            </a:pPr>
            <a:r>
              <a:t>1</a:t>
            </a:r>
          </a:p>
        </p:txBody>
      </p:sp>
      <p:sp>
        <p:nvSpPr>
          <p:cNvPr id="60" name="TextBox 59"/>
          <p:cNvSpPr txBox="1"/>
          <p:nvPr/>
        </p:nvSpPr>
        <p:spPr>
          <a:xfrm>
            <a:off x="4754879" y="1810512"/>
            <a:ext cx="777240" cy="219456"/>
          </a:xfrm>
          <a:prstGeom prst="rect">
            <a:avLst/>
          </a:prstGeom>
          <a:noFill/>
        </p:spPr>
        <p:txBody>
          <a:bodyPr wrap="square">
            <a:spAutoFit/>
          </a:bodyPr>
          <a:lstStyle/>
          <a:p>
            <a:pPr algn="ctr">
              <a:defRPr sz="900" b="0">
                <a:solidFill>
                  <a:srgbClr val="6B7280"/>
                </a:solidFill>
                <a:latin typeface="Calibri"/>
              </a:defRPr>
            </a:pPr>
            <a:r>
              <a:t>1</a:t>
            </a:r>
          </a:p>
        </p:txBody>
      </p:sp>
      <p:sp>
        <p:nvSpPr>
          <p:cNvPr id="61" name="TextBox 60"/>
          <p:cNvSpPr txBox="1"/>
          <p:nvPr/>
        </p:nvSpPr>
        <p:spPr>
          <a:xfrm>
            <a:off x="5532119" y="1810512"/>
            <a:ext cx="822960" cy="219456"/>
          </a:xfrm>
          <a:prstGeom prst="rect">
            <a:avLst/>
          </a:prstGeom>
          <a:noFill/>
        </p:spPr>
        <p:txBody>
          <a:bodyPr wrap="square">
            <a:spAutoFit/>
          </a:bodyPr>
          <a:lstStyle/>
          <a:p>
            <a:pPr algn="ctr">
              <a:defRPr sz="900" b="0">
                <a:solidFill>
                  <a:srgbClr val="6B7280"/>
                </a:solidFill>
                <a:latin typeface="Calibri"/>
              </a:defRPr>
            </a:pPr>
            <a:r>
              <a:t>3</a:t>
            </a:r>
          </a:p>
        </p:txBody>
      </p:sp>
      <p:sp>
        <p:nvSpPr>
          <p:cNvPr id="62" name="TextBox 61"/>
          <p:cNvSpPr txBox="1"/>
          <p:nvPr/>
        </p:nvSpPr>
        <p:spPr>
          <a:xfrm>
            <a:off x="6355079" y="1810512"/>
            <a:ext cx="658368" cy="219456"/>
          </a:xfrm>
          <a:prstGeom prst="rect">
            <a:avLst/>
          </a:prstGeom>
          <a:noFill/>
        </p:spPr>
        <p:txBody>
          <a:bodyPr wrap="square">
            <a:spAutoFit/>
          </a:bodyPr>
          <a:lstStyle/>
          <a:p>
            <a:pPr algn="ctr">
              <a:defRPr sz="900" b="0">
                <a:solidFill>
                  <a:srgbClr val="111827"/>
                </a:solidFill>
                <a:latin typeface="Calibri"/>
              </a:defRPr>
            </a:pPr>
            <a:r>
              <a:t>30</a:t>
            </a:r>
          </a:p>
        </p:txBody>
      </p:sp>
      <p:sp>
        <p:nvSpPr>
          <p:cNvPr id="63" name="TextBox 62"/>
          <p:cNvSpPr txBox="1"/>
          <p:nvPr/>
        </p:nvSpPr>
        <p:spPr>
          <a:xfrm>
            <a:off x="7013447" y="1810512"/>
            <a:ext cx="868680" cy="219456"/>
          </a:xfrm>
          <a:prstGeom prst="rect">
            <a:avLst/>
          </a:prstGeom>
          <a:noFill/>
        </p:spPr>
        <p:txBody>
          <a:bodyPr wrap="square">
            <a:spAutoFit/>
          </a:bodyPr>
          <a:lstStyle/>
          <a:p>
            <a:pPr algn="ctr">
              <a:defRPr sz="900" b="0">
                <a:solidFill>
                  <a:srgbClr val="DC2626"/>
                </a:solidFill>
                <a:latin typeface="Calibri"/>
              </a:defRPr>
            </a:pPr>
            <a:r>
              <a:t>68%</a:t>
            </a:r>
          </a:p>
        </p:txBody>
      </p:sp>
      <p:sp>
        <p:nvSpPr>
          <p:cNvPr id="64" name="TextBox 63"/>
          <p:cNvSpPr txBox="1"/>
          <p:nvPr/>
        </p:nvSpPr>
        <p:spPr>
          <a:xfrm>
            <a:off x="7882127" y="1810512"/>
            <a:ext cx="1920240" cy="219456"/>
          </a:xfrm>
          <a:prstGeom prst="rect">
            <a:avLst/>
          </a:prstGeom>
          <a:noFill/>
        </p:spPr>
        <p:txBody>
          <a:bodyPr wrap="square">
            <a:spAutoFit/>
          </a:bodyPr>
          <a:lstStyle/>
          <a:p>
            <a:pPr algn="l">
              <a:defRPr sz="900" b="0">
                <a:solidFill>
                  <a:srgbClr val="111827"/>
                </a:solidFill>
                <a:latin typeface="Calibri"/>
              </a:defRPr>
            </a:pPr>
            <a:r>
              <a:t>American Fleet Insurance</a:t>
            </a:r>
          </a:p>
        </p:txBody>
      </p:sp>
      <p:sp>
        <p:nvSpPr>
          <p:cNvPr id="65" name="TextBox 64"/>
          <p:cNvSpPr txBox="1"/>
          <p:nvPr/>
        </p:nvSpPr>
        <p:spPr>
          <a:xfrm>
            <a:off x="9802367" y="1810512"/>
            <a:ext cx="914400" cy="219456"/>
          </a:xfrm>
          <a:prstGeom prst="rect">
            <a:avLst/>
          </a:prstGeom>
          <a:noFill/>
        </p:spPr>
        <p:txBody>
          <a:bodyPr wrap="square">
            <a:spAutoFit/>
          </a:bodyPr>
          <a:lstStyle/>
          <a:p>
            <a:pPr algn="ctr">
              <a:defRPr sz="900" b="0">
                <a:solidFill>
                  <a:srgbClr val="6D28D9"/>
                </a:solidFill>
                <a:latin typeface="Calibri"/>
              </a:defRPr>
            </a:pPr>
            <a:r>
              <a:t>$2.5M</a:t>
            </a:r>
          </a:p>
        </p:txBody>
      </p:sp>
      <p:sp>
        <p:nvSpPr>
          <p:cNvPr id="66" name="Rectangle 65"/>
          <p:cNvSpPr/>
          <p:nvPr/>
        </p:nvSpPr>
        <p:spPr>
          <a:xfrm>
            <a:off x="182880" y="2039112"/>
            <a:ext cx="10533888"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82880" y="2066544"/>
            <a:ext cx="1463040" cy="219456"/>
          </a:xfrm>
          <a:prstGeom prst="rect">
            <a:avLst/>
          </a:prstGeom>
          <a:noFill/>
        </p:spPr>
        <p:txBody>
          <a:bodyPr wrap="square">
            <a:spAutoFit/>
          </a:bodyPr>
          <a:lstStyle/>
          <a:p>
            <a:pPr algn="l">
              <a:defRPr sz="900" b="1">
                <a:solidFill>
                  <a:srgbClr val="111827"/>
                </a:solidFill>
                <a:latin typeface="Calibri"/>
              </a:defRPr>
            </a:pPr>
            <a:r>
              <a:t>Kurt Butterfield</a:t>
            </a:r>
          </a:p>
        </p:txBody>
      </p:sp>
      <p:sp>
        <p:nvSpPr>
          <p:cNvPr id="68" name="TextBox 67"/>
          <p:cNvSpPr txBox="1"/>
          <p:nvPr/>
        </p:nvSpPr>
        <p:spPr>
          <a:xfrm>
            <a:off x="1645920" y="2066544"/>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69" name="TextBox 68"/>
          <p:cNvSpPr txBox="1"/>
          <p:nvPr/>
        </p:nvSpPr>
        <p:spPr>
          <a:xfrm>
            <a:off x="2423160" y="2066544"/>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70" name="TextBox 69"/>
          <p:cNvSpPr txBox="1"/>
          <p:nvPr/>
        </p:nvSpPr>
        <p:spPr>
          <a:xfrm>
            <a:off x="3200400" y="2066544"/>
            <a:ext cx="777240" cy="219456"/>
          </a:xfrm>
          <a:prstGeom prst="rect">
            <a:avLst/>
          </a:prstGeom>
          <a:noFill/>
        </p:spPr>
        <p:txBody>
          <a:bodyPr wrap="square">
            <a:spAutoFit/>
          </a:bodyPr>
          <a:lstStyle/>
          <a:p>
            <a:pPr algn="ctr">
              <a:defRPr sz="900" b="0">
                <a:solidFill>
                  <a:srgbClr val="D97706"/>
                </a:solidFill>
                <a:latin typeface="Calibri"/>
              </a:defRPr>
            </a:pPr>
            <a:r>
              <a:t>13</a:t>
            </a:r>
          </a:p>
        </p:txBody>
      </p:sp>
      <p:sp>
        <p:nvSpPr>
          <p:cNvPr id="71" name="TextBox 70"/>
          <p:cNvSpPr txBox="1"/>
          <p:nvPr/>
        </p:nvSpPr>
        <p:spPr>
          <a:xfrm>
            <a:off x="3977639" y="2066544"/>
            <a:ext cx="777240" cy="219456"/>
          </a:xfrm>
          <a:prstGeom prst="rect">
            <a:avLst/>
          </a:prstGeom>
          <a:noFill/>
        </p:spPr>
        <p:txBody>
          <a:bodyPr wrap="square">
            <a:spAutoFit/>
          </a:bodyPr>
          <a:lstStyle/>
          <a:p>
            <a:pPr algn="ctr">
              <a:defRPr sz="900" b="0">
                <a:solidFill>
                  <a:srgbClr val="6B7280"/>
                </a:solidFill>
                <a:latin typeface="Calibri"/>
              </a:defRPr>
            </a:pPr>
            <a:r>
              <a:t>27</a:t>
            </a:r>
          </a:p>
        </p:txBody>
      </p:sp>
      <p:sp>
        <p:nvSpPr>
          <p:cNvPr id="72" name="TextBox 71"/>
          <p:cNvSpPr txBox="1"/>
          <p:nvPr/>
        </p:nvSpPr>
        <p:spPr>
          <a:xfrm>
            <a:off x="4754879" y="2066544"/>
            <a:ext cx="777240" cy="219456"/>
          </a:xfrm>
          <a:prstGeom prst="rect">
            <a:avLst/>
          </a:prstGeom>
          <a:noFill/>
        </p:spPr>
        <p:txBody>
          <a:bodyPr wrap="square">
            <a:spAutoFit/>
          </a:bodyPr>
          <a:lstStyle/>
          <a:p>
            <a:pPr algn="ctr">
              <a:defRPr sz="900" b="0">
                <a:solidFill>
                  <a:srgbClr val="6B7280"/>
                </a:solidFill>
                <a:latin typeface="Calibri"/>
              </a:defRPr>
            </a:pPr>
            <a:r>
              <a:t>1</a:t>
            </a:r>
          </a:p>
        </p:txBody>
      </p:sp>
      <p:sp>
        <p:nvSpPr>
          <p:cNvPr id="73" name="TextBox 72"/>
          <p:cNvSpPr txBox="1"/>
          <p:nvPr/>
        </p:nvSpPr>
        <p:spPr>
          <a:xfrm>
            <a:off x="5532119" y="2066544"/>
            <a:ext cx="822960" cy="219456"/>
          </a:xfrm>
          <a:prstGeom prst="rect">
            <a:avLst/>
          </a:prstGeom>
          <a:noFill/>
        </p:spPr>
        <p:txBody>
          <a:bodyPr wrap="square">
            <a:spAutoFit/>
          </a:bodyPr>
          <a:lstStyle/>
          <a:p>
            <a:pPr algn="ctr">
              <a:defRPr sz="900" b="0">
                <a:solidFill>
                  <a:srgbClr val="6B7280"/>
                </a:solidFill>
                <a:latin typeface="Calibri"/>
              </a:defRPr>
            </a:pPr>
            <a:r>
              <a:t>1</a:t>
            </a:r>
          </a:p>
        </p:txBody>
      </p:sp>
      <p:sp>
        <p:nvSpPr>
          <p:cNvPr id="74" name="TextBox 73"/>
          <p:cNvSpPr txBox="1"/>
          <p:nvPr/>
        </p:nvSpPr>
        <p:spPr>
          <a:xfrm>
            <a:off x="6355079" y="2066544"/>
            <a:ext cx="658368" cy="219456"/>
          </a:xfrm>
          <a:prstGeom prst="rect">
            <a:avLst/>
          </a:prstGeom>
          <a:noFill/>
        </p:spPr>
        <p:txBody>
          <a:bodyPr wrap="square">
            <a:spAutoFit/>
          </a:bodyPr>
          <a:lstStyle/>
          <a:p>
            <a:pPr algn="ctr">
              <a:defRPr sz="900" b="0">
                <a:solidFill>
                  <a:srgbClr val="111827"/>
                </a:solidFill>
                <a:latin typeface="Calibri"/>
              </a:defRPr>
            </a:pPr>
            <a:r>
              <a:t>42</a:t>
            </a:r>
          </a:p>
        </p:txBody>
      </p:sp>
      <p:sp>
        <p:nvSpPr>
          <p:cNvPr id="75" name="TextBox 74"/>
          <p:cNvSpPr txBox="1"/>
          <p:nvPr/>
        </p:nvSpPr>
        <p:spPr>
          <a:xfrm>
            <a:off x="7013447" y="2066544"/>
            <a:ext cx="868680" cy="219456"/>
          </a:xfrm>
          <a:prstGeom prst="rect">
            <a:avLst/>
          </a:prstGeom>
          <a:noFill/>
        </p:spPr>
        <p:txBody>
          <a:bodyPr wrap="square">
            <a:spAutoFit/>
          </a:bodyPr>
          <a:lstStyle/>
          <a:p>
            <a:pPr algn="ctr">
              <a:defRPr sz="900" b="0">
                <a:solidFill>
                  <a:srgbClr val="DC2626"/>
                </a:solidFill>
                <a:latin typeface="Calibri"/>
              </a:defRPr>
            </a:pPr>
            <a:r>
              <a:t>71%</a:t>
            </a:r>
          </a:p>
        </p:txBody>
      </p:sp>
      <p:sp>
        <p:nvSpPr>
          <p:cNvPr id="76" name="TextBox 75"/>
          <p:cNvSpPr txBox="1"/>
          <p:nvPr/>
        </p:nvSpPr>
        <p:spPr>
          <a:xfrm>
            <a:off x="7882127" y="2066544"/>
            <a:ext cx="1920240" cy="219456"/>
          </a:xfrm>
          <a:prstGeom prst="rect">
            <a:avLst/>
          </a:prstGeom>
          <a:noFill/>
        </p:spPr>
        <p:txBody>
          <a:bodyPr wrap="square">
            <a:spAutoFit/>
          </a:bodyPr>
          <a:lstStyle/>
          <a:p>
            <a:pPr algn="l">
              <a:defRPr sz="900" b="0">
                <a:solidFill>
                  <a:srgbClr val="111827"/>
                </a:solidFill>
                <a:latin typeface="Calibri"/>
              </a:defRPr>
            </a:pPr>
            <a:r>
              <a:t>Justin Robert Insurance Age…</a:t>
            </a:r>
          </a:p>
        </p:txBody>
      </p:sp>
      <p:sp>
        <p:nvSpPr>
          <p:cNvPr id="77" name="TextBox 76"/>
          <p:cNvSpPr txBox="1"/>
          <p:nvPr/>
        </p:nvSpPr>
        <p:spPr>
          <a:xfrm>
            <a:off x="9802367" y="2066544"/>
            <a:ext cx="914400" cy="219456"/>
          </a:xfrm>
          <a:prstGeom prst="rect">
            <a:avLst/>
          </a:prstGeom>
          <a:noFill/>
        </p:spPr>
        <p:txBody>
          <a:bodyPr wrap="square">
            <a:spAutoFit/>
          </a:bodyPr>
          <a:lstStyle/>
          <a:p>
            <a:pPr algn="ctr">
              <a:defRPr sz="900" b="0">
                <a:solidFill>
                  <a:srgbClr val="065F46"/>
                </a:solidFill>
                <a:latin typeface="Calibri"/>
              </a:defRPr>
            </a:pPr>
            <a:r>
              <a:t>$1.1M</a:t>
            </a:r>
          </a:p>
        </p:txBody>
      </p:sp>
      <p:sp>
        <p:nvSpPr>
          <p:cNvPr id="78" name="Rectangle 77"/>
          <p:cNvSpPr/>
          <p:nvPr/>
        </p:nvSpPr>
        <p:spPr>
          <a:xfrm>
            <a:off x="182880" y="2295144"/>
            <a:ext cx="10533888" cy="2743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82880" y="2322576"/>
            <a:ext cx="1463040" cy="219456"/>
          </a:xfrm>
          <a:prstGeom prst="rect">
            <a:avLst/>
          </a:prstGeom>
          <a:noFill/>
        </p:spPr>
        <p:txBody>
          <a:bodyPr wrap="square">
            <a:spAutoFit/>
          </a:bodyPr>
          <a:lstStyle/>
          <a:p>
            <a:pPr algn="l">
              <a:defRPr sz="900" b="1">
                <a:solidFill>
                  <a:srgbClr val="111827"/>
                </a:solidFill>
                <a:latin typeface="Calibri"/>
              </a:defRPr>
            </a:pPr>
            <a:r>
              <a:t>Cameron Brader</a:t>
            </a:r>
          </a:p>
        </p:txBody>
      </p:sp>
      <p:sp>
        <p:nvSpPr>
          <p:cNvPr id="80" name="TextBox 79"/>
          <p:cNvSpPr txBox="1"/>
          <p:nvPr/>
        </p:nvSpPr>
        <p:spPr>
          <a:xfrm>
            <a:off x="1645920" y="232257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81" name="TextBox 80"/>
          <p:cNvSpPr txBox="1"/>
          <p:nvPr/>
        </p:nvSpPr>
        <p:spPr>
          <a:xfrm>
            <a:off x="2423160" y="232257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82" name="TextBox 81"/>
          <p:cNvSpPr txBox="1"/>
          <p:nvPr/>
        </p:nvSpPr>
        <p:spPr>
          <a:xfrm>
            <a:off x="3200400" y="2322576"/>
            <a:ext cx="777240" cy="219456"/>
          </a:xfrm>
          <a:prstGeom prst="rect">
            <a:avLst/>
          </a:prstGeom>
          <a:noFill/>
        </p:spPr>
        <p:txBody>
          <a:bodyPr wrap="square">
            <a:spAutoFit/>
          </a:bodyPr>
          <a:lstStyle/>
          <a:p>
            <a:pPr algn="ctr">
              <a:defRPr sz="900" b="0">
                <a:solidFill>
                  <a:srgbClr val="D97706"/>
                </a:solidFill>
                <a:latin typeface="Calibri"/>
              </a:defRPr>
            </a:pPr>
            <a:r>
              <a:t>7</a:t>
            </a:r>
          </a:p>
        </p:txBody>
      </p:sp>
      <p:sp>
        <p:nvSpPr>
          <p:cNvPr id="83" name="TextBox 82"/>
          <p:cNvSpPr txBox="1"/>
          <p:nvPr/>
        </p:nvSpPr>
        <p:spPr>
          <a:xfrm>
            <a:off x="3977639" y="2322576"/>
            <a:ext cx="777240" cy="219456"/>
          </a:xfrm>
          <a:prstGeom prst="rect">
            <a:avLst/>
          </a:prstGeom>
          <a:noFill/>
        </p:spPr>
        <p:txBody>
          <a:bodyPr wrap="square">
            <a:spAutoFit/>
          </a:bodyPr>
          <a:lstStyle/>
          <a:p>
            <a:pPr algn="ctr">
              <a:defRPr sz="900" b="0">
                <a:solidFill>
                  <a:srgbClr val="6B7280"/>
                </a:solidFill>
                <a:latin typeface="Calibri"/>
              </a:defRPr>
            </a:pPr>
            <a:r>
              <a:t>41</a:t>
            </a:r>
          </a:p>
        </p:txBody>
      </p:sp>
      <p:sp>
        <p:nvSpPr>
          <p:cNvPr id="84" name="TextBox 83"/>
          <p:cNvSpPr txBox="1"/>
          <p:nvPr/>
        </p:nvSpPr>
        <p:spPr>
          <a:xfrm>
            <a:off x="4754879" y="232257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85" name="TextBox 84"/>
          <p:cNvSpPr txBox="1"/>
          <p:nvPr/>
        </p:nvSpPr>
        <p:spPr>
          <a:xfrm>
            <a:off x="5532119" y="2322576"/>
            <a:ext cx="82296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86" name="TextBox 85"/>
          <p:cNvSpPr txBox="1"/>
          <p:nvPr/>
        </p:nvSpPr>
        <p:spPr>
          <a:xfrm>
            <a:off x="6355079" y="2322576"/>
            <a:ext cx="658368" cy="219456"/>
          </a:xfrm>
          <a:prstGeom prst="rect">
            <a:avLst/>
          </a:prstGeom>
          <a:noFill/>
        </p:spPr>
        <p:txBody>
          <a:bodyPr wrap="square">
            <a:spAutoFit/>
          </a:bodyPr>
          <a:lstStyle/>
          <a:p>
            <a:pPr algn="ctr">
              <a:defRPr sz="900" b="0">
                <a:solidFill>
                  <a:srgbClr val="111827"/>
                </a:solidFill>
                <a:latin typeface="Calibri"/>
              </a:defRPr>
            </a:pPr>
            <a:r>
              <a:t>48</a:t>
            </a:r>
          </a:p>
        </p:txBody>
      </p:sp>
      <p:sp>
        <p:nvSpPr>
          <p:cNvPr id="87" name="TextBox 86"/>
          <p:cNvSpPr txBox="1"/>
          <p:nvPr/>
        </p:nvSpPr>
        <p:spPr>
          <a:xfrm>
            <a:off x="7013447" y="2322576"/>
            <a:ext cx="868680" cy="219456"/>
          </a:xfrm>
          <a:prstGeom prst="rect">
            <a:avLst/>
          </a:prstGeom>
          <a:noFill/>
        </p:spPr>
        <p:txBody>
          <a:bodyPr wrap="square">
            <a:spAutoFit/>
          </a:bodyPr>
          <a:lstStyle/>
          <a:p>
            <a:pPr algn="ctr">
              <a:defRPr sz="900" b="0">
                <a:solidFill>
                  <a:srgbClr val="059669"/>
                </a:solidFill>
                <a:latin typeface="Calibri"/>
              </a:defRPr>
            </a:pPr>
            <a:r>
              <a:t>26%</a:t>
            </a:r>
          </a:p>
        </p:txBody>
      </p:sp>
      <p:sp>
        <p:nvSpPr>
          <p:cNvPr id="88" name="TextBox 87"/>
          <p:cNvSpPr txBox="1"/>
          <p:nvPr/>
        </p:nvSpPr>
        <p:spPr>
          <a:xfrm>
            <a:off x="7882127" y="2322576"/>
            <a:ext cx="1920240" cy="219456"/>
          </a:xfrm>
          <a:prstGeom prst="rect">
            <a:avLst/>
          </a:prstGeom>
          <a:noFill/>
        </p:spPr>
        <p:txBody>
          <a:bodyPr wrap="square">
            <a:spAutoFit/>
          </a:bodyPr>
          <a:lstStyle/>
          <a:p>
            <a:pPr algn="l">
              <a:defRPr sz="900" b="0">
                <a:solidFill>
                  <a:srgbClr val="111827"/>
                </a:solidFill>
                <a:latin typeface="Calibri"/>
              </a:defRPr>
            </a:pPr>
            <a:r>
              <a:t>Regis Insurance Services, I…</a:t>
            </a:r>
          </a:p>
        </p:txBody>
      </p:sp>
      <p:sp>
        <p:nvSpPr>
          <p:cNvPr id="89" name="TextBox 88"/>
          <p:cNvSpPr txBox="1"/>
          <p:nvPr/>
        </p:nvSpPr>
        <p:spPr>
          <a:xfrm>
            <a:off x="9802367" y="2322576"/>
            <a:ext cx="914400" cy="219456"/>
          </a:xfrm>
          <a:prstGeom prst="rect">
            <a:avLst/>
          </a:prstGeom>
          <a:noFill/>
        </p:spPr>
        <p:txBody>
          <a:bodyPr wrap="square">
            <a:spAutoFit/>
          </a:bodyPr>
          <a:lstStyle/>
          <a:p>
            <a:pPr algn="ctr">
              <a:defRPr sz="900" b="0">
                <a:solidFill>
                  <a:srgbClr val="065F46"/>
                </a:solidFill>
                <a:latin typeface="Calibri"/>
              </a:defRPr>
            </a:pPr>
            <a:r>
              <a:t>$232K</a:t>
            </a:r>
          </a:p>
        </p:txBody>
      </p:sp>
      <p:sp>
        <p:nvSpPr>
          <p:cNvPr id="90" name="Rectangle 89"/>
          <p:cNvSpPr/>
          <p:nvPr/>
        </p:nvSpPr>
        <p:spPr>
          <a:xfrm>
            <a:off x="182880" y="2551176"/>
            <a:ext cx="10533888"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82880" y="2578608"/>
            <a:ext cx="1463040" cy="219456"/>
          </a:xfrm>
          <a:prstGeom prst="rect">
            <a:avLst/>
          </a:prstGeom>
          <a:noFill/>
        </p:spPr>
        <p:txBody>
          <a:bodyPr wrap="square">
            <a:spAutoFit/>
          </a:bodyPr>
          <a:lstStyle/>
          <a:p>
            <a:pPr algn="l">
              <a:defRPr sz="900" b="1">
                <a:solidFill>
                  <a:srgbClr val="111827"/>
                </a:solidFill>
                <a:latin typeface="Calibri"/>
              </a:defRPr>
            </a:pPr>
            <a:r>
              <a:t>Alexis Berry-Smith</a:t>
            </a:r>
          </a:p>
        </p:txBody>
      </p:sp>
      <p:sp>
        <p:nvSpPr>
          <p:cNvPr id="92" name="TextBox 91"/>
          <p:cNvSpPr txBox="1"/>
          <p:nvPr/>
        </p:nvSpPr>
        <p:spPr>
          <a:xfrm>
            <a:off x="1645920" y="2578608"/>
            <a:ext cx="777240" cy="219456"/>
          </a:xfrm>
          <a:prstGeom prst="rect">
            <a:avLst/>
          </a:prstGeom>
          <a:noFill/>
        </p:spPr>
        <p:txBody>
          <a:bodyPr wrap="square">
            <a:spAutoFit/>
          </a:bodyPr>
          <a:lstStyle/>
          <a:p>
            <a:pPr algn="ctr">
              <a:defRPr sz="900" b="0">
                <a:solidFill>
                  <a:srgbClr val="6D28D9"/>
                </a:solidFill>
                <a:latin typeface="Calibri"/>
              </a:defRPr>
            </a:pPr>
            <a:r>
              <a:t>7</a:t>
            </a:r>
          </a:p>
        </p:txBody>
      </p:sp>
      <p:sp>
        <p:nvSpPr>
          <p:cNvPr id="93" name="TextBox 92"/>
          <p:cNvSpPr txBox="1"/>
          <p:nvPr/>
        </p:nvSpPr>
        <p:spPr>
          <a:xfrm>
            <a:off x="2423160" y="2578608"/>
            <a:ext cx="777240" cy="219456"/>
          </a:xfrm>
          <a:prstGeom prst="rect">
            <a:avLst/>
          </a:prstGeom>
          <a:noFill/>
        </p:spPr>
        <p:txBody>
          <a:bodyPr wrap="square">
            <a:spAutoFit/>
          </a:bodyPr>
          <a:lstStyle/>
          <a:p>
            <a:pPr algn="ctr">
              <a:defRPr sz="900" b="0">
                <a:solidFill>
                  <a:srgbClr val="059669"/>
                </a:solidFill>
                <a:latin typeface="Calibri"/>
              </a:defRPr>
            </a:pPr>
            <a:r>
              <a:t>15</a:t>
            </a:r>
          </a:p>
        </p:txBody>
      </p:sp>
      <p:sp>
        <p:nvSpPr>
          <p:cNvPr id="94" name="TextBox 93"/>
          <p:cNvSpPr txBox="1"/>
          <p:nvPr/>
        </p:nvSpPr>
        <p:spPr>
          <a:xfrm>
            <a:off x="3200400" y="2578608"/>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95" name="TextBox 94"/>
          <p:cNvSpPr txBox="1"/>
          <p:nvPr/>
        </p:nvSpPr>
        <p:spPr>
          <a:xfrm>
            <a:off x="3977639" y="2578608"/>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96" name="TextBox 95"/>
          <p:cNvSpPr txBox="1"/>
          <p:nvPr/>
        </p:nvSpPr>
        <p:spPr>
          <a:xfrm>
            <a:off x="4754879" y="2578608"/>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97" name="TextBox 96"/>
          <p:cNvSpPr txBox="1"/>
          <p:nvPr/>
        </p:nvSpPr>
        <p:spPr>
          <a:xfrm>
            <a:off x="5532119" y="2578608"/>
            <a:ext cx="82296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98" name="TextBox 97"/>
          <p:cNvSpPr txBox="1"/>
          <p:nvPr/>
        </p:nvSpPr>
        <p:spPr>
          <a:xfrm>
            <a:off x="6355079" y="2578608"/>
            <a:ext cx="658368" cy="219456"/>
          </a:xfrm>
          <a:prstGeom prst="rect">
            <a:avLst/>
          </a:prstGeom>
          <a:noFill/>
        </p:spPr>
        <p:txBody>
          <a:bodyPr wrap="square">
            <a:spAutoFit/>
          </a:bodyPr>
          <a:lstStyle/>
          <a:p>
            <a:pPr algn="ctr">
              <a:defRPr sz="900" b="0">
                <a:solidFill>
                  <a:srgbClr val="111827"/>
                </a:solidFill>
                <a:latin typeface="Calibri"/>
              </a:defRPr>
            </a:pPr>
            <a:r>
              <a:t>22</a:t>
            </a:r>
          </a:p>
        </p:txBody>
      </p:sp>
      <p:sp>
        <p:nvSpPr>
          <p:cNvPr id="99" name="TextBox 98"/>
          <p:cNvSpPr txBox="1"/>
          <p:nvPr/>
        </p:nvSpPr>
        <p:spPr>
          <a:xfrm>
            <a:off x="7013447" y="2578608"/>
            <a:ext cx="868680" cy="219456"/>
          </a:xfrm>
          <a:prstGeom prst="rect">
            <a:avLst/>
          </a:prstGeom>
          <a:noFill/>
        </p:spPr>
        <p:txBody>
          <a:bodyPr wrap="square">
            <a:spAutoFit/>
          </a:bodyPr>
          <a:lstStyle/>
          <a:p>
            <a:pPr algn="ctr">
              <a:defRPr sz="900" b="0">
                <a:solidFill>
                  <a:srgbClr val="DC2626"/>
                </a:solidFill>
                <a:latin typeface="Calibri"/>
              </a:defRPr>
            </a:pPr>
            <a:r>
              <a:t>97%</a:t>
            </a:r>
          </a:p>
        </p:txBody>
      </p:sp>
      <p:sp>
        <p:nvSpPr>
          <p:cNvPr id="100" name="TextBox 99"/>
          <p:cNvSpPr txBox="1"/>
          <p:nvPr/>
        </p:nvSpPr>
        <p:spPr>
          <a:xfrm>
            <a:off x="7882127" y="2578608"/>
            <a:ext cx="1920240" cy="219456"/>
          </a:xfrm>
          <a:prstGeom prst="rect">
            <a:avLst/>
          </a:prstGeom>
          <a:noFill/>
        </p:spPr>
        <p:txBody>
          <a:bodyPr wrap="square">
            <a:spAutoFit/>
          </a:bodyPr>
          <a:lstStyle/>
          <a:p>
            <a:pPr algn="l">
              <a:defRPr sz="900" b="0">
                <a:solidFill>
                  <a:srgbClr val="111827"/>
                </a:solidFill>
                <a:latin typeface="Calibri"/>
              </a:defRPr>
            </a:pPr>
            <a:r>
              <a:t>Alex Rue Insurance Agency, …</a:t>
            </a:r>
          </a:p>
        </p:txBody>
      </p:sp>
      <p:sp>
        <p:nvSpPr>
          <p:cNvPr id="101" name="TextBox 100"/>
          <p:cNvSpPr txBox="1"/>
          <p:nvPr/>
        </p:nvSpPr>
        <p:spPr>
          <a:xfrm>
            <a:off x="9802367" y="2578608"/>
            <a:ext cx="914400" cy="219456"/>
          </a:xfrm>
          <a:prstGeom prst="rect">
            <a:avLst/>
          </a:prstGeom>
          <a:noFill/>
        </p:spPr>
        <p:txBody>
          <a:bodyPr wrap="square">
            <a:spAutoFit/>
          </a:bodyPr>
          <a:lstStyle/>
          <a:p>
            <a:pPr algn="ctr">
              <a:defRPr sz="900" b="0">
                <a:solidFill>
                  <a:srgbClr val="6D28D9"/>
                </a:solidFill>
                <a:latin typeface="Calibri"/>
              </a:defRPr>
            </a:pPr>
            <a:r>
              <a:t>$661K</a:t>
            </a:r>
          </a:p>
        </p:txBody>
      </p:sp>
      <p:sp>
        <p:nvSpPr>
          <p:cNvPr id="102" name="Rectangle 101"/>
          <p:cNvSpPr/>
          <p:nvPr/>
        </p:nvSpPr>
        <p:spPr>
          <a:xfrm>
            <a:off x="182880" y="2807208"/>
            <a:ext cx="10533888" cy="2743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82880" y="2834640"/>
            <a:ext cx="1463040" cy="219456"/>
          </a:xfrm>
          <a:prstGeom prst="rect">
            <a:avLst/>
          </a:prstGeom>
          <a:noFill/>
        </p:spPr>
        <p:txBody>
          <a:bodyPr wrap="square">
            <a:spAutoFit/>
          </a:bodyPr>
          <a:lstStyle/>
          <a:p>
            <a:pPr algn="l">
              <a:defRPr sz="900" b="1">
                <a:solidFill>
                  <a:srgbClr val="111827"/>
                </a:solidFill>
                <a:latin typeface="Calibri"/>
              </a:defRPr>
            </a:pPr>
            <a:r>
              <a:t>Taylor Sloan</a:t>
            </a:r>
          </a:p>
        </p:txBody>
      </p:sp>
      <p:sp>
        <p:nvSpPr>
          <p:cNvPr id="104" name="TextBox 103"/>
          <p:cNvSpPr txBox="1"/>
          <p:nvPr/>
        </p:nvSpPr>
        <p:spPr>
          <a:xfrm>
            <a:off x="1645920" y="2834640"/>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05" name="TextBox 104"/>
          <p:cNvSpPr txBox="1"/>
          <p:nvPr/>
        </p:nvSpPr>
        <p:spPr>
          <a:xfrm>
            <a:off x="2423160" y="2834640"/>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06" name="TextBox 105"/>
          <p:cNvSpPr txBox="1"/>
          <p:nvPr/>
        </p:nvSpPr>
        <p:spPr>
          <a:xfrm>
            <a:off x="3200400" y="2834640"/>
            <a:ext cx="777240" cy="219456"/>
          </a:xfrm>
          <a:prstGeom prst="rect">
            <a:avLst/>
          </a:prstGeom>
          <a:noFill/>
        </p:spPr>
        <p:txBody>
          <a:bodyPr wrap="square">
            <a:spAutoFit/>
          </a:bodyPr>
          <a:lstStyle/>
          <a:p>
            <a:pPr algn="ctr">
              <a:defRPr sz="900" b="0">
                <a:solidFill>
                  <a:srgbClr val="D97706"/>
                </a:solidFill>
                <a:latin typeface="Calibri"/>
              </a:defRPr>
            </a:pPr>
            <a:r>
              <a:t>7</a:t>
            </a:r>
          </a:p>
        </p:txBody>
      </p:sp>
      <p:sp>
        <p:nvSpPr>
          <p:cNvPr id="107" name="TextBox 106"/>
          <p:cNvSpPr txBox="1"/>
          <p:nvPr/>
        </p:nvSpPr>
        <p:spPr>
          <a:xfrm>
            <a:off x="3977639" y="2834640"/>
            <a:ext cx="777240" cy="219456"/>
          </a:xfrm>
          <a:prstGeom prst="rect">
            <a:avLst/>
          </a:prstGeom>
          <a:noFill/>
        </p:spPr>
        <p:txBody>
          <a:bodyPr wrap="square">
            <a:spAutoFit/>
          </a:bodyPr>
          <a:lstStyle/>
          <a:p>
            <a:pPr algn="ctr">
              <a:defRPr sz="900" b="0">
                <a:solidFill>
                  <a:srgbClr val="6B7280"/>
                </a:solidFill>
                <a:latin typeface="Calibri"/>
              </a:defRPr>
            </a:pPr>
            <a:r>
              <a:t>15</a:t>
            </a:r>
          </a:p>
        </p:txBody>
      </p:sp>
      <p:sp>
        <p:nvSpPr>
          <p:cNvPr id="108" name="TextBox 107"/>
          <p:cNvSpPr txBox="1"/>
          <p:nvPr/>
        </p:nvSpPr>
        <p:spPr>
          <a:xfrm>
            <a:off x="4754879" y="2834640"/>
            <a:ext cx="777240" cy="219456"/>
          </a:xfrm>
          <a:prstGeom prst="rect">
            <a:avLst/>
          </a:prstGeom>
          <a:noFill/>
        </p:spPr>
        <p:txBody>
          <a:bodyPr wrap="square">
            <a:spAutoFit/>
          </a:bodyPr>
          <a:lstStyle/>
          <a:p>
            <a:pPr algn="ctr">
              <a:defRPr sz="900" b="0">
                <a:solidFill>
                  <a:srgbClr val="6B7280"/>
                </a:solidFill>
                <a:latin typeface="Calibri"/>
              </a:defRPr>
            </a:pPr>
            <a:r>
              <a:t>3</a:t>
            </a:r>
          </a:p>
        </p:txBody>
      </p:sp>
      <p:sp>
        <p:nvSpPr>
          <p:cNvPr id="109" name="TextBox 108"/>
          <p:cNvSpPr txBox="1"/>
          <p:nvPr/>
        </p:nvSpPr>
        <p:spPr>
          <a:xfrm>
            <a:off x="5532119" y="2834640"/>
            <a:ext cx="822960" cy="219456"/>
          </a:xfrm>
          <a:prstGeom prst="rect">
            <a:avLst/>
          </a:prstGeom>
          <a:noFill/>
        </p:spPr>
        <p:txBody>
          <a:bodyPr wrap="square">
            <a:spAutoFit/>
          </a:bodyPr>
          <a:lstStyle/>
          <a:p>
            <a:pPr algn="ctr">
              <a:defRPr sz="900" b="0">
                <a:solidFill>
                  <a:srgbClr val="6B7280"/>
                </a:solidFill>
                <a:latin typeface="Calibri"/>
              </a:defRPr>
            </a:pPr>
            <a:r>
              <a:t>1</a:t>
            </a:r>
          </a:p>
        </p:txBody>
      </p:sp>
      <p:sp>
        <p:nvSpPr>
          <p:cNvPr id="110" name="TextBox 109"/>
          <p:cNvSpPr txBox="1"/>
          <p:nvPr/>
        </p:nvSpPr>
        <p:spPr>
          <a:xfrm>
            <a:off x="6355079" y="2834640"/>
            <a:ext cx="658368" cy="219456"/>
          </a:xfrm>
          <a:prstGeom prst="rect">
            <a:avLst/>
          </a:prstGeom>
          <a:noFill/>
        </p:spPr>
        <p:txBody>
          <a:bodyPr wrap="square">
            <a:spAutoFit/>
          </a:bodyPr>
          <a:lstStyle/>
          <a:p>
            <a:pPr algn="ctr">
              <a:defRPr sz="900" b="0">
                <a:solidFill>
                  <a:srgbClr val="111827"/>
                </a:solidFill>
                <a:latin typeface="Calibri"/>
              </a:defRPr>
            </a:pPr>
            <a:r>
              <a:t>26</a:t>
            </a:r>
          </a:p>
        </p:txBody>
      </p:sp>
      <p:sp>
        <p:nvSpPr>
          <p:cNvPr id="111" name="TextBox 110"/>
          <p:cNvSpPr txBox="1"/>
          <p:nvPr/>
        </p:nvSpPr>
        <p:spPr>
          <a:xfrm>
            <a:off x="7013447" y="2834640"/>
            <a:ext cx="868680" cy="219456"/>
          </a:xfrm>
          <a:prstGeom prst="rect">
            <a:avLst/>
          </a:prstGeom>
          <a:noFill/>
        </p:spPr>
        <p:txBody>
          <a:bodyPr wrap="square">
            <a:spAutoFit/>
          </a:bodyPr>
          <a:lstStyle/>
          <a:p>
            <a:pPr algn="ctr">
              <a:defRPr sz="900" b="0">
                <a:solidFill>
                  <a:srgbClr val="DC2626"/>
                </a:solidFill>
                <a:latin typeface="Calibri"/>
              </a:defRPr>
            </a:pPr>
            <a:r>
              <a:t>71%</a:t>
            </a:r>
          </a:p>
        </p:txBody>
      </p:sp>
      <p:sp>
        <p:nvSpPr>
          <p:cNvPr id="112" name="TextBox 111"/>
          <p:cNvSpPr txBox="1"/>
          <p:nvPr/>
        </p:nvSpPr>
        <p:spPr>
          <a:xfrm>
            <a:off x="7882127" y="2834640"/>
            <a:ext cx="1920240" cy="219456"/>
          </a:xfrm>
          <a:prstGeom prst="rect">
            <a:avLst/>
          </a:prstGeom>
          <a:noFill/>
        </p:spPr>
        <p:txBody>
          <a:bodyPr wrap="square">
            <a:spAutoFit/>
          </a:bodyPr>
          <a:lstStyle/>
          <a:p>
            <a:pPr algn="l">
              <a:defRPr sz="900" b="0">
                <a:solidFill>
                  <a:srgbClr val="111827"/>
                </a:solidFill>
                <a:latin typeface="Calibri"/>
              </a:defRPr>
            </a:pPr>
            <a:r>
              <a:t>Fredrick B. Roberson Insura…</a:t>
            </a:r>
          </a:p>
        </p:txBody>
      </p:sp>
      <p:sp>
        <p:nvSpPr>
          <p:cNvPr id="113" name="TextBox 112"/>
          <p:cNvSpPr txBox="1"/>
          <p:nvPr/>
        </p:nvSpPr>
        <p:spPr>
          <a:xfrm>
            <a:off x="9802367" y="2834640"/>
            <a:ext cx="914400" cy="219456"/>
          </a:xfrm>
          <a:prstGeom prst="rect">
            <a:avLst/>
          </a:prstGeom>
          <a:noFill/>
        </p:spPr>
        <p:txBody>
          <a:bodyPr wrap="square">
            <a:spAutoFit/>
          </a:bodyPr>
          <a:lstStyle/>
          <a:p>
            <a:pPr algn="ctr">
              <a:defRPr sz="900" b="0">
                <a:solidFill>
                  <a:srgbClr val="065F46"/>
                </a:solidFill>
                <a:latin typeface="Calibri"/>
              </a:defRPr>
            </a:pPr>
            <a:r>
              <a:t>$198K</a:t>
            </a:r>
          </a:p>
        </p:txBody>
      </p:sp>
      <p:sp>
        <p:nvSpPr>
          <p:cNvPr id="114" name="Rectangle 113"/>
          <p:cNvSpPr/>
          <p:nvPr/>
        </p:nvSpPr>
        <p:spPr>
          <a:xfrm>
            <a:off x="182880" y="3063240"/>
            <a:ext cx="10533888"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82880" y="3090672"/>
            <a:ext cx="1463040" cy="219456"/>
          </a:xfrm>
          <a:prstGeom prst="rect">
            <a:avLst/>
          </a:prstGeom>
          <a:noFill/>
        </p:spPr>
        <p:txBody>
          <a:bodyPr wrap="square">
            <a:spAutoFit/>
          </a:bodyPr>
          <a:lstStyle/>
          <a:p>
            <a:pPr algn="l">
              <a:defRPr sz="900" b="1">
                <a:solidFill>
                  <a:srgbClr val="111827"/>
                </a:solidFill>
                <a:latin typeface="Calibri"/>
              </a:defRPr>
            </a:pPr>
            <a:r>
              <a:t>Portia Lewis</a:t>
            </a:r>
          </a:p>
        </p:txBody>
      </p:sp>
      <p:sp>
        <p:nvSpPr>
          <p:cNvPr id="116" name="TextBox 115"/>
          <p:cNvSpPr txBox="1"/>
          <p:nvPr/>
        </p:nvSpPr>
        <p:spPr>
          <a:xfrm>
            <a:off x="1645920" y="3090672"/>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17" name="TextBox 116"/>
          <p:cNvSpPr txBox="1"/>
          <p:nvPr/>
        </p:nvSpPr>
        <p:spPr>
          <a:xfrm>
            <a:off x="2423160" y="3090672"/>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18" name="TextBox 117"/>
          <p:cNvSpPr txBox="1"/>
          <p:nvPr/>
        </p:nvSpPr>
        <p:spPr>
          <a:xfrm>
            <a:off x="3200400" y="3090672"/>
            <a:ext cx="777240" cy="219456"/>
          </a:xfrm>
          <a:prstGeom prst="rect">
            <a:avLst/>
          </a:prstGeom>
          <a:noFill/>
        </p:spPr>
        <p:txBody>
          <a:bodyPr wrap="square">
            <a:spAutoFit/>
          </a:bodyPr>
          <a:lstStyle/>
          <a:p>
            <a:pPr algn="ctr">
              <a:defRPr sz="900" b="0">
                <a:solidFill>
                  <a:srgbClr val="D97706"/>
                </a:solidFill>
                <a:latin typeface="Calibri"/>
              </a:defRPr>
            </a:pPr>
            <a:r>
              <a:t>7</a:t>
            </a:r>
          </a:p>
        </p:txBody>
      </p:sp>
      <p:sp>
        <p:nvSpPr>
          <p:cNvPr id="119" name="TextBox 118"/>
          <p:cNvSpPr txBox="1"/>
          <p:nvPr/>
        </p:nvSpPr>
        <p:spPr>
          <a:xfrm>
            <a:off x="3977639" y="3090672"/>
            <a:ext cx="777240" cy="219456"/>
          </a:xfrm>
          <a:prstGeom prst="rect">
            <a:avLst/>
          </a:prstGeom>
          <a:noFill/>
        </p:spPr>
        <p:txBody>
          <a:bodyPr wrap="square">
            <a:spAutoFit/>
          </a:bodyPr>
          <a:lstStyle/>
          <a:p>
            <a:pPr algn="ctr">
              <a:defRPr sz="900" b="0">
                <a:solidFill>
                  <a:srgbClr val="6B7280"/>
                </a:solidFill>
                <a:latin typeface="Calibri"/>
              </a:defRPr>
            </a:pPr>
            <a:r>
              <a:t>32</a:t>
            </a:r>
          </a:p>
        </p:txBody>
      </p:sp>
      <p:sp>
        <p:nvSpPr>
          <p:cNvPr id="120" name="TextBox 119"/>
          <p:cNvSpPr txBox="1"/>
          <p:nvPr/>
        </p:nvSpPr>
        <p:spPr>
          <a:xfrm>
            <a:off x="4754879" y="3090672"/>
            <a:ext cx="777240" cy="219456"/>
          </a:xfrm>
          <a:prstGeom prst="rect">
            <a:avLst/>
          </a:prstGeom>
          <a:noFill/>
        </p:spPr>
        <p:txBody>
          <a:bodyPr wrap="square">
            <a:spAutoFit/>
          </a:bodyPr>
          <a:lstStyle/>
          <a:p>
            <a:pPr algn="ctr">
              <a:defRPr sz="900" b="0">
                <a:solidFill>
                  <a:srgbClr val="6B7280"/>
                </a:solidFill>
                <a:latin typeface="Calibri"/>
              </a:defRPr>
            </a:pPr>
            <a:r>
              <a:t>14</a:t>
            </a:r>
          </a:p>
        </p:txBody>
      </p:sp>
      <p:sp>
        <p:nvSpPr>
          <p:cNvPr id="121" name="TextBox 120"/>
          <p:cNvSpPr txBox="1"/>
          <p:nvPr/>
        </p:nvSpPr>
        <p:spPr>
          <a:xfrm>
            <a:off x="5532119" y="3090672"/>
            <a:ext cx="82296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22" name="TextBox 121"/>
          <p:cNvSpPr txBox="1"/>
          <p:nvPr/>
        </p:nvSpPr>
        <p:spPr>
          <a:xfrm>
            <a:off x="6355079" y="3090672"/>
            <a:ext cx="658368" cy="219456"/>
          </a:xfrm>
          <a:prstGeom prst="rect">
            <a:avLst/>
          </a:prstGeom>
          <a:noFill/>
        </p:spPr>
        <p:txBody>
          <a:bodyPr wrap="square">
            <a:spAutoFit/>
          </a:bodyPr>
          <a:lstStyle/>
          <a:p>
            <a:pPr algn="ctr">
              <a:defRPr sz="900" b="0">
                <a:solidFill>
                  <a:srgbClr val="111827"/>
                </a:solidFill>
                <a:latin typeface="Calibri"/>
              </a:defRPr>
            </a:pPr>
            <a:r>
              <a:t>53</a:t>
            </a:r>
          </a:p>
        </p:txBody>
      </p:sp>
      <p:sp>
        <p:nvSpPr>
          <p:cNvPr id="123" name="TextBox 122"/>
          <p:cNvSpPr txBox="1"/>
          <p:nvPr/>
        </p:nvSpPr>
        <p:spPr>
          <a:xfrm>
            <a:off x="7013447" y="3090672"/>
            <a:ext cx="868680" cy="219456"/>
          </a:xfrm>
          <a:prstGeom prst="rect">
            <a:avLst/>
          </a:prstGeom>
          <a:noFill/>
        </p:spPr>
        <p:txBody>
          <a:bodyPr wrap="square">
            <a:spAutoFit/>
          </a:bodyPr>
          <a:lstStyle/>
          <a:p>
            <a:pPr algn="ctr">
              <a:defRPr sz="900" b="0">
                <a:solidFill>
                  <a:srgbClr val="DC2626"/>
                </a:solidFill>
                <a:latin typeface="Calibri"/>
              </a:defRPr>
            </a:pPr>
            <a:r>
              <a:t>100%</a:t>
            </a:r>
          </a:p>
        </p:txBody>
      </p:sp>
      <p:sp>
        <p:nvSpPr>
          <p:cNvPr id="124" name="TextBox 123"/>
          <p:cNvSpPr txBox="1"/>
          <p:nvPr/>
        </p:nvSpPr>
        <p:spPr>
          <a:xfrm>
            <a:off x="7882127" y="3090672"/>
            <a:ext cx="1920240" cy="219456"/>
          </a:xfrm>
          <a:prstGeom prst="rect">
            <a:avLst/>
          </a:prstGeom>
          <a:noFill/>
        </p:spPr>
        <p:txBody>
          <a:bodyPr wrap="square">
            <a:spAutoFit/>
          </a:bodyPr>
          <a:lstStyle/>
          <a:p>
            <a:pPr algn="l">
              <a:defRPr sz="900" b="0">
                <a:solidFill>
                  <a:srgbClr val="111827"/>
                </a:solidFill>
                <a:latin typeface="Calibri"/>
              </a:defRPr>
            </a:pPr>
            <a:r>
              <a:t>Vantage Ins LLC</a:t>
            </a:r>
          </a:p>
        </p:txBody>
      </p:sp>
      <p:sp>
        <p:nvSpPr>
          <p:cNvPr id="125" name="TextBox 124"/>
          <p:cNvSpPr txBox="1"/>
          <p:nvPr/>
        </p:nvSpPr>
        <p:spPr>
          <a:xfrm>
            <a:off x="9802367" y="3090672"/>
            <a:ext cx="914400" cy="219456"/>
          </a:xfrm>
          <a:prstGeom prst="rect">
            <a:avLst/>
          </a:prstGeom>
          <a:noFill/>
        </p:spPr>
        <p:txBody>
          <a:bodyPr wrap="square">
            <a:spAutoFit/>
          </a:bodyPr>
          <a:lstStyle/>
          <a:p>
            <a:pPr algn="ctr">
              <a:defRPr sz="900" b="0">
                <a:solidFill>
                  <a:srgbClr val="065F46"/>
                </a:solidFill>
                <a:latin typeface="Calibri"/>
              </a:defRPr>
            </a:pPr>
            <a:r>
              <a:t>$396K</a:t>
            </a:r>
          </a:p>
        </p:txBody>
      </p:sp>
      <p:sp>
        <p:nvSpPr>
          <p:cNvPr id="126" name="Rectangle 125"/>
          <p:cNvSpPr/>
          <p:nvPr/>
        </p:nvSpPr>
        <p:spPr>
          <a:xfrm>
            <a:off x="182880" y="3319272"/>
            <a:ext cx="10533888" cy="27432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82880" y="3346704"/>
            <a:ext cx="1463040" cy="219456"/>
          </a:xfrm>
          <a:prstGeom prst="rect">
            <a:avLst/>
          </a:prstGeom>
          <a:noFill/>
        </p:spPr>
        <p:txBody>
          <a:bodyPr wrap="square">
            <a:spAutoFit/>
          </a:bodyPr>
          <a:lstStyle/>
          <a:p>
            <a:pPr algn="l">
              <a:defRPr sz="900" b="1">
                <a:solidFill>
                  <a:srgbClr val="111827"/>
                </a:solidFill>
                <a:latin typeface="Calibri"/>
              </a:defRPr>
            </a:pPr>
            <a:r>
              <a:t>Westy McLaughlin</a:t>
            </a:r>
          </a:p>
        </p:txBody>
      </p:sp>
      <p:sp>
        <p:nvSpPr>
          <p:cNvPr id="128" name="TextBox 127"/>
          <p:cNvSpPr txBox="1"/>
          <p:nvPr/>
        </p:nvSpPr>
        <p:spPr>
          <a:xfrm>
            <a:off x="1645920" y="3346704"/>
            <a:ext cx="777240" cy="219456"/>
          </a:xfrm>
          <a:prstGeom prst="rect">
            <a:avLst/>
          </a:prstGeom>
          <a:noFill/>
        </p:spPr>
        <p:txBody>
          <a:bodyPr wrap="square">
            <a:spAutoFit/>
          </a:bodyPr>
          <a:lstStyle/>
          <a:p>
            <a:pPr algn="ctr">
              <a:defRPr sz="900" b="0">
                <a:solidFill>
                  <a:srgbClr val="6D28D9"/>
                </a:solidFill>
                <a:latin typeface="Calibri"/>
              </a:defRPr>
            </a:pPr>
            <a:r>
              <a:t>1</a:t>
            </a:r>
          </a:p>
        </p:txBody>
      </p:sp>
      <p:sp>
        <p:nvSpPr>
          <p:cNvPr id="129" name="TextBox 128"/>
          <p:cNvSpPr txBox="1"/>
          <p:nvPr/>
        </p:nvSpPr>
        <p:spPr>
          <a:xfrm>
            <a:off x="2423160" y="3346704"/>
            <a:ext cx="777240" cy="219456"/>
          </a:xfrm>
          <a:prstGeom prst="rect">
            <a:avLst/>
          </a:prstGeom>
          <a:noFill/>
        </p:spPr>
        <p:txBody>
          <a:bodyPr wrap="square">
            <a:spAutoFit/>
          </a:bodyPr>
          <a:lstStyle/>
          <a:p>
            <a:pPr algn="ctr">
              <a:defRPr sz="900" b="0">
                <a:solidFill>
                  <a:srgbClr val="059669"/>
                </a:solidFill>
                <a:latin typeface="Calibri"/>
              </a:defRPr>
            </a:pPr>
            <a:r>
              <a:t>4</a:t>
            </a:r>
          </a:p>
        </p:txBody>
      </p:sp>
      <p:sp>
        <p:nvSpPr>
          <p:cNvPr id="130" name="TextBox 129"/>
          <p:cNvSpPr txBox="1"/>
          <p:nvPr/>
        </p:nvSpPr>
        <p:spPr>
          <a:xfrm>
            <a:off x="3200400" y="3346704"/>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31" name="TextBox 130"/>
          <p:cNvSpPr txBox="1"/>
          <p:nvPr/>
        </p:nvSpPr>
        <p:spPr>
          <a:xfrm>
            <a:off x="3977639" y="3346704"/>
            <a:ext cx="777240" cy="219456"/>
          </a:xfrm>
          <a:prstGeom prst="rect">
            <a:avLst/>
          </a:prstGeom>
          <a:noFill/>
        </p:spPr>
        <p:txBody>
          <a:bodyPr wrap="square">
            <a:spAutoFit/>
          </a:bodyPr>
          <a:lstStyle/>
          <a:p>
            <a:pPr algn="ctr">
              <a:defRPr sz="900" b="0">
                <a:solidFill>
                  <a:srgbClr val="6B7280"/>
                </a:solidFill>
                <a:latin typeface="Calibri"/>
              </a:defRPr>
            </a:pPr>
            <a:r>
              <a:t>5</a:t>
            </a:r>
          </a:p>
        </p:txBody>
      </p:sp>
      <p:sp>
        <p:nvSpPr>
          <p:cNvPr id="132" name="TextBox 131"/>
          <p:cNvSpPr txBox="1"/>
          <p:nvPr/>
        </p:nvSpPr>
        <p:spPr>
          <a:xfrm>
            <a:off x="4754879" y="3346704"/>
            <a:ext cx="777240" cy="219456"/>
          </a:xfrm>
          <a:prstGeom prst="rect">
            <a:avLst/>
          </a:prstGeom>
          <a:noFill/>
        </p:spPr>
        <p:txBody>
          <a:bodyPr wrap="square">
            <a:spAutoFit/>
          </a:bodyPr>
          <a:lstStyle/>
          <a:p>
            <a:pPr algn="ctr">
              <a:defRPr sz="900" b="0">
                <a:solidFill>
                  <a:srgbClr val="6B7280"/>
                </a:solidFill>
                <a:latin typeface="Calibri"/>
              </a:defRPr>
            </a:pPr>
            <a:r>
              <a:t>2</a:t>
            </a:r>
          </a:p>
        </p:txBody>
      </p:sp>
      <p:sp>
        <p:nvSpPr>
          <p:cNvPr id="133" name="TextBox 132"/>
          <p:cNvSpPr txBox="1"/>
          <p:nvPr/>
        </p:nvSpPr>
        <p:spPr>
          <a:xfrm>
            <a:off x="5532119" y="3346704"/>
            <a:ext cx="822960" cy="219456"/>
          </a:xfrm>
          <a:prstGeom prst="rect">
            <a:avLst/>
          </a:prstGeom>
          <a:noFill/>
        </p:spPr>
        <p:txBody>
          <a:bodyPr wrap="square">
            <a:spAutoFit/>
          </a:bodyPr>
          <a:lstStyle/>
          <a:p>
            <a:pPr algn="ctr">
              <a:defRPr sz="900" b="0">
                <a:solidFill>
                  <a:srgbClr val="6B7280"/>
                </a:solidFill>
                <a:latin typeface="Calibri"/>
              </a:defRPr>
            </a:pPr>
            <a:r>
              <a:t>2</a:t>
            </a:r>
          </a:p>
        </p:txBody>
      </p:sp>
      <p:sp>
        <p:nvSpPr>
          <p:cNvPr id="134" name="TextBox 133"/>
          <p:cNvSpPr txBox="1"/>
          <p:nvPr/>
        </p:nvSpPr>
        <p:spPr>
          <a:xfrm>
            <a:off x="6355079" y="3346704"/>
            <a:ext cx="658368" cy="219456"/>
          </a:xfrm>
          <a:prstGeom prst="rect">
            <a:avLst/>
          </a:prstGeom>
          <a:noFill/>
        </p:spPr>
        <p:txBody>
          <a:bodyPr wrap="square">
            <a:spAutoFit/>
          </a:bodyPr>
          <a:lstStyle/>
          <a:p>
            <a:pPr algn="ctr">
              <a:defRPr sz="900" b="0">
                <a:solidFill>
                  <a:srgbClr val="111827"/>
                </a:solidFill>
                <a:latin typeface="Calibri"/>
              </a:defRPr>
            </a:pPr>
            <a:r>
              <a:t>14</a:t>
            </a:r>
          </a:p>
        </p:txBody>
      </p:sp>
      <p:sp>
        <p:nvSpPr>
          <p:cNvPr id="135" name="TextBox 134"/>
          <p:cNvSpPr txBox="1"/>
          <p:nvPr/>
        </p:nvSpPr>
        <p:spPr>
          <a:xfrm>
            <a:off x="7013447" y="3346704"/>
            <a:ext cx="868680" cy="219456"/>
          </a:xfrm>
          <a:prstGeom prst="rect">
            <a:avLst/>
          </a:prstGeom>
          <a:noFill/>
        </p:spPr>
        <p:txBody>
          <a:bodyPr wrap="square">
            <a:spAutoFit/>
          </a:bodyPr>
          <a:lstStyle/>
          <a:p>
            <a:pPr algn="ctr">
              <a:defRPr sz="900" b="0">
                <a:solidFill>
                  <a:srgbClr val="DC2626"/>
                </a:solidFill>
                <a:latin typeface="Calibri"/>
              </a:defRPr>
            </a:pPr>
            <a:r>
              <a:t>84%</a:t>
            </a:r>
          </a:p>
        </p:txBody>
      </p:sp>
      <p:sp>
        <p:nvSpPr>
          <p:cNvPr id="136" name="TextBox 135"/>
          <p:cNvSpPr txBox="1"/>
          <p:nvPr/>
        </p:nvSpPr>
        <p:spPr>
          <a:xfrm>
            <a:off x="7882127" y="3346704"/>
            <a:ext cx="1920240" cy="219456"/>
          </a:xfrm>
          <a:prstGeom prst="rect">
            <a:avLst/>
          </a:prstGeom>
          <a:noFill/>
        </p:spPr>
        <p:txBody>
          <a:bodyPr wrap="square">
            <a:spAutoFit/>
          </a:bodyPr>
          <a:lstStyle/>
          <a:p>
            <a:pPr algn="l">
              <a:defRPr sz="900" b="0">
                <a:solidFill>
                  <a:srgbClr val="111827"/>
                </a:solidFill>
                <a:latin typeface="Calibri"/>
              </a:defRPr>
            </a:pPr>
            <a:r>
              <a:t>ACRISURE LLC dba CLG Insura…</a:t>
            </a:r>
          </a:p>
        </p:txBody>
      </p:sp>
      <p:sp>
        <p:nvSpPr>
          <p:cNvPr id="137" name="TextBox 136"/>
          <p:cNvSpPr txBox="1"/>
          <p:nvPr/>
        </p:nvSpPr>
        <p:spPr>
          <a:xfrm>
            <a:off x="9802367" y="3346704"/>
            <a:ext cx="914400" cy="219456"/>
          </a:xfrm>
          <a:prstGeom prst="rect">
            <a:avLst/>
          </a:prstGeom>
          <a:noFill/>
        </p:spPr>
        <p:txBody>
          <a:bodyPr wrap="square">
            <a:spAutoFit/>
          </a:bodyPr>
          <a:lstStyle/>
          <a:p>
            <a:pPr algn="ctr">
              <a:defRPr sz="900" b="0">
                <a:solidFill>
                  <a:srgbClr val="6D28D9"/>
                </a:solidFill>
                <a:latin typeface="Calibri"/>
              </a:defRPr>
            </a:pPr>
            <a:r>
              <a:t>$106K</a:t>
            </a:r>
          </a:p>
        </p:txBody>
      </p:sp>
      <p:sp>
        <p:nvSpPr>
          <p:cNvPr id="138" name="Rectangle 137"/>
          <p:cNvSpPr/>
          <p:nvPr/>
        </p:nvSpPr>
        <p:spPr>
          <a:xfrm>
            <a:off x="182880" y="3575304"/>
            <a:ext cx="10533888"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82880" y="3602736"/>
            <a:ext cx="1463040" cy="219456"/>
          </a:xfrm>
          <a:prstGeom prst="rect">
            <a:avLst/>
          </a:prstGeom>
          <a:noFill/>
        </p:spPr>
        <p:txBody>
          <a:bodyPr wrap="square">
            <a:spAutoFit/>
          </a:bodyPr>
          <a:lstStyle/>
          <a:p>
            <a:pPr algn="l">
              <a:defRPr sz="900" b="1">
                <a:solidFill>
                  <a:srgbClr val="111827"/>
                </a:solidFill>
                <a:latin typeface="Calibri"/>
              </a:defRPr>
            </a:pPr>
            <a:r>
              <a:t>Erika Cabrera</a:t>
            </a:r>
          </a:p>
        </p:txBody>
      </p:sp>
      <p:sp>
        <p:nvSpPr>
          <p:cNvPr id="140" name="TextBox 139"/>
          <p:cNvSpPr txBox="1"/>
          <p:nvPr/>
        </p:nvSpPr>
        <p:spPr>
          <a:xfrm>
            <a:off x="1645920" y="360273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41" name="TextBox 140"/>
          <p:cNvSpPr txBox="1"/>
          <p:nvPr/>
        </p:nvSpPr>
        <p:spPr>
          <a:xfrm>
            <a:off x="2423160" y="3602736"/>
            <a:ext cx="777240" cy="219456"/>
          </a:xfrm>
          <a:prstGeom prst="rect">
            <a:avLst/>
          </a:prstGeom>
          <a:noFill/>
        </p:spPr>
        <p:txBody>
          <a:bodyPr wrap="square">
            <a:spAutoFit/>
          </a:bodyPr>
          <a:lstStyle/>
          <a:p>
            <a:pPr algn="ctr">
              <a:defRPr sz="900" b="0">
                <a:solidFill>
                  <a:srgbClr val="6B7280"/>
                </a:solidFill>
                <a:latin typeface="Calibri"/>
              </a:defRPr>
            </a:pPr>
            <a:r>
              <a:t>0</a:t>
            </a:r>
          </a:p>
        </p:txBody>
      </p:sp>
      <p:sp>
        <p:nvSpPr>
          <p:cNvPr id="142" name="TextBox 141"/>
          <p:cNvSpPr txBox="1"/>
          <p:nvPr/>
        </p:nvSpPr>
        <p:spPr>
          <a:xfrm>
            <a:off x="3200400" y="3602736"/>
            <a:ext cx="777240" cy="219456"/>
          </a:xfrm>
          <a:prstGeom prst="rect">
            <a:avLst/>
          </a:prstGeom>
          <a:noFill/>
        </p:spPr>
        <p:txBody>
          <a:bodyPr wrap="square">
            <a:spAutoFit/>
          </a:bodyPr>
          <a:lstStyle/>
          <a:p>
            <a:pPr algn="ctr">
              <a:defRPr sz="900" b="0">
                <a:solidFill>
                  <a:srgbClr val="D97706"/>
                </a:solidFill>
                <a:latin typeface="Calibri"/>
              </a:defRPr>
            </a:pPr>
            <a:r>
              <a:t>3</a:t>
            </a:r>
          </a:p>
        </p:txBody>
      </p:sp>
      <p:sp>
        <p:nvSpPr>
          <p:cNvPr id="143" name="TextBox 142"/>
          <p:cNvSpPr txBox="1"/>
          <p:nvPr/>
        </p:nvSpPr>
        <p:spPr>
          <a:xfrm>
            <a:off x="3977639" y="3602736"/>
            <a:ext cx="777240" cy="219456"/>
          </a:xfrm>
          <a:prstGeom prst="rect">
            <a:avLst/>
          </a:prstGeom>
          <a:noFill/>
        </p:spPr>
        <p:txBody>
          <a:bodyPr wrap="square">
            <a:spAutoFit/>
          </a:bodyPr>
          <a:lstStyle/>
          <a:p>
            <a:pPr algn="ctr">
              <a:defRPr sz="900" b="0">
                <a:solidFill>
                  <a:srgbClr val="6B7280"/>
                </a:solidFill>
                <a:latin typeface="Calibri"/>
              </a:defRPr>
            </a:pPr>
            <a:r>
              <a:t>33</a:t>
            </a:r>
          </a:p>
        </p:txBody>
      </p:sp>
      <p:sp>
        <p:nvSpPr>
          <p:cNvPr id="144" name="TextBox 143"/>
          <p:cNvSpPr txBox="1"/>
          <p:nvPr/>
        </p:nvSpPr>
        <p:spPr>
          <a:xfrm>
            <a:off x="4754879" y="3602736"/>
            <a:ext cx="777240" cy="219456"/>
          </a:xfrm>
          <a:prstGeom prst="rect">
            <a:avLst/>
          </a:prstGeom>
          <a:noFill/>
        </p:spPr>
        <p:txBody>
          <a:bodyPr wrap="square">
            <a:spAutoFit/>
          </a:bodyPr>
          <a:lstStyle/>
          <a:p>
            <a:pPr algn="ctr">
              <a:defRPr sz="900" b="0">
                <a:solidFill>
                  <a:srgbClr val="6B7280"/>
                </a:solidFill>
                <a:latin typeface="Calibri"/>
              </a:defRPr>
            </a:pPr>
            <a:r>
              <a:t>3</a:t>
            </a:r>
          </a:p>
        </p:txBody>
      </p:sp>
      <p:sp>
        <p:nvSpPr>
          <p:cNvPr id="145" name="TextBox 144"/>
          <p:cNvSpPr txBox="1"/>
          <p:nvPr/>
        </p:nvSpPr>
        <p:spPr>
          <a:xfrm>
            <a:off x="5532119" y="3602736"/>
            <a:ext cx="822960" cy="219456"/>
          </a:xfrm>
          <a:prstGeom prst="rect">
            <a:avLst/>
          </a:prstGeom>
          <a:noFill/>
        </p:spPr>
        <p:txBody>
          <a:bodyPr wrap="square">
            <a:spAutoFit/>
          </a:bodyPr>
          <a:lstStyle/>
          <a:p>
            <a:pPr algn="ctr">
              <a:defRPr sz="900" b="0">
                <a:solidFill>
                  <a:srgbClr val="6B7280"/>
                </a:solidFill>
                <a:latin typeface="Calibri"/>
              </a:defRPr>
            </a:pPr>
            <a:r>
              <a:t>3</a:t>
            </a:r>
          </a:p>
        </p:txBody>
      </p:sp>
      <p:sp>
        <p:nvSpPr>
          <p:cNvPr id="146" name="TextBox 145"/>
          <p:cNvSpPr txBox="1"/>
          <p:nvPr/>
        </p:nvSpPr>
        <p:spPr>
          <a:xfrm>
            <a:off x="6355079" y="3602736"/>
            <a:ext cx="658368" cy="219456"/>
          </a:xfrm>
          <a:prstGeom prst="rect">
            <a:avLst/>
          </a:prstGeom>
          <a:noFill/>
        </p:spPr>
        <p:txBody>
          <a:bodyPr wrap="square">
            <a:spAutoFit/>
          </a:bodyPr>
          <a:lstStyle/>
          <a:p>
            <a:pPr algn="ctr">
              <a:defRPr sz="900" b="0">
                <a:solidFill>
                  <a:srgbClr val="111827"/>
                </a:solidFill>
                <a:latin typeface="Calibri"/>
              </a:defRPr>
            </a:pPr>
            <a:r>
              <a:t>42</a:t>
            </a:r>
          </a:p>
        </p:txBody>
      </p:sp>
      <p:sp>
        <p:nvSpPr>
          <p:cNvPr id="147" name="TextBox 146"/>
          <p:cNvSpPr txBox="1"/>
          <p:nvPr/>
        </p:nvSpPr>
        <p:spPr>
          <a:xfrm>
            <a:off x="7013447" y="3602736"/>
            <a:ext cx="868680" cy="219456"/>
          </a:xfrm>
          <a:prstGeom prst="rect">
            <a:avLst/>
          </a:prstGeom>
          <a:noFill/>
        </p:spPr>
        <p:txBody>
          <a:bodyPr wrap="square">
            <a:spAutoFit/>
          </a:bodyPr>
          <a:lstStyle/>
          <a:p>
            <a:pPr algn="ctr">
              <a:defRPr sz="900" b="0">
                <a:solidFill>
                  <a:srgbClr val="DC2626"/>
                </a:solidFill>
                <a:latin typeface="Calibri"/>
              </a:defRPr>
            </a:pPr>
            <a:r>
              <a:t>100%</a:t>
            </a:r>
          </a:p>
        </p:txBody>
      </p:sp>
      <p:sp>
        <p:nvSpPr>
          <p:cNvPr id="148" name="TextBox 147"/>
          <p:cNvSpPr txBox="1"/>
          <p:nvPr/>
        </p:nvSpPr>
        <p:spPr>
          <a:xfrm>
            <a:off x="7882127" y="3602736"/>
            <a:ext cx="1920240" cy="219456"/>
          </a:xfrm>
          <a:prstGeom prst="rect">
            <a:avLst/>
          </a:prstGeom>
          <a:noFill/>
        </p:spPr>
        <p:txBody>
          <a:bodyPr wrap="square">
            <a:spAutoFit/>
          </a:bodyPr>
          <a:lstStyle/>
          <a:p>
            <a:pPr algn="l">
              <a:defRPr sz="900" b="0">
                <a:solidFill>
                  <a:srgbClr val="111827"/>
                </a:solidFill>
                <a:latin typeface="Calibri"/>
              </a:defRPr>
            </a:pPr>
            <a:r>
              <a:t>Dubeh Insurance Inc</a:t>
            </a:r>
          </a:p>
        </p:txBody>
      </p:sp>
      <p:sp>
        <p:nvSpPr>
          <p:cNvPr id="149" name="TextBox 148"/>
          <p:cNvSpPr txBox="1"/>
          <p:nvPr/>
        </p:nvSpPr>
        <p:spPr>
          <a:xfrm>
            <a:off x="9802367" y="3602736"/>
            <a:ext cx="914400" cy="219456"/>
          </a:xfrm>
          <a:prstGeom prst="rect">
            <a:avLst/>
          </a:prstGeom>
          <a:noFill/>
        </p:spPr>
        <p:txBody>
          <a:bodyPr wrap="square">
            <a:spAutoFit/>
          </a:bodyPr>
          <a:lstStyle/>
          <a:p>
            <a:pPr algn="ctr">
              <a:defRPr sz="900" b="0">
                <a:solidFill>
                  <a:srgbClr val="065F46"/>
                </a:solidFill>
                <a:latin typeface="Calibri"/>
              </a:defRPr>
            </a:pPr>
            <a:r>
              <a:t>$26K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Q2 Forecast &amp; Trends</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6-Month GWP Trend  ·  Q2 Goal Gap per Rep  ·  BDA→BDM Pipeline  |  As of May 12, 2026</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pic>
        <p:nvPicPr>
          <p:cNvPr id="6" name="Picture 5" descr="trend_6mo.png"/>
          <p:cNvPicPr>
            <a:picLocks noChangeAspect="1"/>
          </p:cNvPicPr>
          <p:nvPr/>
        </p:nvPicPr>
        <p:blipFill>
          <a:blip r:embed="rId2"/>
          <a:stretch>
            <a:fillRect/>
          </a:stretch>
        </p:blipFill>
        <p:spPr>
          <a:xfrm>
            <a:off x="182880" y="749808"/>
            <a:ext cx="7863840" cy="3291840"/>
          </a:xfrm>
          <a:prstGeom prst="rect">
            <a:avLst/>
          </a:prstGeom>
        </p:spPr>
      </p:pic>
      <p:sp>
        <p:nvSpPr>
          <p:cNvPr id="7" name="Rectangle 6"/>
          <p:cNvSpPr/>
          <p:nvPr/>
        </p:nvSpPr>
        <p:spPr>
          <a:xfrm>
            <a:off x="8229600" y="749808"/>
            <a:ext cx="3749039"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2752" y="795528"/>
            <a:ext cx="3657600" cy="164592"/>
          </a:xfrm>
          <a:prstGeom prst="rect">
            <a:avLst/>
          </a:prstGeom>
          <a:noFill/>
        </p:spPr>
        <p:txBody>
          <a:bodyPr wrap="square">
            <a:spAutoFit/>
          </a:bodyPr>
          <a:lstStyle/>
          <a:p>
            <a:pPr algn="l">
              <a:defRPr sz="950" b="1">
                <a:solidFill>
                  <a:srgbClr val="FFFFFF"/>
                </a:solidFill>
                <a:latin typeface="Calibri"/>
              </a:defRPr>
            </a:pPr>
            <a:r>
              <a:t>Q2 GOAL GAP PER BDM</a:t>
            </a:r>
          </a:p>
        </p:txBody>
      </p:sp>
      <p:sp>
        <p:nvSpPr>
          <p:cNvPr id="9" name="TextBox 8"/>
          <p:cNvSpPr txBox="1"/>
          <p:nvPr/>
        </p:nvSpPr>
        <p:spPr>
          <a:xfrm>
            <a:off x="8229600" y="1005840"/>
            <a:ext cx="1143000" cy="182880"/>
          </a:xfrm>
          <a:prstGeom prst="rect">
            <a:avLst/>
          </a:prstGeom>
          <a:noFill/>
        </p:spPr>
        <p:txBody>
          <a:bodyPr wrap="square">
            <a:spAutoFit/>
          </a:bodyPr>
          <a:lstStyle/>
          <a:p>
            <a:pPr algn="l">
              <a:defRPr sz="850" b="1">
                <a:solidFill>
                  <a:srgbClr val="6B7280"/>
                </a:solidFill>
                <a:latin typeface="Calibri"/>
              </a:defRPr>
            </a:pPr>
            <a:r>
              <a:t>Rep</a:t>
            </a:r>
          </a:p>
        </p:txBody>
      </p:sp>
      <p:sp>
        <p:nvSpPr>
          <p:cNvPr id="10" name="TextBox 9"/>
          <p:cNvSpPr txBox="1"/>
          <p:nvPr/>
        </p:nvSpPr>
        <p:spPr>
          <a:xfrm>
            <a:off x="9372600" y="1005840"/>
            <a:ext cx="658368" cy="182880"/>
          </a:xfrm>
          <a:prstGeom prst="rect">
            <a:avLst/>
          </a:prstGeom>
          <a:noFill/>
        </p:spPr>
        <p:txBody>
          <a:bodyPr wrap="square">
            <a:spAutoFit/>
          </a:bodyPr>
          <a:lstStyle/>
          <a:p>
            <a:pPr algn="ctr">
              <a:defRPr sz="850" b="1">
                <a:solidFill>
                  <a:srgbClr val="6B7280"/>
                </a:solidFill>
                <a:latin typeface="Calibri"/>
              </a:defRPr>
            </a:pPr>
            <a:r>
              <a:t>Q2 Goal</a:t>
            </a:r>
          </a:p>
        </p:txBody>
      </p:sp>
      <p:sp>
        <p:nvSpPr>
          <p:cNvPr id="11" name="TextBox 10"/>
          <p:cNvSpPr txBox="1"/>
          <p:nvPr/>
        </p:nvSpPr>
        <p:spPr>
          <a:xfrm>
            <a:off x="10030968" y="1005840"/>
            <a:ext cx="658368" cy="182880"/>
          </a:xfrm>
          <a:prstGeom prst="rect">
            <a:avLst/>
          </a:prstGeom>
          <a:noFill/>
        </p:spPr>
        <p:txBody>
          <a:bodyPr wrap="square">
            <a:spAutoFit/>
          </a:bodyPr>
          <a:lstStyle/>
          <a:p>
            <a:pPr algn="ctr">
              <a:defRPr sz="850" b="1">
                <a:solidFill>
                  <a:srgbClr val="6B7280"/>
                </a:solidFill>
                <a:latin typeface="Calibri"/>
              </a:defRPr>
            </a:pPr>
            <a:r>
              <a:t>Q2 YTD</a:t>
            </a:r>
          </a:p>
        </p:txBody>
      </p:sp>
      <p:sp>
        <p:nvSpPr>
          <p:cNvPr id="12" name="TextBox 11"/>
          <p:cNvSpPr txBox="1"/>
          <p:nvPr/>
        </p:nvSpPr>
        <p:spPr>
          <a:xfrm>
            <a:off x="10689336" y="1005840"/>
            <a:ext cx="658368" cy="182880"/>
          </a:xfrm>
          <a:prstGeom prst="rect">
            <a:avLst/>
          </a:prstGeom>
          <a:noFill/>
        </p:spPr>
        <p:txBody>
          <a:bodyPr wrap="square">
            <a:spAutoFit/>
          </a:bodyPr>
          <a:lstStyle/>
          <a:p>
            <a:pPr algn="ctr">
              <a:defRPr sz="850" b="1">
                <a:solidFill>
                  <a:srgbClr val="6B7280"/>
                </a:solidFill>
                <a:latin typeface="Calibri"/>
              </a:defRPr>
            </a:pPr>
            <a:r>
              <a:t>Gap</a:t>
            </a:r>
          </a:p>
        </p:txBody>
      </p:sp>
      <p:sp>
        <p:nvSpPr>
          <p:cNvPr id="13" name="TextBox 12"/>
          <p:cNvSpPr txBox="1"/>
          <p:nvPr/>
        </p:nvSpPr>
        <p:spPr>
          <a:xfrm>
            <a:off x="11347704" y="1005840"/>
            <a:ext cx="658368" cy="182880"/>
          </a:xfrm>
          <a:prstGeom prst="rect">
            <a:avLst/>
          </a:prstGeom>
          <a:noFill/>
        </p:spPr>
        <p:txBody>
          <a:bodyPr wrap="square">
            <a:spAutoFit/>
          </a:bodyPr>
          <a:lstStyle/>
          <a:p>
            <a:pPr algn="ctr">
              <a:defRPr sz="850" b="1">
                <a:solidFill>
                  <a:srgbClr val="6B7280"/>
                </a:solidFill>
                <a:latin typeface="Calibri"/>
              </a:defRPr>
            </a:pPr>
            <a:r>
              <a:t>Proj. Q2</a:t>
            </a:r>
          </a:p>
        </p:txBody>
      </p:sp>
      <p:sp>
        <p:nvSpPr>
          <p:cNvPr id="14" name="TextBox 13"/>
          <p:cNvSpPr txBox="1"/>
          <p:nvPr/>
        </p:nvSpPr>
        <p:spPr>
          <a:xfrm>
            <a:off x="12006072" y="1005840"/>
            <a:ext cx="795528" cy="182880"/>
          </a:xfrm>
          <a:prstGeom prst="rect">
            <a:avLst/>
          </a:prstGeom>
          <a:noFill/>
        </p:spPr>
        <p:txBody>
          <a:bodyPr wrap="square">
            <a:spAutoFit/>
          </a:bodyPr>
          <a:lstStyle/>
          <a:p>
            <a:pPr algn="ctr">
              <a:defRPr sz="850" b="1">
                <a:solidFill>
                  <a:srgbClr val="6B7280"/>
                </a:solidFill>
                <a:latin typeface="Calibri"/>
              </a:defRPr>
            </a:pPr>
            <a:r>
              <a:t>Status</a:t>
            </a:r>
          </a:p>
        </p:txBody>
      </p:sp>
      <p:sp>
        <p:nvSpPr>
          <p:cNvPr id="15" name="Rectangle 14"/>
          <p:cNvSpPr/>
          <p:nvPr/>
        </p:nvSpPr>
        <p:spPr>
          <a:xfrm>
            <a:off x="8229600" y="1188720"/>
            <a:ext cx="457200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1188720"/>
            <a:ext cx="45720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207008"/>
            <a:ext cx="1143000" cy="201168"/>
          </a:xfrm>
          <a:prstGeom prst="rect">
            <a:avLst/>
          </a:prstGeom>
          <a:noFill/>
        </p:spPr>
        <p:txBody>
          <a:bodyPr wrap="square">
            <a:spAutoFit/>
          </a:bodyPr>
          <a:lstStyle/>
          <a:p>
            <a:pPr algn="l">
              <a:defRPr sz="900" b="1">
                <a:solidFill>
                  <a:srgbClr val="111827"/>
                </a:solidFill>
                <a:latin typeface="Calibri"/>
              </a:defRPr>
            </a:pPr>
            <a:r>
              <a:t>Derek J.</a:t>
            </a:r>
          </a:p>
        </p:txBody>
      </p:sp>
      <p:sp>
        <p:nvSpPr>
          <p:cNvPr id="18" name="TextBox 17"/>
          <p:cNvSpPr txBox="1"/>
          <p:nvPr/>
        </p:nvSpPr>
        <p:spPr>
          <a:xfrm>
            <a:off x="9372600" y="1207008"/>
            <a:ext cx="658368" cy="201168"/>
          </a:xfrm>
          <a:prstGeom prst="rect">
            <a:avLst/>
          </a:prstGeom>
          <a:noFill/>
        </p:spPr>
        <p:txBody>
          <a:bodyPr wrap="square">
            <a:spAutoFit/>
          </a:bodyPr>
          <a:lstStyle/>
          <a:p>
            <a:pPr algn="ctr">
              <a:defRPr sz="900" b="0">
                <a:solidFill>
                  <a:srgbClr val="6B7280"/>
                </a:solidFill>
                <a:latin typeface="Calibri"/>
              </a:defRPr>
            </a:pPr>
            <a:r>
              <a:t>$26.1M</a:t>
            </a:r>
          </a:p>
        </p:txBody>
      </p:sp>
      <p:sp>
        <p:nvSpPr>
          <p:cNvPr id="19" name="TextBox 18"/>
          <p:cNvSpPr txBox="1"/>
          <p:nvPr/>
        </p:nvSpPr>
        <p:spPr>
          <a:xfrm>
            <a:off x="10030968" y="1207008"/>
            <a:ext cx="658368" cy="201168"/>
          </a:xfrm>
          <a:prstGeom prst="rect">
            <a:avLst/>
          </a:prstGeom>
          <a:noFill/>
        </p:spPr>
        <p:txBody>
          <a:bodyPr wrap="square">
            <a:spAutoFit/>
          </a:bodyPr>
          <a:lstStyle/>
          <a:p>
            <a:pPr algn="ctr">
              <a:defRPr sz="900" b="0">
                <a:solidFill>
                  <a:srgbClr val="6D28D9"/>
                </a:solidFill>
                <a:latin typeface="Calibri"/>
              </a:defRPr>
            </a:pPr>
            <a:r>
              <a:t>$10.3M</a:t>
            </a:r>
          </a:p>
        </p:txBody>
      </p:sp>
      <p:sp>
        <p:nvSpPr>
          <p:cNvPr id="20" name="TextBox 19"/>
          <p:cNvSpPr txBox="1"/>
          <p:nvPr/>
        </p:nvSpPr>
        <p:spPr>
          <a:xfrm>
            <a:off x="10689336" y="1207008"/>
            <a:ext cx="658368" cy="201168"/>
          </a:xfrm>
          <a:prstGeom prst="rect">
            <a:avLst/>
          </a:prstGeom>
          <a:noFill/>
        </p:spPr>
        <p:txBody>
          <a:bodyPr wrap="square">
            <a:spAutoFit/>
          </a:bodyPr>
          <a:lstStyle/>
          <a:p>
            <a:pPr algn="ctr">
              <a:defRPr sz="900" b="0">
                <a:solidFill>
                  <a:srgbClr val="DC2626"/>
                </a:solidFill>
                <a:latin typeface="Calibri"/>
              </a:defRPr>
            </a:pPr>
            <a:r>
              <a:t>$15.9M</a:t>
            </a:r>
          </a:p>
        </p:txBody>
      </p:sp>
      <p:sp>
        <p:nvSpPr>
          <p:cNvPr id="21" name="TextBox 20"/>
          <p:cNvSpPr txBox="1"/>
          <p:nvPr/>
        </p:nvSpPr>
        <p:spPr>
          <a:xfrm>
            <a:off x="11347704" y="1207008"/>
            <a:ext cx="658368" cy="201168"/>
          </a:xfrm>
          <a:prstGeom prst="rect">
            <a:avLst/>
          </a:prstGeom>
          <a:noFill/>
        </p:spPr>
        <p:txBody>
          <a:bodyPr wrap="square">
            <a:spAutoFit/>
          </a:bodyPr>
          <a:lstStyle/>
          <a:p>
            <a:pPr algn="ctr">
              <a:defRPr sz="900" b="0">
                <a:solidFill>
                  <a:srgbClr val="111827"/>
                </a:solidFill>
                <a:latin typeface="Calibri"/>
              </a:defRPr>
            </a:pPr>
            <a:r>
              <a:t>$22.3M</a:t>
            </a:r>
          </a:p>
        </p:txBody>
      </p:sp>
      <p:sp>
        <p:nvSpPr>
          <p:cNvPr id="22" name="TextBox 21"/>
          <p:cNvSpPr txBox="1"/>
          <p:nvPr/>
        </p:nvSpPr>
        <p:spPr>
          <a:xfrm>
            <a:off x="12006072" y="1207008"/>
            <a:ext cx="795528" cy="201168"/>
          </a:xfrm>
          <a:prstGeom prst="rect">
            <a:avLst/>
          </a:prstGeom>
          <a:noFill/>
        </p:spPr>
        <p:txBody>
          <a:bodyPr wrap="square">
            <a:spAutoFit/>
          </a:bodyPr>
          <a:lstStyle/>
          <a:p>
            <a:pPr algn="ctr">
              <a:defRPr sz="900" b="0">
                <a:solidFill>
                  <a:srgbClr val="D97706"/>
                </a:solidFill>
                <a:latin typeface="Calibri"/>
              </a:defRPr>
            </a:pPr>
            <a:r>
              <a:t>At Risk</a:t>
            </a:r>
          </a:p>
        </p:txBody>
      </p:sp>
      <p:sp>
        <p:nvSpPr>
          <p:cNvPr id="23" name="Rectangle 22"/>
          <p:cNvSpPr/>
          <p:nvPr/>
        </p:nvSpPr>
        <p:spPr>
          <a:xfrm>
            <a:off x="8229600" y="1408176"/>
            <a:ext cx="4572000"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0" y="1426464"/>
            <a:ext cx="1143000" cy="201168"/>
          </a:xfrm>
          <a:prstGeom prst="rect">
            <a:avLst/>
          </a:prstGeom>
          <a:noFill/>
        </p:spPr>
        <p:txBody>
          <a:bodyPr wrap="square">
            <a:spAutoFit/>
          </a:bodyPr>
          <a:lstStyle/>
          <a:p>
            <a:pPr algn="l">
              <a:defRPr sz="900" b="1">
                <a:solidFill>
                  <a:srgbClr val="111827"/>
                </a:solidFill>
                <a:latin typeface="Calibri"/>
              </a:defRPr>
            </a:pPr>
            <a:r>
              <a:t>Christopher H.</a:t>
            </a:r>
          </a:p>
        </p:txBody>
      </p:sp>
      <p:sp>
        <p:nvSpPr>
          <p:cNvPr id="25" name="TextBox 24"/>
          <p:cNvSpPr txBox="1"/>
          <p:nvPr/>
        </p:nvSpPr>
        <p:spPr>
          <a:xfrm>
            <a:off x="9372600" y="1426464"/>
            <a:ext cx="658368" cy="201168"/>
          </a:xfrm>
          <a:prstGeom prst="rect">
            <a:avLst/>
          </a:prstGeom>
          <a:noFill/>
        </p:spPr>
        <p:txBody>
          <a:bodyPr wrap="square">
            <a:spAutoFit/>
          </a:bodyPr>
          <a:lstStyle/>
          <a:p>
            <a:pPr algn="ctr">
              <a:defRPr sz="900" b="0">
                <a:solidFill>
                  <a:srgbClr val="6B7280"/>
                </a:solidFill>
                <a:latin typeface="Calibri"/>
              </a:defRPr>
            </a:pPr>
            <a:r>
              <a:t>$12.7M</a:t>
            </a:r>
          </a:p>
        </p:txBody>
      </p:sp>
      <p:sp>
        <p:nvSpPr>
          <p:cNvPr id="26" name="TextBox 25"/>
          <p:cNvSpPr txBox="1"/>
          <p:nvPr/>
        </p:nvSpPr>
        <p:spPr>
          <a:xfrm>
            <a:off x="10030968" y="1426464"/>
            <a:ext cx="658368" cy="201168"/>
          </a:xfrm>
          <a:prstGeom prst="rect">
            <a:avLst/>
          </a:prstGeom>
          <a:noFill/>
        </p:spPr>
        <p:txBody>
          <a:bodyPr wrap="square">
            <a:spAutoFit/>
          </a:bodyPr>
          <a:lstStyle/>
          <a:p>
            <a:pPr algn="ctr">
              <a:defRPr sz="900" b="0">
                <a:solidFill>
                  <a:srgbClr val="6D28D9"/>
                </a:solidFill>
                <a:latin typeface="Calibri"/>
              </a:defRPr>
            </a:pPr>
            <a:r>
              <a:t>$5.4M</a:t>
            </a:r>
          </a:p>
        </p:txBody>
      </p:sp>
      <p:sp>
        <p:nvSpPr>
          <p:cNvPr id="27" name="TextBox 26"/>
          <p:cNvSpPr txBox="1"/>
          <p:nvPr/>
        </p:nvSpPr>
        <p:spPr>
          <a:xfrm>
            <a:off x="10689336" y="1426464"/>
            <a:ext cx="658368" cy="201168"/>
          </a:xfrm>
          <a:prstGeom prst="rect">
            <a:avLst/>
          </a:prstGeom>
          <a:noFill/>
        </p:spPr>
        <p:txBody>
          <a:bodyPr wrap="square">
            <a:spAutoFit/>
          </a:bodyPr>
          <a:lstStyle/>
          <a:p>
            <a:pPr algn="ctr">
              <a:defRPr sz="900" b="0">
                <a:solidFill>
                  <a:srgbClr val="DC2626"/>
                </a:solidFill>
                <a:latin typeface="Calibri"/>
              </a:defRPr>
            </a:pPr>
            <a:r>
              <a:t>$7.3M</a:t>
            </a:r>
          </a:p>
        </p:txBody>
      </p:sp>
      <p:sp>
        <p:nvSpPr>
          <p:cNvPr id="28" name="TextBox 27"/>
          <p:cNvSpPr txBox="1"/>
          <p:nvPr/>
        </p:nvSpPr>
        <p:spPr>
          <a:xfrm>
            <a:off x="11347704" y="1426464"/>
            <a:ext cx="658368" cy="201168"/>
          </a:xfrm>
          <a:prstGeom prst="rect">
            <a:avLst/>
          </a:prstGeom>
          <a:noFill/>
        </p:spPr>
        <p:txBody>
          <a:bodyPr wrap="square">
            <a:spAutoFit/>
          </a:bodyPr>
          <a:lstStyle/>
          <a:p>
            <a:pPr algn="ctr">
              <a:defRPr sz="900" b="0">
                <a:solidFill>
                  <a:srgbClr val="111827"/>
                </a:solidFill>
                <a:latin typeface="Calibri"/>
              </a:defRPr>
            </a:pPr>
            <a:r>
              <a:t>$11.6M</a:t>
            </a:r>
          </a:p>
        </p:txBody>
      </p:sp>
      <p:sp>
        <p:nvSpPr>
          <p:cNvPr id="29" name="TextBox 28"/>
          <p:cNvSpPr txBox="1"/>
          <p:nvPr/>
        </p:nvSpPr>
        <p:spPr>
          <a:xfrm>
            <a:off x="12006072" y="1426464"/>
            <a:ext cx="795528" cy="201168"/>
          </a:xfrm>
          <a:prstGeom prst="rect">
            <a:avLst/>
          </a:prstGeom>
          <a:noFill/>
        </p:spPr>
        <p:txBody>
          <a:bodyPr wrap="square">
            <a:spAutoFit/>
          </a:bodyPr>
          <a:lstStyle/>
          <a:p>
            <a:pPr algn="ctr">
              <a:defRPr sz="900" b="0">
                <a:solidFill>
                  <a:srgbClr val="D97706"/>
                </a:solidFill>
                <a:latin typeface="Calibri"/>
              </a:defRPr>
            </a:pPr>
            <a:r>
              <a:t>At Risk</a:t>
            </a:r>
          </a:p>
        </p:txBody>
      </p:sp>
      <p:sp>
        <p:nvSpPr>
          <p:cNvPr id="30" name="Rectangle 29"/>
          <p:cNvSpPr/>
          <p:nvPr/>
        </p:nvSpPr>
        <p:spPr>
          <a:xfrm>
            <a:off x="8229600" y="1627632"/>
            <a:ext cx="45720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0" y="1645920"/>
            <a:ext cx="1143000" cy="201168"/>
          </a:xfrm>
          <a:prstGeom prst="rect">
            <a:avLst/>
          </a:prstGeom>
          <a:noFill/>
        </p:spPr>
        <p:txBody>
          <a:bodyPr wrap="square">
            <a:spAutoFit/>
          </a:bodyPr>
          <a:lstStyle/>
          <a:p>
            <a:pPr algn="l">
              <a:defRPr sz="900" b="1">
                <a:solidFill>
                  <a:srgbClr val="111827"/>
                </a:solidFill>
                <a:latin typeface="Calibri"/>
              </a:defRPr>
            </a:pPr>
            <a:r>
              <a:t>Ron D.</a:t>
            </a:r>
          </a:p>
        </p:txBody>
      </p:sp>
      <p:sp>
        <p:nvSpPr>
          <p:cNvPr id="32" name="TextBox 31"/>
          <p:cNvSpPr txBox="1"/>
          <p:nvPr/>
        </p:nvSpPr>
        <p:spPr>
          <a:xfrm>
            <a:off x="9372600" y="1645920"/>
            <a:ext cx="658368" cy="201168"/>
          </a:xfrm>
          <a:prstGeom prst="rect">
            <a:avLst/>
          </a:prstGeom>
          <a:noFill/>
        </p:spPr>
        <p:txBody>
          <a:bodyPr wrap="square">
            <a:spAutoFit/>
          </a:bodyPr>
          <a:lstStyle/>
          <a:p>
            <a:pPr algn="ctr">
              <a:defRPr sz="900" b="0">
                <a:solidFill>
                  <a:srgbClr val="6B7280"/>
                </a:solidFill>
                <a:latin typeface="Calibri"/>
              </a:defRPr>
            </a:pPr>
            <a:r>
              <a:t>$12.0M</a:t>
            </a:r>
          </a:p>
        </p:txBody>
      </p:sp>
      <p:sp>
        <p:nvSpPr>
          <p:cNvPr id="33" name="TextBox 32"/>
          <p:cNvSpPr txBox="1"/>
          <p:nvPr/>
        </p:nvSpPr>
        <p:spPr>
          <a:xfrm>
            <a:off x="10030968" y="1645920"/>
            <a:ext cx="658368" cy="201168"/>
          </a:xfrm>
          <a:prstGeom prst="rect">
            <a:avLst/>
          </a:prstGeom>
          <a:noFill/>
        </p:spPr>
        <p:txBody>
          <a:bodyPr wrap="square">
            <a:spAutoFit/>
          </a:bodyPr>
          <a:lstStyle/>
          <a:p>
            <a:pPr algn="ctr">
              <a:defRPr sz="900" b="0">
                <a:solidFill>
                  <a:srgbClr val="6D28D9"/>
                </a:solidFill>
                <a:latin typeface="Calibri"/>
              </a:defRPr>
            </a:pPr>
            <a:r>
              <a:t>$5.7M</a:t>
            </a:r>
          </a:p>
        </p:txBody>
      </p:sp>
      <p:sp>
        <p:nvSpPr>
          <p:cNvPr id="34" name="TextBox 33"/>
          <p:cNvSpPr txBox="1"/>
          <p:nvPr/>
        </p:nvSpPr>
        <p:spPr>
          <a:xfrm>
            <a:off x="10689336" y="1645920"/>
            <a:ext cx="658368" cy="201168"/>
          </a:xfrm>
          <a:prstGeom prst="rect">
            <a:avLst/>
          </a:prstGeom>
          <a:noFill/>
        </p:spPr>
        <p:txBody>
          <a:bodyPr wrap="square">
            <a:spAutoFit/>
          </a:bodyPr>
          <a:lstStyle/>
          <a:p>
            <a:pPr algn="ctr">
              <a:defRPr sz="900" b="0">
                <a:solidFill>
                  <a:srgbClr val="DC2626"/>
                </a:solidFill>
                <a:latin typeface="Calibri"/>
              </a:defRPr>
            </a:pPr>
            <a:r>
              <a:t>$6.2M</a:t>
            </a:r>
          </a:p>
        </p:txBody>
      </p:sp>
      <p:sp>
        <p:nvSpPr>
          <p:cNvPr id="35" name="TextBox 34"/>
          <p:cNvSpPr txBox="1"/>
          <p:nvPr/>
        </p:nvSpPr>
        <p:spPr>
          <a:xfrm>
            <a:off x="11347704" y="1645920"/>
            <a:ext cx="658368" cy="201168"/>
          </a:xfrm>
          <a:prstGeom prst="rect">
            <a:avLst/>
          </a:prstGeom>
          <a:noFill/>
        </p:spPr>
        <p:txBody>
          <a:bodyPr wrap="square">
            <a:spAutoFit/>
          </a:bodyPr>
          <a:lstStyle/>
          <a:p>
            <a:pPr algn="ctr">
              <a:defRPr sz="900" b="0">
                <a:solidFill>
                  <a:srgbClr val="111827"/>
                </a:solidFill>
                <a:latin typeface="Calibri"/>
              </a:defRPr>
            </a:pPr>
            <a:r>
              <a:t>$12.4M</a:t>
            </a:r>
          </a:p>
        </p:txBody>
      </p:sp>
      <p:sp>
        <p:nvSpPr>
          <p:cNvPr id="36" name="TextBox 35"/>
          <p:cNvSpPr txBox="1"/>
          <p:nvPr/>
        </p:nvSpPr>
        <p:spPr>
          <a:xfrm>
            <a:off x="12006072" y="1645920"/>
            <a:ext cx="795528" cy="201168"/>
          </a:xfrm>
          <a:prstGeom prst="rect">
            <a:avLst/>
          </a:prstGeom>
          <a:noFill/>
        </p:spPr>
        <p:txBody>
          <a:bodyPr wrap="square">
            <a:spAutoFit/>
          </a:bodyPr>
          <a:lstStyle/>
          <a:p>
            <a:pPr algn="ctr">
              <a:defRPr sz="900" b="0">
                <a:solidFill>
                  <a:srgbClr val="059669"/>
                </a:solidFill>
                <a:latin typeface="Calibri"/>
              </a:defRPr>
            </a:pPr>
            <a:r>
              <a:t>On Track</a:t>
            </a:r>
          </a:p>
        </p:txBody>
      </p:sp>
      <p:sp>
        <p:nvSpPr>
          <p:cNvPr id="37" name="Rectangle 36"/>
          <p:cNvSpPr/>
          <p:nvPr/>
        </p:nvSpPr>
        <p:spPr>
          <a:xfrm>
            <a:off x="8229600" y="1847088"/>
            <a:ext cx="4572000"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0" y="1865376"/>
            <a:ext cx="1143000" cy="201168"/>
          </a:xfrm>
          <a:prstGeom prst="rect">
            <a:avLst/>
          </a:prstGeom>
          <a:noFill/>
        </p:spPr>
        <p:txBody>
          <a:bodyPr wrap="square">
            <a:spAutoFit/>
          </a:bodyPr>
          <a:lstStyle/>
          <a:p>
            <a:pPr algn="l">
              <a:defRPr sz="900" b="1">
                <a:solidFill>
                  <a:srgbClr val="111827"/>
                </a:solidFill>
                <a:latin typeface="Calibri"/>
              </a:defRPr>
            </a:pPr>
            <a:r>
              <a:t>Derrick L.</a:t>
            </a:r>
          </a:p>
        </p:txBody>
      </p:sp>
      <p:sp>
        <p:nvSpPr>
          <p:cNvPr id="39" name="TextBox 38"/>
          <p:cNvSpPr txBox="1"/>
          <p:nvPr/>
        </p:nvSpPr>
        <p:spPr>
          <a:xfrm>
            <a:off x="9372600" y="1865376"/>
            <a:ext cx="658368" cy="201168"/>
          </a:xfrm>
          <a:prstGeom prst="rect">
            <a:avLst/>
          </a:prstGeom>
          <a:noFill/>
        </p:spPr>
        <p:txBody>
          <a:bodyPr wrap="square">
            <a:spAutoFit/>
          </a:bodyPr>
          <a:lstStyle/>
          <a:p>
            <a:pPr algn="ctr">
              <a:defRPr sz="900" b="0">
                <a:solidFill>
                  <a:srgbClr val="6B7280"/>
                </a:solidFill>
                <a:latin typeface="Calibri"/>
              </a:defRPr>
            </a:pPr>
            <a:r>
              <a:t>$10.0M</a:t>
            </a:r>
          </a:p>
        </p:txBody>
      </p:sp>
      <p:sp>
        <p:nvSpPr>
          <p:cNvPr id="40" name="TextBox 39"/>
          <p:cNvSpPr txBox="1"/>
          <p:nvPr/>
        </p:nvSpPr>
        <p:spPr>
          <a:xfrm>
            <a:off x="10030968" y="1865376"/>
            <a:ext cx="658368" cy="201168"/>
          </a:xfrm>
          <a:prstGeom prst="rect">
            <a:avLst/>
          </a:prstGeom>
          <a:noFill/>
        </p:spPr>
        <p:txBody>
          <a:bodyPr wrap="square">
            <a:spAutoFit/>
          </a:bodyPr>
          <a:lstStyle/>
          <a:p>
            <a:pPr algn="ctr">
              <a:defRPr sz="900" b="0">
                <a:solidFill>
                  <a:srgbClr val="6D28D9"/>
                </a:solidFill>
                <a:latin typeface="Calibri"/>
              </a:defRPr>
            </a:pPr>
            <a:r>
              <a:t>$3.2M</a:t>
            </a:r>
          </a:p>
        </p:txBody>
      </p:sp>
      <p:sp>
        <p:nvSpPr>
          <p:cNvPr id="41" name="TextBox 40"/>
          <p:cNvSpPr txBox="1"/>
          <p:nvPr/>
        </p:nvSpPr>
        <p:spPr>
          <a:xfrm>
            <a:off x="10689336" y="1865376"/>
            <a:ext cx="658368" cy="201168"/>
          </a:xfrm>
          <a:prstGeom prst="rect">
            <a:avLst/>
          </a:prstGeom>
          <a:noFill/>
        </p:spPr>
        <p:txBody>
          <a:bodyPr wrap="square">
            <a:spAutoFit/>
          </a:bodyPr>
          <a:lstStyle/>
          <a:p>
            <a:pPr algn="ctr">
              <a:defRPr sz="900" b="0">
                <a:solidFill>
                  <a:srgbClr val="DC2626"/>
                </a:solidFill>
                <a:latin typeface="Calibri"/>
              </a:defRPr>
            </a:pPr>
            <a:r>
              <a:t>$6.8M</a:t>
            </a:r>
          </a:p>
        </p:txBody>
      </p:sp>
      <p:sp>
        <p:nvSpPr>
          <p:cNvPr id="42" name="TextBox 41"/>
          <p:cNvSpPr txBox="1"/>
          <p:nvPr/>
        </p:nvSpPr>
        <p:spPr>
          <a:xfrm>
            <a:off x="11347704" y="1865376"/>
            <a:ext cx="658368" cy="201168"/>
          </a:xfrm>
          <a:prstGeom prst="rect">
            <a:avLst/>
          </a:prstGeom>
          <a:noFill/>
        </p:spPr>
        <p:txBody>
          <a:bodyPr wrap="square">
            <a:spAutoFit/>
          </a:bodyPr>
          <a:lstStyle/>
          <a:p>
            <a:pPr algn="ctr">
              <a:defRPr sz="900" b="0">
                <a:solidFill>
                  <a:srgbClr val="111827"/>
                </a:solidFill>
                <a:latin typeface="Calibri"/>
              </a:defRPr>
            </a:pPr>
            <a:r>
              <a:t>$6.8M</a:t>
            </a:r>
          </a:p>
        </p:txBody>
      </p:sp>
      <p:sp>
        <p:nvSpPr>
          <p:cNvPr id="43" name="TextBox 42"/>
          <p:cNvSpPr txBox="1"/>
          <p:nvPr/>
        </p:nvSpPr>
        <p:spPr>
          <a:xfrm>
            <a:off x="12006072" y="1865376"/>
            <a:ext cx="795528" cy="201168"/>
          </a:xfrm>
          <a:prstGeom prst="rect">
            <a:avLst/>
          </a:prstGeom>
          <a:noFill/>
        </p:spPr>
        <p:txBody>
          <a:bodyPr wrap="square">
            <a:spAutoFit/>
          </a:bodyPr>
          <a:lstStyle/>
          <a:p>
            <a:pPr algn="ctr">
              <a:defRPr sz="900" b="0">
                <a:solidFill>
                  <a:srgbClr val="DC2626"/>
                </a:solidFill>
                <a:latin typeface="Calibri"/>
              </a:defRPr>
            </a:pPr>
            <a:r>
              <a:t>Behind</a:t>
            </a:r>
          </a:p>
        </p:txBody>
      </p:sp>
      <p:sp>
        <p:nvSpPr>
          <p:cNvPr id="44" name="Rectangle 43"/>
          <p:cNvSpPr/>
          <p:nvPr/>
        </p:nvSpPr>
        <p:spPr>
          <a:xfrm>
            <a:off x="8229600" y="2066544"/>
            <a:ext cx="4572000"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0" y="2084832"/>
            <a:ext cx="1143000" cy="201168"/>
          </a:xfrm>
          <a:prstGeom prst="rect">
            <a:avLst/>
          </a:prstGeom>
          <a:noFill/>
        </p:spPr>
        <p:txBody>
          <a:bodyPr wrap="square">
            <a:spAutoFit/>
          </a:bodyPr>
          <a:lstStyle/>
          <a:p>
            <a:pPr algn="l">
              <a:defRPr sz="900" b="1">
                <a:solidFill>
                  <a:srgbClr val="111827"/>
                </a:solidFill>
                <a:latin typeface="Calibri"/>
              </a:defRPr>
            </a:pPr>
            <a:r>
              <a:t>Alexis B.</a:t>
            </a:r>
          </a:p>
        </p:txBody>
      </p:sp>
      <p:sp>
        <p:nvSpPr>
          <p:cNvPr id="46" name="TextBox 45"/>
          <p:cNvSpPr txBox="1"/>
          <p:nvPr/>
        </p:nvSpPr>
        <p:spPr>
          <a:xfrm>
            <a:off x="9372600" y="2084832"/>
            <a:ext cx="658368" cy="201168"/>
          </a:xfrm>
          <a:prstGeom prst="rect">
            <a:avLst/>
          </a:prstGeom>
          <a:noFill/>
        </p:spPr>
        <p:txBody>
          <a:bodyPr wrap="square">
            <a:spAutoFit/>
          </a:bodyPr>
          <a:lstStyle/>
          <a:p>
            <a:pPr algn="ctr">
              <a:defRPr sz="900" b="0">
                <a:solidFill>
                  <a:srgbClr val="6B7280"/>
                </a:solidFill>
                <a:latin typeface="Calibri"/>
              </a:defRPr>
            </a:pPr>
            <a:r>
              <a:t>$1.8M</a:t>
            </a:r>
          </a:p>
        </p:txBody>
      </p:sp>
      <p:sp>
        <p:nvSpPr>
          <p:cNvPr id="47" name="TextBox 46"/>
          <p:cNvSpPr txBox="1"/>
          <p:nvPr/>
        </p:nvSpPr>
        <p:spPr>
          <a:xfrm>
            <a:off x="10030968" y="2084832"/>
            <a:ext cx="658368" cy="201168"/>
          </a:xfrm>
          <a:prstGeom prst="rect">
            <a:avLst/>
          </a:prstGeom>
          <a:noFill/>
        </p:spPr>
        <p:txBody>
          <a:bodyPr wrap="square">
            <a:spAutoFit/>
          </a:bodyPr>
          <a:lstStyle/>
          <a:p>
            <a:pPr algn="ctr">
              <a:defRPr sz="900" b="0">
                <a:solidFill>
                  <a:srgbClr val="6D28D9"/>
                </a:solidFill>
                <a:latin typeface="Calibri"/>
              </a:defRPr>
            </a:pPr>
            <a:r>
              <a:t>$2.6M</a:t>
            </a:r>
          </a:p>
        </p:txBody>
      </p:sp>
      <p:sp>
        <p:nvSpPr>
          <p:cNvPr id="48" name="TextBox 47"/>
          <p:cNvSpPr txBox="1"/>
          <p:nvPr/>
        </p:nvSpPr>
        <p:spPr>
          <a:xfrm>
            <a:off x="10689336" y="2084832"/>
            <a:ext cx="658368" cy="201168"/>
          </a:xfrm>
          <a:prstGeom prst="rect">
            <a:avLst/>
          </a:prstGeom>
          <a:noFill/>
        </p:spPr>
        <p:txBody>
          <a:bodyPr wrap="square">
            <a:spAutoFit/>
          </a:bodyPr>
          <a:lstStyle/>
          <a:p>
            <a:pPr algn="ctr">
              <a:defRPr sz="900" b="0">
                <a:solidFill>
                  <a:srgbClr val="059669"/>
                </a:solidFill>
                <a:latin typeface="Calibri"/>
              </a:defRPr>
            </a:pPr>
            <a:r>
              <a:t>$-864102</a:t>
            </a:r>
          </a:p>
        </p:txBody>
      </p:sp>
      <p:sp>
        <p:nvSpPr>
          <p:cNvPr id="49" name="TextBox 48"/>
          <p:cNvSpPr txBox="1"/>
          <p:nvPr/>
        </p:nvSpPr>
        <p:spPr>
          <a:xfrm>
            <a:off x="11347704" y="2084832"/>
            <a:ext cx="658368" cy="201168"/>
          </a:xfrm>
          <a:prstGeom prst="rect">
            <a:avLst/>
          </a:prstGeom>
          <a:noFill/>
        </p:spPr>
        <p:txBody>
          <a:bodyPr wrap="square">
            <a:spAutoFit/>
          </a:bodyPr>
          <a:lstStyle/>
          <a:p>
            <a:pPr algn="ctr">
              <a:defRPr sz="900" b="0">
                <a:solidFill>
                  <a:srgbClr val="111827"/>
                </a:solidFill>
                <a:latin typeface="Calibri"/>
              </a:defRPr>
            </a:pPr>
            <a:r>
              <a:t>$5.7M</a:t>
            </a:r>
          </a:p>
        </p:txBody>
      </p:sp>
      <p:sp>
        <p:nvSpPr>
          <p:cNvPr id="50" name="TextBox 49"/>
          <p:cNvSpPr txBox="1"/>
          <p:nvPr/>
        </p:nvSpPr>
        <p:spPr>
          <a:xfrm>
            <a:off x="12006072" y="2084832"/>
            <a:ext cx="795528" cy="201168"/>
          </a:xfrm>
          <a:prstGeom prst="rect">
            <a:avLst/>
          </a:prstGeom>
          <a:noFill/>
        </p:spPr>
        <p:txBody>
          <a:bodyPr wrap="square">
            <a:spAutoFit/>
          </a:bodyPr>
          <a:lstStyle/>
          <a:p>
            <a:pPr algn="ctr">
              <a:defRPr sz="900" b="0">
                <a:solidFill>
                  <a:srgbClr val="059669"/>
                </a:solidFill>
                <a:latin typeface="Calibri"/>
              </a:defRPr>
            </a:pPr>
            <a:r>
              <a:t>On Track</a:t>
            </a:r>
          </a:p>
        </p:txBody>
      </p:sp>
      <p:sp>
        <p:nvSpPr>
          <p:cNvPr id="51" name="Rectangle 50"/>
          <p:cNvSpPr/>
          <p:nvPr/>
        </p:nvSpPr>
        <p:spPr>
          <a:xfrm>
            <a:off x="8229600" y="2286000"/>
            <a:ext cx="4572000" cy="237744"/>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0" y="2304288"/>
            <a:ext cx="1143000" cy="201168"/>
          </a:xfrm>
          <a:prstGeom prst="rect">
            <a:avLst/>
          </a:prstGeom>
          <a:noFill/>
        </p:spPr>
        <p:txBody>
          <a:bodyPr wrap="square">
            <a:spAutoFit/>
          </a:bodyPr>
          <a:lstStyle/>
          <a:p>
            <a:pPr algn="l">
              <a:defRPr sz="900" b="1">
                <a:solidFill>
                  <a:srgbClr val="111827"/>
                </a:solidFill>
                <a:latin typeface="Calibri"/>
              </a:defRPr>
            </a:pPr>
            <a:r>
              <a:t>Westy M.</a:t>
            </a:r>
          </a:p>
        </p:txBody>
      </p:sp>
      <p:sp>
        <p:nvSpPr>
          <p:cNvPr id="53" name="TextBox 52"/>
          <p:cNvSpPr txBox="1"/>
          <p:nvPr/>
        </p:nvSpPr>
        <p:spPr>
          <a:xfrm>
            <a:off x="9372600" y="2304288"/>
            <a:ext cx="658368" cy="201168"/>
          </a:xfrm>
          <a:prstGeom prst="rect">
            <a:avLst/>
          </a:prstGeom>
          <a:noFill/>
        </p:spPr>
        <p:txBody>
          <a:bodyPr wrap="square">
            <a:spAutoFit/>
          </a:bodyPr>
          <a:lstStyle/>
          <a:p>
            <a:pPr algn="ctr">
              <a:defRPr sz="900" b="0">
                <a:solidFill>
                  <a:srgbClr val="6B7280"/>
                </a:solidFill>
                <a:latin typeface="Calibri"/>
              </a:defRPr>
            </a:pPr>
            <a:r>
              <a:t>$870K</a:t>
            </a:r>
          </a:p>
        </p:txBody>
      </p:sp>
      <p:sp>
        <p:nvSpPr>
          <p:cNvPr id="54" name="TextBox 53"/>
          <p:cNvSpPr txBox="1"/>
          <p:nvPr/>
        </p:nvSpPr>
        <p:spPr>
          <a:xfrm>
            <a:off x="10030968" y="2304288"/>
            <a:ext cx="658368" cy="201168"/>
          </a:xfrm>
          <a:prstGeom prst="rect">
            <a:avLst/>
          </a:prstGeom>
          <a:noFill/>
        </p:spPr>
        <p:txBody>
          <a:bodyPr wrap="square">
            <a:spAutoFit/>
          </a:bodyPr>
          <a:lstStyle/>
          <a:p>
            <a:pPr algn="ctr">
              <a:defRPr sz="900" b="0">
                <a:solidFill>
                  <a:srgbClr val="6D28D9"/>
                </a:solidFill>
                <a:latin typeface="Calibri"/>
              </a:defRPr>
            </a:pPr>
            <a:r>
              <a:t>$67K</a:t>
            </a:r>
          </a:p>
        </p:txBody>
      </p:sp>
      <p:sp>
        <p:nvSpPr>
          <p:cNvPr id="55" name="TextBox 54"/>
          <p:cNvSpPr txBox="1"/>
          <p:nvPr/>
        </p:nvSpPr>
        <p:spPr>
          <a:xfrm>
            <a:off x="10689336" y="2304288"/>
            <a:ext cx="658368" cy="201168"/>
          </a:xfrm>
          <a:prstGeom prst="rect">
            <a:avLst/>
          </a:prstGeom>
          <a:noFill/>
        </p:spPr>
        <p:txBody>
          <a:bodyPr wrap="square">
            <a:spAutoFit/>
          </a:bodyPr>
          <a:lstStyle/>
          <a:p>
            <a:pPr algn="ctr">
              <a:defRPr sz="900" b="0">
                <a:solidFill>
                  <a:srgbClr val="DC2626"/>
                </a:solidFill>
                <a:latin typeface="Calibri"/>
              </a:defRPr>
            </a:pPr>
            <a:r>
              <a:t>$802K</a:t>
            </a:r>
          </a:p>
        </p:txBody>
      </p:sp>
      <p:sp>
        <p:nvSpPr>
          <p:cNvPr id="56" name="TextBox 55"/>
          <p:cNvSpPr txBox="1"/>
          <p:nvPr/>
        </p:nvSpPr>
        <p:spPr>
          <a:xfrm>
            <a:off x="11347704" y="2304288"/>
            <a:ext cx="658368" cy="201168"/>
          </a:xfrm>
          <a:prstGeom prst="rect">
            <a:avLst/>
          </a:prstGeom>
          <a:noFill/>
        </p:spPr>
        <p:txBody>
          <a:bodyPr wrap="square">
            <a:spAutoFit/>
          </a:bodyPr>
          <a:lstStyle/>
          <a:p>
            <a:pPr algn="ctr">
              <a:defRPr sz="900" b="0">
                <a:solidFill>
                  <a:srgbClr val="111827"/>
                </a:solidFill>
                <a:latin typeface="Calibri"/>
              </a:defRPr>
            </a:pPr>
            <a:r>
              <a:t>$146K</a:t>
            </a:r>
          </a:p>
        </p:txBody>
      </p:sp>
      <p:sp>
        <p:nvSpPr>
          <p:cNvPr id="57" name="TextBox 56"/>
          <p:cNvSpPr txBox="1"/>
          <p:nvPr/>
        </p:nvSpPr>
        <p:spPr>
          <a:xfrm>
            <a:off x="12006072" y="2304288"/>
            <a:ext cx="795528" cy="201168"/>
          </a:xfrm>
          <a:prstGeom prst="rect">
            <a:avLst/>
          </a:prstGeom>
          <a:noFill/>
        </p:spPr>
        <p:txBody>
          <a:bodyPr wrap="square">
            <a:spAutoFit/>
          </a:bodyPr>
          <a:lstStyle/>
          <a:p>
            <a:pPr algn="ctr">
              <a:defRPr sz="900" b="0">
                <a:solidFill>
                  <a:srgbClr val="DC2626"/>
                </a:solidFill>
                <a:latin typeface="Calibri"/>
              </a:defRPr>
            </a:pPr>
            <a:r>
              <a:t>Behind</a:t>
            </a:r>
          </a:p>
        </p:txBody>
      </p:sp>
      <p:sp>
        <p:nvSpPr>
          <p:cNvPr id="58" name="Rectangle 57"/>
          <p:cNvSpPr/>
          <p:nvPr/>
        </p:nvSpPr>
        <p:spPr>
          <a:xfrm>
            <a:off x="182880" y="4160520"/>
            <a:ext cx="11795760" cy="219456"/>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74320" y="4206240"/>
            <a:ext cx="11612880" cy="146304"/>
          </a:xfrm>
          <a:prstGeom prst="rect">
            <a:avLst/>
          </a:prstGeom>
          <a:noFill/>
        </p:spPr>
        <p:txBody>
          <a:bodyPr wrap="square">
            <a:spAutoFit/>
          </a:bodyPr>
          <a:lstStyle/>
          <a:p>
            <a:pPr algn="l">
              <a:defRPr sz="950" b="1">
                <a:solidFill>
                  <a:srgbClr val="FFFFFF"/>
                </a:solidFill>
                <a:latin typeface="Calibri"/>
              </a:defRPr>
            </a:pPr>
            <a:r>
              <a:t>BDA→BDM PIPELINE  —  Agencies with both a BDA (onboarding) and BDM (owner) assignment</a:t>
            </a:r>
          </a:p>
        </p:txBody>
      </p:sp>
      <p:sp>
        <p:nvSpPr>
          <p:cNvPr id="60" name="TextBox 59"/>
          <p:cNvSpPr txBox="1"/>
          <p:nvPr/>
        </p:nvSpPr>
        <p:spPr>
          <a:xfrm>
            <a:off x="182880" y="4398264"/>
            <a:ext cx="3474720" cy="182880"/>
          </a:xfrm>
          <a:prstGeom prst="rect">
            <a:avLst/>
          </a:prstGeom>
          <a:noFill/>
        </p:spPr>
        <p:txBody>
          <a:bodyPr wrap="square">
            <a:spAutoFit/>
          </a:bodyPr>
          <a:lstStyle/>
          <a:p>
            <a:pPr algn="l">
              <a:defRPr sz="850" b="1">
                <a:solidFill>
                  <a:srgbClr val="6B7280"/>
                </a:solidFill>
                <a:latin typeface="Calibri"/>
              </a:defRPr>
            </a:pPr>
            <a:r>
              <a:t>Agency</a:t>
            </a:r>
          </a:p>
        </p:txBody>
      </p:sp>
      <p:sp>
        <p:nvSpPr>
          <p:cNvPr id="61" name="TextBox 60"/>
          <p:cNvSpPr txBox="1"/>
          <p:nvPr/>
        </p:nvSpPr>
        <p:spPr>
          <a:xfrm>
            <a:off x="3657600" y="4398264"/>
            <a:ext cx="2011680" cy="182880"/>
          </a:xfrm>
          <a:prstGeom prst="rect">
            <a:avLst/>
          </a:prstGeom>
          <a:noFill/>
        </p:spPr>
        <p:txBody>
          <a:bodyPr wrap="square">
            <a:spAutoFit/>
          </a:bodyPr>
          <a:lstStyle/>
          <a:p>
            <a:pPr algn="l">
              <a:defRPr sz="850" b="1">
                <a:solidFill>
                  <a:srgbClr val="6B7280"/>
                </a:solidFill>
                <a:latin typeface="Calibri"/>
              </a:defRPr>
            </a:pPr>
            <a:r>
              <a:t>BDA (Onboarding)</a:t>
            </a:r>
          </a:p>
        </p:txBody>
      </p:sp>
      <p:sp>
        <p:nvSpPr>
          <p:cNvPr id="62" name="TextBox 61"/>
          <p:cNvSpPr txBox="1"/>
          <p:nvPr/>
        </p:nvSpPr>
        <p:spPr>
          <a:xfrm>
            <a:off x="5669280" y="4398264"/>
            <a:ext cx="2011680" cy="182880"/>
          </a:xfrm>
          <a:prstGeom prst="rect">
            <a:avLst/>
          </a:prstGeom>
          <a:noFill/>
        </p:spPr>
        <p:txBody>
          <a:bodyPr wrap="square">
            <a:spAutoFit/>
          </a:bodyPr>
          <a:lstStyle/>
          <a:p>
            <a:pPr algn="l">
              <a:defRPr sz="850" b="1">
                <a:solidFill>
                  <a:srgbClr val="6B7280"/>
                </a:solidFill>
                <a:latin typeface="Calibri"/>
              </a:defRPr>
            </a:pPr>
            <a:r>
              <a:t>BDM (Owner)</a:t>
            </a:r>
          </a:p>
        </p:txBody>
      </p:sp>
      <p:sp>
        <p:nvSpPr>
          <p:cNvPr id="63" name="TextBox 62"/>
          <p:cNvSpPr txBox="1"/>
          <p:nvPr/>
        </p:nvSpPr>
        <p:spPr>
          <a:xfrm>
            <a:off x="7680960" y="4398264"/>
            <a:ext cx="1188720" cy="182880"/>
          </a:xfrm>
          <a:prstGeom prst="rect">
            <a:avLst/>
          </a:prstGeom>
          <a:noFill/>
        </p:spPr>
        <p:txBody>
          <a:bodyPr wrap="square">
            <a:spAutoFit/>
          </a:bodyPr>
          <a:lstStyle/>
          <a:p>
            <a:pPr algn="ctr">
              <a:defRPr sz="850" b="1">
                <a:solidFill>
                  <a:srgbClr val="6B7280"/>
                </a:solidFill>
                <a:latin typeface="Calibri"/>
              </a:defRPr>
            </a:pPr>
            <a:r>
              <a:t>Q1 GWP</a:t>
            </a:r>
          </a:p>
        </p:txBody>
      </p:sp>
      <p:sp>
        <p:nvSpPr>
          <p:cNvPr id="64" name="TextBox 63"/>
          <p:cNvSpPr txBox="1"/>
          <p:nvPr/>
        </p:nvSpPr>
        <p:spPr>
          <a:xfrm>
            <a:off x="8869680" y="4398264"/>
            <a:ext cx="1188720" cy="182880"/>
          </a:xfrm>
          <a:prstGeom prst="rect">
            <a:avLst/>
          </a:prstGeom>
          <a:noFill/>
        </p:spPr>
        <p:txBody>
          <a:bodyPr wrap="square">
            <a:spAutoFit/>
          </a:bodyPr>
          <a:lstStyle/>
          <a:p>
            <a:pPr algn="ctr">
              <a:defRPr sz="850" b="1">
                <a:solidFill>
                  <a:srgbClr val="6B7280"/>
                </a:solidFill>
                <a:latin typeface="Calibri"/>
              </a:defRPr>
            </a:pPr>
            <a:r>
              <a:t>Q2 GWP</a:t>
            </a:r>
          </a:p>
        </p:txBody>
      </p:sp>
      <p:sp>
        <p:nvSpPr>
          <p:cNvPr id="65" name="TextBox 64"/>
          <p:cNvSpPr txBox="1"/>
          <p:nvPr/>
        </p:nvSpPr>
        <p:spPr>
          <a:xfrm>
            <a:off x="10058400" y="4398264"/>
            <a:ext cx="1920240" cy="182880"/>
          </a:xfrm>
          <a:prstGeom prst="rect">
            <a:avLst/>
          </a:prstGeom>
          <a:noFill/>
        </p:spPr>
        <p:txBody>
          <a:bodyPr wrap="square">
            <a:spAutoFit/>
          </a:bodyPr>
          <a:lstStyle/>
          <a:p>
            <a:pPr algn="ctr">
              <a:defRPr sz="850" b="1">
                <a:solidFill>
                  <a:srgbClr val="6B7280"/>
                </a:solidFill>
                <a:latin typeface="Calibri"/>
              </a:defRPr>
            </a:pPr>
            <a:r>
              <a:t>Status</a:t>
            </a:r>
          </a:p>
        </p:txBody>
      </p:sp>
      <p:sp>
        <p:nvSpPr>
          <p:cNvPr id="66" name="Rectangle 65"/>
          <p:cNvSpPr/>
          <p:nvPr/>
        </p:nvSpPr>
        <p:spPr>
          <a:xfrm>
            <a:off x="182880" y="4581144"/>
            <a:ext cx="117957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82880" y="4581144"/>
            <a:ext cx="11795760" cy="2194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82880" y="4599431"/>
            <a:ext cx="3474720" cy="182880"/>
          </a:xfrm>
          <a:prstGeom prst="rect">
            <a:avLst/>
          </a:prstGeom>
          <a:noFill/>
        </p:spPr>
        <p:txBody>
          <a:bodyPr wrap="square">
            <a:spAutoFit/>
          </a:bodyPr>
          <a:lstStyle/>
          <a:p>
            <a:pPr algn="l">
              <a:defRPr sz="900" b="1">
                <a:solidFill>
                  <a:srgbClr val="111827"/>
                </a:solidFill>
                <a:latin typeface="Calibri"/>
              </a:defRPr>
            </a:pPr>
            <a:r>
              <a:t>Vantage Ins Llc</a:t>
            </a:r>
          </a:p>
        </p:txBody>
      </p:sp>
      <p:sp>
        <p:nvSpPr>
          <p:cNvPr id="69" name="TextBox 68"/>
          <p:cNvSpPr txBox="1"/>
          <p:nvPr/>
        </p:nvSpPr>
        <p:spPr>
          <a:xfrm>
            <a:off x="3657600" y="4599431"/>
            <a:ext cx="2011680" cy="182880"/>
          </a:xfrm>
          <a:prstGeom prst="rect">
            <a:avLst/>
          </a:prstGeom>
          <a:noFill/>
        </p:spPr>
        <p:txBody>
          <a:bodyPr wrap="square">
            <a:spAutoFit/>
          </a:bodyPr>
          <a:lstStyle/>
          <a:p>
            <a:pPr algn="l">
              <a:defRPr sz="900" b="0">
                <a:solidFill>
                  <a:srgbClr val="065F46"/>
                </a:solidFill>
                <a:latin typeface="Calibri"/>
              </a:defRPr>
            </a:pPr>
            <a:r>
              <a:t>Portia Lewis</a:t>
            </a:r>
          </a:p>
        </p:txBody>
      </p:sp>
      <p:sp>
        <p:nvSpPr>
          <p:cNvPr id="70" name="TextBox 69"/>
          <p:cNvSpPr txBox="1"/>
          <p:nvPr/>
        </p:nvSpPr>
        <p:spPr>
          <a:xfrm>
            <a:off x="5669280" y="4599431"/>
            <a:ext cx="2011680" cy="182880"/>
          </a:xfrm>
          <a:prstGeom prst="rect">
            <a:avLst/>
          </a:prstGeom>
          <a:noFill/>
        </p:spPr>
        <p:txBody>
          <a:bodyPr wrap="square">
            <a:spAutoFit/>
          </a:bodyPr>
          <a:lstStyle/>
          <a:p>
            <a:pPr algn="l">
              <a:defRPr sz="900" b="0">
                <a:solidFill>
                  <a:srgbClr val="6D28D9"/>
                </a:solidFill>
                <a:latin typeface="Calibri"/>
              </a:defRPr>
            </a:pPr>
            <a:r>
              <a:t>Ron Douglas</a:t>
            </a:r>
          </a:p>
        </p:txBody>
      </p:sp>
      <p:sp>
        <p:nvSpPr>
          <p:cNvPr id="71" name="TextBox 70"/>
          <p:cNvSpPr txBox="1"/>
          <p:nvPr/>
        </p:nvSpPr>
        <p:spPr>
          <a:xfrm>
            <a:off x="7680960" y="4599431"/>
            <a:ext cx="1188720" cy="182880"/>
          </a:xfrm>
          <a:prstGeom prst="rect">
            <a:avLst/>
          </a:prstGeom>
          <a:noFill/>
        </p:spPr>
        <p:txBody>
          <a:bodyPr wrap="square">
            <a:spAutoFit/>
          </a:bodyPr>
          <a:lstStyle/>
          <a:p>
            <a:pPr algn="ctr">
              <a:defRPr sz="900" b="0">
                <a:solidFill>
                  <a:srgbClr val="6B7280"/>
                </a:solidFill>
                <a:latin typeface="Calibri"/>
              </a:defRPr>
            </a:pPr>
            <a:r>
              <a:t>$396K</a:t>
            </a:r>
          </a:p>
        </p:txBody>
      </p:sp>
      <p:sp>
        <p:nvSpPr>
          <p:cNvPr id="72" name="TextBox 71"/>
          <p:cNvSpPr txBox="1"/>
          <p:nvPr/>
        </p:nvSpPr>
        <p:spPr>
          <a:xfrm>
            <a:off x="8869680" y="4599431"/>
            <a:ext cx="1188720" cy="182880"/>
          </a:xfrm>
          <a:prstGeom prst="rect">
            <a:avLst/>
          </a:prstGeom>
          <a:noFill/>
        </p:spPr>
        <p:txBody>
          <a:bodyPr wrap="square">
            <a:spAutoFit/>
          </a:bodyPr>
          <a:lstStyle/>
          <a:p>
            <a:pPr algn="ctr">
              <a:defRPr sz="900" b="0">
                <a:solidFill>
                  <a:srgbClr val="059669"/>
                </a:solidFill>
                <a:latin typeface="Calibri"/>
              </a:defRPr>
            </a:pPr>
            <a:r>
              <a:t>$218K</a:t>
            </a:r>
          </a:p>
        </p:txBody>
      </p:sp>
      <p:sp>
        <p:nvSpPr>
          <p:cNvPr id="73" name="TextBox 72"/>
          <p:cNvSpPr txBox="1"/>
          <p:nvPr/>
        </p:nvSpPr>
        <p:spPr>
          <a:xfrm>
            <a:off x="10058400" y="4599431"/>
            <a:ext cx="1920240" cy="182880"/>
          </a:xfrm>
          <a:prstGeom prst="rect">
            <a:avLst/>
          </a:prstGeom>
          <a:noFill/>
        </p:spPr>
        <p:txBody>
          <a:bodyPr wrap="square">
            <a:spAutoFit/>
          </a:bodyPr>
          <a:lstStyle/>
          <a:p>
            <a:pPr algn="ctr">
              <a:defRPr sz="900" b="0">
                <a:solidFill>
                  <a:srgbClr val="059669"/>
                </a:solidFill>
                <a:latin typeface="Calibri"/>
              </a:defRPr>
            </a:pPr>
            <a:r>
              <a:t>Active</a:t>
            </a:r>
          </a:p>
        </p:txBody>
      </p:sp>
      <p:sp>
        <p:nvSpPr>
          <p:cNvPr id="74" name="Rectangle 73"/>
          <p:cNvSpPr/>
          <p:nvPr/>
        </p:nvSpPr>
        <p:spPr>
          <a:xfrm>
            <a:off x="182880" y="4782312"/>
            <a:ext cx="11795760" cy="219456"/>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82880" y="4800599"/>
            <a:ext cx="3474720" cy="182880"/>
          </a:xfrm>
          <a:prstGeom prst="rect">
            <a:avLst/>
          </a:prstGeom>
          <a:noFill/>
        </p:spPr>
        <p:txBody>
          <a:bodyPr wrap="square">
            <a:spAutoFit/>
          </a:bodyPr>
          <a:lstStyle/>
          <a:p>
            <a:pPr algn="l">
              <a:defRPr sz="900" b="1">
                <a:solidFill>
                  <a:srgbClr val="111827"/>
                </a:solidFill>
                <a:latin typeface="Calibri"/>
              </a:defRPr>
            </a:pPr>
            <a:r>
              <a:t>Dream Assurance Llc</a:t>
            </a:r>
          </a:p>
        </p:txBody>
      </p:sp>
      <p:sp>
        <p:nvSpPr>
          <p:cNvPr id="76" name="TextBox 75"/>
          <p:cNvSpPr txBox="1"/>
          <p:nvPr/>
        </p:nvSpPr>
        <p:spPr>
          <a:xfrm>
            <a:off x="3657600" y="4800599"/>
            <a:ext cx="2011680" cy="182880"/>
          </a:xfrm>
          <a:prstGeom prst="rect">
            <a:avLst/>
          </a:prstGeom>
          <a:noFill/>
        </p:spPr>
        <p:txBody>
          <a:bodyPr wrap="square">
            <a:spAutoFit/>
          </a:bodyPr>
          <a:lstStyle/>
          <a:p>
            <a:pPr algn="l">
              <a:defRPr sz="900" b="0">
                <a:solidFill>
                  <a:srgbClr val="065F46"/>
                </a:solidFill>
                <a:latin typeface="Calibri"/>
              </a:defRPr>
            </a:pPr>
            <a:r>
              <a:t>Kurt Butterfield</a:t>
            </a:r>
          </a:p>
        </p:txBody>
      </p:sp>
      <p:sp>
        <p:nvSpPr>
          <p:cNvPr id="77" name="TextBox 76"/>
          <p:cNvSpPr txBox="1"/>
          <p:nvPr/>
        </p:nvSpPr>
        <p:spPr>
          <a:xfrm>
            <a:off x="5669280" y="4800599"/>
            <a:ext cx="2011680" cy="182880"/>
          </a:xfrm>
          <a:prstGeom prst="rect">
            <a:avLst/>
          </a:prstGeom>
          <a:noFill/>
        </p:spPr>
        <p:txBody>
          <a:bodyPr wrap="square">
            <a:spAutoFit/>
          </a:bodyPr>
          <a:lstStyle/>
          <a:p>
            <a:pPr algn="l">
              <a:defRPr sz="900" b="0">
                <a:solidFill>
                  <a:srgbClr val="6D28D9"/>
                </a:solidFill>
                <a:latin typeface="Calibri"/>
              </a:defRPr>
            </a:pPr>
            <a:r>
              <a:t>Derrick Leroy</a:t>
            </a:r>
          </a:p>
        </p:txBody>
      </p:sp>
      <p:sp>
        <p:nvSpPr>
          <p:cNvPr id="78" name="TextBox 77"/>
          <p:cNvSpPr txBox="1"/>
          <p:nvPr/>
        </p:nvSpPr>
        <p:spPr>
          <a:xfrm>
            <a:off x="7680960" y="4800599"/>
            <a:ext cx="1188720" cy="182880"/>
          </a:xfrm>
          <a:prstGeom prst="rect">
            <a:avLst/>
          </a:prstGeom>
          <a:noFill/>
        </p:spPr>
        <p:txBody>
          <a:bodyPr wrap="square">
            <a:spAutoFit/>
          </a:bodyPr>
          <a:lstStyle/>
          <a:p>
            <a:pPr algn="ctr">
              <a:defRPr sz="900" b="0">
                <a:solidFill>
                  <a:srgbClr val="6B7280"/>
                </a:solidFill>
                <a:latin typeface="Calibri"/>
              </a:defRPr>
            </a:pPr>
            <a:r>
              <a:t>$80K</a:t>
            </a:r>
          </a:p>
        </p:txBody>
      </p:sp>
      <p:sp>
        <p:nvSpPr>
          <p:cNvPr id="79" name="TextBox 78"/>
          <p:cNvSpPr txBox="1"/>
          <p:nvPr/>
        </p:nvSpPr>
        <p:spPr>
          <a:xfrm>
            <a:off x="8869680" y="4800599"/>
            <a:ext cx="1188720" cy="182880"/>
          </a:xfrm>
          <a:prstGeom prst="rect">
            <a:avLst/>
          </a:prstGeom>
          <a:noFill/>
        </p:spPr>
        <p:txBody>
          <a:bodyPr wrap="square">
            <a:spAutoFit/>
          </a:bodyPr>
          <a:lstStyle/>
          <a:p>
            <a:pPr algn="ctr">
              <a:defRPr sz="900" b="0">
                <a:solidFill>
                  <a:srgbClr val="059669"/>
                </a:solidFill>
                <a:latin typeface="Calibri"/>
              </a:defRPr>
            </a:pPr>
            <a:r>
              <a:t>$58K</a:t>
            </a:r>
          </a:p>
        </p:txBody>
      </p:sp>
      <p:sp>
        <p:nvSpPr>
          <p:cNvPr id="80" name="TextBox 79"/>
          <p:cNvSpPr txBox="1"/>
          <p:nvPr/>
        </p:nvSpPr>
        <p:spPr>
          <a:xfrm>
            <a:off x="10058400" y="4800599"/>
            <a:ext cx="1920240" cy="182880"/>
          </a:xfrm>
          <a:prstGeom prst="rect">
            <a:avLst/>
          </a:prstGeom>
          <a:noFill/>
        </p:spPr>
        <p:txBody>
          <a:bodyPr wrap="square">
            <a:spAutoFit/>
          </a:bodyPr>
          <a:lstStyle/>
          <a:p>
            <a:pPr algn="ctr">
              <a:defRPr sz="900" b="0">
                <a:solidFill>
                  <a:srgbClr val="059669"/>
                </a:solidFill>
                <a:latin typeface="Calibri"/>
              </a:defRPr>
            </a:pPr>
            <a:r>
              <a:t>Active</a:t>
            </a:r>
          </a:p>
        </p:txBody>
      </p:sp>
      <p:sp>
        <p:nvSpPr>
          <p:cNvPr id="81" name="Rectangle 80"/>
          <p:cNvSpPr/>
          <p:nvPr/>
        </p:nvSpPr>
        <p:spPr>
          <a:xfrm>
            <a:off x="182880" y="4983479"/>
            <a:ext cx="11795760" cy="2194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82880" y="5001767"/>
            <a:ext cx="3474720" cy="182880"/>
          </a:xfrm>
          <a:prstGeom prst="rect">
            <a:avLst/>
          </a:prstGeom>
          <a:noFill/>
        </p:spPr>
        <p:txBody>
          <a:bodyPr wrap="square">
            <a:spAutoFit/>
          </a:bodyPr>
          <a:lstStyle/>
          <a:p>
            <a:pPr algn="l">
              <a:defRPr sz="900" b="1">
                <a:solidFill>
                  <a:srgbClr val="111827"/>
                </a:solidFill>
                <a:latin typeface="Calibri"/>
              </a:defRPr>
            </a:pPr>
            <a:r>
              <a:t>Xgen Insurance Group Llc</a:t>
            </a:r>
          </a:p>
        </p:txBody>
      </p:sp>
      <p:sp>
        <p:nvSpPr>
          <p:cNvPr id="83" name="TextBox 82"/>
          <p:cNvSpPr txBox="1"/>
          <p:nvPr/>
        </p:nvSpPr>
        <p:spPr>
          <a:xfrm>
            <a:off x="3657600" y="5001767"/>
            <a:ext cx="2011680" cy="182880"/>
          </a:xfrm>
          <a:prstGeom prst="rect">
            <a:avLst/>
          </a:prstGeom>
          <a:noFill/>
        </p:spPr>
        <p:txBody>
          <a:bodyPr wrap="square">
            <a:spAutoFit/>
          </a:bodyPr>
          <a:lstStyle/>
          <a:p>
            <a:pPr algn="l">
              <a:defRPr sz="900" b="0">
                <a:solidFill>
                  <a:srgbClr val="065F46"/>
                </a:solidFill>
                <a:latin typeface="Calibri"/>
              </a:defRPr>
            </a:pPr>
            <a:r>
              <a:t>Kurt Butterfield</a:t>
            </a:r>
          </a:p>
        </p:txBody>
      </p:sp>
      <p:sp>
        <p:nvSpPr>
          <p:cNvPr id="84" name="TextBox 83"/>
          <p:cNvSpPr txBox="1"/>
          <p:nvPr/>
        </p:nvSpPr>
        <p:spPr>
          <a:xfrm>
            <a:off x="5669280" y="5001767"/>
            <a:ext cx="2011680" cy="182880"/>
          </a:xfrm>
          <a:prstGeom prst="rect">
            <a:avLst/>
          </a:prstGeom>
          <a:noFill/>
        </p:spPr>
        <p:txBody>
          <a:bodyPr wrap="square">
            <a:spAutoFit/>
          </a:bodyPr>
          <a:lstStyle/>
          <a:p>
            <a:pPr algn="l">
              <a:defRPr sz="900" b="0">
                <a:solidFill>
                  <a:srgbClr val="6D28D9"/>
                </a:solidFill>
                <a:latin typeface="Calibri"/>
              </a:defRPr>
            </a:pPr>
            <a:r>
              <a:t>Derrick Leroy</a:t>
            </a:r>
          </a:p>
        </p:txBody>
      </p:sp>
      <p:sp>
        <p:nvSpPr>
          <p:cNvPr id="85" name="TextBox 84"/>
          <p:cNvSpPr txBox="1"/>
          <p:nvPr/>
        </p:nvSpPr>
        <p:spPr>
          <a:xfrm>
            <a:off x="7680960" y="5001767"/>
            <a:ext cx="1188720" cy="182880"/>
          </a:xfrm>
          <a:prstGeom prst="rect">
            <a:avLst/>
          </a:prstGeom>
          <a:noFill/>
        </p:spPr>
        <p:txBody>
          <a:bodyPr wrap="square">
            <a:spAutoFit/>
          </a:bodyPr>
          <a:lstStyle/>
          <a:p>
            <a:pPr algn="ctr">
              <a:defRPr sz="900" b="0">
                <a:solidFill>
                  <a:srgbClr val="6B7280"/>
                </a:solidFill>
                <a:latin typeface="Calibri"/>
              </a:defRPr>
            </a:pPr>
            <a:r>
              <a:t>$91K</a:t>
            </a:r>
          </a:p>
        </p:txBody>
      </p:sp>
      <p:sp>
        <p:nvSpPr>
          <p:cNvPr id="86" name="TextBox 85"/>
          <p:cNvSpPr txBox="1"/>
          <p:nvPr/>
        </p:nvSpPr>
        <p:spPr>
          <a:xfrm>
            <a:off x="8869680" y="5001767"/>
            <a:ext cx="1188720" cy="182880"/>
          </a:xfrm>
          <a:prstGeom prst="rect">
            <a:avLst/>
          </a:prstGeom>
          <a:noFill/>
        </p:spPr>
        <p:txBody>
          <a:bodyPr wrap="square">
            <a:spAutoFit/>
          </a:bodyPr>
          <a:lstStyle/>
          <a:p>
            <a:pPr algn="ctr">
              <a:defRPr sz="900" b="0">
                <a:solidFill>
                  <a:srgbClr val="059669"/>
                </a:solidFill>
                <a:latin typeface="Calibri"/>
              </a:defRPr>
            </a:pPr>
            <a:r>
              <a:t>$23K</a:t>
            </a:r>
          </a:p>
        </p:txBody>
      </p:sp>
      <p:sp>
        <p:nvSpPr>
          <p:cNvPr id="87" name="TextBox 86"/>
          <p:cNvSpPr txBox="1"/>
          <p:nvPr/>
        </p:nvSpPr>
        <p:spPr>
          <a:xfrm>
            <a:off x="10058400" y="5001767"/>
            <a:ext cx="1920240" cy="182880"/>
          </a:xfrm>
          <a:prstGeom prst="rect">
            <a:avLst/>
          </a:prstGeom>
          <a:noFill/>
        </p:spPr>
        <p:txBody>
          <a:bodyPr wrap="square">
            <a:spAutoFit/>
          </a:bodyPr>
          <a:lstStyle/>
          <a:p>
            <a:pPr algn="ctr">
              <a:defRPr sz="900" b="0">
                <a:solidFill>
                  <a:srgbClr val="059669"/>
                </a:solidFill>
                <a:latin typeface="Calibri"/>
              </a:defRPr>
            </a:pPr>
            <a:r>
              <a:t>Active</a:t>
            </a:r>
          </a:p>
        </p:txBody>
      </p:sp>
      <p:sp>
        <p:nvSpPr>
          <p:cNvPr id="88" name="Rectangle 87"/>
          <p:cNvSpPr/>
          <p:nvPr/>
        </p:nvSpPr>
        <p:spPr>
          <a:xfrm>
            <a:off x="182880" y="5184647"/>
            <a:ext cx="11795760" cy="219456"/>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82880" y="5202935"/>
            <a:ext cx="3474720" cy="182880"/>
          </a:xfrm>
          <a:prstGeom prst="rect">
            <a:avLst/>
          </a:prstGeom>
          <a:noFill/>
        </p:spPr>
        <p:txBody>
          <a:bodyPr wrap="square">
            <a:spAutoFit/>
          </a:bodyPr>
          <a:lstStyle/>
          <a:p>
            <a:pPr algn="l">
              <a:defRPr sz="900" b="1">
                <a:solidFill>
                  <a:srgbClr val="111827"/>
                </a:solidFill>
                <a:latin typeface="Calibri"/>
              </a:defRPr>
            </a:pPr>
            <a:r>
              <a:t>ECO INSURANCE SERVICES</a:t>
            </a:r>
          </a:p>
        </p:txBody>
      </p:sp>
      <p:sp>
        <p:nvSpPr>
          <p:cNvPr id="90" name="TextBox 89"/>
          <p:cNvSpPr txBox="1"/>
          <p:nvPr/>
        </p:nvSpPr>
        <p:spPr>
          <a:xfrm>
            <a:off x="3657600" y="5202935"/>
            <a:ext cx="2011680" cy="182880"/>
          </a:xfrm>
          <a:prstGeom prst="rect">
            <a:avLst/>
          </a:prstGeom>
          <a:noFill/>
        </p:spPr>
        <p:txBody>
          <a:bodyPr wrap="square">
            <a:spAutoFit/>
          </a:bodyPr>
          <a:lstStyle/>
          <a:p>
            <a:pPr algn="l">
              <a:defRPr sz="900" b="0">
                <a:solidFill>
                  <a:srgbClr val="065F46"/>
                </a:solidFill>
                <a:latin typeface="Calibri"/>
              </a:defRPr>
            </a:pPr>
            <a:r>
              <a:t>Kurt Butterfield</a:t>
            </a:r>
          </a:p>
        </p:txBody>
      </p:sp>
      <p:sp>
        <p:nvSpPr>
          <p:cNvPr id="91" name="TextBox 90"/>
          <p:cNvSpPr txBox="1"/>
          <p:nvPr/>
        </p:nvSpPr>
        <p:spPr>
          <a:xfrm>
            <a:off x="5669280" y="5202935"/>
            <a:ext cx="2011680" cy="182880"/>
          </a:xfrm>
          <a:prstGeom prst="rect">
            <a:avLst/>
          </a:prstGeom>
          <a:noFill/>
        </p:spPr>
        <p:txBody>
          <a:bodyPr wrap="square">
            <a:spAutoFit/>
          </a:bodyPr>
          <a:lstStyle/>
          <a:p>
            <a:pPr algn="l">
              <a:defRPr sz="900" b="0">
                <a:solidFill>
                  <a:srgbClr val="6D28D9"/>
                </a:solidFill>
                <a:latin typeface="Calibri"/>
              </a:defRPr>
            </a:pPr>
            <a:r>
              <a:t>Derrick Leroy</a:t>
            </a:r>
          </a:p>
        </p:txBody>
      </p:sp>
      <p:sp>
        <p:nvSpPr>
          <p:cNvPr id="92" name="TextBox 91"/>
          <p:cNvSpPr txBox="1"/>
          <p:nvPr/>
        </p:nvSpPr>
        <p:spPr>
          <a:xfrm>
            <a:off x="7680960" y="5202935"/>
            <a:ext cx="1188720" cy="182880"/>
          </a:xfrm>
          <a:prstGeom prst="rect">
            <a:avLst/>
          </a:prstGeom>
          <a:noFill/>
        </p:spPr>
        <p:txBody>
          <a:bodyPr wrap="square">
            <a:spAutoFit/>
          </a:bodyPr>
          <a:lstStyle/>
          <a:p>
            <a:pPr algn="ctr">
              <a:defRPr sz="900" b="0">
                <a:solidFill>
                  <a:srgbClr val="6B7280"/>
                </a:solidFill>
                <a:latin typeface="Calibri"/>
              </a:defRPr>
            </a:pPr>
            <a:r>
              <a:t>$18K</a:t>
            </a:r>
          </a:p>
        </p:txBody>
      </p:sp>
      <p:sp>
        <p:nvSpPr>
          <p:cNvPr id="93" name="TextBox 92"/>
          <p:cNvSpPr txBox="1"/>
          <p:nvPr/>
        </p:nvSpPr>
        <p:spPr>
          <a:xfrm>
            <a:off x="8869680" y="5202935"/>
            <a:ext cx="1188720" cy="182880"/>
          </a:xfrm>
          <a:prstGeom prst="rect">
            <a:avLst/>
          </a:prstGeom>
          <a:noFill/>
        </p:spPr>
        <p:txBody>
          <a:bodyPr wrap="square">
            <a:spAutoFit/>
          </a:bodyPr>
          <a:lstStyle/>
          <a:p>
            <a:pPr algn="ctr">
              <a:defRPr sz="900" b="0">
                <a:solidFill>
                  <a:srgbClr val="059669"/>
                </a:solidFill>
                <a:latin typeface="Calibri"/>
              </a:defRPr>
            </a:pPr>
            <a:r>
              <a:t>$27K</a:t>
            </a:r>
          </a:p>
        </p:txBody>
      </p:sp>
      <p:sp>
        <p:nvSpPr>
          <p:cNvPr id="94" name="TextBox 93"/>
          <p:cNvSpPr txBox="1"/>
          <p:nvPr/>
        </p:nvSpPr>
        <p:spPr>
          <a:xfrm>
            <a:off x="10058400" y="5202935"/>
            <a:ext cx="1920240" cy="182880"/>
          </a:xfrm>
          <a:prstGeom prst="rect">
            <a:avLst/>
          </a:prstGeom>
          <a:noFill/>
        </p:spPr>
        <p:txBody>
          <a:bodyPr wrap="square">
            <a:spAutoFit/>
          </a:bodyPr>
          <a:lstStyle/>
          <a:p>
            <a:pPr algn="ctr">
              <a:defRPr sz="900" b="0">
                <a:solidFill>
                  <a:srgbClr val="059669"/>
                </a:solidFill>
                <a:latin typeface="Calibri"/>
              </a:defRPr>
            </a:pPr>
            <a:r>
              <a:t>Active</a:t>
            </a:r>
          </a:p>
        </p:txBody>
      </p:sp>
      <p:sp>
        <p:nvSpPr>
          <p:cNvPr id="95" name="Rectangle 94"/>
          <p:cNvSpPr/>
          <p:nvPr/>
        </p:nvSpPr>
        <p:spPr>
          <a:xfrm>
            <a:off x="182880" y="5385815"/>
            <a:ext cx="11795760" cy="2194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82880" y="5404103"/>
            <a:ext cx="3474720" cy="182880"/>
          </a:xfrm>
          <a:prstGeom prst="rect">
            <a:avLst/>
          </a:prstGeom>
          <a:noFill/>
        </p:spPr>
        <p:txBody>
          <a:bodyPr wrap="square">
            <a:spAutoFit/>
          </a:bodyPr>
          <a:lstStyle/>
          <a:p>
            <a:pPr algn="l">
              <a:defRPr sz="900" b="1">
                <a:solidFill>
                  <a:srgbClr val="111827"/>
                </a:solidFill>
                <a:latin typeface="Calibri"/>
              </a:defRPr>
            </a:pPr>
            <a:r>
              <a:t>Danaco Group</a:t>
            </a:r>
          </a:p>
        </p:txBody>
      </p:sp>
      <p:sp>
        <p:nvSpPr>
          <p:cNvPr id="97" name="TextBox 96"/>
          <p:cNvSpPr txBox="1"/>
          <p:nvPr/>
        </p:nvSpPr>
        <p:spPr>
          <a:xfrm>
            <a:off x="3657600" y="5404103"/>
            <a:ext cx="2011680" cy="182880"/>
          </a:xfrm>
          <a:prstGeom prst="rect">
            <a:avLst/>
          </a:prstGeom>
          <a:noFill/>
        </p:spPr>
        <p:txBody>
          <a:bodyPr wrap="square">
            <a:spAutoFit/>
          </a:bodyPr>
          <a:lstStyle/>
          <a:p>
            <a:pPr algn="l">
              <a:defRPr sz="900" b="0">
                <a:solidFill>
                  <a:srgbClr val="065F46"/>
                </a:solidFill>
                <a:latin typeface="Calibri"/>
              </a:defRPr>
            </a:pPr>
            <a:r>
              <a:t>Kurt Butterfield</a:t>
            </a:r>
          </a:p>
        </p:txBody>
      </p:sp>
      <p:sp>
        <p:nvSpPr>
          <p:cNvPr id="98" name="TextBox 97"/>
          <p:cNvSpPr txBox="1"/>
          <p:nvPr/>
        </p:nvSpPr>
        <p:spPr>
          <a:xfrm>
            <a:off x="5669280" y="5404103"/>
            <a:ext cx="2011680" cy="182880"/>
          </a:xfrm>
          <a:prstGeom prst="rect">
            <a:avLst/>
          </a:prstGeom>
          <a:noFill/>
        </p:spPr>
        <p:txBody>
          <a:bodyPr wrap="square">
            <a:spAutoFit/>
          </a:bodyPr>
          <a:lstStyle/>
          <a:p>
            <a:pPr algn="l">
              <a:defRPr sz="900" b="0">
                <a:solidFill>
                  <a:srgbClr val="6D28D9"/>
                </a:solidFill>
                <a:latin typeface="Calibri"/>
              </a:defRPr>
            </a:pPr>
            <a:r>
              <a:t>Derrick Leroy</a:t>
            </a:r>
          </a:p>
        </p:txBody>
      </p:sp>
      <p:sp>
        <p:nvSpPr>
          <p:cNvPr id="99" name="TextBox 98"/>
          <p:cNvSpPr txBox="1"/>
          <p:nvPr/>
        </p:nvSpPr>
        <p:spPr>
          <a:xfrm>
            <a:off x="7680960" y="5404103"/>
            <a:ext cx="1188720" cy="182880"/>
          </a:xfrm>
          <a:prstGeom prst="rect">
            <a:avLst/>
          </a:prstGeom>
          <a:noFill/>
        </p:spPr>
        <p:txBody>
          <a:bodyPr wrap="square">
            <a:spAutoFit/>
          </a:bodyPr>
          <a:lstStyle/>
          <a:p>
            <a:pPr algn="ctr">
              <a:defRPr sz="900" b="0">
                <a:solidFill>
                  <a:srgbClr val="6B7280"/>
                </a:solidFill>
                <a:latin typeface="Calibri"/>
              </a:defRPr>
            </a:pPr>
            <a:r>
              <a:t>$19K</a:t>
            </a:r>
          </a:p>
        </p:txBody>
      </p:sp>
      <p:sp>
        <p:nvSpPr>
          <p:cNvPr id="100" name="TextBox 99"/>
          <p:cNvSpPr txBox="1"/>
          <p:nvPr/>
        </p:nvSpPr>
        <p:spPr>
          <a:xfrm>
            <a:off x="8869680" y="5404103"/>
            <a:ext cx="1188720" cy="182880"/>
          </a:xfrm>
          <a:prstGeom prst="rect">
            <a:avLst/>
          </a:prstGeom>
          <a:noFill/>
        </p:spPr>
        <p:txBody>
          <a:bodyPr wrap="square">
            <a:spAutoFit/>
          </a:bodyPr>
          <a:lstStyle/>
          <a:p>
            <a:pPr algn="ctr">
              <a:defRPr sz="900" b="0">
                <a:solidFill>
                  <a:srgbClr val="6B7280"/>
                </a:solidFill>
                <a:latin typeface="Calibri"/>
              </a:defRPr>
            </a:pPr>
            <a:r>
              <a:t>—</a:t>
            </a:r>
          </a:p>
        </p:txBody>
      </p:sp>
      <p:sp>
        <p:nvSpPr>
          <p:cNvPr id="101" name="TextBox 100"/>
          <p:cNvSpPr txBox="1"/>
          <p:nvPr/>
        </p:nvSpPr>
        <p:spPr>
          <a:xfrm>
            <a:off x="10058400" y="5404103"/>
            <a:ext cx="1920240" cy="182880"/>
          </a:xfrm>
          <a:prstGeom prst="rect">
            <a:avLst/>
          </a:prstGeom>
          <a:noFill/>
        </p:spPr>
        <p:txBody>
          <a:bodyPr wrap="square">
            <a:spAutoFit/>
          </a:bodyPr>
          <a:lstStyle/>
          <a:p>
            <a:pPr algn="ctr">
              <a:defRPr sz="900" b="0">
                <a:solidFill>
                  <a:srgbClr val="D97706"/>
                </a:solidFill>
                <a:latin typeface="Calibri"/>
              </a:defRPr>
            </a:pPr>
            <a:r>
              <a:t>Warm</a:t>
            </a:r>
          </a:p>
        </p:txBody>
      </p:sp>
      <p:sp>
        <p:nvSpPr>
          <p:cNvPr id="102" name="Rectangle 101"/>
          <p:cNvSpPr/>
          <p:nvPr/>
        </p:nvSpPr>
        <p:spPr>
          <a:xfrm>
            <a:off x="182880" y="5586983"/>
            <a:ext cx="11795760" cy="219456"/>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82880" y="5605271"/>
            <a:ext cx="3474720" cy="182880"/>
          </a:xfrm>
          <a:prstGeom prst="rect">
            <a:avLst/>
          </a:prstGeom>
          <a:noFill/>
        </p:spPr>
        <p:txBody>
          <a:bodyPr wrap="square">
            <a:spAutoFit/>
          </a:bodyPr>
          <a:lstStyle/>
          <a:p>
            <a:pPr algn="l">
              <a:defRPr sz="900" b="1">
                <a:solidFill>
                  <a:srgbClr val="111827"/>
                </a:solidFill>
                <a:latin typeface="Calibri"/>
              </a:defRPr>
            </a:pPr>
            <a:r>
              <a:t>Cobic Inc. Dba Cm Insurance Agency</a:t>
            </a:r>
          </a:p>
        </p:txBody>
      </p:sp>
      <p:sp>
        <p:nvSpPr>
          <p:cNvPr id="104" name="TextBox 103"/>
          <p:cNvSpPr txBox="1"/>
          <p:nvPr/>
        </p:nvSpPr>
        <p:spPr>
          <a:xfrm>
            <a:off x="3657600" y="5605271"/>
            <a:ext cx="2011680" cy="182880"/>
          </a:xfrm>
          <a:prstGeom prst="rect">
            <a:avLst/>
          </a:prstGeom>
          <a:noFill/>
        </p:spPr>
        <p:txBody>
          <a:bodyPr wrap="square">
            <a:spAutoFit/>
          </a:bodyPr>
          <a:lstStyle/>
          <a:p>
            <a:pPr algn="l">
              <a:defRPr sz="900" b="0">
                <a:solidFill>
                  <a:srgbClr val="065F46"/>
                </a:solidFill>
                <a:latin typeface="Calibri"/>
              </a:defRPr>
            </a:pPr>
            <a:r>
              <a:t>Kurt Butterfield</a:t>
            </a:r>
          </a:p>
        </p:txBody>
      </p:sp>
      <p:sp>
        <p:nvSpPr>
          <p:cNvPr id="105" name="TextBox 104"/>
          <p:cNvSpPr txBox="1"/>
          <p:nvPr/>
        </p:nvSpPr>
        <p:spPr>
          <a:xfrm>
            <a:off x="5669280" y="5605271"/>
            <a:ext cx="2011680" cy="182880"/>
          </a:xfrm>
          <a:prstGeom prst="rect">
            <a:avLst/>
          </a:prstGeom>
          <a:noFill/>
        </p:spPr>
        <p:txBody>
          <a:bodyPr wrap="square">
            <a:spAutoFit/>
          </a:bodyPr>
          <a:lstStyle/>
          <a:p>
            <a:pPr algn="l">
              <a:defRPr sz="900" b="0">
                <a:solidFill>
                  <a:srgbClr val="6D28D9"/>
                </a:solidFill>
                <a:latin typeface="Calibri"/>
              </a:defRPr>
            </a:pPr>
            <a:r>
              <a:t>Derrick Leroy</a:t>
            </a:r>
          </a:p>
        </p:txBody>
      </p:sp>
      <p:sp>
        <p:nvSpPr>
          <p:cNvPr id="106" name="TextBox 105"/>
          <p:cNvSpPr txBox="1"/>
          <p:nvPr/>
        </p:nvSpPr>
        <p:spPr>
          <a:xfrm>
            <a:off x="7680960" y="5605271"/>
            <a:ext cx="1188720" cy="182880"/>
          </a:xfrm>
          <a:prstGeom prst="rect">
            <a:avLst/>
          </a:prstGeom>
          <a:noFill/>
        </p:spPr>
        <p:txBody>
          <a:bodyPr wrap="square">
            <a:spAutoFit/>
          </a:bodyPr>
          <a:lstStyle/>
          <a:p>
            <a:pPr algn="ctr">
              <a:defRPr sz="900" b="0">
                <a:solidFill>
                  <a:srgbClr val="6B7280"/>
                </a:solidFill>
                <a:latin typeface="Calibri"/>
              </a:defRPr>
            </a:pPr>
            <a:r>
              <a:t>—</a:t>
            </a:r>
          </a:p>
        </p:txBody>
      </p:sp>
      <p:sp>
        <p:nvSpPr>
          <p:cNvPr id="107" name="TextBox 106"/>
          <p:cNvSpPr txBox="1"/>
          <p:nvPr/>
        </p:nvSpPr>
        <p:spPr>
          <a:xfrm>
            <a:off x="8869680" y="5605271"/>
            <a:ext cx="1188720" cy="182880"/>
          </a:xfrm>
          <a:prstGeom prst="rect">
            <a:avLst/>
          </a:prstGeom>
          <a:noFill/>
        </p:spPr>
        <p:txBody>
          <a:bodyPr wrap="square">
            <a:spAutoFit/>
          </a:bodyPr>
          <a:lstStyle/>
          <a:p>
            <a:pPr algn="ctr">
              <a:defRPr sz="900" b="0">
                <a:solidFill>
                  <a:srgbClr val="6B7280"/>
                </a:solidFill>
                <a:latin typeface="Calibri"/>
              </a:defRPr>
            </a:pPr>
            <a:r>
              <a:t>—</a:t>
            </a:r>
          </a:p>
        </p:txBody>
      </p:sp>
      <p:sp>
        <p:nvSpPr>
          <p:cNvPr id="108" name="TextBox 107"/>
          <p:cNvSpPr txBox="1"/>
          <p:nvPr/>
        </p:nvSpPr>
        <p:spPr>
          <a:xfrm>
            <a:off x="10058400" y="5605271"/>
            <a:ext cx="1920240" cy="182880"/>
          </a:xfrm>
          <a:prstGeom prst="rect">
            <a:avLst/>
          </a:prstGeom>
          <a:noFill/>
        </p:spPr>
        <p:txBody>
          <a:bodyPr wrap="square">
            <a:spAutoFit/>
          </a:bodyPr>
          <a:lstStyle/>
          <a:p>
            <a:pPr algn="ctr">
              <a:defRPr sz="900" b="0">
                <a:solidFill>
                  <a:srgbClr val="6B7280"/>
                </a:solidFill>
                <a:latin typeface="Calibri"/>
              </a:defRPr>
            </a:pPr>
            <a:r>
              <a:t>Developing</a:t>
            </a:r>
          </a:p>
        </p:txBody>
      </p:sp>
      <p:sp>
        <p:nvSpPr>
          <p:cNvPr id="109" name="Rectangle 108"/>
          <p:cNvSpPr/>
          <p:nvPr/>
        </p:nvSpPr>
        <p:spPr>
          <a:xfrm>
            <a:off x="182880" y="5788151"/>
            <a:ext cx="11795760" cy="2194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82880" y="5806439"/>
            <a:ext cx="3474720" cy="182880"/>
          </a:xfrm>
          <a:prstGeom prst="rect">
            <a:avLst/>
          </a:prstGeom>
          <a:noFill/>
        </p:spPr>
        <p:txBody>
          <a:bodyPr wrap="square">
            <a:spAutoFit/>
          </a:bodyPr>
          <a:lstStyle/>
          <a:p>
            <a:pPr algn="l">
              <a:defRPr sz="900" b="1">
                <a:solidFill>
                  <a:srgbClr val="111827"/>
                </a:solidFill>
                <a:latin typeface="Calibri"/>
              </a:defRPr>
            </a:pPr>
            <a:r>
              <a:t>Marketers General Insurance Agency, Inc.</a:t>
            </a:r>
          </a:p>
        </p:txBody>
      </p:sp>
      <p:sp>
        <p:nvSpPr>
          <p:cNvPr id="111" name="TextBox 110"/>
          <p:cNvSpPr txBox="1"/>
          <p:nvPr/>
        </p:nvSpPr>
        <p:spPr>
          <a:xfrm>
            <a:off x="3657600" y="5806439"/>
            <a:ext cx="2011680" cy="182880"/>
          </a:xfrm>
          <a:prstGeom prst="rect">
            <a:avLst/>
          </a:prstGeom>
          <a:noFill/>
        </p:spPr>
        <p:txBody>
          <a:bodyPr wrap="square">
            <a:spAutoFit/>
          </a:bodyPr>
          <a:lstStyle/>
          <a:p>
            <a:pPr algn="l">
              <a:defRPr sz="900" b="0">
                <a:solidFill>
                  <a:srgbClr val="065F46"/>
                </a:solidFill>
                <a:latin typeface="Calibri"/>
              </a:defRPr>
            </a:pPr>
            <a:r>
              <a:t>Kurt Butterfield</a:t>
            </a:r>
          </a:p>
        </p:txBody>
      </p:sp>
      <p:sp>
        <p:nvSpPr>
          <p:cNvPr id="112" name="TextBox 111"/>
          <p:cNvSpPr txBox="1"/>
          <p:nvPr/>
        </p:nvSpPr>
        <p:spPr>
          <a:xfrm>
            <a:off x="5669280" y="5806439"/>
            <a:ext cx="2011680" cy="182880"/>
          </a:xfrm>
          <a:prstGeom prst="rect">
            <a:avLst/>
          </a:prstGeom>
          <a:noFill/>
        </p:spPr>
        <p:txBody>
          <a:bodyPr wrap="square">
            <a:spAutoFit/>
          </a:bodyPr>
          <a:lstStyle/>
          <a:p>
            <a:pPr algn="l">
              <a:defRPr sz="900" b="0">
                <a:solidFill>
                  <a:srgbClr val="6D28D9"/>
                </a:solidFill>
                <a:latin typeface="Calibri"/>
              </a:defRPr>
            </a:pPr>
            <a:r>
              <a:t>Derrick Leroy</a:t>
            </a:r>
          </a:p>
        </p:txBody>
      </p:sp>
      <p:sp>
        <p:nvSpPr>
          <p:cNvPr id="113" name="TextBox 112"/>
          <p:cNvSpPr txBox="1"/>
          <p:nvPr/>
        </p:nvSpPr>
        <p:spPr>
          <a:xfrm>
            <a:off x="7680960" y="5806439"/>
            <a:ext cx="1188720" cy="182880"/>
          </a:xfrm>
          <a:prstGeom prst="rect">
            <a:avLst/>
          </a:prstGeom>
          <a:noFill/>
        </p:spPr>
        <p:txBody>
          <a:bodyPr wrap="square">
            <a:spAutoFit/>
          </a:bodyPr>
          <a:lstStyle/>
          <a:p>
            <a:pPr algn="ctr">
              <a:defRPr sz="900" b="0">
                <a:solidFill>
                  <a:srgbClr val="6B7280"/>
                </a:solidFill>
                <a:latin typeface="Calibri"/>
              </a:defRPr>
            </a:pPr>
            <a:r>
              <a:t>—</a:t>
            </a:r>
          </a:p>
        </p:txBody>
      </p:sp>
      <p:sp>
        <p:nvSpPr>
          <p:cNvPr id="114" name="TextBox 113"/>
          <p:cNvSpPr txBox="1"/>
          <p:nvPr/>
        </p:nvSpPr>
        <p:spPr>
          <a:xfrm>
            <a:off x="8869680" y="5806439"/>
            <a:ext cx="1188720" cy="182880"/>
          </a:xfrm>
          <a:prstGeom prst="rect">
            <a:avLst/>
          </a:prstGeom>
          <a:noFill/>
        </p:spPr>
        <p:txBody>
          <a:bodyPr wrap="square">
            <a:spAutoFit/>
          </a:bodyPr>
          <a:lstStyle/>
          <a:p>
            <a:pPr algn="ctr">
              <a:defRPr sz="900" b="0">
                <a:solidFill>
                  <a:srgbClr val="6B7280"/>
                </a:solidFill>
                <a:latin typeface="Calibri"/>
              </a:defRPr>
            </a:pPr>
            <a:r>
              <a:t>—</a:t>
            </a:r>
          </a:p>
        </p:txBody>
      </p:sp>
      <p:sp>
        <p:nvSpPr>
          <p:cNvPr id="115" name="TextBox 114"/>
          <p:cNvSpPr txBox="1"/>
          <p:nvPr/>
        </p:nvSpPr>
        <p:spPr>
          <a:xfrm>
            <a:off x="10058400" y="5806439"/>
            <a:ext cx="1920240" cy="182880"/>
          </a:xfrm>
          <a:prstGeom prst="rect">
            <a:avLst/>
          </a:prstGeom>
          <a:noFill/>
        </p:spPr>
        <p:txBody>
          <a:bodyPr wrap="square">
            <a:spAutoFit/>
          </a:bodyPr>
          <a:lstStyle/>
          <a:p>
            <a:pPr algn="ctr">
              <a:defRPr sz="900" b="0">
                <a:solidFill>
                  <a:srgbClr val="6B7280"/>
                </a:solidFill>
                <a:latin typeface="Calibri"/>
              </a:defRPr>
            </a:pPr>
            <a:r>
              <a:t>Developing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8229600" cy="329184"/>
          </a:xfrm>
          <a:prstGeom prst="rect">
            <a:avLst/>
          </a:prstGeom>
          <a:noFill/>
        </p:spPr>
        <p:txBody>
          <a:bodyPr wrap="square">
            <a:spAutoFit/>
          </a:bodyPr>
          <a:lstStyle/>
          <a:p>
            <a:pPr algn="l">
              <a:defRPr sz="2000" b="1">
                <a:solidFill>
                  <a:srgbClr val="FFFFFF"/>
                </a:solidFill>
                <a:latin typeface="Georgia"/>
              </a:defRPr>
            </a:pPr>
            <a:r>
              <a:t>Activity Intelligence — Touches to Premium</a:t>
            </a:r>
          </a:p>
        </p:txBody>
      </p:sp>
      <p:sp>
        <p:nvSpPr>
          <p:cNvPr id="4" name="TextBox 3"/>
          <p:cNvSpPr txBox="1"/>
          <p:nvPr/>
        </p:nvSpPr>
        <p:spPr>
          <a:xfrm>
            <a:off x="365760" y="402336"/>
            <a:ext cx="10972800" cy="237744"/>
          </a:xfrm>
          <a:prstGeom prst="rect">
            <a:avLst/>
          </a:prstGeom>
          <a:noFill/>
        </p:spPr>
        <p:txBody>
          <a:bodyPr wrap="square">
            <a:spAutoFit/>
          </a:bodyPr>
          <a:lstStyle/>
          <a:p>
            <a:pPr algn="l">
              <a:defRPr sz="900" b="0">
                <a:solidFill>
                  <a:srgbClr val="C4B5FD"/>
                </a:solidFill>
                <a:latin typeface="Calibri"/>
              </a:defRPr>
            </a:pPr>
            <a:r>
              <a:t>Q2 YTD  |  Apr 1–May 12  |  All Reps  |  Activity = Calls Out + Meetings  |  Binds = policies written  |  GWP pace-adjusted for partial month</a:t>
            </a:r>
          </a:p>
        </p:txBody>
      </p:sp>
      <p:sp>
        <p:nvSpPr>
          <p:cNvPr id="5" name="TextBox 4"/>
          <p:cNvSpPr txBox="1"/>
          <p:nvPr/>
        </p:nvSpPr>
        <p:spPr>
          <a:xfrm>
            <a:off x="9601200" y="73152"/>
            <a:ext cx="2468880" cy="237744"/>
          </a:xfrm>
          <a:prstGeom prst="rect">
            <a:avLst/>
          </a:prstGeom>
          <a:noFill/>
        </p:spPr>
        <p:txBody>
          <a:bodyPr wrap="square">
            <a:spAutoFit/>
          </a:bodyPr>
          <a:lstStyle/>
          <a:p>
            <a:pPr algn="r">
              <a:defRPr sz="950" b="0">
                <a:solidFill>
                  <a:srgbClr val="C4B5FD"/>
                </a:solidFill>
                <a:latin typeface="Calibri"/>
              </a:defRPr>
            </a:pPr>
            <a:r>
              <a:t>Generated May 12, 2026</a:t>
            </a:r>
          </a:p>
        </p:txBody>
      </p:sp>
      <p:sp>
        <p:nvSpPr>
          <p:cNvPr id="6" name="Rectangle 5"/>
          <p:cNvSpPr/>
          <p:nvPr/>
        </p:nvSpPr>
        <p:spPr>
          <a:xfrm>
            <a:off x="182880" y="713232"/>
            <a:ext cx="11795760" cy="201168"/>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749808"/>
            <a:ext cx="11612880" cy="137160"/>
          </a:xfrm>
          <a:prstGeom prst="rect">
            <a:avLst/>
          </a:prstGeom>
          <a:noFill/>
        </p:spPr>
        <p:txBody>
          <a:bodyPr wrap="square">
            <a:spAutoFit/>
          </a:bodyPr>
          <a:lstStyle/>
          <a:p>
            <a:pPr algn="l">
              <a:defRPr sz="950" b="1">
                <a:solidFill>
                  <a:srgbClr val="FFFFFF"/>
                </a:solidFill>
                <a:latin typeface="Calibri"/>
              </a:defRPr>
            </a:pPr>
            <a:r>
              <a:t>SECTION 1 — ACTIVITY CONVERSION FUNNEL  (Activities → Quotes Submitted → Binds → GWP Written)</a:t>
            </a:r>
          </a:p>
        </p:txBody>
      </p:sp>
      <p:sp>
        <p:nvSpPr>
          <p:cNvPr id="8" name="Rectangle 7"/>
          <p:cNvSpPr/>
          <p:nvPr/>
        </p:nvSpPr>
        <p:spPr>
          <a:xfrm>
            <a:off x="182880" y="932688"/>
            <a:ext cx="201168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456" y="978408"/>
            <a:ext cx="1938528" cy="164592"/>
          </a:xfrm>
          <a:prstGeom prst="rect">
            <a:avLst/>
          </a:prstGeom>
          <a:noFill/>
        </p:spPr>
        <p:txBody>
          <a:bodyPr wrap="square">
            <a:spAutoFit/>
          </a:bodyPr>
          <a:lstStyle/>
          <a:p>
            <a:pPr algn="ctr">
              <a:defRPr sz="850" b="1">
                <a:solidFill>
                  <a:srgbClr val="FFFFFF"/>
                </a:solidFill>
                <a:latin typeface="Calibri"/>
              </a:defRPr>
            </a:pPr>
            <a:r>
              <a:t>Rep</a:t>
            </a:r>
          </a:p>
        </p:txBody>
      </p:sp>
      <p:sp>
        <p:nvSpPr>
          <p:cNvPr id="10" name="Rectangle 9"/>
          <p:cNvSpPr/>
          <p:nvPr/>
        </p:nvSpPr>
        <p:spPr>
          <a:xfrm>
            <a:off x="2194560" y="932688"/>
            <a:ext cx="59436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31136" y="978408"/>
            <a:ext cx="521208" cy="164592"/>
          </a:xfrm>
          <a:prstGeom prst="rect">
            <a:avLst/>
          </a:prstGeom>
          <a:noFill/>
        </p:spPr>
        <p:txBody>
          <a:bodyPr wrap="square">
            <a:spAutoFit/>
          </a:bodyPr>
          <a:lstStyle/>
          <a:p>
            <a:pPr algn="ctr">
              <a:defRPr sz="850" b="1">
                <a:solidFill>
                  <a:srgbClr val="FFFFFF"/>
                </a:solidFill>
                <a:latin typeface="Calibri"/>
              </a:defRPr>
            </a:pPr>
            <a:r>
              <a:t>Role</a:t>
            </a:r>
          </a:p>
        </p:txBody>
      </p:sp>
      <p:sp>
        <p:nvSpPr>
          <p:cNvPr id="12" name="Rectangle 11"/>
          <p:cNvSpPr/>
          <p:nvPr/>
        </p:nvSpPr>
        <p:spPr>
          <a:xfrm>
            <a:off x="2788920" y="932688"/>
            <a:ext cx="105156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25496" y="978408"/>
            <a:ext cx="978407" cy="164592"/>
          </a:xfrm>
          <a:prstGeom prst="rect">
            <a:avLst/>
          </a:prstGeom>
          <a:noFill/>
        </p:spPr>
        <p:txBody>
          <a:bodyPr wrap="square">
            <a:spAutoFit/>
          </a:bodyPr>
          <a:lstStyle/>
          <a:p>
            <a:pPr algn="ctr">
              <a:defRPr sz="850" b="1">
                <a:solidFill>
                  <a:srgbClr val="FFFFFF"/>
                </a:solidFill>
                <a:latin typeface="Calibri"/>
              </a:defRPr>
            </a:pPr>
            <a:r>
              <a:t>Q2 Comp%</a:t>
            </a:r>
          </a:p>
        </p:txBody>
      </p:sp>
      <p:sp>
        <p:nvSpPr>
          <p:cNvPr id="14" name="Rectangle 13"/>
          <p:cNvSpPr/>
          <p:nvPr/>
        </p:nvSpPr>
        <p:spPr>
          <a:xfrm>
            <a:off x="3840480" y="932688"/>
            <a:ext cx="96012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77056" y="978408"/>
            <a:ext cx="886968" cy="164592"/>
          </a:xfrm>
          <a:prstGeom prst="rect">
            <a:avLst/>
          </a:prstGeom>
          <a:noFill/>
        </p:spPr>
        <p:txBody>
          <a:bodyPr wrap="square">
            <a:spAutoFit/>
          </a:bodyPr>
          <a:lstStyle/>
          <a:p>
            <a:pPr algn="ctr">
              <a:defRPr sz="850" b="1">
                <a:solidFill>
                  <a:srgbClr val="FFFFFF"/>
                </a:solidFill>
                <a:latin typeface="Calibri"/>
              </a:defRPr>
            </a:pPr>
            <a:r>
              <a:t>Acts/Wk</a:t>
            </a:r>
          </a:p>
        </p:txBody>
      </p:sp>
      <p:sp>
        <p:nvSpPr>
          <p:cNvPr id="16" name="Rectangle 15"/>
          <p:cNvSpPr/>
          <p:nvPr/>
        </p:nvSpPr>
        <p:spPr>
          <a:xfrm>
            <a:off x="4800600" y="932688"/>
            <a:ext cx="91440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37176" y="978408"/>
            <a:ext cx="841248" cy="164592"/>
          </a:xfrm>
          <a:prstGeom prst="rect">
            <a:avLst/>
          </a:prstGeom>
          <a:noFill/>
        </p:spPr>
        <p:txBody>
          <a:bodyPr wrap="square">
            <a:spAutoFit/>
          </a:bodyPr>
          <a:lstStyle/>
          <a:p>
            <a:pPr algn="ctr">
              <a:defRPr sz="850" b="1">
                <a:solidFill>
                  <a:srgbClr val="FFFFFF"/>
                </a:solidFill>
                <a:latin typeface="Calibri"/>
              </a:defRPr>
            </a:pPr>
            <a:r>
              <a:t>Q2 Subs</a:t>
            </a:r>
          </a:p>
        </p:txBody>
      </p:sp>
      <p:sp>
        <p:nvSpPr>
          <p:cNvPr id="18" name="Rectangle 17"/>
          <p:cNvSpPr/>
          <p:nvPr/>
        </p:nvSpPr>
        <p:spPr>
          <a:xfrm>
            <a:off x="5715000" y="932688"/>
            <a:ext cx="91440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51576" y="978408"/>
            <a:ext cx="841248" cy="164592"/>
          </a:xfrm>
          <a:prstGeom prst="rect">
            <a:avLst/>
          </a:prstGeom>
          <a:noFill/>
        </p:spPr>
        <p:txBody>
          <a:bodyPr wrap="square">
            <a:spAutoFit/>
          </a:bodyPr>
          <a:lstStyle/>
          <a:p>
            <a:pPr algn="ctr">
              <a:defRPr sz="850" b="1">
                <a:solidFill>
                  <a:srgbClr val="FFFFFF"/>
                </a:solidFill>
                <a:latin typeface="Calibri"/>
              </a:defRPr>
            </a:pPr>
            <a:r>
              <a:t>Q2 Binds</a:t>
            </a:r>
          </a:p>
        </p:txBody>
      </p:sp>
      <p:sp>
        <p:nvSpPr>
          <p:cNvPr id="20" name="Rectangle 19"/>
          <p:cNvSpPr/>
          <p:nvPr/>
        </p:nvSpPr>
        <p:spPr>
          <a:xfrm>
            <a:off x="6629400" y="932688"/>
            <a:ext cx="96012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65976" y="978408"/>
            <a:ext cx="886968" cy="164592"/>
          </a:xfrm>
          <a:prstGeom prst="rect">
            <a:avLst/>
          </a:prstGeom>
          <a:noFill/>
        </p:spPr>
        <p:txBody>
          <a:bodyPr wrap="square">
            <a:spAutoFit/>
          </a:bodyPr>
          <a:lstStyle/>
          <a:p>
            <a:pPr algn="ctr">
              <a:defRPr sz="850" b="1">
                <a:solidFill>
                  <a:srgbClr val="FFFFFF"/>
                </a:solidFill>
                <a:latin typeface="Calibri"/>
              </a:defRPr>
            </a:pPr>
            <a:r>
              <a:t>Bind Rate</a:t>
            </a:r>
          </a:p>
        </p:txBody>
      </p:sp>
      <p:sp>
        <p:nvSpPr>
          <p:cNvPr id="22" name="Rectangle 21"/>
          <p:cNvSpPr/>
          <p:nvPr/>
        </p:nvSpPr>
        <p:spPr>
          <a:xfrm>
            <a:off x="7589520" y="932688"/>
            <a:ext cx="164592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26096" y="978408"/>
            <a:ext cx="1572768" cy="164592"/>
          </a:xfrm>
          <a:prstGeom prst="rect">
            <a:avLst/>
          </a:prstGeom>
          <a:noFill/>
        </p:spPr>
        <p:txBody>
          <a:bodyPr wrap="square">
            <a:spAutoFit/>
          </a:bodyPr>
          <a:lstStyle/>
          <a:p>
            <a:pPr algn="ctr">
              <a:defRPr sz="850" b="1">
                <a:solidFill>
                  <a:srgbClr val="FFFFFF"/>
                </a:solidFill>
                <a:latin typeface="Calibri"/>
              </a:defRPr>
            </a:pPr>
            <a:r>
              <a:t>Avg GWP/Bind</a:t>
            </a:r>
          </a:p>
        </p:txBody>
      </p:sp>
      <p:sp>
        <p:nvSpPr>
          <p:cNvPr id="24" name="Rectangle 23"/>
          <p:cNvSpPr/>
          <p:nvPr/>
        </p:nvSpPr>
        <p:spPr>
          <a:xfrm>
            <a:off x="9235440" y="932688"/>
            <a:ext cx="137160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72016" y="978408"/>
            <a:ext cx="1298448" cy="164592"/>
          </a:xfrm>
          <a:prstGeom prst="rect">
            <a:avLst/>
          </a:prstGeom>
          <a:noFill/>
        </p:spPr>
        <p:txBody>
          <a:bodyPr wrap="square">
            <a:spAutoFit/>
          </a:bodyPr>
          <a:lstStyle/>
          <a:p>
            <a:pPr algn="ctr">
              <a:defRPr sz="850" b="1">
                <a:solidFill>
                  <a:srgbClr val="FFFFFF"/>
                </a:solidFill>
                <a:latin typeface="Calibri"/>
              </a:defRPr>
            </a:pPr>
            <a:r>
              <a:t>Acts per Bind</a:t>
            </a:r>
          </a:p>
        </p:txBody>
      </p:sp>
      <p:sp>
        <p:nvSpPr>
          <p:cNvPr id="26" name="Rectangle 25"/>
          <p:cNvSpPr/>
          <p:nvPr/>
        </p:nvSpPr>
        <p:spPr>
          <a:xfrm>
            <a:off x="10607040" y="932688"/>
            <a:ext cx="1371600" cy="237744"/>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43616" y="978408"/>
            <a:ext cx="1298448" cy="164592"/>
          </a:xfrm>
          <a:prstGeom prst="rect">
            <a:avLst/>
          </a:prstGeom>
          <a:noFill/>
        </p:spPr>
        <p:txBody>
          <a:bodyPr wrap="square">
            <a:spAutoFit/>
          </a:bodyPr>
          <a:lstStyle/>
          <a:p>
            <a:pPr algn="ctr">
              <a:defRPr sz="850" b="1">
                <a:solidFill>
                  <a:srgbClr val="FFFFFF"/>
                </a:solidFill>
                <a:latin typeface="Calibri"/>
              </a:defRPr>
            </a:pPr>
            <a:r>
              <a:t>GWP per Activity</a:t>
            </a:r>
          </a:p>
        </p:txBody>
      </p:sp>
      <p:sp>
        <p:nvSpPr>
          <p:cNvPr id="28" name="Rectangle 27"/>
          <p:cNvSpPr/>
          <p:nvPr/>
        </p:nvSpPr>
        <p:spPr>
          <a:xfrm>
            <a:off x="182880" y="1170432"/>
            <a:ext cx="2011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9456" y="1207008"/>
            <a:ext cx="1938528" cy="155448"/>
          </a:xfrm>
          <a:prstGeom prst="rect">
            <a:avLst/>
          </a:prstGeom>
          <a:noFill/>
        </p:spPr>
        <p:txBody>
          <a:bodyPr wrap="square">
            <a:spAutoFit/>
          </a:bodyPr>
          <a:lstStyle/>
          <a:p>
            <a:pPr algn="l">
              <a:defRPr sz="900" b="0">
                <a:solidFill>
                  <a:srgbClr val="6D28D9"/>
                </a:solidFill>
                <a:latin typeface="Calibri"/>
              </a:defRPr>
            </a:pPr>
            <a:r>
              <a:t>Derek J.</a:t>
            </a:r>
          </a:p>
        </p:txBody>
      </p:sp>
      <p:sp>
        <p:nvSpPr>
          <p:cNvPr id="30" name="Rectangle 29"/>
          <p:cNvSpPr/>
          <p:nvPr/>
        </p:nvSpPr>
        <p:spPr>
          <a:xfrm>
            <a:off x="2194560" y="1170432"/>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231136" y="1207008"/>
            <a:ext cx="521208" cy="155448"/>
          </a:xfrm>
          <a:prstGeom prst="rect">
            <a:avLst/>
          </a:prstGeom>
          <a:noFill/>
        </p:spPr>
        <p:txBody>
          <a:bodyPr wrap="square">
            <a:spAutoFit/>
          </a:bodyPr>
          <a:lstStyle/>
          <a:p>
            <a:pPr algn="ctr">
              <a:defRPr sz="900" b="0">
                <a:solidFill>
                  <a:srgbClr val="6D28D9"/>
                </a:solidFill>
                <a:latin typeface="Calibri"/>
              </a:defRPr>
            </a:pPr>
            <a:r>
              <a:t>BDM</a:t>
            </a:r>
          </a:p>
        </p:txBody>
      </p:sp>
      <p:sp>
        <p:nvSpPr>
          <p:cNvPr id="32" name="Rectangle 31"/>
          <p:cNvSpPr/>
          <p:nvPr/>
        </p:nvSpPr>
        <p:spPr>
          <a:xfrm>
            <a:off x="2788920" y="1170432"/>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25496" y="1207008"/>
            <a:ext cx="978407" cy="155448"/>
          </a:xfrm>
          <a:prstGeom prst="rect">
            <a:avLst/>
          </a:prstGeom>
          <a:noFill/>
        </p:spPr>
        <p:txBody>
          <a:bodyPr wrap="square">
            <a:spAutoFit/>
          </a:bodyPr>
          <a:lstStyle/>
          <a:p>
            <a:pPr algn="ctr">
              <a:defRPr sz="900" b="0">
                <a:solidFill>
                  <a:srgbClr val="059669"/>
                </a:solidFill>
                <a:latin typeface="Calibri"/>
              </a:defRPr>
            </a:pPr>
            <a:r>
              <a:t>100%</a:t>
            </a:r>
          </a:p>
        </p:txBody>
      </p:sp>
      <p:sp>
        <p:nvSpPr>
          <p:cNvPr id="34" name="Rectangle 33"/>
          <p:cNvSpPr/>
          <p:nvPr/>
        </p:nvSpPr>
        <p:spPr>
          <a:xfrm>
            <a:off x="3840480" y="1170432"/>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77056" y="1207008"/>
            <a:ext cx="886968" cy="155448"/>
          </a:xfrm>
          <a:prstGeom prst="rect">
            <a:avLst/>
          </a:prstGeom>
          <a:noFill/>
        </p:spPr>
        <p:txBody>
          <a:bodyPr wrap="square">
            <a:spAutoFit/>
          </a:bodyPr>
          <a:lstStyle/>
          <a:p>
            <a:pPr algn="ctr">
              <a:defRPr sz="900" b="0">
                <a:solidFill>
                  <a:srgbClr val="111827"/>
                </a:solidFill>
                <a:latin typeface="Calibri"/>
              </a:defRPr>
            </a:pPr>
            <a:r>
              <a:t>64.0</a:t>
            </a:r>
          </a:p>
        </p:txBody>
      </p:sp>
      <p:sp>
        <p:nvSpPr>
          <p:cNvPr id="36" name="Rectangle 35"/>
          <p:cNvSpPr/>
          <p:nvPr/>
        </p:nvSpPr>
        <p:spPr>
          <a:xfrm>
            <a:off x="4800600" y="1170432"/>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37176" y="1207008"/>
            <a:ext cx="841248" cy="155448"/>
          </a:xfrm>
          <a:prstGeom prst="rect">
            <a:avLst/>
          </a:prstGeom>
          <a:noFill/>
        </p:spPr>
        <p:txBody>
          <a:bodyPr wrap="square">
            <a:spAutoFit/>
          </a:bodyPr>
          <a:lstStyle/>
          <a:p>
            <a:pPr algn="ctr">
              <a:defRPr sz="900" b="0">
                <a:solidFill>
                  <a:srgbClr val="111827"/>
                </a:solidFill>
                <a:latin typeface="Calibri"/>
              </a:defRPr>
            </a:pPr>
            <a:r>
              <a:t>5,472</a:t>
            </a:r>
          </a:p>
        </p:txBody>
      </p:sp>
      <p:sp>
        <p:nvSpPr>
          <p:cNvPr id="38" name="Rectangle 37"/>
          <p:cNvSpPr/>
          <p:nvPr/>
        </p:nvSpPr>
        <p:spPr>
          <a:xfrm>
            <a:off x="5715000" y="1170432"/>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51576" y="1207008"/>
            <a:ext cx="841248" cy="155448"/>
          </a:xfrm>
          <a:prstGeom prst="rect">
            <a:avLst/>
          </a:prstGeom>
          <a:noFill/>
        </p:spPr>
        <p:txBody>
          <a:bodyPr wrap="square">
            <a:spAutoFit/>
          </a:bodyPr>
          <a:lstStyle/>
          <a:p>
            <a:pPr algn="ctr">
              <a:defRPr sz="900" b="0">
                <a:solidFill>
                  <a:srgbClr val="111827"/>
                </a:solidFill>
                <a:latin typeface="Calibri"/>
              </a:defRPr>
            </a:pPr>
            <a:r>
              <a:t>415</a:t>
            </a:r>
          </a:p>
        </p:txBody>
      </p:sp>
      <p:sp>
        <p:nvSpPr>
          <p:cNvPr id="40" name="Rectangle 39"/>
          <p:cNvSpPr/>
          <p:nvPr/>
        </p:nvSpPr>
        <p:spPr>
          <a:xfrm>
            <a:off x="6629400" y="1170432"/>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65976" y="1207008"/>
            <a:ext cx="886968" cy="155448"/>
          </a:xfrm>
          <a:prstGeom prst="rect">
            <a:avLst/>
          </a:prstGeom>
          <a:noFill/>
        </p:spPr>
        <p:txBody>
          <a:bodyPr wrap="square">
            <a:spAutoFit/>
          </a:bodyPr>
          <a:lstStyle/>
          <a:p>
            <a:pPr algn="ctr">
              <a:defRPr sz="900" b="0">
                <a:solidFill>
                  <a:srgbClr val="DC2626"/>
                </a:solidFill>
                <a:latin typeface="Calibri"/>
              </a:defRPr>
            </a:pPr>
            <a:r>
              <a:t>8%</a:t>
            </a:r>
          </a:p>
        </p:txBody>
      </p:sp>
      <p:sp>
        <p:nvSpPr>
          <p:cNvPr id="42" name="Rectangle 41"/>
          <p:cNvSpPr/>
          <p:nvPr/>
        </p:nvSpPr>
        <p:spPr>
          <a:xfrm>
            <a:off x="7589520" y="1170432"/>
            <a:ext cx="16459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26096" y="1207008"/>
            <a:ext cx="1572768" cy="155448"/>
          </a:xfrm>
          <a:prstGeom prst="rect">
            <a:avLst/>
          </a:prstGeom>
          <a:noFill/>
        </p:spPr>
        <p:txBody>
          <a:bodyPr wrap="square">
            <a:spAutoFit/>
          </a:bodyPr>
          <a:lstStyle/>
          <a:p>
            <a:pPr algn="ctr">
              <a:defRPr sz="900" b="0">
                <a:solidFill>
                  <a:srgbClr val="111827"/>
                </a:solidFill>
                <a:latin typeface="Calibri"/>
              </a:defRPr>
            </a:pPr>
            <a:r>
              <a:t>$25K</a:t>
            </a:r>
          </a:p>
        </p:txBody>
      </p:sp>
      <p:sp>
        <p:nvSpPr>
          <p:cNvPr id="44" name="Rectangle 43"/>
          <p:cNvSpPr/>
          <p:nvPr/>
        </p:nvSpPr>
        <p:spPr>
          <a:xfrm>
            <a:off x="9235440" y="1170432"/>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72016" y="1207008"/>
            <a:ext cx="1298448" cy="155448"/>
          </a:xfrm>
          <a:prstGeom prst="rect">
            <a:avLst/>
          </a:prstGeom>
          <a:noFill/>
        </p:spPr>
        <p:txBody>
          <a:bodyPr wrap="square">
            <a:spAutoFit/>
          </a:bodyPr>
          <a:lstStyle/>
          <a:p>
            <a:pPr algn="ctr">
              <a:defRPr sz="900" b="0">
                <a:solidFill>
                  <a:srgbClr val="111827"/>
                </a:solidFill>
                <a:latin typeface="Calibri"/>
              </a:defRPr>
            </a:pPr>
            <a:r>
              <a:t>1</a:t>
            </a:r>
          </a:p>
        </p:txBody>
      </p:sp>
      <p:sp>
        <p:nvSpPr>
          <p:cNvPr id="46" name="Rectangle 45"/>
          <p:cNvSpPr/>
          <p:nvPr/>
        </p:nvSpPr>
        <p:spPr>
          <a:xfrm>
            <a:off x="10607040" y="1170432"/>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643616" y="1207008"/>
            <a:ext cx="1298448" cy="155448"/>
          </a:xfrm>
          <a:prstGeom prst="rect">
            <a:avLst/>
          </a:prstGeom>
          <a:noFill/>
        </p:spPr>
        <p:txBody>
          <a:bodyPr wrap="square">
            <a:spAutoFit/>
          </a:bodyPr>
          <a:lstStyle/>
          <a:p>
            <a:pPr algn="ctr">
              <a:defRPr sz="900" b="0">
                <a:solidFill>
                  <a:srgbClr val="111827"/>
                </a:solidFill>
                <a:latin typeface="Calibri"/>
              </a:defRPr>
            </a:pPr>
            <a:r>
              <a:t>$31,502</a:t>
            </a:r>
          </a:p>
        </p:txBody>
      </p:sp>
      <p:sp>
        <p:nvSpPr>
          <p:cNvPr id="48" name="Rectangle 47"/>
          <p:cNvSpPr/>
          <p:nvPr/>
        </p:nvSpPr>
        <p:spPr>
          <a:xfrm>
            <a:off x="182880" y="1389888"/>
            <a:ext cx="2011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19456" y="1426464"/>
            <a:ext cx="1938528" cy="155448"/>
          </a:xfrm>
          <a:prstGeom prst="rect">
            <a:avLst/>
          </a:prstGeom>
          <a:noFill/>
        </p:spPr>
        <p:txBody>
          <a:bodyPr wrap="square">
            <a:spAutoFit/>
          </a:bodyPr>
          <a:lstStyle/>
          <a:p>
            <a:pPr algn="l">
              <a:defRPr sz="900" b="0">
                <a:solidFill>
                  <a:srgbClr val="6D28D9"/>
                </a:solidFill>
                <a:latin typeface="Calibri"/>
              </a:defRPr>
            </a:pPr>
            <a:r>
              <a:t>Derrick L.</a:t>
            </a:r>
          </a:p>
        </p:txBody>
      </p:sp>
      <p:sp>
        <p:nvSpPr>
          <p:cNvPr id="50" name="Rectangle 49"/>
          <p:cNvSpPr/>
          <p:nvPr/>
        </p:nvSpPr>
        <p:spPr>
          <a:xfrm>
            <a:off x="2194560" y="1389888"/>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31136" y="1426464"/>
            <a:ext cx="521208" cy="155448"/>
          </a:xfrm>
          <a:prstGeom prst="rect">
            <a:avLst/>
          </a:prstGeom>
          <a:noFill/>
        </p:spPr>
        <p:txBody>
          <a:bodyPr wrap="square">
            <a:spAutoFit/>
          </a:bodyPr>
          <a:lstStyle/>
          <a:p>
            <a:pPr algn="ctr">
              <a:defRPr sz="900" b="0">
                <a:solidFill>
                  <a:srgbClr val="6D28D9"/>
                </a:solidFill>
                <a:latin typeface="Calibri"/>
              </a:defRPr>
            </a:pPr>
            <a:r>
              <a:t>BDM</a:t>
            </a:r>
          </a:p>
        </p:txBody>
      </p:sp>
      <p:sp>
        <p:nvSpPr>
          <p:cNvPr id="52" name="Rectangle 51"/>
          <p:cNvSpPr/>
          <p:nvPr/>
        </p:nvSpPr>
        <p:spPr>
          <a:xfrm>
            <a:off x="2788920" y="1389888"/>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825496" y="1426464"/>
            <a:ext cx="978407" cy="155448"/>
          </a:xfrm>
          <a:prstGeom prst="rect">
            <a:avLst/>
          </a:prstGeom>
          <a:noFill/>
        </p:spPr>
        <p:txBody>
          <a:bodyPr wrap="square">
            <a:spAutoFit/>
          </a:bodyPr>
          <a:lstStyle/>
          <a:p>
            <a:pPr algn="ctr">
              <a:defRPr sz="900" b="0">
                <a:solidFill>
                  <a:srgbClr val="059669"/>
                </a:solidFill>
                <a:latin typeface="Calibri"/>
              </a:defRPr>
            </a:pPr>
            <a:r>
              <a:t>100%</a:t>
            </a:r>
          </a:p>
        </p:txBody>
      </p:sp>
      <p:sp>
        <p:nvSpPr>
          <p:cNvPr id="54" name="Rectangle 53"/>
          <p:cNvSpPr/>
          <p:nvPr/>
        </p:nvSpPr>
        <p:spPr>
          <a:xfrm>
            <a:off x="3840480" y="1389888"/>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77056" y="1426464"/>
            <a:ext cx="886968" cy="155448"/>
          </a:xfrm>
          <a:prstGeom prst="rect">
            <a:avLst/>
          </a:prstGeom>
          <a:noFill/>
        </p:spPr>
        <p:txBody>
          <a:bodyPr wrap="square">
            <a:spAutoFit/>
          </a:bodyPr>
          <a:lstStyle/>
          <a:p>
            <a:pPr algn="ctr">
              <a:defRPr sz="900" b="0">
                <a:solidFill>
                  <a:srgbClr val="111827"/>
                </a:solidFill>
                <a:latin typeface="Calibri"/>
              </a:defRPr>
            </a:pPr>
            <a:r>
              <a:t>53.6</a:t>
            </a:r>
          </a:p>
        </p:txBody>
      </p:sp>
      <p:sp>
        <p:nvSpPr>
          <p:cNvPr id="56" name="Rectangle 55"/>
          <p:cNvSpPr/>
          <p:nvPr/>
        </p:nvSpPr>
        <p:spPr>
          <a:xfrm>
            <a:off x="4800600" y="1389888"/>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837176" y="1426464"/>
            <a:ext cx="841248" cy="155448"/>
          </a:xfrm>
          <a:prstGeom prst="rect">
            <a:avLst/>
          </a:prstGeom>
          <a:noFill/>
        </p:spPr>
        <p:txBody>
          <a:bodyPr wrap="square">
            <a:spAutoFit/>
          </a:bodyPr>
          <a:lstStyle/>
          <a:p>
            <a:pPr algn="ctr">
              <a:defRPr sz="900" b="0">
                <a:solidFill>
                  <a:srgbClr val="111827"/>
                </a:solidFill>
                <a:latin typeface="Calibri"/>
              </a:defRPr>
            </a:pPr>
            <a:r>
              <a:t>2,470</a:t>
            </a:r>
          </a:p>
        </p:txBody>
      </p:sp>
      <p:sp>
        <p:nvSpPr>
          <p:cNvPr id="58" name="Rectangle 57"/>
          <p:cNvSpPr/>
          <p:nvPr/>
        </p:nvSpPr>
        <p:spPr>
          <a:xfrm>
            <a:off x="5715000" y="1389888"/>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751576" y="1426464"/>
            <a:ext cx="841248" cy="155448"/>
          </a:xfrm>
          <a:prstGeom prst="rect">
            <a:avLst/>
          </a:prstGeom>
          <a:noFill/>
        </p:spPr>
        <p:txBody>
          <a:bodyPr wrap="square">
            <a:spAutoFit/>
          </a:bodyPr>
          <a:lstStyle/>
          <a:p>
            <a:pPr algn="ctr">
              <a:defRPr sz="900" b="0">
                <a:solidFill>
                  <a:srgbClr val="111827"/>
                </a:solidFill>
                <a:latin typeface="Calibri"/>
              </a:defRPr>
            </a:pPr>
            <a:r>
              <a:t>197</a:t>
            </a:r>
          </a:p>
        </p:txBody>
      </p:sp>
      <p:sp>
        <p:nvSpPr>
          <p:cNvPr id="60" name="Rectangle 59"/>
          <p:cNvSpPr/>
          <p:nvPr/>
        </p:nvSpPr>
        <p:spPr>
          <a:xfrm>
            <a:off x="6629400" y="1389888"/>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65976" y="1426464"/>
            <a:ext cx="886968" cy="155448"/>
          </a:xfrm>
          <a:prstGeom prst="rect">
            <a:avLst/>
          </a:prstGeom>
          <a:noFill/>
        </p:spPr>
        <p:txBody>
          <a:bodyPr wrap="square">
            <a:spAutoFit/>
          </a:bodyPr>
          <a:lstStyle/>
          <a:p>
            <a:pPr algn="ctr">
              <a:defRPr sz="900" b="0">
                <a:solidFill>
                  <a:srgbClr val="DC2626"/>
                </a:solidFill>
                <a:latin typeface="Calibri"/>
              </a:defRPr>
            </a:pPr>
            <a:r>
              <a:t>8%</a:t>
            </a:r>
          </a:p>
        </p:txBody>
      </p:sp>
      <p:sp>
        <p:nvSpPr>
          <p:cNvPr id="62" name="Rectangle 61"/>
          <p:cNvSpPr/>
          <p:nvPr/>
        </p:nvSpPr>
        <p:spPr>
          <a:xfrm>
            <a:off x="7589520" y="1389888"/>
            <a:ext cx="16459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26096" y="1426464"/>
            <a:ext cx="1572768" cy="155448"/>
          </a:xfrm>
          <a:prstGeom prst="rect">
            <a:avLst/>
          </a:prstGeom>
          <a:noFill/>
        </p:spPr>
        <p:txBody>
          <a:bodyPr wrap="square">
            <a:spAutoFit/>
          </a:bodyPr>
          <a:lstStyle/>
          <a:p>
            <a:pPr algn="ctr">
              <a:defRPr sz="900" b="0">
                <a:solidFill>
                  <a:srgbClr val="111827"/>
                </a:solidFill>
                <a:latin typeface="Calibri"/>
              </a:defRPr>
            </a:pPr>
            <a:r>
              <a:t>$16K</a:t>
            </a:r>
          </a:p>
        </p:txBody>
      </p:sp>
      <p:sp>
        <p:nvSpPr>
          <p:cNvPr id="64" name="Rectangle 63"/>
          <p:cNvSpPr/>
          <p:nvPr/>
        </p:nvSpPr>
        <p:spPr>
          <a:xfrm>
            <a:off x="9235440" y="1389888"/>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272016" y="1426464"/>
            <a:ext cx="1298448" cy="155448"/>
          </a:xfrm>
          <a:prstGeom prst="rect">
            <a:avLst/>
          </a:prstGeom>
          <a:noFill/>
        </p:spPr>
        <p:txBody>
          <a:bodyPr wrap="square">
            <a:spAutoFit/>
          </a:bodyPr>
          <a:lstStyle/>
          <a:p>
            <a:pPr algn="ctr">
              <a:defRPr sz="900" b="0">
                <a:solidFill>
                  <a:srgbClr val="111827"/>
                </a:solidFill>
                <a:latin typeface="Calibri"/>
              </a:defRPr>
            </a:pPr>
            <a:r>
              <a:t>1</a:t>
            </a:r>
          </a:p>
        </p:txBody>
      </p:sp>
      <p:sp>
        <p:nvSpPr>
          <p:cNvPr id="66" name="Rectangle 65"/>
          <p:cNvSpPr/>
          <p:nvPr/>
        </p:nvSpPr>
        <p:spPr>
          <a:xfrm>
            <a:off x="10607040" y="1389888"/>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643616" y="1426464"/>
            <a:ext cx="1298448" cy="155448"/>
          </a:xfrm>
          <a:prstGeom prst="rect">
            <a:avLst/>
          </a:prstGeom>
          <a:noFill/>
        </p:spPr>
        <p:txBody>
          <a:bodyPr wrap="square">
            <a:spAutoFit/>
          </a:bodyPr>
          <a:lstStyle/>
          <a:p>
            <a:pPr algn="ctr">
              <a:defRPr sz="900" b="0">
                <a:solidFill>
                  <a:srgbClr val="111827"/>
                </a:solidFill>
                <a:latin typeface="Calibri"/>
              </a:defRPr>
            </a:pPr>
            <a:r>
              <a:t>$11,267</a:t>
            </a:r>
          </a:p>
        </p:txBody>
      </p:sp>
      <p:sp>
        <p:nvSpPr>
          <p:cNvPr id="68" name="Rectangle 67"/>
          <p:cNvSpPr/>
          <p:nvPr/>
        </p:nvSpPr>
        <p:spPr>
          <a:xfrm>
            <a:off x="182880" y="1609344"/>
            <a:ext cx="2011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19456" y="1645920"/>
            <a:ext cx="1938528" cy="155448"/>
          </a:xfrm>
          <a:prstGeom prst="rect">
            <a:avLst/>
          </a:prstGeom>
          <a:noFill/>
        </p:spPr>
        <p:txBody>
          <a:bodyPr wrap="square">
            <a:spAutoFit/>
          </a:bodyPr>
          <a:lstStyle/>
          <a:p>
            <a:pPr algn="l">
              <a:defRPr sz="900" b="0">
                <a:solidFill>
                  <a:srgbClr val="065F46"/>
                </a:solidFill>
                <a:latin typeface="Calibri"/>
              </a:defRPr>
            </a:pPr>
            <a:r>
              <a:t>Cameron B.</a:t>
            </a:r>
          </a:p>
        </p:txBody>
      </p:sp>
      <p:sp>
        <p:nvSpPr>
          <p:cNvPr id="70" name="Rectangle 69"/>
          <p:cNvSpPr/>
          <p:nvPr/>
        </p:nvSpPr>
        <p:spPr>
          <a:xfrm>
            <a:off x="2194560" y="1609344"/>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231136" y="1645920"/>
            <a:ext cx="521208" cy="155448"/>
          </a:xfrm>
          <a:prstGeom prst="rect">
            <a:avLst/>
          </a:prstGeom>
          <a:noFill/>
        </p:spPr>
        <p:txBody>
          <a:bodyPr wrap="square">
            <a:spAutoFit/>
          </a:bodyPr>
          <a:lstStyle/>
          <a:p>
            <a:pPr algn="ctr">
              <a:defRPr sz="900" b="0">
                <a:solidFill>
                  <a:srgbClr val="065F46"/>
                </a:solidFill>
                <a:latin typeface="Calibri"/>
              </a:defRPr>
            </a:pPr>
            <a:r>
              <a:t>BDA</a:t>
            </a:r>
          </a:p>
        </p:txBody>
      </p:sp>
      <p:sp>
        <p:nvSpPr>
          <p:cNvPr id="72" name="Rectangle 71"/>
          <p:cNvSpPr/>
          <p:nvPr/>
        </p:nvSpPr>
        <p:spPr>
          <a:xfrm>
            <a:off x="2788920" y="1609344"/>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25496" y="1645920"/>
            <a:ext cx="978407" cy="155448"/>
          </a:xfrm>
          <a:prstGeom prst="rect">
            <a:avLst/>
          </a:prstGeom>
          <a:noFill/>
        </p:spPr>
        <p:txBody>
          <a:bodyPr wrap="square">
            <a:spAutoFit/>
          </a:bodyPr>
          <a:lstStyle/>
          <a:p>
            <a:pPr algn="ctr">
              <a:defRPr sz="900" b="0">
                <a:solidFill>
                  <a:srgbClr val="D97706"/>
                </a:solidFill>
                <a:latin typeface="Calibri"/>
              </a:defRPr>
            </a:pPr>
            <a:r>
              <a:t>60%</a:t>
            </a:r>
          </a:p>
        </p:txBody>
      </p:sp>
      <p:sp>
        <p:nvSpPr>
          <p:cNvPr id="74" name="Rectangle 73"/>
          <p:cNvSpPr/>
          <p:nvPr/>
        </p:nvSpPr>
        <p:spPr>
          <a:xfrm>
            <a:off x="3840480" y="1609344"/>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877056" y="1645920"/>
            <a:ext cx="886968" cy="155448"/>
          </a:xfrm>
          <a:prstGeom prst="rect">
            <a:avLst/>
          </a:prstGeom>
          <a:noFill/>
        </p:spPr>
        <p:txBody>
          <a:bodyPr wrap="square">
            <a:spAutoFit/>
          </a:bodyPr>
          <a:lstStyle/>
          <a:p>
            <a:pPr algn="ctr">
              <a:defRPr sz="900" b="0">
                <a:solidFill>
                  <a:srgbClr val="111827"/>
                </a:solidFill>
                <a:latin typeface="Calibri"/>
              </a:defRPr>
            </a:pPr>
            <a:r>
              <a:t>47.4</a:t>
            </a:r>
          </a:p>
        </p:txBody>
      </p:sp>
      <p:sp>
        <p:nvSpPr>
          <p:cNvPr id="76" name="Rectangle 75"/>
          <p:cNvSpPr/>
          <p:nvPr/>
        </p:nvSpPr>
        <p:spPr>
          <a:xfrm>
            <a:off x="4800600" y="1609344"/>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837176" y="1645920"/>
            <a:ext cx="841248" cy="155448"/>
          </a:xfrm>
          <a:prstGeom prst="rect">
            <a:avLst/>
          </a:prstGeom>
          <a:noFill/>
        </p:spPr>
        <p:txBody>
          <a:bodyPr wrap="square">
            <a:spAutoFit/>
          </a:bodyPr>
          <a:lstStyle/>
          <a:p>
            <a:pPr algn="ctr">
              <a:defRPr sz="900" b="0">
                <a:solidFill>
                  <a:srgbClr val="111827"/>
                </a:solidFill>
                <a:latin typeface="Calibri"/>
              </a:defRPr>
            </a:pPr>
            <a:r>
              <a:t>712</a:t>
            </a:r>
          </a:p>
        </p:txBody>
      </p:sp>
      <p:sp>
        <p:nvSpPr>
          <p:cNvPr id="78" name="Rectangle 77"/>
          <p:cNvSpPr/>
          <p:nvPr/>
        </p:nvSpPr>
        <p:spPr>
          <a:xfrm>
            <a:off x="5715000" y="1609344"/>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751576" y="1645920"/>
            <a:ext cx="841248" cy="155448"/>
          </a:xfrm>
          <a:prstGeom prst="rect">
            <a:avLst/>
          </a:prstGeom>
          <a:noFill/>
        </p:spPr>
        <p:txBody>
          <a:bodyPr wrap="square">
            <a:spAutoFit/>
          </a:bodyPr>
          <a:lstStyle/>
          <a:p>
            <a:pPr algn="ctr">
              <a:defRPr sz="900" b="0">
                <a:solidFill>
                  <a:srgbClr val="111827"/>
                </a:solidFill>
                <a:latin typeface="Calibri"/>
              </a:defRPr>
            </a:pPr>
            <a:r>
              <a:t>36</a:t>
            </a:r>
          </a:p>
        </p:txBody>
      </p:sp>
      <p:sp>
        <p:nvSpPr>
          <p:cNvPr id="80" name="Rectangle 79"/>
          <p:cNvSpPr/>
          <p:nvPr/>
        </p:nvSpPr>
        <p:spPr>
          <a:xfrm>
            <a:off x="6629400" y="1609344"/>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665976" y="1645920"/>
            <a:ext cx="886968" cy="155448"/>
          </a:xfrm>
          <a:prstGeom prst="rect">
            <a:avLst/>
          </a:prstGeom>
          <a:noFill/>
        </p:spPr>
        <p:txBody>
          <a:bodyPr wrap="square">
            <a:spAutoFit/>
          </a:bodyPr>
          <a:lstStyle/>
          <a:p>
            <a:pPr algn="ctr">
              <a:defRPr sz="900" b="0">
                <a:solidFill>
                  <a:srgbClr val="DC2626"/>
                </a:solidFill>
                <a:latin typeface="Calibri"/>
              </a:defRPr>
            </a:pPr>
            <a:r>
              <a:t>5%</a:t>
            </a:r>
          </a:p>
        </p:txBody>
      </p:sp>
      <p:sp>
        <p:nvSpPr>
          <p:cNvPr id="82" name="Rectangle 81"/>
          <p:cNvSpPr/>
          <p:nvPr/>
        </p:nvSpPr>
        <p:spPr>
          <a:xfrm>
            <a:off x="7589520" y="1609344"/>
            <a:ext cx="16459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626096" y="1645920"/>
            <a:ext cx="1572768" cy="155448"/>
          </a:xfrm>
          <a:prstGeom prst="rect">
            <a:avLst/>
          </a:prstGeom>
          <a:noFill/>
        </p:spPr>
        <p:txBody>
          <a:bodyPr wrap="square">
            <a:spAutoFit/>
          </a:bodyPr>
          <a:lstStyle/>
          <a:p>
            <a:pPr algn="ctr">
              <a:defRPr sz="900" b="0">
                <a:solidFill>
                  <a:srgbClr val="111827"/>
                </a:solidFill>
                <a:latin typeface="Calibri"/>
              </a:defRPr>
            </a:pPr>
            <a:r>
              <a:t>$27K</a:t>
            </a:r>
          </a:p>
        </p:txBody>
      </p:sp>
      <p:sp>
        <p:nvSpPr>
          <p:cNvPr id="84" name="Rectangle 83"/>
          <p:cNvSpPr/>
          <p:nvPr/>
        </p:nvSpPr>
        <p:spPr>
          <a:xfrm>
            <a:off x="9235440" y="1609344"/>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272016" y="1645920"/>
            <a:ext cx="1298448" cy="155448"/>
          </a:xfrm>
          <a:prstGeom prst="rect">
            <a:avLst/>
          </a:prstGeom>
          <a:noFill/>
        </p:spPr>
        <p:txBody>
          <a:bodyPr wrap="square">
            <a:spAutoFit/>
          </a:bodyPr>
          <a:lstStyle/>
          <a:p>
            <a:pPr algn="ctr">
              <a:defRPr sz="900" b="0">
                <a:solidFill>
                  <a:srgbClr val="111827"/>
                </a:solidFill>
                <a:latin typeface="Calibri"/>
              </a:defRPr>
            </a:pPr>
            <a:r>
              <a:t>7</a:t>
            </a:r>
          </a:p>
        </p:txBody>
      </p:sp>
      <p:sp>
        <p:nvSpPr>
          <p:cNvPr id="86" name="Rectangle 85"/>
          <p:cNvSpPr/>
          <p:nvPr/>
        </p:nvSpPr>
        <p:spPr>
          <a:xfrm>
            <a:off x="10607040" y="1609344"/>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0643616" y="1645920"/>
            <a:ext cx="1298448" cy="155448"/>
          </a:xfrm>
          <a:prstGeom prst="rect">
            <a:avLst/>
          </a:prstGeom>
          <a:noFill/>
        </p:spPr>
        <p:txBody>
          <a:bodyPr wrap="square">
            <a:spAutoFit/>
          </a:bodyPr>
          <a:lstStyle/>
          <a:p>
            <a:pPr algn="ctr">
              <a:defRPr sz="900" b="0">
                <a:solidFill>
                  <a:srgbClr val="111827"/>
                </a:solidFill>
                <a:latin typeface="Calibri"/>
              </a:defRPr>
            </a:pPr>
            <a:r>
              <a:t>$3,994</a:t>
            </a:r>
          </a:p>
        </p:txBody>
      </p:sp>
      <p:sp>
        <p:nvSpPr>
          <p:cNvPr id="88" name="Rectangle 87"/>
          <p:cNvSpPr/>
          <p:nvPr/>
        </p:nvSpPr>
        <p:spPr>
          <a:xfrm>
            <a:off x="182880" y="1828800"/>
            <a:ext cx="2011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19456" y="1865376"/>
            <a:ext cx="1938528" cy="155448"/>
          </a:xfrm>
          <a:prstGeom prst="rect">
            <a:avLst/>
          </a:prstGeom>
          <a:noFill/>
        </p:spPr>
        <p:txBody>
          <a:bodyPr wrap="square">
            <a:spAutoFit/>
          </a:bodyPr>
          <a:lstStyle/>
          <a:p>
            <a:pPr algn="l">
              <a:defRPr sz="900" b="0">
                <a:solidFill>
                  <a:srgbClr val="065F46"/>
                </a:solidFill>
                <a:latin typeface="Calibri"/>
              </a:defRPr>
            </a:pPr>
            <a:r>
              <a:t>Taylor S.</a:t>
            </a:r>
          </a:p>
        </p:txBody>
      </p:sp>
      <p:sp>
        <p:nvSpPr>
          <p:cNvPr id="90" name="Rectangle 89"/>
          <p:cNvSpPr/>
          <p:nvPr/>
        </p:nvSpPr>
        <p:spPr>
          <a:xfrm>
            <a:off x="2194560" y="1828800"/>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231136" y="1865376"/>
            <a:ext cx="521208" cy="155448"/>
          </a:xfrm>
          <a:prstGeom prst="rect">
            <a:avLst/>
          </a:prstGeom>
          <a:noFill/>
        </p:spPr>
        <p:txBody>
          <a:bodyPr wrap="square">
            <a:spAutoFit/>
          </a:bodyPr>
          <a:lstStyle/>
          <a:p>
            <a:pPr algn="ctr">
              <a:defRPr sz="900" b="0">
                <a:solidFill>
                  <a:srgbClr val="065F46"/>
                </a:solidFill>
                <a:latin typeface="Calibri"/>
              </a:defRPr>
            </a:pPr>
            <a:r>
              <a:t>BDA</a:t>
            </a:r>
          </a:p>
        </p:txBody>
      </p:sp>
      <p:sp>
        <p:nvSpPr>
          <p:cNvPr id="92" name="Rectangle 91"/>
          <p:cNvSpPr/>
          <p:nvPr/>
        </p:nvSpPr>
        <p:spPr>
          <a:xfrm>
            <a:off x="2788920" y="1828800"/>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25496" y="1865376"/>
            <a:ext cx="978407" cy="155448"/>
          </a:xfrm>
          <a:prstGeom prst="rect">
            <a:avLst/>
          </a:prstGeom>
          <a:noFill/>
        </p:spPr>
        <p:txBody>
          <a:bodyPr wrap="square">
            <a:spAutoFit/>
          </a:bodyPr>
          <a:lstStyle/>
          <a:p>
            <a:pPr algn="ctr">
              <a:defRPr sz="900" b="0">
                <a:solidFill>
                  <a:srgbClr val="DC2626"/>
                </a:solidFill>
                <a:latin typeface="Calibri"/>
              </a:defRPr>
            </a:pPr>
            <a:r>
              <a:t>50%</a:t>
            </a:r>
          </a:p>
        </p:txBody>
      </p:sp>
      <p:sp>
        <p:nvSpPr>
          <p:cNvPr id="94" name="Rectangle 93"/>
          <p:cNvSpPr/>
          <p:nvPr/>
        </p:nvSpPr>
        <p:spPr>
          <a:xfrm>
            <a:off x="3840480" y="1828800"/>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877056" y="1865376"/>
            <a:ext cx="886968" cy="155448"/>
          </a:xfrm>
          <a:prstGeom prst="rect">
            <a:avLst/>
          </a:prstGeom>
          <a:noFill/>
        </p:spPr>
        <p:txBody>
          <a:bodyPr wrap="square">
            <a:spAutoFit/>
          </a:bodyPr>
          <a:lstStyle/>
          <a:p>
            <a:pPr algn="ctr">
              <a:defRPr sz="900" b="0">
                <a:solidFill>
                  <a:srgbClr val="111827"/>
                </a:solidFill>
                <a:latin typeface="Calibri"/>
              </a:defRPr>
            </a:pPr>
            <a:r>
              <a:t>43.8</a:t>
            </a:r>
          </a:p>
        </p:txBody>
      </p:sp>
      <p:sp>
        <p:nvSpPr>
          <p:cNvPr id="96" name="Rectangle 95"/>
          <p:cNvSpPr/>
          <p:nvPr/>
        </p:nvSpPr>
        <p:spPr>
          <a:xfrm>
            <a:off x="4800600" y="1828800"/>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837176" y="1865376"/>
            <a:ext cx="841248" cy="155448"/>
          </a:xfrm>
          <a:prstGeom prst="rect">
            <a:avLst/>
          </a:prstGeom>
          <a:noFill/>
        </p:spPr>
        <p:txBody>
          <a:bodyPr wrap="square">
            <a:spAutoFit/>
          </a:bodyPr>
          <a:lstStyle/>
          <a:p>
            <a:pPr algn="ctr">
              <a:defRPr sz="900" b="0">
                <a:solidFill>
                  <a:srgbClr val="111827"/>
                </a:solidFill>
                <a:latin typeface="Calibri"/>
              </a:defRPr>
            </a:pPr>
            <a:r>
              <a:t>436</a:t>
            </a:r>
          </a:p>
        </p:txBody>
      </p:sp>
      <p:sp>
        <p:nvSpPr>
          <p:cNvPr id="98" name="Rectangle 97"/>
          <p:cNvSpPr/>
          <p:nvPr/>
        </p:nvSpPr>
        <p:spPr>
          <a:xfrm>
            <a:off x="5715000" y="1828800"/>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751576" y="1865376"/>
            <a:ext cx="841248" cy="155448"/>
          </a:xfrm>
          <a:prstGeom prst="rect">
            <a:avLst/>
          </a:prstGeom>
          <a:noFill/>
        </p:spPr>
        <p:txBody>
          <a:bodyPr wrap="square">
            <a:spAutoFit/>
          </a:bodyPr>
          <a:lstStyle/>
          <a:p>
            <a:pPr algn="ctr">
              <a:defRPr sz="900" b="0">
                <a:solidFill>
                  <a:srgbClr val="111827"/>
                </a:solidFill>
                <a:latin typeface="Calibri"/>
              </a:defRPr>
            </a:pPr>
            <a:r>
              <a:t>15</a:t>
            </a:r>
          </a:p>
        </p:txBody>
      </p:sp>
      <p:sp>
        <p:nvSpPr>
          <p:cNvPr id="100" name="Rectangle 99"/>
          <p:cNvSpPr/>
          <p:nvPr/>
        </p:nvSpPr>
        <p:spPr>
          <a:xfrm>
            <a:off x="6629400" y="1828800"/>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665976" y="1865376"/>
            <a:ext cx="886968" cy="155448"/>
          </a:xfrm>
          <a:prstGeom prst="rect">
            <a:avLst/>
          </a:prstGeom>
          <a:noFill/>
        </p:spPr>
        <p:txBody>
          <a:bodyPr wrap="square">
            <a:spAutoFit/>
          </a:bodyPr>
          <a:lstStyle/>
          <a:p>
            <a:pPr algn="ctr">
              <a:defRPr sz="900" b="0">
                <a:solidFill>
                  <a:srgbClr val="DC2626"/>
                </a:solidFill>
                <a:latin typeface="Calibri"/>
              </a:defRPr>
            </a:pPr>
            <a:r>
              <a:t>3%</a:t>
            </a:r>
          </a:p>
        </p:txBody>
      </p:sp>
      <p:sp>
        <p:nvSpPr>
          <p:cNvPr id="102" name="Rectangle 101"/>
          <p:cNvSpPr/>
          <p:nvPr/>
        </p:nvSpPr>
        <p:spPr>
          <a:xfrm>
            <a:off x="7589520" y="1828800"/>
            <a:ext cx="16459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626096" y="1865376"/>
            <a:ext cx="1572768" cy="155448"/>
          </a:xfrm>
          <a:prstGeom prst="rect">
            <a:avLst/>
          </a:prstGeom>
          <a:noFill/>
        </p:spPr>
        <p:txBody>
          <a:bodyPr wrap="square">
            <a:spAutoFit/>
          </a:bodyPr>
          <a:lstStyle/>
          <a:p>
            <a:pPr algn="ctr">
              <a:defRPr sz="900" b="0">
                <a:solidFill>
                  <a:srgbClr val="111827"/>
                </a:solidFill>
                <a:latin typeface="Calibri"/>
              </a:defRPr>
            </a:pPr>
            <a:r>
              <a:t>$19K</a:t>
            </a:r>
          </a:p>
        </p:txBody>
      </p:sp>
      <p:sp>
        <p:nvSpPr>
          <p:cNvPr id="104" name="Rectangle 103"/>
          <p:cNvSpPr/>
          <p:nvPr/>
        </p:nvSpPr>
        <p:spPr>
          <a:xfrm>
            <a:off x="9235440" y="1828800"/>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272016" y="1865376"/>
            <a:ext cx="1298448" cy="155448"/>
          </a:xfrm>
          <a:prstGeom prst="rect">
            <a:avLst/>
          </a:prstGeom>
          <a:noFill/>
        </p:spPr>
        <p:txBody>
          <a:bodyPr wrap="square">
            <a:spAutoFit/>
          </a:bodyPr>
          <a:lstStyle/>
          <a:p>
            <a:pPr algn="ctr">
              <a:defRPr sz="900" b="0">
                <a:solidFill>
                  <a:srgbClr val="111827"/>
                </a:solidFill>
                <a:latin typeface="Calibri"/>
              </a:defRPr>
            </a:pPr>
            <a:r>
              <a:t>12</a:t>
            </a:r>
          </a:p>
        </p:txBody>
      </p:sp>
      <p:sp>
        <p:nvSpPr>
          <p:cNvPr id="106" name="Rectangle 105"/>
          <p:cNvSpPr/>
          <p:nvPr/>
        </p:nvSpPr>
        <p:spPr>
          <a:xfrm>
            <a:off x="10607040" y="1828800"/>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643616" y="1865376"/>
            <a:ext cx="1298448" cy="155448"/>
          </a:xfrm>
          <a:prstGeom prst="rect">
            <a:avLst/>
          </a:prstGeom>
          <a:noFill/>
        </p:spPr>
        <p:txBody>
          <a:bodyPr wrap="square">
            <a:spAutoFit/>
          </a:bodyPr>
          <a:lstStyle/>
          <a:p>
            <a:pPr algn="ctr">
              <a:defRPr sz="900" b="0">
                <a:solidFill>
                  <a:srgbClr val="111827"/>
                </a:solidFill>
                <a:latin typeface="Calibri"/>
              </a:defRPr>
            </a:pPr>
            <a:r>
              <a:t>$1,580</a:t>
            </a:r>
          </a:p>
        </p:txBody>
      </p:sp>
      <p:sp>
        <p:nvSpPr>
          <p:cNvPr id="108" name="Rectangle 107"/>
          <p:cNvSpPr/>
          <p:nvPr/>
        </p:nvSpPr>
        <p:spPr>
          <a:xfrm>
            <a:off x="182880" y="2048256"/>
            <a:ext cx="2011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219456" y="2084832"/>
            <a:ext cx="1938528" cy="155448"/>
          </a:xfrm>
          <a:prstGeom prst="rect">
            <a:avLst/>
          </a:prstGeom>
          <a:noFill/>
        </p:spPr>
        <p:txBody>
          <a:bodyPr wrap="square">
            <a:spAutoFit/>
          </a:bodyPr>
          <a:lstStyle/>
          <a:p>
            <a:pPr algn="l">
              <a:defRPr sz="900" b="0">
                <a:solidFill>
                  <a:srgbClr val="6D28D9"/>
                </a:solidFill>
                <a:latin typeface="Calibri"/>
              </a:defRPr>
            </a:pPr>
            <a:r>
              <a:t>Westy M.</a:t>
            </a:r>
          </a:p>
        </p:txBody>
      </p:sp>
      <p:sp>
        <p:nvSpPr>
          <p:cNvPr id="110" name="Rectangle 109"/>
          <p:cNvSpPr/>
          <p:nvPr/>
        </p:nvSpPr>
        <p:spPr>
          <a:xfrm>
            <a:off x="2194560" y="2048256"/>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231136" y="2084832"/>
            <a:ext cx="521208" cy="155448"/>
          </a:xfrm>
          <a:prstGeom prst="rect">
            <a:avLst/>
          </a:prstGeom>
          <a:noFill/>
        </p:spPr>
        <p:txBody>
          <a:bodyPr wrap="square">
            <a:spAutoFit/>
          </a:bodyPr>
          <a:lstStyle/>
          <a:p>
            <a:pPr algn="ctr">
              <a:defRPr sz="900" b="0">
                <a:solidFill>
                  <a:srgbClr val="6D28D9"/>
                </a:solidFill>
                <a:latin typeface="Calibri"/>
              </a:defRPr>
            </a:pPr>
            <a:r>
              <a:t>BDM</a:t>
            </a:r>
          </a:p>
        </p:txBody>
      </p:sp>
      <p:sp>
        <p:nvSpPr>
          <p:cNvPr id="112" name="Rectangle 111"/>
          <p:cNvSpPr/>
          <p:nvPr/>
        </p:nvSpPr>
        <p:spPr>
          <a:xfrm>
            <a:off x="2788920" y="2048256"/>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25496" y="2084832"/>
            <a:ext cx="978407" cy="155448"/>
          </a:xfrm>
          <a:prstGeom prst="rect">
            <a:avLst/>
          </a:prstGeom>
          <a:noFill/>
        </p:spPr>
        <p:txBody>
          <a:bodyPr wrap="square">
            <a:spAutoFit/>
          </a:bodyPr>
          <a:lstStyle/>
          <a:p>
            <a:pPr algn="ctr">
              <a:defRPr sz="900" b="0">
                <a:solidFill>
                  <a:srgbClr val="DC2626"/>
                </a:solidFill>
                <a:latin typeface="Calibri"/>
              </a:defRPr>
            </a:pPr>
            <a:r>
              <a:t>20%</a:t>
            </a:r>
          </a:p>
        </p:txBody>
      </p:sp>
      <p:sp>
        <p:nvSpPr>
          <p:cNvPr id="114" name="Rectangle 113"/>
          <p:cNvSpPr/>
          <p:nvPr/>
        </p:nvSpPr>
        <p:spPr>
          <a:xfrm>
            <a:off x="3840480" y="2048256"/>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877056" y="2084832"/>
            <a:ext cx="886968" cy="155448"/>
          </a:xfrm>
          <a:prstGeom prst="rect">
            <a:avLst/>
          </a:prstGeom>
          <a:noFill/>
        </p:spPr>
        <p:txBody>
          <a:bodyPr wrap="square">
            <a:spAutoFit/>
          </a:bodyPr>
          <a:lstStyle/>
          <a:p>
            <a:pPr algn="ctr">
              <a:defRPr sz="900" b="0">
                <a:solidFill>
                  <a:srgbClr val="111827"/>
                </a:solidFill>
                <a:latin typeface="Calibri"/>
              </a:defRPr>
            </a:pPr>
            <a:r>
              <a:t>33.4</a:t>
            </a:r>
          </a:p>
        </p:txBody>
      </p:sp>
      <p:sp>
        <p:nvSpPr>
          <p:cNvPr id="116" name="Rectangle 115"/>
          <p:cNvSpPr/>
          <p:nvPr/>
        </p:nvSpPr>
        <p:spPr>
          <a:xfrm>
            <a:off x="4800600" y="2048256"/>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837176" y="2084832"/>
            <a:ext cx="841248" cy="155448"/>
          </a:xfrm>
          <a:prstGeom prst="rect">
            <a:avLst/>
          </a:prstGeom>
          <a:noFill/>
        </p:spPr>
        <p:txBody>
          <a:bodyPr wrap="square">
            <a:spAutoFit/>
          </a:bodyPr>
          <a:lstStyle/>
          <a:p>
            <a:pPr algn="ctr">
              <a:defRPr sz="900" b="0">
                <a:solidFill>
                  <a:srgbClr val="111827"/>
                </a:solidFill>
                <a:latin typeface="Calibri"/>
              </a:defRPr>
            </a:pPr>
            <a:r>
              <a:t>147</a:t>
            </a:r>
          </a:p>
        </p:txBody>
      </p:sp>
      <p:sp>
        <p:nvSpPr>
          <p:cNvPr id="118" name="Rectangle 117"/>
          <p:cNvSpPr/>
          <p:nvPr/>
        </p:nvSpPr>
        <p:spPr>
          <a:xfrm>
            <a:off x="5715000" y="2048256"/>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751576" y="2084832"/>
            <a:ext cx="841248" cy="155448"/>
          </a:xfrm>
          <a:prstGeom prst="rect">
            <a:avLst/>
          </a:prstGeom>
          <a:noFill/>
        </p:spPr>
        <p:txBody>
          <a:bodyPr wrap="square">
            <a:spAutoFit/>
          </a:bodyPr>
          <a:lstStyle/>
          <a:p>
            <a:pPr algn="ctr">
              <a:defRPr sz="900" b="0">
                <a:solidFill>
                  <a:srgbClr val="111827"/>
                </a:solidFill>
                <a:latin typeface="Calibri"/>
              </a:defRPr>
            </a:pPr>
            <a:r>
              <a:t>6</a:t>
            </a:r>
          </a:p>
        </p:txBody>
      </p:sp>
      <p:sp>
        <p:nvSpPr>
          <p:cNvPr id="120" name="Rectangle 119"/>
          <p:cNvSpPr/>
          <p:nvPr/>
        </p:nvSpPr>
        <p:spPr>
          <a:xfrm>
            <a:off x="6629400" y="2048256"/>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665976" y="2084832"/>
            <a:ext cx="886968" cy="155448"/>
          </a:xfrm>
          <a:prstGeom prst="rect">
            <a:avLst/>
          </a:prstGeom>
          <a:noFill/>
        </p:spPr>
        <p:txBody>
          <a:bodyPr wrap="square">
            <a:spAutoFit/>
          </a:bodyPr>
          <a:lstStyle/>
          <a:p>
            <a:pPr algn="ctr">
              <a:defRPr sz="900" b="0">
                <a:solidFill>
                  <a:srgbClr val="DC2626"/>
                </a:solidFill>
                <a:latin typeface="Calibri"/>
              </a:defRPr>
            </a:pPr>
            <a:r>
              <a:t>4%</a:t>
            </a:r>
          </a:p>
        </p:txBody>
      </p:sp>
      <p:sp>
        <p:nvSpPr>
          <p:cNvPr id="122" name="Rectangle 121"/>
          <p:cNvSpPr/>
          <p:nvPr/>
        </p:nvSpPr>
        <p:spPr>
          <a:xfrm>
            <a:off x="7589520" y="2048256"/>
            <a:ext cx="16459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626096" y="2084832"/>
            <a:ext cx="1572768" cy="155448"/>
          </a:xfrm>
          <a:prstGeom prst="rect">
            <a:avLst/>
          </a:prstGeom>
          <a:noFill/>
        </p:spPr>
        <p:txBody>
          <a:bodyPr wrap="square">
            <a:spAutoFit/>
          </a:bodyPr>
          <a:lstStyle/>
          <a:p>
            <a:pPr algn="ctr">
              <a:defRPr sz="900" b="0">
                <a:solidFill>
                  <a:srgbClr val="111827"/>
                </a:solidFill>
                <a:latin typeface="Calibri"/>
              </a:defRPr>
            </a:pPr>
            <a:r>
              <a:t>$11K</a:t>
            </a:r>
          </a:p>
        </p:txBody>
      </p:sp>
      <p:sp>
        <p:nvSpPr>
          <p:cNvPr id="124" name="Rectangle 123"/>
          <p:cNvSpPr/>
          <p:nvPr/>
        </p:nvSpPr>
        <p:spPr>
          <a:xfrm>
            <a:off x="9235440" y="2048256"/>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9272016" y="2084832"/>
            <a:ext cx="1298448" cy="155448"/>
          </a:xfrm>
          <a:prstGeom prst="rect">
            <a:avLst/>
          </a:prstGeom>
          <a:noFill/>
        </p:spPr>
        <p:txBody>
          <a:bodyPr wrap="square">
            <a:spAutoFit/>
          </a:bodyPr>
          <a:lstStyle/>
          <a:p>
            <a:pPr algn="ctr">
              <a:defRPr sz="900" b="0">
                <a:solidFill>
                  <a:srgbClr val="111827"/>
                </a:solidFill>
                <a:latin typeface="Calibri"/>
              </a:defRPr>
            </a:pPr>
            <a:r>
              <a:t>29</a:t>
            </a:r>
          </a:p>
        </p:txBody>
      </p:sp>
      <p:sp>
        <p:nvSpPr>
          <p:cNvPr id="126" name="Rectangle 125"/>
          <p:cNvSpPr/>
          <p:nvPr/>
        </p:nvSpPr>
        <p:spPr>
          <a:xfrm>
            <a:off x="10607040" y="2048256"/>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0643616" y="2084832"/>
            <a:ext cx="1298448" cy="155448"/>
          </a:xfrm>
          <a:prstGeom prst="rect">
            <a:avLst/>
          </a:prstGeom>
          <a:noFill/>
        </p:spPr>
        <p:txBody>
          <a:bodyPr wrap="square">
            <a:spAutoFit/>
          </a:bodyPr>
          <a:lstStyle/>
          <a:p>
            <a:pPr algn="ctr">
              <a:defRPr sz="900" b="0">
                <a:solidFill>
                  <a:srgbClr val="111827"/>
                </a:solidFill>
                <a:latin typeface="Calibri"/>
              </a:defRPr>
            </a:pPr>
            <a:r>
              <a:t>$388</a:t>
            </a:r>
          </a:p>
        </p:txBody>
      </p:sp>
      <p:sp>
        <p:nvSpPr>
          <p:cNvPr id="128" name="Rectangle 127"/>
          <p:cNvSpPr/>
          <p:nvPr/>
        </p:nvSpPr>
        <p:spPr>
          <a:xfrm>
            <a:off x="182880" y="2267712"/>
            <a:ext cx="2011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19456" y="2304288"/>
            <a:ext cx="1938528" cy="155448"/>
          </a:xfrm>
          <a:prstGeom prst="rect">
            <a:avLst/>
          </a:prstGeom>
          <a:noFill/>
        </p:spPr>
        <p:txBody>
          <a:bodyPr wrap="square">
            <a:spAutoFit/>
          </a:bodyPr>
          <a:lstStyle/>
          <a:p>
            <a:pPr algn="l">
              <a:defRPr sz="900" b="0">
                <a:solidFill>
                  <a:srgbClr val="065F46"/>
                </a:solidFill>
                <a:latin typeface="Calibri"/>
              </a:defRPr>
            </a:pPr>
            <a:r>
              <a:t>Portia L.</a:t>
            </a:r>
          </a:p>
        </p:txBody>
      </p:sp>
      <p:sp>
        <p:nvSpPr>
          <p:cNvPr id="130" name="Rectangle 129"/>
          <p:cNvSpPr/>
          <p:nvPr/>
        </p:nvSpPr>
        <p:spPr>
          <a:xfrm>
            <a:off x="2194560" y="2267712"/>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231136" y="2304288"/>
            <a:ext cx="521208" cy="155448"/>
          </a:xfrm>
          <a:prstGeom prst="rect">
            <a:avLst/>
          </a:prstGeom>
          <a:noFill/>
        </p:spPr>
        <p:txBody>
          <a:bodyPr wrap="square">
            <a:spAutoFit/>
          </a:bodyPr>
          <a:lstStyle/>
          <a:p>
            <a:pPr algn="ctr">
              <a:defRPr sz="900" b="0">
                <a:solidFill>
                  <a:srgbClr val="065F46"/>
                </a:solidFill>
                <a:latin typeface="Calibri"/>
              </a:defRPr>
            </a:pPr>
            <a:r>
              <a:t>BDA</a:t>
            </a:r>
          </a:p>
        </p:txBody>
      </p:sp>
      <p:sp>
        <p:nvSpPr>
          <p:cNvPr id="132" name="Rectangle 131"/>
          <p:cNvSpPr/>
          <p:nvPr/>
        </p:nvSpPr>
        <p:spPr>
          <a:xfrm>
            <a:off x="2788920" y="2267712"/>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825496" y="2304288"/>
            <a:ext cx="978407" cy="155448"/>
          </a:xfrm>
          <a:prstGeom prst="rect">
            <a:avLst/>
          </a:prstGeom>
          <a:noFill/>
        </p:spPr>
        <p:txBody>
          <a:bodyPr wrap="square">
            <a:spAutoFit/>
          </a:bodyPr>
          <a:lstStyle/>
          <a:p>
            <a:pPr algn="ctr">
              <a:defRPr sz="900" b="0">
                <a:solidFill>
                  <a:srgbClr val="DC2626"/>
                </a:solidFill>
                <a:latin typeface="Calibri"/>
              </a:defRPr>
            </a:pPr>
            <a:r>
              <a:t>25%</a:t>
            </a:r>
          </a:p>
        </p:txBody>
      </p:sp>
      <p:sp>
        <p:nvSpPr>
          <p:cNvPr id="134" name="Rectangle 133"/>
          <p:cNvSpPr/>
          <p:nvPr/>
        </p:nvSpPr>
        <p:spPr>
          <a:xfrm>
            <a:off x="3840480" y="2267712"/>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877056" y="2304288"/>
            <a:ext cx="886968" cy="155448"/>
          </a:xfrm>
          <a:prstGeom prst="rect">
            <a:avLst/>
          </a:prstGeom>
          <a:noFill/>
        </p:spPr>
        <p:txBody>
          <a:bodyPr wrap="square">
            <a:spAutoFit/>
          </a:bodyPr>
          <a:lstStyle/>
          <a:p>
            <a:pPr algn="ctr">
              <a:defRPr sz="900" b="0">
                <a:solidFill>
                  <a:srgbClr val="111827"/>
                </a:solidFill>
                <a:latin typeface="Calibri"/>
              </a:defRPr>
            </a:pPr>
            <a:r>
              <a:t>32.5</a:t>
            </a:r>
          </a:p>
        </p:txBody>
      </p:sp>
      <p:sp>
        <p:nvSpPr>
          <p:cNvPr id="136" name="Rectangle 135"/>
          <p:cNvSpPr/>
          <p:nvPr/>
        </p:nvSpPr>
        <p:spPr>
          <a:xfrm>
            <a:off x="4800600" y="2267712"/>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837176" y="2304288"/>
            <a:ext cx="841248" cy="155448"/>
          </a:xfrm>
          <a:prstGeom prst="rect">
            <a:avLst/>
          </a:prstGeom>
          <a:noFill/>
        </p:spPr>
        <p:txBody>
          <a:bodyPr wrap="square">
            <a:spAutoFit/>
          </a:bodyPr>
          <a:lstStyle/>
          <a:p>
            <a:pPr algn="ctr">
              <a:defRPr sz="900" b="0">
                <a:solidFill>
                  <a:srgbClr val="111827"/>
                </a:solidFill>
                <a:latin typeface="Calibri"/>
              </a:defRPr>
            </a:pPr>
            <a:r>
              <a:t>1,190</a:t>
            </a:r>
          </a:p>
        </p:txBody>
      </p:sp>
      <p:sp>
        <p:nvSpPr>
          <p:cNvPr id="138" name="Rectangle 137"/>
          <p:cNvSpPr/>
          <p:nvPr/>
        </p:nvSpPr>
        <p:spPr>
          <a:xfrm>
            <a:off x="5715000" y="2267712"/>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5751576" y="2304288"/>
            <a:ext cx="841248" cy="155448"/>
          </a:xfrm>
          <a:prstGeom prst="rect">
            <a:avLst/>
          </a:prstGeom>
          <a:noFill/>
        </p:spPr>
        <p:txBody>
          <a:bodyPr wrap="square">
            <a:spAutoFit/>
          </a:bodyPr>
          <a:lstStyle/>
          <a:p>
            <a:pPr algn="ctr">
              <a:defRPr sz="900" b="0">
                <a:solidFill>
                  <a:srgbClr val="111827"/>
                </a:solidFill>
                <a:latin typeface="Calibri"/>
              </a:defRPr>
            </a:pPr>
            <a:r>
              <a:t>27</a:t>
            </a:r>
          </a:p>
        </p:txBody>
      </p:sp>
      <p:sp>
        <p:nvSpPr>
          <p:cNvPr id="140" name="Rectangle 139"/>
          <p:cNvSpPr/>
          <p:nvPr/>
        </p:nvSpPr>
        <p:spPr>
          <a:xfrm>
            <a:off x="6629400" y="2267712"/>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6665976" y="2304288"/>
            <a:ext cx="886968" cy="155448"/>
          </a:xfrm>
          <a:prstGeom prst="rect">
            <a:avLst/>
          </a:prstGeom>
          <a:noFill/>
        </p:spPr>
        <p:txBody>
          <a:bodyPr wrap="square">
            <a:spAutoFit/>
          </a:bodyPr>
          <a:lstStyle/>
          <a:p>
            <a:pPr algn="ctr">
              <a:defRPr sz="900" b="0">
                <a:solidFill>
                  <a:srgbClr val="DC2626"/>
                </a:solidFill>
                <a:latin typeface="Calibri"/>
              </a:defRPr>
            </a:pPr>
            <a:r>
              <a:t>2%</a:t>
            </a:r>
          </a:p>
        </p:txBody>
      </p:sp>
      <p:sp>
        <p:nvSpPr>
          <p:cNvPr id="142" name="Rectangle 141"/>
          <p:cNvSpPr/>
          <p:nvPr/>
        </p:nvSpPr>
        <p:spPr>
          <a:xfrm>
            <a:off x="7589520" y="2267712"/>
            <a:ext cx="16459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7626096" y="2304288"/>
            <a:ext cx="1572768" cy="155448"/>
          </a:xfrm>
          <a:prstGeom prst="rect">
            <a:avLst/>
          </a:prstGeom>
          <a:noFill/>
        </p:spPr>
        <p:txBody>
          <a:bodyPr wrap="square">
            <a:spAutoFit/>
          </a:bodyPr>
          <a:lstStyle/>
          <a:p>
            <a:pPr algn="ctr">
              <a:defRPr sz="900" b="0">
                <a:solidFill>
                  <a:srgbClr val="111827"/>
                </a:solidFill>
                <a:latin typeface="Calibri"/>
              </a:defRPr>
            </a:pPr>
            <a:r>
              <a:t>$28K</a:t>
            </a:r>
          </a:p>
        </p:txBody>
      </p:sp>
      <p:sp>
        <p:nvSpPr>
          <p:cNvPr id="144" name="Rectangle 143"/>
          <p:cNvSpPr/>
          <p:nvPr/>
        </p:nvSpPr>
        <p:spPr>
          <a:xfrm>
            <a:off x="9235440" y="2267712"/>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272016" y="2304288"/>
            <a:ext cx="1298448" cy="155448"/>
          </a:xfrm>
          <a:prstGeom prst="rect">
            <a:avLst/>
          </a:prstGeom>
          <a:noFill/>
        </p:spPr>
        <p:txBody>
          <a:bodyPr wrap="square">
            <a:spAutoFit/>
          </a:bodyPr>
          <a:lstStyle/>
          <a:p>
            <a:pPr algn="ctr">
              <a:defRPr sz="900" b="0">
                <a:solidFill>
                  <a:srgbClr val="111827"/>
                </a:solidFill>
                <a:latin typeface="Calibri"/>
              </a:defRPr>
            </a:pPr>
            <a:r>
              <a:t>5</a:t>
            </a:r>
          </a:p>
        </p:txBody>
      </p:sp>
      <p:sp>
        <p:nvSpPr>
          <p:cNvPr id="146" name="Rectangle 145"/>
          <p:cNvSpPr/>
          <p:nvPr/>
        </p:nvSpPr>
        <p:spPr>
          <a:xfrm>
            <a:off x="10607040" y="2267712"/>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0643616" y="2304288"/>
            <a:ext cx="1298448" cy="155448"/>
          </a:xfrm>
          <a:prstGeom prst="rect">
            <a:avLst/>
          </a:prstGeom>
          <a:noFill/>
        </p:spPr>
        <p:txBody>
          <a:bodyPr wrap="square">
            <a:spAutoFit/>
          </a:bodyPr>
          <a:lstStyle/>
          <a:p>
            <a:pPr algn="ctr">
              <a:defRPr sz="900" b="0">
                <a:solidFill>
                  <a:srgbClr val="111827"/>
                </a:solidFill>
                <a:latin typeface="Calibri"/>
              </a:defRPr>
            </a:pPr>
            <a:r>
              <a:t>$5,822</a:t>
            </a:r>
          </a:p>
        </p:txBody>
      </p:sp>
      <p:sp>
        <p:nvSpPr>
          <p:cNvPr id="148" name="Rectangle 147"/>
          <p:cNvSpPr/>
          <p:nvPr/>
        </p:nvSpPr>
        <p:spPr>
          <a:xfrm>
            <a:off x="182880" y="2487168"/>
            <a:ext cx="2011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219456" y="2523744"/>
            <a:ext cx="1938528" cy="155448"/>
          </a:xfrm>
          <a:prstGeom prst="rect">
            <a:avLst/>
          </a:prstGeom>
          <a:noFill/>
        </p:spPr>
        <p:txBody>
          <a:bodyPr wrap="square">
            <a:spAutoFit/>
          </a:bodyPr>
          <a:lstStyle/>
          <a:p>
            <a:pPr algn="l">
              <a:defRPr sz="900" b="0">
                <a:solidFill>
                  <a:srgbClr val="6D28D9"/>
                </a:solidFill>
                <a:latin typeface="Calibri"/>
              </a:defRPr>
            </a:pPr>
            <a:r>
              <a:t>Christopher H.</a:t>
            </a:r>
          </a:p>
        </p:txBody>
      </p:sp>
      <p:sp>
        <p:nvSpPr>
          <p:cNvPr id="150" name="Rectangle 149"/>
          <p:cNvSpPr/>
          <p:nvPr/>
        </p:nvSpPr>
        <p:spPr>
          <a:xfrm>
            <a:off x="2194560" y="2487168"/>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2231136" y="2523744"/>
            <a:ext cx="521208" cy="155448"/>
          </a:xfrm>
          <a:prstGeom prst="rect">
            <a:avLst/>
          </a:prstGeom>
          <a:noFill/>
        </p:spPr>
        <p:txBody>
          <a:bodyPr wrap="square">
            <a:spAutoFit/>
          </a:bodyPr>
          <a:lstStyle/>
          <a:p>
            <a:pPr algn="ctr">
              <a:defRPr sz="900" b="0">
                <a:solidFill>
                  <a:srgbClr val="6D28D9"/>
                </a:solidFill>
                <a:latin typeface="Calibri"/>
              </a:defRPr>
            </a:pPr>
            <a:r>
              <a:t>BDM</a:t>
            </a:r>
          </a:p>
        </p:txBody>
      </p:sp>
      <p:sp>
        <p:nvSpPr>
          <p:cNvPr id="152" name="Rectangle 151"/>
          <p:cNvSpPr/>
          <p:nvPr/>
        </p:nvSpPr>
        <p:spPr>
          <a:xfrm>
            <a:off x="2788920" y="2487168"/>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2825496" y="2523744"/>
            <a:ext cx="978407" cy="155448"/>
          </a:xfrm>
          <a:prstGeom prst="rect">
            <a:avLst/>
          </a:prstGeom>
          <a:noFill/>
        </p:spPr>
        <p:txBody>
          <a:bodyPr wrap="square">
            <a:spAutoFit/>
          </a:bodyPr>
          <a:lstStyle/>
          <a:p>
            <a:pPr algn="ctr">
              <a:defRPr sz="900" b="0">
                <a:solidFill>
                  <a:srgbClr val="DC2626"/>
                </a:solidFill>
                <a:latin typeface="Calibri"/>
              </a:defRPr>
            </a:pPr>
            <a:r>
              <a:t>40%</a:t>
            </a:r>
          </a:p>
        </p:txBody>
      </p:sp>
      <p:sp>
        <p:nvSpPr>
          <p:cNvPr id="154" name="Rectangle 153"/>
          <p:cNvSpPr/>
          <p:nvPr/>
        </p:nvSpPr>
        <p:spPr>
          <a:xfrm>
            <a:off x="3840480" y="2487168"/>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3877056" y="2523744"/>
            <a:ext cx="886968" cy="155448"/>
          </a:xfrm>
          <a:prstGeom prst="rect">
            <a:avLst/>
          </a:prstGeom>
          <a:noFill/>
        </p:spPr>
        <p:txBody>
          <a:bodyPr wrap="square">
            <a:spAutoFit/>
          </a:bodyPr>
          <a:lstStyle/>
          <a:p>
            <a:pPr algn="ctr">
              <a:defRPr sz="900" b="0">
                <a:solidFill>
                  <a:srgbClr val="111827"/>
                </a:solidFill>
                <a:latin typeface="Calibri"/>
              </a:defRPr>
            </a:pPr>
            <a:r>
              <a:t>32.2</a:t>
            </a:r>
          </a:p>
        </p:txBody>
      </p:sp>
      <p:sp>
        <p:nvSpPr>
          <p:cNvPr id="156" name="Rectangle 155"/>
          <p:cNvSpPr/>
          <p:nvPr/>
        </p:nvSpPr>
        <p:spPr>
          <a:xfrm>
            <a:off x="4800600" y="2487168"/>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4837176" y="2523744"/>
            <a:ext cx="841248" cy="155448"/>
          </a:xfrm>
          <a:prstGeom prst="rect">
            <a:avLst/>
          </a:prstGeom>
          <a:noFill/>
        </p:spPr>
        <p:txBody>
          <a:bodyPr wrap="square">
            <a:spAutoFit/>
          </a:bodyPr>
          <a:lstStyle/>
          <a:p>
            <a:pPr algn="ctr">
              <a:defRPr sz="900" b="0">
                <a:solidFill>
                  <a:srgbClr val="111827"/>
                </a:solidFill>
                <a:latin typeface="Calibri"/>
              </a:defRPr>
            </a:pPr>
            <a:r>
              <a:t>2,636</a:t>
            </a:r>
          </a:p>
        </p:txBody>
      </p:sp>
      <p:sp>
        <p:nvSpPr>
          <p:cNvPr id="158" name="Rectangle 157"/>
          <p:cNvSpPr/>
          <p:nvPr/>
        </p:nvSpPr>
        <p:spPr>
          <a:xfrm>
            <a:off x="5715000" y="2487168"/>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751576" y="2523744"/>
            <a:ext cx="841248" cy="155448"/>
          </a:xfrm>
          <a:prstGeom prst="rect">
            <a:avLst/>
          </a:prstGeom>
          <a:noFill/>
        </p:spPr>
        <p:txBody>
          <a:bodyPr wrap="square">
            <a:spAutoFit/>
          </a:bodyPr>
          <a:lstStyle/>
          <a:p>
            <a:pPr algn="ctr">
              <a:defRPr sz="900" b="0">
                <a:solidFill>
                  <a:srgbClr val="111827"/>
                </a:solidFill>
                <a:latin typeface="Calibri"/>
              </a:defRPr>
            </a:pPr>
            <a:r>
              <a:t>272</a:t>
            </a:r>
          </a:p>
        </p:txBody>
      </p:sp>
      <p:sp>
        <p:nvSpPr>
          <p:cNvPr id="160" name="Rectangle 159"/>
          <p:cNvSpPr/>
          <p:nvPr/>
        </p:nvSpPr>
        <p:spPr>
          <a:xfrm>
            <a:off x="6629400" y="2487168"/>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665976" y="2523744"/>
            <a:ext cx="886968" cy="155448"/>
          </a:xfrm>
          <a:prstGeom prst="rect">
            <a:avLst/>
          </a:prstGeom>
          <a:noFill/>
        </p:spPr>
        <p:txBody>
          <a:bodyPr wrap="square">
            <a:spAutoFit/>
          </a:bodyPr>
          <a:lstStyle/>
          <a:p>
            <a:pPr algn="ctr">
              <a:defRPr sz="900" b="0">
                <a:solidFill>
                  <a:srgbClr val="DC2626"/>
                </a:solidFill>
                <a:latin typeface="Calibri"/>
              </a:defRPr>
            </a:pPr>
            <a:r>
              <a:t>10%</a:t>
            </a:r>
          </a:p>
        </p:txBody>
      </p:sp>
      <p:sp>
        <p:nvSpPr>
          <p:cNvPr id="162" name="Rectangle 161"/>
          <p:cNvSpPr/>
          <p:nvPr/>
        </p:nvSpPr>
        <p:spPr>
          <a:xfrm>
            <a:off x="7589520" y="2487168"/>
            <a:ext cx="16459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7626096" y="2523744"/>
            <a:ext cx="1572768" cy="155448"/>
          </a:xfrm>
          <a:prstGeom prst="rect">
            <a:avLst/>
          </a:prstGeom>
          <a:noFill/>
        </p:spPr>
        <p:txBody>
          <a:bodyPr wrap="square">
            <a:spAutoFit/>
          </a:bodyPr>
          <a:lstStyle/>
          <a:p>
            <a:pPr algn="ctr">
              <a:defRPr sz="900" b="0">
                <a:solidFill>
                  <a:srgbClr val="111827"/>
                </a:solidFill>
                <a:latin typeface="Calibri"/>
              </a:defRPr>
            </a:pPr>
            <a:r>
              <a:t>$20K</a:t>
            </a:r>
          </a:p>
        </p:txBody>
      </p:sp>
      <p:sp>
        <p:nvSpPr>
          <p:cNvPr id="164" name="Rectangle 163"/>
          <p:cNvSpPr/>
          <p:nvPr/>
        </p:nvSpPr>
        <p:spPr>
          <a:xfrm>
            <a:off x="9235440" y="2487168"/>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9272016" y="2523744"/>
            <a:ext cx="1298448" cy="155448"/>
          </a:xfrm>
          <a:prstGeom prst="rect">
            <a:avLst/>
          </a:prstGeom>
          <a:noFill/>
        </p:spPr>
        <p:txBody>
          <a:bodyPr wrap="square">
            <a:spAutoFit/>
          </a:bodyPr>
          <a:lstStyle/>
          <a:p>
            <a:pPr algn="ctr">
              <a:defRPr sz="900" b="0">
                <a:solidFill>
                  <a:srgbClr val="111827"/>
                </a:solidFill>
                <a:latin typeface="Calibri"/>
              </a:defRPr>
            </a:pPr>
            <a:r>
              <a:t>1</a:t>
            </a:r>
          </a:p>
        </p:txBody>
      </p:sp>
      <p:sp>
        <p:nvSpPr>
          <p:cNvPr id="166" name="Rectangle 165"/>
          <p:cNvSpPr/>
          <p:nvPr/>
        </p:nvSpPr>
        <p:spPr>
          <a:xfrm>
            <a:off x="10607040" y="2487168"/>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0643616" y="2523744"/>
            <a:ext cx="1298448" cy="155448"/>
          </a:xfrm>
          <a:prstGeom prst="rect">
            <a:avLst/>
          </a:prstGeom>
          <a:noFill/>
        </p:spPr>
        <p:txBody>
          <a:bodyPr wrap="square">
            <a:spAutoFit/>
          </a:bodyPr>
          <a:lstStyle/>
          <a:p>
            <a:pPr algn="ctr">
              <a:defRPr sz="900" b="0">
                <a:solidFill>
                  <a:srgbClr val="111827"/>
                </a:solidFill>
                <a:latin typeface="Calibri"/>
              </a:defRPr>
            </a:pPr>
            <a:r>
              <a:t>$31,776</a:t>
            </a:r>
          </a:p>
        </p:txBody>
      </p:sp>
      <p:sp>
        <p:nvSpPr>
          <p:cNvPr id="168" name="Rectangle 167"/>
          <p:cNvSpPr/>
          <p:nvPr/>
        </p:nvSpPr>
        <p:spPr>
          <a:xfrm>
            <a:off x="182880" y="2706624"/>
            <a:ext cx="2011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219456" y="2743200"/>
            <a:ext cx="1938528" cy="155448"/>
          </a:xfrm>
          <a:prstGeom prst="rect">
            <a:avLst/>
          </a:prstGeom>
          <a:noFill/>
        </p:spPr>
        <p:txBody>
          <a:bodyPr wrap="square">
            <a:spAutoFit/>
          </a:bodyPr>
          <a:lstStyle/>
          <a:p>
            <a:pPr algn="l">
              <a:defRPr sz="900" b="0">
                <a:solidFill>
                  <a:srgbClr val="6D28D9"/>
                </a:solidFill>
                <a:latin typeface="Calibri"/>
              </a:defRPr>
            </a:pPr>
            <a:r>
              <a:t>Ron D.</a:t>
            </a:r>
          </a:p>
        </p:txBody>
      </p:sp>
      <p:sp>
        <p:nvSpPr>
          <p:cNvPr id="170" name="Rectangle 169"/>
          <p:cNvSpPr/>
          <p:nvPr/>
        </p:nvSpPr>
        <p:spPr>
          <a:xfrm>
            <a:off x="2194560" y="2706624"/>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231136" y="2743200"/>
            <a:ext cx="521208" cy="155448"/>
          </a:xfrm>
          <a:prstGeom prst="rect">
            <a:avLst/>
          </a:prstGeom>
          <a:noFill/>
        </p:spPr>
        <p:txBody>
          <a:bodyPr wrap="square">
            <a:spAutoFit/>
          </a:bodyPr>
          <a:lstStyle/>
          <a:p>
            <a:pPr algn="ctr">
              <a:defRPr sz="900" b="0">
                <a:solidFill>
                  <a:srgbClr val="6D28D9"/>
                </a:solidFill>
                <a:latin typeface="Calibri"/>
              </a:defRPr>
            </a:pPr>
            <a:r>
              <a:t>BDM</a:t>
            </a:r>
          </a:p>
        </p:txBody>
      </p:sp>
      <p:sp>
        <p:nvSpPr>
          <p:cNvPr id="172" name="Rectangle 171"/>
          <p:cNvSpPr/>
          <p:nvPr/>
        </p:nvSpPr>
        <p:spPr>
          <a:xfrm>
            <a:off x="2788920" y="2706624"/>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2825496" y="2743200"/>
            <a:ext cx="978407" cy="155448"/>
          </a:xfrm>
          <a:prstGeom prst="rect">
            <a:avLst/>
          </a:prstGeom>
          <a:noFill/>
        </p:spPr>
        <p:txBody>
          <a:bodyPr wrap="square">
            <a:spAutoFit/>
          </a:bodyPr>
          <a:lstStyle/>
          <a:p>
            <a:pPr algn="ctr">
              <a:defRPr sz="900" b="0">
                <a:solidFill>
                  <a:srgbClr val="DC2626"/>
                </a:solidFill>
                <a:latin typeface="Calibri"/>
              </a:defRPr>
            </a:pPr>
            <a:r>
              <a:t>40%</a:t>
            </a:r>
          </a:p>
        </p:txBody>
      </p:sp>
      <p:sp>
        <p:nvSpPr>
          <p:cNvPr id="174" name="Rectangle 173"/>
          <p:cNvSpPr/>
          <p:nvPr/>
        </p:nvSpPr>
        <p:spPr>
          <a:xfrm>
            <a:off x="3840480" y="2706624"/>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3877056" y="2743200"/>
            <a:ext cx="886968" cy="155448"/>
          </a:xfrm>
          <a:prstGeom prst="rect">
            <a:avLst/>
          </a:prstGeom>
          <a:noFill/>
        </p:spPr>
        <p:txBody>
          <a:bodyPr wrap="square">
            <a:spAutoFit/>
          </a:bodyPr>
          <a:lstStyle/>
          <a:p>
            <a:pPr algn="ctr">
              <a:defRPr sz="900" b="0">
                <a:solidFill>
                  <a:srgbClr val="111827"/>
                </a:solidFill>
                <a:latin typeface="Calibri"/>
              </a:defRPr>
            </a:pPr>
            <a:r>
              <a:t>28.2</a:t>
            </a:r>
          </a:p>
        </p:txBody>
      </p:sp>
      <p:sp>
        <p:nvSpPr>
          <p:cNvPr id="176" name="Rectangle 175"/>
          <p:cNvSpPr/>
          <p:nvPr/>
        </p:nvSpPr>
        <p:spPr>
          <a:xfrm>
            <a:off x="4800600" y="2706624"/>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4837176" y="2743200"/>
            <a:ext cx="841248" cy="155448"/>
          </a:xfrm>
          <a:prstGeom prst="rect">
            <a:avLst/>
          </a:prstGeom>
          <a:noFill/>
        </p:spPr>
        <p:txBody>
          <a:bodyPr wrap="square">
            <a:spAutoFit/>
          </a:bodyPr>
          <a:lstStyle/>
          <a:p>
            <a:pPr algn="ctr">
              <a:defRPr sz="900" b="0">
                <a:solidFill>
                  <a:srgbClr val="111827"/>
                </a:solidFill>
                <a:latin typeface="Calibri"/>
              </a:defRPr>
            </a:pPr>
            <a:r>
              <a:t>4,213</a:t>
            </a:r>
          </a:p>
        </p:txBody>
      </p:sp>
      <p:sp>
        <p:nvSpPr>
          <p:cNvPr id="178" name="Rectangle 177"/>
          <p:cNvSpPr/>
          <p:nvPr/>
        </p:nvSpPr>
        <p:spPr>
          <a:xfrm>
            <a:off x="5715000" y="2706624"/>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5751576" y="2743200"/>
            <a:ext cx="841248" cy="155448"/>
          </a:xfrm>
          <a:prstGeom prst="rect">
            <a:avLst/>
          </a:prstGeom>
          <a:noFill/>
        </p:spPr>
        <p:txBody>
          <a:bodyPr wrap="square">
            <a:spAutoFit/>
          </a:bodyPr>
          <a:lstStyle/>
          <a:p>
            <a:pPr algn="ctr">
              <a:defRPr sz="900" b="0">
                <a:solidFill>
                  <a:srgbClr val="111827"/>
                </a:solidFill>
                <a:latin typeface="Calibri"/>
              </a:defRPr>
            </a:pPr>
            <a:r>
              <a:t>238</a:t>
            </a:r>
          </a:p>
        </p:txBody>
      </p:sp>
      <p:sp>
        <p:nvSpPr>
          <p:cNvPr id="180" name="Rectangle 179"/>
          <p:cNvSpPr/>
          <p:nvPr/>
        </p:nvSpPr>
        <p:spPr>
          <a:xfrm>
            <a:off x="6629400" y="2706624"/>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6665976" y="2743200"/>
            <a:ext cx="886968" cy="155448"/>
          </a:xfrm>
          <a:prstGeom prst="rect">
            <a:avLst/>
          </a:prstGeom>
          <a:noFill/>
        </p:spPr>
        <p:txBody>
          <a:bodyPr wrap="square">
            <a:spAutoFit/>
          </a:bodyPr>
          <a:lstStyle/>
          <a:p>
            <a:pPr algn="ctr">
              <a:defRPr sz="900" b="0">
                <a:solidFill>
                  <a:srgbClr val="DC2626"/>
                </a:solidFill>
                <a:latin typeface="Calibri"/>
              </a:defRPr>
            </a:pPr>
            <a:r>
              <a:t>6%</a:t>
            </a:r>
          </a:p>
        </p:txBody>
      </p:sp>
      <p:sp>
        <p:nvSpPr>
          <p:cNvPr id="182" name="Rectangle 181"/>
          <p:cNvSpPr/>
          <p:nvPr/>
        </p:nvSpPr>
        <p:spPr>
          <a:xfrm>
            <a:off x="7589520" y="2706624"/>
            <a:ext cx="16459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7626096" y="2743200"/>
            <a:ext cx="1572768" cy="155448"/>
          </a:xfrm>
          <a:prstGeom prst="rect">
            <a:avLst/>
          </a:prstGeom>
          <a:noFill/>
        </p:spPr>
        <p:txBody>
          <a:bodyPr wrap="square">
            <a:spAutoFit/>
          </a:bodyPr>
          <a:lstStyle/>
          <a:p>
            <a:pPr algn="ctr">
              <a:defRPr sz="900" b="0">
                <a:solidFill>
                  <a:srgbClr val="111827"/>
                </a:solidFill>
                <a:latin typeface="Calibri"/>
              </a:defRPr>
            </a:pPr>
            <a:r>
              <a:t>$24K</a:t>
            </a:r>
          </a:p>
        </p:txBody>
      </p:sp>
      <p:sp>
        <p:nvSpPr>
          <p:cNvPr id="184" name="Rectangle 183"/>
          <p:cNvSpPr/>
          <p:nvPr/>
        </p:nvSpPr>
        <p:spPr>
          <a:xfrm>
            <a:off x="9235440" y="2706624"/>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9272016" y="2743200"/>
            <a:ext cx="1298448" cy="155448"/>
          </a:xfrm>
          <a:prstGeom prst="rect">
            <a:avLst/>
          </a:prstGeom>
          <a:noFill/>
        </p:spPr>
        <p:txBody>
          <a:bodyPr wrap="square">
            <a:spAutoFit/>
          </a:bodyPr>
          <a:lstStyle/>
          <a:p>
            <a:pPr algn="ctr">
              <a:defRPr sz="900" b="0">
                <a:solidFill>
                  <a:srgbClr val="111827"/>
                </a:solidFill>
                <a:latin typeface="Calibri"/>
              </a:defRPr>
            </a:pPr>
            <a:r>
              <a:t>1</a:t>
            </a:r>
          </a:p>
        </p:txBody>
      </p:sp>
      <p:sp>
        <p:nvSpPr>
          <p:cNvPr id="186" name="Rectangle 185"/>
          <p:cNvSpPr/>
          <p:nvPr/>
        </p:nvSpPr>
        <p:spPr>
          <a:xfrm>
            <a:off x="10607040" y="2706624"/>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10643616" y="2743200"/>
            <a:ext cx="1298448" cy="155448"/>
          </a:xfrm>
          <a:prstGeom prst="rect">
            <a:avLst/>
          </a:prstGeom>
          <a:noFill/>
        </p:spPr>
        <p:txBody>
          <a:bodyPr wrap="square">
            <a:spAutoFit/>
          </a:bodyPr>
          <a:lstStyle/>
          <a:p>
            <a:pPr algn="ctr">
              <a:defRPr sz="900" b="0">
                <a:solidFill>
                  <a:srgbClr val="111827"/>
                </a:solidFill>
                <a:latin typeface="Calibri"/>
              </a:defRPr>
            </a:pPr>
            <a:r>
              <a:t>$40,150</a:t>
            </a:r>
          </a:p>
        </p:txBody>
      </p:sp>
      <p:sp>
        <p:nvSpPr>
          <p:cNvPr id="188" name="Rectangle 187"/>
          <p:cNvSpPr/>
          <p:nvPr/>
        </p:nvSpPr>
        <p:spPr>
          <a:xfrm>
            <a:off x="182880" y="2926080"/>
            <a:ext cx="2011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219456" y="2962656"/>
            <a:ext cx="1938528" cy="155448"/>
          </a:xfrm>
          <a:prstGeom prst="rect">
            <a:avLst/>
          </a:prstGeom>
          <a:noFill/>
        </p:spPr>
        <p:txBody>
          <a:bodyPr wrap="square">
            <a:spAutoFit/>
          </a:bodyPr>
          <a:lstStyle/>
          <a:p>
            <a:pPr algn="l">
              <a:defRPr sz="900" b="0">
                <a:solidFill>
                  <a:srgbClr val="065F46"/>
                </a:solidFill>
                <a:latin typeface="Calibri"/>
              </a:defRPr>
            </a:pPr>
            <a:r>
              <a:t>Erika C.</a:t>
            </a:r>
          </a:p>
        </p:txBody>
      </p:sp>
      <p:sp>
        <p:nvSpPr>
          <p:cNvPr id="190" name="Rectangle 189"/>
          <p:cNvSpPr/>
          <p:nvPr/>
        </p:nvSpPr>
        <p:spPr>
          <a:xfrm>
            <a:off x="2194560" y="2926080"/>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2231136" y="2962656"/>
            <a:ext cx="521208" cy="155448"/>
          </a:xfrm>
          <a:prstGeom prst="rect">
            <a:avLst/>
          </a:prstGeom>
          <a:noFill/>
        </p:spPr>
        <p:txBody>
          <a:bodyPr wrap="square">
            <a:spAutoFit/>
          </a:bodyPr>
          <a:lstStyle/>
          <a:p>
            <a:pPr algn="ctr">
              <a:defRPr sz="900" b="0">
                <a:solidFill>
                  <a:srgbClr val="065F46"/>
                </a:solidFill>
                <a:latin typeface="Calibri"/>
              </a:defRPr>
            </a:pPr>
            <a:r>
              <a:t>BDA</a:t>
            </a:r>
          </a:p>
        </p:txBody>
      </p:sp>
      <p:sp>
        <p:nvSpPr>
          <p:cNvPr id="192" name="Rectangle 191"/>
          <p:cNvSpPr/>
          <p:nvPr/>
        </p:nvSpPr>
        <p:spPr>
          <a:xfrm>
            <a:off x="2788920" y="2926080"/>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2825496" y="2962656"/>
            <a:ext cx="978407" cy="155448"/>
          </a:xfrm>
          <a:prstGeom prst="rect">
            <a:avLst/>
          </a:prstGeom>
          <a:noFill/>
        </p:spPr>
        <p:txBody>
          <a:bodyPr wrap="square">
            <a:spAutoFit/>
          </a:bodyPr>
          <a:lstStyle/>
          <a:p>
            <a:pPr algn="ctr">
              <a:defRPr sz="900" b="0">
                <a:solidFill>
                  <a:srgbClr val="DC2626"/>
                </a:solidFill>
                <a:latin typeface="Calibri"/>
              </a:defRPr>
            </a:pPr>
            <a:r>
              <a:t>0%</a:t>
            </a:r>
          </a:p>
        </p:txBody>
      </p:sp>
      <p:sp>
        <p:nvSpPr>
          <p:cNvPr id="194" name="Rectangle 193"/>
          <p:cNvSpPr/>
          <p:nvPr/>
        </p:nvSpPr>
        <p:spPr>
          <a:xfrm>
            <a:off x="3840480" y="2926080"/>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3877056" y="2962656"/>
            <a:ext cx="886968" cy="155448"/>
          </a:xfrm>
          <a:prstGeom prst="rect">
            <a:avLst/>
          </a:prstGeom>
          <a:noFill/>
        </p:spPr>
        <p:txBody>
          <a:bodyPr wrap="square">
            <a:spAutoFit/>
          </a:bodyPr>
          <a:lstStyle/>
          <a:p>
            <a:pPr algn="ctr">
              <a:defRPr sz="900" b="0">
                <a:solidFill>
                  <a:srgbClr val="111827"/>
                </a:solidFill>
                <a:latin typeface="Calibri"/>
              </a:defRPr>
            </a:pPr>
            <a:r>
              <a:t>20.5</a:t>
            </a:r>
          </a:p>
        </p:txBody>
      </p:sp>
      <p:sp>
        <p:nvSpPr>
          <p:cNvPr id="196" name="Rectangle 195"/>
          <p:cNvSpPr/>
          <p:nvPr/>
        </p:nvSpPr>
        <p:spPr>
          <a:xfrm>
            <a:off x="4800600" y="2926080"/>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4837176" y="2962656"/>
            <a:ext cx="841248" cy="155448"/>
          </a:xfrm>
          <a:prstGeom prst="rect">
            <a:avLst/>
          </a:prstGeom>
          <a:noFill/>
        </p:spPr>
        <p:txBody>
          <a:bodyPr wrap="square">
            <a:spAutoFit/>
          </a:bodyPr>
          <a:lstStyle/>
          <a:p>
            <a:pPr algn="ctr">
              <a:defRPr sz="900" b="0">
                <a:solidFill>
                  <a:srgbClr val="111827"/>
                </a:solidFill>
                <a:latin typeface="Calibri"/>
              </a:defRPr>
            </a:pPr>
            <a:r>
              <a:t>2,078</a:t>
            </a:r>
          </a:p>
        </p:txBody>
      </p:sp>
      <p:sp>
        <p:nvSpPr>
          <p:cNvPr id="198" name="Rectangle 197"/>
          <p:cNvSpPr/>
          <p:nvPr/>
        </p:nvSpPr>
        <p:spPr>
          <a:xfrm>
            <a:off x="5715000" y="2926080"/>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5751576" y="2962656"/>
            <a:ext cx="841248" cy="155448"/>
          </a:xfrm>
          <a:prstGeom prst="rect">
            <a:avLst/>
          </a:prstGeom>
          <a:noFill/>
        </p:spPr>
        <p:txBody>
          <a:bodyPr wrap="square">
            <a:spAutoFit/>
          </a:bodyPr>
          <a:lstStyle/>
          <a:p>
            <a:pPr algn="ctr">
              <a:defRPr sz="900" b="0">
                <a:solidFill>
                  <a:srgbClr val="111827"/>
                </a:solidFill>
                <a:latin typeface="Calibri"/>
              </a:defRPr>
            </a:pPr>
            <a:r>
              <a:t>41</a:t>
            </a:r>
          </a:p>
        </p:txBody>
      </p:sp>
      <p:sp>
        <p:nvSpPr>
          <p:cNvPr id="200" name="Rectangle 199"/>
          <p:cNvSpPr/>
          <p:nvPr/>
        </p:nvSpPr>
        <p:spPr>
          <a:xfrm>
            <a:off x="6629400" y="2926080"/>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665976" y="2962656"/>
            <a:ext cx="886968" cy="155448"/>
          </a:xfrm>
          <a:prstGeom prst="rect">
            <a:avLst/>
          </a:prstGeom>
          <a:noFill/>
        </p:spPr>
        <p:txBody>
          <a:bodyPr wrap="square">
            <a:spAutoFit/>
          </a:bodyPr>
          <a:lstStyle/>
          <a:p>
            <a:pPr algn="ctr">
              <a:defRPr sz="900" b="0">
                <a:solidFill>
                  <a:srgbClr val="DC2626"/>
                </a:solidFill>
                <a:latin typeface="Calibri"/>
              </a:defRPr>
            </a:pPr>
            <a:r>
              <a:t>2%</a:t>
            </a:r>
          </a:p>
        </p:txBody>
      </p:sp>
      <p:sp>
        <p:nvSpPr>
          <p:cNvPr id="202" name="Rectangle 201"/>
          <p:cNvSpPr/>
          <p:nvPr/>
        </p:nvSpPr>
        <p:spPr>
          <a:xfrm>
            <a:off x="7589520" y="2926080"/>
            <a:ext cx="16459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7626096" y="2962656"/>
            <a:ext cx="1572768" cy="155448"/>
          </a:xfrm>
          <a:prstGeom prst="rect">
            <a:avLst/>
          </a:prstGeom>
          <a:noFill/>
        </p:spPr>
        <p:txBody>
          <a:bodyPr wrap="square">
            <a:spAutoFit/>
          </a:bodyPr>
          <a:lstStyle/>
          <a:p>
            <a:pPr algn="ctr">
              <a:defRPr sz="900" b="0">
                <a:solidFill>
                  <a:srgbClr val="111827"/>
                </a:solidFill>
                <a:latin typeface="Calibri"/>
              </a:defRPr>
            </a:pPr>
            <a:r>
              <a:t>$13K</a:t>
            </a:r>
          </a:p>
        </p:txBody>
      </p:sp>
      <p:sp>
        <p:nvSpPr>
          <p:cNvPr id="204" name="Rectangle 203"/>
          <p:cNvSpPr/>
          <p:nvPr/>
        </p:nvSpPr>
        <p:spPr>
          <a:xfrm>
            <a:off x="9235440" y="2926080"/>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9272016" y="2962656"/>
            <a:ext cx="1298448" cy="155448"/>
          </a:xfrm>
          <a:prstGeom prst="rect">
            <a:avLst/>
          </a:prstGeom>
          <a:noFill/>
        </p:spPr>
        <p:txBody>
          <a:bodyPr wrap="square">
            <a:spAutoFit/>
          </a:bodyPr>
          <a:lstStyle/>
          <a:p>
            <a:pPr algn="ctr">
              <a:defRPr sz="900" b="0">
                <a:solidFill>
                  <a:srgbClr val="111827"/>
                </a:solidFill>
                <a:latin typeface="Calibri"/>
              </a:defRPr>
            </a:pPr>
            <a:r>
              <a:t>2</a:t>
            </a:r>
          </a:p>
        </p:txBody>
      </p:sp>
      <p:sp>
        <p:nvSpPr>
          <p:cNvPr id="206" name="Rectangle 205"/>
          <p:cNvSpPr/>
          <p:nvPr/>
        </p:nvSpPr>
        <p:spPr>
          <a:xfrm>
            <a:off x="10607040" y="2926080"/>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10643616" y="2962656"/>
            <a:ext cx="1298448" cy="155448"/>
          </a:xfrm>
          <a:prstGeom prst="rect">
            <a:avLst/>
          </a:prstGeom>
          <a:noFill/>
        </p:spPr>
        <p:txBody>
          <a:bodyPr wrap="square">
            <a:spAutoFit/>
          </a:bodyPr>
          <a:lstStyle/>
          <a:p>
            <a:pPr algn="ctr">
              <a:defRPr sz="900" b="0">
                <a:solidFill>
                  <a:srgbClr val="111827"/>
                </a:solidFill>
                <a:latin typeface="Calibri"/>
              </a:defRPr>
            </a:pPr>
            <a:r>
              <a:t>$6,258</a:t>
            </a:r>
          </a:p>
        </p:txBody>
      </p:sp>
      <p:sp>
        <p:nvSpPr>
          <p:cNvPr id="208" name="Rectangle 207"/>
          <p:cNvSpPr/>
          <p:nvPr/>
        </p:nvSpPr>
        <p:spPr>
          <a:xfrm>
            <a:off x="182880" y="3145536"/>
            <a:ext cx="2011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219456" y="3182112"/>
            <a:ext cx="1938528" cy="155448"/>
          </a:xfrm>
          <a:prstGeom prst="rect">
            <a:avLst/>
          </a:prstGeom>
          <a:noFill/>
        </p:spPr>
        <p:txBody>
          <a:bodyPr wrap="square">
            <a:spAutoFit/>
          </a:bodyPr>
          <a:lstStyle/>
          <a:p>
            <a:pPr algn="l">
              <a:defRPr sz="900" b="0">
                <a:solidFill>
                  <a:srgbClr val="065F46"/>
                </a:solidFill>
                <a:latin typeface="Calibri"/>
              </a:defRPr>
            </a:pPr>
            <a:r>
              <a:t>Kurt B.</a:t>
            </a:r>
          </a:p>
        </p:txBody>
      </p:sp>
      <p:sp>
        <p:nvSpPr>
          <p:cNvPr id="210" name="Rectangle 209"/>
          <p:cNvSpPr/>
          <p:nvPr/>
        </p:nvSpPr>
        <p:spPr>
          <a:xfrm>
            <a:off x="2194560" y="3145536"/>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2231136" y="3182112"/>
            <a:ext cx="521208" cy="155448"/>
          </a:xfrm>
          <a:prstGeom prst="rect">
            <a:avLst/>
          </a:prstGeom>
          <a:noFill/>
        </p:spPr>
        <p:txBody>
          <a:bodyPr wrap="square">
            <a:spAutoFit/>
          </a:bodyPr>
          <a:lstStyle/>
          <a:p>
            <a:pPr algn="ctr">
              <a:defRPr sz="900" b="0">
                <a:solidFill>
                  <a:srgbClr val="065F46"/>
                </a:solidFill>
                <a:latin typeface="Calibri"/>
              </a:defRPr>
            </a:pPr>
            <a:r>
              <a:t>BDA</a:t>
            </a:r>
          </a:p>
        </p:txBody>
      </p:sp>
      <p:sp>
        <p:nvSpPr>
          <p:cNvPr id="212" name="Rectangle 211"/>
          <p:cNvSpPr/>
          <p:nvPr/>
        </p:nvSpPr>
        <p:spPr>
          <a:xfrm>
            <a:off x="2788920" y="3145536"/>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2825496" y="3182112"/>
            <a:ext cx="978407" cy="155448"/>
          </a:xfrm>
          <a:prstGeom prst="rect">
            <a:avLst/>
          </a:prstGeom>
          <a:noFill/>
        </p:spPr>
        <p:txBody>
          <a:bodyPr wrap="square">
            <a:spAutoFit/>
          </a:bodyPr>
          <a:lstStyle/>
          <a:p>
            <a:pPr algn="ctr">
              <a:defRPr sz="900" b="0">
                <a:solidFill>
                  <a:srgbClr val="DC2626"/>
                </a:solidFill>
                <a:latin typeface="Calibri"/>
              </a:defRPr>
            </a:pPr>
            <a:r>
              <a:t>0%</a:t>
            </a:r>
          </a:p>
        </p:txBody>
      </p:sp>
      <p:sp>
        <p:nvSpPr>
          <p:cNvPr id="214" name="Rectangle 213"/>
          <p:cNvSpPr/>
          <p:nvPr/>
        </p:nvSpPr>
        <p:spPr>
          <a:xfrm>
            <a:off x="3840480" y="3145536"/>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3877056" y="3182112"/>
            <a:ext cx="886968" cy="155448"/>
          </a:xfrm>
          <a:prstGeom prst="rect">
            <a:avLst/>
          </a:prstGeom>
          <a:noFill/>
        </p:spPr>
        <p:txBody>
          <a:bodyPr wrap="square">
            <a:spAutoFit/>
          </a:bodyPr>
          <a:lstStyle/>
          <a:p>
            <a:pPr algn="ctr">
              <a:defRPr sz="900" b="0">
                <a:solidFill>
                  <a:srgbClr val="111827"/>
                </a:solidFill>
                <a:latin typeface="Calibri"/>
              </a:defRPr>
            </a:pPr>
            <a:r>
              <a:t>8.0</a:t>
            </a:r>
          </a:p>
        </p:txBody>
      </p:sp>
      <p:sp>
        <p:nvSpPr>
          <p:cNvPr id="216" name="Rectangle 215"/>
          <p:cNvSpPr/>
          <p:nvPr/>
        </p:nvSpPr>
        <p:spPr>
          <a:xfrm>
            <a:off x="4800600" y="3145536"/>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4837176" y="3182112"/>
            <a:ext cx="841248" cy="155448"/>
          </a:xfrm>
          <a:prstGeom prst="rect">
            <a:avLst/>
          </a:prstGeom>
          <a:noFill/>
        </p:spPr>
        <p:txBody>
          <a:bodyPr wrap="square">
            <a:spAutoFit/>
          </a:bodyPr>
          <a:lstStyle/>
          <a:p>
            <a:pPr algn="ctr">
              <a:defRPr sz="900" b="0">
                <a:solidFill>
                  <a:srgbClr val="111827"/>
                </a:solidFill>
                <a:latin typeface="Calibri"/>
              </a:defRPr>
            </a:pPr>
            <a:r>
              <a:t>3,054</a:t>
            </a:r>
          </a:p>
        </p:txBody>
      </p:sp>
      <p:sp>
        <p:nvSpPr>
          <p:cNvPr id="218" name="Rectangle 217"/>
          <p:cNvSpPr/>
          <p:nvPr/>
        </p:nvSpPr>
        <p:spPr>
          <a:xfrm>
            <a:off x="5715000" y="3145536"/>
            <a:ext cx="9144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5751576" y="3182112"/>
            <a:ext cx="841248" cy="155448"/>
          </a:xfrm>
          <a:prstGeom prst="rect">
            <a:avLst/>
          </a:prstGeom>
          <a:noFill/>
        </p:spPr>
        <p:txBody>
          <a:bodyPr wrap="square">
            <a:spAutoFit/>
          </a:bodyPr>
          <a:lstStyle/>
          <a:p>
            <a:pPr algn="ctr">
              <a:defRPr sz="900" b="0">
                <a:solidFill>
                  <a:srgbClr val="111827"/>
                </a:solidFill>
                <a:latin typeface="Calibri"/>
              </a:defRPr>
            </a:pPr>
            <a:r>
              <a:t>77</a:t>
            </a:r>
          </a:p>
        </p:txBody>
      </p:sp>
      <p:sp>
        <p:nvSpPr>
          <p:cNvPr id="220" name="Rectangle 219"/>
          <p:cNvSpPr/>
          <p:nvPr/>
        </p:nvSpPr>
        <p:spPr>
          <a:xfrm>
            <a:off x="6629400" y="3145536"/>
            <a:ext cx="9601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6665976" y="3182112"/>
            <a:ext cx="886968" cy="155448"/>
          </a:xfrm>
          <a:prstGeom prst="rect">
            <a:avLst/>
          </a:prstGeom>
          <a:noFill/>
        </p:spPr>
        <p:txBody>
          <a:bodyPr wrap="square">
            <a:spAutoFit/>
          </a:bodyPr>
          <a:lstStyle/>
          <a:p>
            <a:pPr algn="ctr">
              <a:defRPr sz="900" b="0">
                <a:solidFill>
                  <a:srgbClr val="DC2626"/>
                </a:solidFill>
                <a:latin typeface="Calibri"/>
              </a:defRPr>
            </a:pPr>
            <a:r>
              <a:t>3%</a:t>
            </a:r>
          </a:p>
        </p:txBody>
      </p:sp>
      <p:sp>
        <p:nvSpPr>
          <p:cNvPr id="222" name="Rectangle 221"/>
          <p:cNvSpPr/>
          <p:nvPr/>
        </p:nvSpPr>
        <p:spPr>
          <a:xfrm>
            <a:off x="7589520" y="3145536"/>
            <a:ext cx="16459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7626096" y="3182112"/>
            <a:ext cx="1572768" cy="155448"/>
          </a:xfrm>
          <a:prstGeom prst="rect">
            <a:avLst/>
          </a:prstGeom>
          <a:noFill/>
        </p:spPr>
        <p:txBody>
          <a:bodyPr wrap="square">
            <a:spAutoFit/>
          </a:bodyPr>
          <a:lstStyle/>
          <a:p>
            <a:pPr algn="ctr">
              <a:defRPr sz="900" b="0">
                <a:solidFill>
                  <a:srgbClr val="111827"/>
                </a:solidFill>
                <a:latin typeface="Calibri"/>
              </a:defRPr>
            </a:pPr>
            <a:r>
              <a:t>$26K</a:t>
            </a:r>
          </a:p>
        </p:txBody>
      </p:sp>
      <p:sp>
        <p:nvSpPr>
          <p:cNvPr id="224" name="Rectangle 223"/>
          <p:cNvSpPr/>
          <p:nvPr/>
        </p:nvSpPr>
        <p:spPr>
          <a:xfrm>
            <a:off x="9235440" y="3145536"/>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9272016" y="3182112"/>
            <a:ext cx="1298448" cy="155448"/>
          </a:xfrm>
          <a:prstGeom prst="rect">
            <a:avLst/>
          </a:prstGeom>
          <a:noFill/>
        </p:spPr>
        <p:txBody>
          <a:bodyPr wrap="square">
            <a:spAutoFit/>
          </a:bodyPr>
          <a:lstStyle/>
          <a:p>
            <a:pPr algn="ctr">
              <a:defRPr sz="900" b="0">
                <a:solidFill>
                  <a:srgbClr val="111827"/>
                </a:solidFill>
                <a:latin typeface="Calibri"/>
              </a:defRPr>
            </a:pPr>
            <a:r>
              <a:t>1</a:t>
            </a:r>
          </a:p>
        </p:txBody>
      </p:sp>
      <p:sp>
        <p:nvSpPr>
          <p:cNvPr id="226" name="Rectangle 225"/>
          <p:cNvSpPr/>
          <p:nvPr/>
        </p:nvSpPr>
        <p:spPr>
          <a:xfrm>
            <a:off x="10607040" y="3145536"/>
            <a:ext cx="137160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10643616" y="3182112"/>
            <a:ext cx="1298448" cy="155448"/>
          </a:xfrm>
          <a:prstGeom prst="rect">
            <a:avLst/>
          </a:prstGeom>
          <a:noFill/>
        </p:spPr>
        <p:txBody>
          <a:bodyPr wrap="square">
            <a:spAutoFit/>
          </a:bodyPr>
          <a:lstStyle/>
          <a:p>
            <a:pPr algn="ctr">
              <a:defRPr sz="900" b="0">
                <a:solidFill>
                  <a:srgbClr val="111827"/>
                </a:solidFill>
                <a:latin typeface="Calibri"/>
              </a:defRPr>
            </a:pPr>
            <a:r>
              <a:t>$37,686</a:t>
            </a:r>
          </a:p>
        </p:txBody>
      </p:sp>
      <p:sp>
        <p:nvSpPr>
          <p:cNvPr id="228" name="Rectangle 227"/>
          <p:cNvSpPr/>
          <p:nvPr/>
        </p:nvSpPr>
        <p:spPr>
          <a:xfrm>
            <a:off x="182880" y="3364992"/>
            <a:ext cx="2011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219456" y="3401568"/>
            <a:ext cx="1938528" cy="155448"/>
          </a:xfrm>
          <a:prstGeom prst="rect">
            <a:avLst/>
          </a:prstGeom>
          <a:noFill/>
        </p:spPr>
        <p:txBody>
          <a:bodyPr wrap="square">
            <a:spAutoFit/>
          </a:bodyPr>
          <a:lstStyle/>
          <a:p>
            <a:pPr algn="l">
              <a:defRPr sz="900" b="0">
                <a:solidFill>
                  <a:srgbClr val="6D28D9"/>
                </a:solidFill>
                <a:latin typeface="Calibri"/>
              </a:defRPr>
            </a:pPr>
            <a:r>
              <a:t>Alexis B.</a:t>
            </a:r>
          </a:p>
        </p:txBody>
      </p:sp>
      <p:sp>
        <p:nvSpPr>
          <p:cNvPr id="230" name="Rectangle 229"/>
          <p:cNvSpPr/>
          <p:nvPr/>
        </p:nvSpPr>
        <p:spPr>
          <a:xfrm>
            <a:off x="2194560" y="3364992"/>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2231136" y="3401568"/>
            <a:ext cx="521208" cy="155448"/>
          </a:xfrm>
          <a:prstGeom prst="rect">
            <a:avLst/>
          </a:prstGeom>
          <a:noFill/>
        </p:spPr>
        <p:txBody>
          <a:bodyPr wrap="square">
            <a:spAutoFit/>
          </a:bodyPr>
          <a:lstStyle/>
          <a:p>
            <a:pPr algn="ctr">
              <a:defRPr sz="900" b="0">
                <a:solidFill>
                  <a:srgbClr val="6D28D9"/>
                </a:solidFill>
                <a:latin typeface="Calibri"/>
              </a:defRPr>
            </a:pPr>
            <a:r>
              <a:t>BDM</a:t>
            </a:r>
          </a:p>
        </p:txBody>
      </p:sp>
      <p:sp>
        <p:nvSpPr>
          <p:cNvPr id="232" name="Rectangle 231"/>
          <p:cNvSpPr/>
          <p:nvPr/>
        </p:nvSpPr>
        <p:spPr>
          <a:xfrm>
            <a:off x="2788920" y="3364992"/>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2825496" y="3401568"/>
            <a:ext cx="978407" cy="155448"/>
          </a:xfrm>
          <a:prstGeom prst="rect">
            <a:avLst/>
          </a:prstGeom>
          <a:noFill/>
        </p:spPr>
        <p:txBody>
          <a:bodyPr wrap="square">
            <a:spAutoFit/>
          </a:bodyPr>
          <a:lstStyle/>
          <a:p>
            <a:pPr algn="ctr">
              <a:defRPr sz="900" b="0">
                <a:solidFill>
                  <a:srgbClr val="DC2626"/>
                </a:solidFill>
                <a:latin typeface="Calibri"/>
              </a:defRPr>
            </a:pPr>
            <a:r>
              <a:t>0%</a:t>
            </a:r>
          </a:p>
        </p:txBody>
      </p:sp>
      <p:sp>
        <p:nvSpPr>
          <p:cNvPr id="234" name="Rectangle 233"/>
          <p:cNvSpPr/>
          <p:nvPr/>
        </p:nvSpPr>
        <p:spPr>
          <a:xfrm>
            <a:off x="3840480" y="3364992"/>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3877056" y="3401568"/>
            <a:ext cx="886968" cy="155448"/>
          </a:xfrm>
          <a:prstGeom prst="rect">
            <a:avLst/>
          </a:prstGeom>
          <a:noFill/>
        </p:spPr>
        <p:txBody>
          <a:bodyPr wrap="square">
            <a:spAutoFit/>
          </a:bodyPr>
          <a:lstStyle/>
          <a:p>
            <a:pPr algn="ctr">
              <a:defRPr sz="900" b="0">
                <a:solidFill>
                  <a:srgbClr val="111827"/>
                </a:solidFill>
                <a:latin typeface="Calibri"/>
              </a:defRPr>
            </a:pPr>
            <a:r>
              <a:t>7.2</a:t>
            </a:r>
          </a:p>
        </p:txBody>
      </p:sp>
      <p:sp>
        <p:nvSpPr>
          <p:cNvPr id="236" name="Rectangle 235"/>
          <p:cNvSpPr/>
          <p:nvPr/>
        </p:nvSpPr>
        <p:spPr>
          <a:xfrm>
            <a:off x="4800600" y="3364992"/>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4837176" y="3401568"/>
            <a:ext cx="841248" cy="155448"/>
          </a:xfrm>
          <a:prstGeom prst="rect">
            <a:avLst/>
          </a:prstGeom>
          <a:noFill/>
        </p:spPr>
        <p:txBody>
          <a:bodyPr wrap="square">
            <a:spAutoFit/>
          </a:bodyPr>
          <a:lstStyle/>
          <a:p>
            <a:pPr algn="ctr">
              <a:defRPr sz="900" b="0">
                <a:solidFill>
                  <a:srgbClr val="111827"/>
                </a:solidFill>
                <a:latin typeface="Calibri"/>
              </a:defRPr>
            </a:pPr>
            <a:r>
              <a:t>1,400</a:t>
            </a:r>
          </a:p>
        </p:txBody>
      </p:sp>
      <p:sp>
        <p:nvSpPr>
          <p:cNvPr id="238" name="Rectangle 237"/>
          <p:cNvSpPr/>
          <p:nvPr/>
        </p:nvSpPr>
        <p:spPr>
          <a:xfrm>
            <a:off x="5715000" y="3364992"/>
            <a:ext cx="9144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5751576" y="3401568"/>
            <a:ext cx="841248" cy="155448"/>
          </a:xfrm>
          <a:prstGeom prst="rect">
            <a:avLst/>
          </a:prstGeom>
          <a:noFill/>
        </p:spPr>
        <p:txBody>
          <a:bodyPr wrap="square">
            <a:spAutoFit/>
          </a:bodyPr>
          <a:lstStyle/>
          <a:p>
            <a:pPr algn="ctr">
              <a:defRPr sz="900" b="0">
                <a:solidFill>
                  <a:srgbClr val="111827"/>
                </a:solidFill>
                <a:latin typeface="Calibri"/>
              </a:defRPr>
            </a:pPr>
            <a:r>
              <a:t>110</a:t>
            </a:r>
          </a:p>
        </p:txBody>
      </p:sp>
      <p:sp>
        <p:nvSpPr>
          <p:cNvPr id="240" name="Rectangle 239"/>
          <p:cNvSpPr/>
          <p:nvPr/>
        </p:nvSpPr>
        <p:spPr>
          <a:xfrm>
            <a:off x="6629400" y="3364992"/>
            <a:ext cx="9601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6665976" y="3401568"/>
            <a:ext cx="886968" cy="155448"/>
          </a:xfrm>
          <a:prstGeom prst="rect">
            <a:avLst/>
          </a:prstGeom>
          <a:noFill/>
        </p:spPr>
        <p:txBody>
          <a:bodyPr wrap="square">
            <a:spAutoFit/>
          </a:bodyPr>
          <a:lstStyle/>
          <a:p>
            <a:pPr algn="ctr">
              <a:defRPr sz="900" b="0">
                <a:solidFill>
                  <a:srgbClr val="DC2626"/>
                </a:solidFill>
                <a:latin typeface="Calibri"/>
              </a:defRPr>
            </a:pPr>
            <a:r>
              <a:t>8%</a:t>
            </a:r>
          </a:p>
        </p:txBody>
      </p:sp>
      <p:sp>
        <p:nvSpPr>
          <p:cNvPr id="242" name="Rectangle 241"/>
          <p:cNvSpPr/>
          <p:nvPr/>
        </p:nvSpPr>
        <p:spPr>
          <a:xfrm>
            <a:off x="7589520" y="3364992"/>
            <a:ext cx="16459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7626096" y="3401568"/>
            <a:ext cx="1572768" cy="155448"/>
          </a:xfrm>
          <a:prstGeom prst="rect">
            <a:avLst/>
          </a:prstGeom>
          <a:noFill/>
        </p:spPr>
        <p:txBody>
          <a:bodyPr wrap="square">
            <a:spAutoFit/>
          </a:bodyPr>
          <a:lstStyle/>
          <a:p>
            <a:pPr algn="ctr">
              <a:defRPr sz="900" b="0">
                <a:solidFill>
                  <a:srgbClr val="111827"/>
                </a:solidFill>
                <a:latin typeface="Calibri"/>
              </a:defRPr>
            </a:pPr>
            <a:r>
              <a:t>$24K</a:t>
            </a:r>
          </a:p>
        </p:txBody>
      </p:sp>
      <p:sp>
        <p:nvSpPr>
          <p:cNvPr id="244" name="Rectangle 243"/>
          <p:cNvSpPr/>
          <p:nvPr/>
        </p:nvSpPr>
        <p:spPr>
          <a:xfrm>
            <a:off x="9235440" y="3364992"/>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9272016" y="3401568"/>
            <a:ext cx="1298448" cy="155448"/>
          </a:xfrm>
          <a:prstGeom prst="rect">
            <a:avLst/>
          </a:prstGeom>
          <a:noFill/>
        </p:spPr>
        <p:txBody>
          <a:bodyPr wrap="square">
            <a:spAutoFit/>
          </a:bodyPr>
          <a:lstStyle/>
          <a:p>
            <a:pPr algn="ctr">
              <a:defRPr sz="900" b="0">
                <a:solidFill>
                  <a:srgbClr val="111827"/>
                </a:solidFill>
                <a:latin typeface="Calibri"/>
              </a:defRPr>
            </a:pPr>
            <a:r>
              <a:t>1</a:t>
            </a:r>
          </a:p>
        </p:txBody>
      </p:sp>
      <p:sp>
        <p:nvSpPr>
          <p:cNvPr id="246" name="Rectangle 245"/>
          <p:cNvSpPr/>
          <p:nvPr/>
        </p:nvSpPr>
        <p:spPr>
          <a:xfrm>
            <a:off x="10607040" y="3364992"/>
            <a:ext cx="137160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10643616" y="3401568"/>
            <a:ext cx="1298448" cy="155448"/>
          </a:xfrm>
          <a:prstGeom prst="rect">
            <a:avLst/>
          </a:prstGeom>
          <a:noFill/>
        </p:spPr>
        <p:txBody>
          <a:bodyPr wrap="square">
            <a:spAutoFit/>
          </a:bodyPr>
          <a:lstStyle/>
          <a:p>
            <a:pPr algn="ctr">
              <a:defRPr sz="900" b="0">
                <a:solidFill>
                  <a:srgbClr val="111827"/>
                </a:solidFill>
                <a:latin typeface="Calibri"/>
              </a:defRPr>
            </a:pPr>
            <a:r>
              <a:t>$45,557</a:t>
            </a:r>
          </a:p>
        </p:txBody>
      </p:sp>
      <p:sp>
        <p:nvSpPr>
          <p:cNvPr id="248" name="Rectangle 247"/>
          <p:cNvSpPr/>
          <p:nvPr/>
        </p:nvSpPr>
        <p:spPr>
          <a:xfrm>
            <a:off x="182880" y="3675888"/>
            <a:ext cx="11795760" cy="201168"/>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274320" y="3712464"/>
            <a:ext cx="11612880" cy="137160"/>
          </a:xfrm>
          <a:prstGeom prst="rect">
            <a:avLst/>
          </a:prstGeom>
          <a:noFill/>
        </p:spPr>
        <p:txBody>
          <a:bodyPr wrap="square">
            <a:spAutoFit/>
          </a:bodyPr>
          <a:lstStyle/>
          <a:p>
            <a:pPr algn="l">
              <a:defRPr sz="950" b="1">
                <a:solidFill>
                  <a:srgbClr val="FFFFFF"/>
                </a:solidFill>
                <a:latin typeface="Calibri"/>
              </a:defRPr>
            </a:pPr>
            <a:r>
              <a:t>SECTION 2 — PORTFOLIO ENGAGEMENT  (left)     ·     EFFICIENCY vs RESULTS  (right, sorted high→low GWP/Activity)</a:t>
            </a:r>
          </a:p>
        </p:txBody>
      </p:sp>
      <p:sp>
        <p:nvSpPr>
          <p:cNvPr id="250" name="Rectangle 249"/>
          <p:cNvSpPr/>
          <p:nvPr/>
        </p:nvSpPr>
        <p:spPr>
          <a:xfrm>
            <a:off x="182880" y="3895344"/>
            <a:ext cx="173736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219456" y="3941064"/>
            <a:ext cx="1664207" cy="164592"/>
          </a:xfrm>
          <a:prstGeom prst="rect">
            <a:avLst/>
          </a:prstGeom>
          <a:noFill/>
        </p:spPr>
        <p:txBody>
          <a:bodyPr wrap="square">
            <a:spAutoFit/>
          </a:bodyPr>
          <a:lstStyle/>
          <a:p>
            <a:pPr algn="ctr">
              <a:defRPr sz="850" b="1">
                <a:solidFill>
                  <a:srgbClr val="FFFFFF"/>
                </a:solidFill>
                <a:latin typeface="Calibri"/>
              </a:defRPr>
            </a:pPr>
            <a:r>
              <a:t>Rep</a:t>
            </a:r>
          </a:p>
        </p:txBody>
      </p:sp>
      <p:sp>
        <p:nvSpPr>
          <p:cNvPr id="252" name="Rectangle 251"/>
          <p:cNvSpPr/>
          <p:nvPr/>
        </p:nvSpPr>
        <p:spPr>
          <a:xfrm>
            <a:off x="1920240" y="3895344"/>
            <a:ext cx="82296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1956816" y="3941064"/>
            <a:ext cx="749808" cy="164592"/>
          </a:xfrm>
          <a:prstGeom prst="rect">
            <a:avLst/>
          </a:prstGeom>
          <a:noFill/>
        </p:spPr>
        <p:txBody>
          <a:bodyPr wrap="square">
            <a:spAutoFit/>
          </a:bodyPr>
          <a:lstStyle/>
          <a:p>
            <a:pPr algn="ctr">
              <a:defRPr sz="850" b="1">
                <a:solidFill>
                  <a:srgbClr val="FFFFFF"/>
                </a:solidFill>
                <a:latin typeface="Calibri"/>
              </a:defRPr>
            </a:pPr>
            <a:r>
              <a:t>Portfolio</a:t>
            </a:r>
          </a:p>
        </p:txBody>
      </p:sp>
      <p:sp>
        <p:nvSpPr>
          <p:cNvPr id="254" name="Rectangle 253"/>
          <p:cNvSpPr/>
          <p:nvPr/>
        </p:nvSpPr>
        <p:spPr>
          <a:xfrm>
            <a:off x="2743200" y="3895344"/>
            <a:ext cx="82296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2779776" y="3941064"/>
            <a:ext cx="749808" cy="164592"/>
          </a:xfrm>
          <a:prstGeom prst="rect">
            <a:avLst/>
          </a:prstGeom>
          <a:noFill/>
        </p:spPr>
        <p:txBody>
          <a:bodyPr wrap="square">
            <a:spAutoFit/>
          </a:bodyPr>
          <a:lstStyle/>
          <a:p>
            <a:pPr algn="ctr">
              <a:defRPr sz="850" b="1">
                <a:solidFill>
                  <a:srgbClr val="FFFFFF"/>
                </a:solidFill>
                <a:latin typeface="Calibri"/>
              </a:defRPr>
            </a:pPr>
            <a:r>
              <a:t>Active Q1</a:t>
            </a:r>
          </a:p>
        </p:txBody>
      </p:sp>
      <p:sp>
        <p:nvSpPr>
          <p:cNvPr id="256" name="Rectangle 255"/>
          <p:cNvSpPr/>
          <p:nvPr/>
        </p:nvSpPr>
        <p:spPr>
          <a:xfrm>
            <a:off x="3566160" y="3895344"/>
            <a:ext cx="86868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3602736" y="3941064"/>
            <a:ext cx="795528" cy="164592"/>
          </a:xfrm>
          <a:prstGeom prst="rect">
            <a:avLst/>
          </a:prstGeom>
          <a:noFill/>
        </p:spPr>
        <p:txBody>
          <a:bodyPr wrap="square">
            <a:spAutoFit/>
          </a:bodyPr>
          <a:lstStyle/>
          <a:p>
            <a:pPr algn="ctr">
              <a:defRPr sz="850" b="1">
                <a:solidFill>
                  <a:srgbClr val="FFFFFF"/>
                </a:solidFill>
                <a:latin typeface="Calibri"/>
              </a:defRPr>
            </a:pPr>
            <a:r>
              <a:t>Dormant%</a:t>
            </a:r>
          </a:p>
        </p:txBody>
      </p:sp>
      <p:sp>
        <p:nvSpPr>
          <p:cNvPr id="258" name="Rectangle 257"/>
          <p:cNvSpPr/>
          <p:nvPr/>
        </p:nvSpPr>
        <p:spPr>
          <a:xfrm>
            <a:off x="4434840" y="3895344"/>
            <a:ext cx="141732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4471416" y="3941064"/>
            <a:ext cx="1344168" cy="164592"/>
          </a:xfrm>
          <a:prstGeom prst="rect">
            <a:avLst/>
          </a:prstGeom>
          <a:noFill/>
        </p:spPr>
        <p:txBody>
          <a:bodyPr wrap="square">
            <a:spAutoFit/>
          </a:bodyPr>
          <a:lstStyle/>
          <a:p>
            <a:pPr algn="ctr">
              <a:defRPr sz="850" b="1">
                <a:solidFill>
                  <a:srgbClr val="FFFFFF"/>
                </a:solidFill>
                <a:latin typeface="Calibri"/>
              </a:defRPr>
            </a:pPr>
            <a:r>
              <a:t>GWP / Active Agency</a:t>
            </a:r>
          </a:p>
        </p:txBody>
      </p:sp>
      <p:sp>
        <p:nvSpPr>
          <p:cNvPr id="260" name="Rectangle 259"/>
          <p:cNvSpPr/>
          <p:nvPr/>
        </p:nvSpPr>
        <p:spPr>
          <a:xfrm>
            <a:off x="6126480" y="3895344"/>
            <a:ext cx="173736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6163056" y="3941064"/>
            <a:ext cx="1664207" cy="164592"/>
          </a:xfrm>
          <a:prstGeom prst="rect">
            <a:avLst/>
          </a:prstGeom>
          <a:noFill/>
        </p:spPr>
        <p:txBody>
          <a:bodyPr wrap="square">
            <a:spAutoFit/>
          </a:bodyPr>
          <a:lstStyle/>
          <a:p>
            <a:pPr algn="ctr">
              <a:defRPr sz="850" b="1">
                <a:solidFill>
                  <a:srgbClr val="FFFFFF"/>
                </a:solidFill>
                <a:latin typeface="Calibri"/>
              </a:defRPr>
            </a:pPr>
            <a:r>
              <a:t>Rep</a:t>
            </a:r>
          </a:p>
        </p:txBody>
      </p:sp>
      <p:sp>
        <p:nvSpPr>
          <p:cNvPr id="262" name="Rectangle 261"/>
          <p:cNvSpPr/>
          <p:nvPr/>
        </p:nvSpPr>
        <p:spPr>
          <a:xfrm>
            <a:off x="7863840" y="3895344"/>
            <a:ext cx="100584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7900415" y="3941064"/>
            <a:ext cx="932688" cy="164592"/>
          </a:xfrm>
          <a:prstGeom prst="rect">
            <a:avLst/>
          </a:prstGeom>
          <a:noFill/>
        </p:spPr>
        <p:txBody>
          <a:bodyPr wrap="square">
            <a:spAutoFit/>
          </a:bodyPr>
          <a:lstStyle/>
          <a:p>
            <a:pPr algn="ctr">
              <a:defRPr sz="850" b="1">
                <a:solidFill>
                  <a:srgbClr val="FFFFFF"/>
                </a:solidFill>
                <a:latin typeface="Calibri"/>
              </a:defRPr>
            </a:pPr>
            <a:r>
              <a:t>Q2 Comp%</a:t>
            </a:r>
          </a:p>
        </p:txBody>
      </p:sp>
      <p:sp>
        <p:nvSpPr>
          <p:cNvPr id="264" name="Rectangle 263"/>
          <p:cNvSpPr/>
          <p:nvPr/>
        </p:nvSpPr>
        <p:spPr>
          <a:xfrm>
            <a:off x="8869680" y="3895344"/>
            <a:ext cx="105156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8906255" y="3941064"/>
            <a:ext cx="978407" cy="164592"/>
          </a:xfrm>
          <a:prstGeom prst="rect">
            <a:avLst/>
          </a:prstGeom>
          <a:noFill/>
        </p:spPr>
        <p:txBody>
          <a:bodyPr wrap="square">
            <a:spAutoFit/>
          </a:bodyPr>
          <a:lstStyle/>
          <a:p>
            <a:pPr algn="ctr">
              <a:defRPr sz="850" b="1">
                <a:solidFill>
                  <a:srgbClr val="FFFFFF"/>
                </a:solidFill>
                <a:latin typeface="Calibri"/>
              </a:defRPr>
            </a:pPr>
            <a:r>
              <a:t>GWP YOY%</a:t>
            </a:r>
          </a:p>
        </p:txBody>
      </p:sp>
      <p:sp>
        <p:nvSpPr>
          <p:cNvPr id="266" name="Rectangle 265"/>
          <p:cNvSpPr/>
          <p:nvPr/>
        </p:nvSpPr>
        <p:spPr>
          <a:xfrm>
            <a:off x="9921240" y="3895344"/>
            <a:ext cx="146304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9957815" y="3941064"/>
            <a:ext cx="1389888" cy="164592"/>
          </a:xfrm>
          <a:prstGeom prst="rect">
            <a:avLst/>
          </a:prstGeom>
          <a:noFill/>
        </p:spPr>
        <p:txBody>
          <a:bodyPr wrap="square">
            <a:spAutoFit/>
          </a:bodyPr>
          <a:lstStyle/>
          <a:p>
            <a:pPr algn="ctr">
              <a:defRPr sz="850" b="1">
                <a:solidFill>
                  <a:srgbClr val="FFFFFF"/>
                </a:solidFill>
                <a:latin typeface="Calibri"/>
              </a:defRPr>
            </a:pPr>
            <a:r>
              <a:t>GWP per Activity</a:t>
            </a:r>
          </a:p>
        </p:txBody>
      </p:sp>
      <p:sp>
        <p:nvSpPr>
          <p:cNvPr id="268" name="Rectangle 267"/>
          <p:cNvSpPr/>
          <p:nvPr/>
        </p:nvSpPr>
        <p:spPr>
          <a:xfrm>
            <a:off x="11384280" y="3895344"/>
            <a:ext cx="594360" cy="237744"/>
          </a:xfrm>
          <a:prstGeom prst="rect">
            <a:avLst/>
          </a:prstGeom>
          <a:solidFill>
            <a:srgbClr val="310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1420855" y="3941064"/>
            <a:ext cx="521208" cy="164592"/>
          </a:xfrm>
          <a:prstGeom prst="rect">
            <a:avLst/>
          </a:prstGeom>
          <a:noFill/>
        </p:spPr>
        <p:txBody>
          <a:bodyPr wrap="square">
            <a:spAutoFit/>
          </a:bodyPr>
          <a:lstStyle/>
          <a:p>
            <a:pPr algn="ctr">
              <a:defRPr sz="850" b="1">
                <a:solidFill>
                  <a:srgbClr val="FFFFFF"/>
                </a:solidFill>
                <a:latin typeface="Calibri"/>
              </a:defRPr>
            </a:pPr>
            <a:r>
              <a:t>Signal</a:t>
            </a:r>
          </a:p>
        </p:txBody>
      </p:sp>
      <p:sp>
        <p:nvSpPr>
          <p:cNvPr id="270" name="Rectangle 269"/>
          <p:cNvSpPr/>
          <p:nvPr/>
        </p:nvSpPr>
        <p:spPr>
          <a:xfrm>
            <a:off x="182880" y="4133088"/>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219456" y="4169664"/>
            <a:ext cx="1664207" cy="155448"/>
          </a:xfrm>
          <a:prstGeom prst="rect">
            <a:avLst/>
          </a:prstGeom>
          <a:noFill/>
        </p:spPr>
        <p:txBody>
          <a:bodyPr wrap="square">
            <a:spAutoFit/>
          </a:bodyPr>
          <a:lstStyle/>
          <a:p>
            <a:pPr algn="l">
              <a:defRPr sz="900" b="0">
                <a:solidFill>
                  <a:srgbClr val="6D28D9"/>
                </a:solidFill>
                <a:latin typeface="Calibri"/>
              </a:defRPr>
            </a:pPr>
            <a:r>
              <a:t>Derek J.</a:t>
            </a:r>
          </a:p>
        </p:txBody>
      </p:sp>
      <p:sp>
        <p:nvSpPr>
          <p:cNvPr id="272" name="Rectangle 271"/>
          <p:cNvSpPr/>
          <p:nvPr/>
        </p:nvSpPr>
        <p:spPr>
          <a:xfrm>
            <a:off x="1920240" y="4133088"/>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1956816" y="4169664"/>
            <a:ext cx="749808" cy="155448"/>
          </a:xfrm>
          <a:prstGeom prst="rect">
            <a:avLst/>
          </a:prstGeom>
          <a:noFill/>
        </p:spPr>
        <p:txBody>
          <a:bodyPr wrap="square">
            <a:spAutoFit/>
          </a:bodyPr>
          <a:lstStyle/>
          <a:p>
            <a:pPr algn="ctr">
              <a:defRPr sz="900" b="0">
                <a:solidFill>
                  <a:srgbClr val="111827"/>
                </a:solidFill>
                <a:latin typeface="Calibri"/>
              </a:defRPr>
            </a:pPr>
            <a:r>
              <a:t>53</a:t>
            </a:r>
          </a:p>
        </p:txBody>
      </p:sp>
      <p:sp>
        <p:nvSpPr>
          <p:cNvPr id="274" name="Rectangle 273"/>
          <p:cNvSpPr/>
          <p:nvPr/>
        </p:nvSpPr>
        <p:spPr>
          <a:xfrm>
            <a:off x="2743200" y="4133088"/>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TextBox 274"/>
          <p:cNvSpPr txBox="1"/>
          <p:nvPr/>
        </p:nvSpPr>
        <p:spPr>
          <a:xfrm>
            <a:off x="2779776" y="4169664"/>
            <a:ext cx="749808" cy="155448"/>
          </a:xfrm>
          <a:prstGeom prst="rect">
            <a:avLst/>
          </a:prstGeom>
          <a:noFill/>
        </p:spPr>
        <p:txBody>
          <a:bodyPr wrap="square">
            <a:spAutoFit/>
          </a:bodyPr>
          <a:lstStyle/>
          <a:p>
            <a:pPr algn="ctr">
              <a:defRPr sz="900" b="0">
                <a:solidFill>
                  <a:srgbClr val="059669"/>
                </a:solidFill>
                <a:latin typeface="Calibri"/>
              </a:defRPr>
            </a:pPr>
            <a:r>
              <a:t>53</a:t>
            </a:r>
          </a:p>
        </p:txBody>
      </p:sp>
      <p:sp>
        <p:nvSpPr>
          <p:cNvPr id="276" name="Rectangle 275"/>
          <p:cNvSpPr/>
          <p:nvPr/>
        </p:nvSpPr>
        <p:spPr>
          <a:xfrm>
            <a:off x="3566160" y="4133088"/>
            <a:ext cx="868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3602736" y="4169664"/>
            <a:ext cx="795528" cy="155448"/>
          </a:xfrm>
          <a:prstGeom prst="rect">
            <a:avLst/>
          </a:prstGeom>
          <a:noFill/>
        </p:spPr>
        <p:txBody>
          <a:bodyPr wrap="square">
            <a:spAutoFit/>
          </a:bodyPr>
          <a:lstStyle/>
          <a:p>
            <a:pPr algn="ctr">
              <a:defRPr sz="900" b="0">
                <a:solidFill>
                  <a:srgbClr val="059669"/>
                </a:solidFill>
                <a:latin typeface="Calibri"/>
              </a:defRPr>
            </a:pPr>
            <a:r>
              <a:t>0%</a:t>
            </a:r>
          </a:p>
        </p:txBody>
      </p:sp>
      <p:sp>
        <p:nvSpPr>
          <p:cNvPr id="278" name="Rectangle 277"/>
          <p:cNvSpPr/>
          <p:nvPr/>
        </p:nvSpPr>
        <p:spPr>
          <a:xfrm>
            <a:off x="4434840" y="4133088"/>
            <a:ext cx="14173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4471416" y="4169664"/>
            <a:ext cx="1344168" cy="155448"/>
          </a:xfrm>
          <a:prstGeom prst="rect">
            <a:avLst/>
          </a:prstGeom>
          <a:noFill/>
        </p:spPr>
        <p:txBody>
          <a:bodyPr wrap="square">
            <a:spAutoFit/>
          </a:bodyPr>
          <a:lstStyle/>
          <a:p>
            <a:pPr algn="ctr">
              <a:defRPr sz="900" b="0">
                <a:solidFill>
                  <a:srgbClr val="111827"/>
                </a:solidFill>
                <a:latin typeface="Calibri"/>
              </a:defRPr>
            </a:pPr>
            <a:r>
              <a:t>$194K</a:t>
            </a:r>
          </a:p>
        </p:txBody>
      </p:sp>
      <p:sp>
        <p:nvSpPr>
          <p:cNvPr id="280" name="Rectangle 279"/>
          <p:cNvSpPr/>
          <p:nvPr/>
        </p:nvSpPr>
        <p:spPr>
          <a:xfrm>
            <a:off x="182880" y="4352544"/>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219456" y="4389120"/>
            <a:ext cx="1664207" cy="155448"/>
          </a:xfrm>
          <a:prstGeom prst="rect">
            <a:avLst/>
          </a:prstGeom>
          <a:noFill/>
        </p:spPr>
        <p:txBody>
          <a:bodyPr wrap="square">
            <a:spAutoFit/>
          </a:bodyPr>
          <a:lstStyle/>
          <a:p>
            <a:pPr algn="l">
              <a:defRPr sz="900" b="0">
                <a:solidFill>
                  <a:srgbClr val="6D28D9"/>
                </a:solidFill>
                <a:latin typeface="Calibri"/>
              </a:defRPr>
            </a:pPr>
            <a:r>
              <a:t>Derrick L.</a:t>
            </a:r>
          </a:p>
        </p:txBody>
      </p:sp>
      <p:sp>
        <p:nvSpPr>
          <p:cNvPr id="282" name="Rectangle 281"/>
          <p:cNvSpPr/>
          <p:nvPr/>
        </p:nvSpPr>
        <p:spPr>
          <a:xfrm>
            <a:off x="1920240" y="4352544"/>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1956816" y="4389120"/>
            <a:ext cx="749808" cy="155448"/>
          </a:xfrm>
          <a:prstGeom prst="rect">
            <a:avLst/>
          </a:prstGeom>
          <a:noFill/>
        </p:spPr>
        <p:txBody>
          <a:bodyPr wrap="square">
            <a:spAutoFit/>
          </a:bodyPr>
          <a:lstStyle/>
          <a:p>
            <a:pPr algn="ctr">
              <a:defRPr sz="900" b="0">
                <a:solidFill>
                  <a:srgbClr val="111827"/>
                </a:solidFill>
                <a:latin typeface="Calibri"/>
              </a:defRPr>
            </a:pPr>
            <a:r>
              <a:t>30</a:t>
            </a:r>
          </a:p>
        </p:txBody>
      </p:sp>
      <p:sp>
        <p:nvSpPr>
          <p:cNvPr id="284" name="Rectangle 283"/>
          <p:cNvSpPr/>
          <p:nvPr/>
        </p:nvSpPr>
        <p:spPr>
          <a:xfrm>
            <a:off x="2743200" y="4352544"/>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2779776" y="4389120"/>
            <a:ext cx="749808" cy="155448"/>
          </a:xfrm>
          <a:prstGeom prst="rect">
            <a:avLst/>
          </a:prstGeom>
          <a:noFill/>
        </p:spPr>
        <p:txBody>
          <a:bodyPr wrap="square">
            <a:spAutoFit/>
          </a:bodyPr>
          <a:lstStyle/>
          <a:p>
            <a:pPr algn="ctr">
              <a:defRPr sz="900" b="0">
                <a:solidFill>
                  <a:srgbClr val="059669"/>
                </a:solidFill>
                <a:latin typeface="Calibri"/>
              </a:defRPr>
            </a:pPr>
            <a:r>
              <a:t>28</a:t>
            </a:r>
          </a:p>
        </p:txBody>
      </p:sp>
      <p:sp>
        <p:nvSpPr>
          <p:cNvPr id="286" name="Rectangle 285"/>
          <p:cNvSpPr/>
          <p:nvPr/>
        </p:nvSpPr>
        <p:spPr>
          <a:xfrm>
            <a:off x="3566160" y="4352544"/>
            <a:ext cx="868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3602736" y="4389120"/>
            <a:ext cx="795528" cy="155448"/>
          </a:xfrm>
          <a:prstGeom prst="rect">
            <a:avLst/>
          </a:prstGeom>
          <a:noFill/>
        </p:spPr>
        <p:txBody>
          <a:bodyPr wrap="square">
            <a:spAutoFit/>
          </a:bodyPr>
          <a:lstStyle/>
          <a:p>
            <a:pPr algn="ctr">
              <a:defRPr sz="900" b="0">
                <a:solidFill>
                  <a:srgbClr val="059669"/>
                </a:solidFill>
                <a:latin typeface="Calibri"/>
              </a:defRPr>
            </a:pPr>
            <a:r>
              <a:t>7%</a:t>
            </a:r>
          </a:p>
        </p:txBody>
      </p:sp>
      <p:sp>
        <p:nvSpPr>
          <p:cNvPr id="288" name="Rectangle 287"/>
          <p:cNvSpPr/>
          <p:nvPr/>
        </p:nvSpPr>
        <p:spPr>
          <a:xfrm>
            <a:off x="4434840" y="4352544"/>
            <a:ext cx="14173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4471416" y="4389120"/>
            <a:ext cx="1344168" cy="155448"/>
          </a:xfrm>
          <a:prstGeom prst="rect">
            <a:avLst/>
          </a:prstGeom>
          <a:noFill/>
        </p:spPr>
        <p:txBody>
          <a:bodyPr wrap="square">
            <a:spAutoFit/>
          </a:bodyPr>
          <a:lstStyle/>
          <a:p>
            <a:pPr algn="ctr">
              <a:defRPr sz="900" b="0">
                <a:solidFill>
                  <a:srgbClr val="111827"/>
                </a:solidFill>
                <a:latin typeface="Calibri"/>
              </a:defRPr>
            </a:pPr>
            <a:r>
              <a:t>$113K</a:t>
            </a:r>
          </a:p>
        </p:txBody>
      </p:sp>
      <p:sp>
        <p:nvSpPr>
          <p:cNvPr id="290" name="Rectangle 289"/>
          <p:cNvSpPr/>
          <p:nvPr/>
        </p:nvSpPr>
        <p:spPr>
          <a:xfrm>
            <a:off x="182880" y="4572000"/>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219456" y="4608576"/>
            <a:ext cx="1664207" cy="155448"/>
          </a:xfrm>
          <a:prstGeom prst="rect">
            <a:avLst/>
          </a:prstGeom>
          <a:noFill/>
        </p:spPr>
        <p:txBody>
          <a:bodyPr wrap="square">
            <a:spAutoFit/>
          </a:bodyPr>
          <a:lstStyle/>
          <a:p>
            <a:pPr algn="l">
              <a:defRPr sz="900" b="0">
                <a:solidFill>
                  <a:srgbClr val="065F46"/>
                </a:solidFill>
                <a:latin typeface="Calibri"/>
              </a:defRPr>
            </a:pPr>
            <a:r>
              <a:t>Cameron B.</a:t>
            </a:r>
          </a:p>
        </p:txBody>
      </p:sp>
      <p:sp>
        <p:nvSpPr>
          <p:cNvPr id="292" name="Rectangle 291"/>
          <p:cNvSpPr/>
          <p:nvPr/>
        </p:nvSpPr>
        <p:spPr>
          <a:xfrm>
            <a:off x="1920240" y="4572000"/>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1956816" y="4608576"/>
            <a:ext cx="749808" cy="155448"/>
          </a:xfrm>
          <a:prstGeom prst="rect">
            <a:avLst/>
          </a:prstGeom>
          <a:noFill/>
        </p:spPr>
        <p:txBody>
          <a:bodyPr wrap="square">
            <a:spAutoFit/>
          </a:bodyPr>
          <a:lstStyle/>
          <a:p>
            <a:pPr algn="ctr">
              <a:defRPr sz="900" b="0">
                <a:solidFill>
                  <a:srgbClr val="111827"/>
                </a:solidFill>
                <a:latin typeface="Calibri"/>
              </a:defRPr>
            </a:pPr>
            <a:r>
              <a:t>48</a:t>
            </a:r>
          </a:p>
        </p:txBody>
      </p:sp>
      <p:sp>
        <p:nvSpPr>
          <p:cNvPr id="294" name="Rectangle 293"/>
          <p:cNvSpPr/>
          <p:nvPr/>
        </p:nvSpPr>
        <p:spPr>
          <a:xfrm>
            <a:off x="2743200" y="4572000"/>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TextBox 294"/>
          <p:cNvSpPr txBox="1"/>
          <p:nvPr/>
        </p:nvSpPr>
        <p:spPr>
          <a:xfrm>
            <a:off x="2779776" y="4608576"/>
            <a:ext cx="749808" cy="155448"/>
          </a:xfrm>
          <a:prstGeom prst="rect">
            <a:avLst/>
          </a:prstGeom>
          <a:noFill/>
        </p:spPr>
        <p:txBody>
          <a:bodyPr wrap="square">
            <a:spAutoFit/>
          </a:bodyPr>
          <a:lstStyle/>
          <a:p>
            <a:pPr algn="ctr">
              <a:defRPr sz="900" b="0">
                <a:solidFill>
                  <a:srgbClr val="059669"/>
                </a:solidFill>
                <a:latin typeface="Calibri"/>
              </a:defRPr>
            </a:pPr>
            <a:r>
              <a:t>47</a:t>
            </a:r>
          </a:p>
        </p:txBody>
      </p:sp>
      <p:sp>
        <p:nvSpPr>
          <p:cNvPr id="296" name="Rectangle 295"/>
          <p:cNvSpPr/>
          <p:nvPr/>
        </p:nvSpPr>
        <p:spPr>
          <a:xfrm>
            <a:off x="3566160" y="4572000"/>
            <a:ext cx="868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TextBox 296"/>
          <p:cNvSpPr txBox="1"/>
          <p:nvPr/>
        </p:nvSpPr>
        <p:spPr>
          <a:xfrm>
            <a:off x="3602736" y="4608576"/>
            <a:ext cx="795528" cy="155448"/>
          </a:xfrm>
          <a:prstGeom prst="rect">
            <a:avLst/>
          </a:prstGeom>
          <a:noFill/>
        </p:spPr>
        <p:txBody>
          <a:bodyPr wrap="square">
            <a:spAutoFit/>
          </a:bodyPr>
          <a:lstStyle/>
          <a:p>
            <a:pPr algn="ctr">
              <a:defRPr sz="900" b="0">
                <a:solidFill>
                  <a:srgbClr val="059669"/>
                </a:solidFill>
                <a:latin typeface="Calibri"/>
              </a:defRPr>
            </a:pPr>
            <a:r>
              <a:t>2%</a:t>
            </a:r>
          </a:p>
        </p:txBody>
      </p:sp>
      <p:sp>
        <p:nvSpPr>
          <p:cNvPr id="298" name="Rectangle 297"/>
          <p:cNvSpPr/>
          <p:nvPr/>
        </p:nvSpPr>
        <p:spPr>
          <a:xfrm>
            <a:off x="4434840" y="4572000"/>
            <a:ext cx="14173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4471416" y="4608576"/>
            <a:ext cx="1344168" cy="155448"/>
          </a:xfrm>
          <a:prstGeom prst="rect">
            <a:avLst/>
          </a:prstGeom>
          <a:noFill/>
        </p:spPr>
        <p:txBody>
          <a:bodyPr wrap="square">
            <a:spAutoFit/>
          </a:bodyPr>
          <a:lstStyle/>
          <a:p>
            <a:pPr algn="ctr">
              <a:defRPr sz="900" b="0">
                <a:solidFill>
                  <a:srgbClr val="111827"/>
                </a:solidFill>
                <a:latin typeface="Calibri"/>
              </a:defRPr>
            </a:pPr>
            <a:r>
              <a:t>$21K</a:t>
            </a:r>
          </a:p>
        </p:txBody>
      </p:sp>
      <p:sp>
        <p:nvSpPr>
          <p:cNvPr id="300" name="Rectangle 299"/>
          <p:cNvSpPr/>
          <p:nvPr/>
        </p:nvSpPr>
        <p:spPr>
          <a:xfrm>
            <a:off x="182880" y="4791456"/>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TextBox 300"/>
          <p:cNvSpPr txBox="1"/>
          <p:nvPr/>
        </p:nvSpPr>
        <p:spPr>
          <a:xfrm>
            <a:off x="219456" y="4828032"/>
            <a:ext cx="1664207" cy="155448"/>
          </a:xfrm>
          <a:prstGeom prst="rect">
            <a:avLst/>
          </a:prstGeom>
          <a:noFill/>
        </p:spPr>
        <p:txBody>
          <a:bodyPr wrap="square">
            <a:spAutoFit/>
          </a:bodyPr>
          <a:lstStyle/>
          <a:p>
            <a:pPr algn="l">
              <a:defRPr sz="900" b="0">
                <a:solidFill>
                  <a:srgbClr val="065F46"/>
                </a:solidFill>
                <a:latin typeface="Calibri"/>
              </a:defRPr>
            </a:pPr>
            <a:r>
              <a:t>Taylor S.</a:t>
            </a:r>
          </a:p>
        </p:txBody>
      </p:sp>
      <p:sp>
        <p:nvSpPr>
          <p:cNvPr id="302" name="Rectangle 301"/>
          <p:cNvSpPr/>
          <p:nvPr/>
        </p:nvSpPr>
        <p:spPr>
          <a:xfrm>
            <a:off x="1920240" y="4791456"/>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1956816" y="4828032"/>
            <a:ext cx="749808" cy="155448"/>
          </a:xfrm>
          <a:prstGeom prst="rect">
            <a:avLst/>
          </a:prstGeom>
          <a:noFill/>
        </p:spPr>
        <p:txBody>
          <a:bodyPr wrap="square">
            <a:spAutoFit/>
          </a:bodyPr>
          <a:lstStyle/>
          <a:p>
            <a:pPr algn="ctr">
              <a:defRPr sz="900" b="0">
                <a:solidFill>
                  <a:srgbClr val="111827"/>
                </a:solidFill>
                <a:latin typeface="Calibri"/>
              </a:defRPr>
            </a:pPr>
            <a:r>
              <a:t>26</a:t>
            </a:r>
          </a:p>
        </p:txBody>
      </p:sp>
      <p:sp>
        <p:nvSpPr>
          <p:cNvPr id="304" name="Rectangle 303"/>
          <p:cNvSpPr/>
          <p:nvPr/>
        </p:nvSpPr>
        <p:spPr>
          <a:xfrm>
            <a:off x="2743200" y="4791456"/>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2779776" y="4828032"/>
            <a:ext cx="749808" cy="155448"/>
          </a:xfrm>
          <a:prstGeom prst="rect">
            <a:avLst/>
          </a:prstGeom>
          <a:noFill/>
        </p:spPr>
        <p:txBody>
          <a:bodyPr wrap="square">
            <a:spAutoFit/>
          </a:bodyPr>
          <a:lstStyle/>
          <a:p>
            <a:pPr algn="ctr">
              <a:defRPr sz="900" b="0">
                <a:solidFill>
                  <a:srgbClr val="059669"/>
                </a:solidFill>
                <a:latin typeface="Calibri"/>
              </a:defRPr>
            </a:pPr>
            <a:r>
              <a:t>25</a:t>
            </a:r>
          </a:p>
        </p:txBody>
      </p:sp>
      <p:sp>
        <p:nvSpPr>
          <p:cNvPr id="306" name="Rectangle 305"/>
          <p:cNvSpPr/>
          <p:nvPr/>
        </p:nvSpPr>
        <p:spPr>
          <a:xfrm>
            <a:off x="3566160" y="4791456"/>
            <a:ext cx="868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TextBox 306"/>
          <p:cNvSpPr txBox="1"/>
          <p:nvPr/>
        </p:nvSpPr>
        <p:spPr>
          <a:xfrm>
            <a:off x="3602736" y="4828032"/>
            <a:ext cx="795528" cy="155448"/>
          </a:xfrm>
          <a:prstGeom prst="rect">
            <a:avLst/>
          </a:prstGeom>
          <a:noFill/>
        </p:spPr>
        <p:txBody>
          <a:bodyPr wrap="square">
            <a:spAutoFit/>
          </a:bodyPr>
          <a:lstStyle/>
          <a:p>
            <a:pPr algn="ctr">
              <a:defRPr sz="900" b="0">
                <a:solidFill>
                  <a:srgbClr val="059669"/>
                </a:solidFill>
                <a:latin typeface="Calibri"/>
              </a:defRPr>
            </a:pPr>
            <a:r>
              <a:t>4%</a:t>
            </a:r>
          </a:p>
        </p:txBody>
      </p:sp>
      <p:sp>
        <p:nvSpPr>
          <p:cNvPr id="308" name="Rectangle 307"/>
          <p:cNvSpPr/>
          <p:nvPr/>
        </p:nvSpPr>
        <p:spPr>
          <a:xfrm>
            <a:off x="4434840" y="4791456"/>
            <a:ext cx="14173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4471416" y="4828032"/>
            <a:ext cx="1344168" cy="155448"/>
          </a:xfrm>
          <a:prstGeom prst="rect">
            <a:avLst/>
          </a:prstGeom>
          <a:noFill/>
        </p:spPr>
        <p:txBody>
          <a:bodyPr wrap="square">
            <a:spAutoFit/>
          </a:bodyPr>
          <a:lstStyle/>
          <a:p>
            <a:pPr algn="ctr">
              <a:defRPr sz="900" b="0">
                <a:solidFill>
                  <a:srgbClr val="111827"/>
                </a:solidFill>
                <a:latin typeface="Calibri"/>
              </a:defRPr>
            </a:pPr>
            <a:r>
              <a:t>$11K</a:t>
            </a:r>
          </a:p>
        </p:txBody>
      </p:sp>
      <p:sp>
        <p:nvSpPr>
          <p:cNvPr id="310" name="Rectangle 309"/>
          <p:cNvSpPr/>
          <p:nvPr/>
        </p:nvSpPr>
        <p:spPr>
          <a:xfrm>
            <a:off x="182880" y="5010912"/>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219456" y="5047488"/>
            <a:ext cx="1664207" cy="155448"/>
          </a:xfrm>
          <a:prstGeom prst="rect">
            <a:avLst/>
          </a:prstGeom>
          <a:noFill/>
        </p:spPr>
        <p:txBody>
          <a:bodyPr wrap="square">
            <a:spAutoFit/>
          </a:bodyPr>
          <a:lstStyle/>
          <a:p>
            <a:pPr algn="l">
              <a:defRPr sz="900" b="0">
                <a:solidFill>
                  <a:srgbClr val="6D28D9"/>
                </a:solidFill>
                <a:latin typeface="Calibri"/>
              </a:defRPr>
            </a:pPr>
            <a:r>
              <a:t>Westy M.</a:t>
            </a:r>
          </a:p>
        </p:txBody>
      </p:sp>
      <p:sp>
        <p:nvSpPr>
          <p:cNvPr id="312" name="Rectangle 311"/>
          <p:cNvSpPr/>
          <p:nvPr/>
        </p:nvSpPr>
        <p:spPr>
          <a:xfrm>
            <a:off x="1920240" y="5010912"/>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1956816" y="5047488"/>
            <a:ext cx="749808" cy="155448"/>
          </a:xfrm>
          <a:prstGeom prst="rect">
            <a:avLst/>
          </a:prstGeom>
          <a:noFill/>
        </p:spPr>
        <p:txBody>
          <a:bodyPr wrap="square">
            <a:spAutoFit/>
          </a:bodyPr>
          <a:lstStyle/>
          <a:p>
            <a:pPr algn="ctr">
              <a:defRPr sz="900" b="0">
                <a:solidFill>
                  <a:srgbClr val="111827"/>
                </a:solidFill>
                <a:latin typeface="Calibri"/>
              </a:defRPr>
            </a:pPr>
            <a:r>
              <a:t>14</a:t>
            </a:r>
          </a:p>
        </p:txBody>
      </p:sp>
      <p:sp>
        <p:nvSpPr>
          <p:cNvPr id="314" name="Rectangle 313"/>
          <p:cNvSpPr/>
          <p:nvPr/>
        </p:nvSpPr>
        <p:spPr>
          <a:xfrm>
            <a:off x="2743200" y="5010912"/>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TextBox 314"/>
          <p:cNvSpPr txBox="1"/>
          <p:nvPr/>
        </p:nvSpPr>
        <p:spPr>
          <a:xfrm>
            <a:off x="2779776" y="5047488"/>
            <a:ext cx="749808" cy="155448"/>
          </a:xfrm>
          <a:prstGeom prst="rect">
            <a:avLst/>
          </a:prstGeom>
          <a:noFill/>
        </p:spPr>
        <p:txBody>
          <a:bodyPr wrap="square">
            <a:spAutoFit/>
          </a:bodyPr>
          <a:lstStyle/>
          <a:p>
            <a:pPr algn="ctr">
              <a:defRPr sz="900" b="0">
                <a:solidFill>
                  <a:srgbClr val="059669"/>
                </a:solidFill>
                <a:latin typeface="Calibri"/>
              </a:defRPr>
            </a:pPr>
            <a:r>
              <a:t>11</a:t>
            </a:r>
          </a:p>
        </p:txBody>
      </p:sp>
      <p:sp>
        <p:nvSpPr>
          <p:cNvPr id="316" name="Rectangle 315"/>
          <p:cNvSpPr/>
          <p:nvPr/>
        </p:nvSpPr>
        <p:spPr>
          <a:xfrm>
            <a:off x="3566160" y="5010912"/>
            <a:ext cx="868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3602736" y="5047488"/>
            <a:ext cx="795528" cy="155448"/>
          </a:xfrm>
          <a:prstGeom prst="rect">
            <a:avLst/>
          </a:prstGeom>
          <a:noFill/>
        </p:spPr>
        <p:txBody>
          <a:bodyPr wrap="square">
            <a:spAutoFit/>
          </a:bodyPr>
          <a:lstStyle/>
          <a:p>
            <a:pPr algn="ctr">
              <a:defRPr sz="900" b="0">
                <a:solidFill>
                  <a:srgbClr val="059669"/>
                </a:solidFill>
                <a:latin typeface="Calibri"/>
              </a:defRPr>
            </a:pPr>
            <a:r>
              <a:t>21%</a:t>
            </a:r>
          </a:p>
        </p:txBody>
      </p:sp>
      <p:sp>
        <p:nvSpPr>
          <p:cNvPr id="318" name="Rectangle 317"/>
          <p:cNvSpPr/>
          <p:nvPr/>
        </p:nvSpPr>
        <p:spPr>
          <a:xfrm>
            <a:off x="4434840" y="5010912"/>
            <a:ext cx="14173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4471416" y="5047488"/>
            <a:ext cx="1344168" cy="155448"/>
          </a:xfrm>
          <a:prstGeom prst="rect">
            <a:avLst/>
          </a:prstGeom>
          <a:noFill/>
        </p:spPr>
        <p:txBody>
          <a:bodyPr wrap="square">
            <a:spAutoFit/>
          </a:bodyPr>
          <a:lstStyle/>
          <a:p>
            <a:pPr algn="ctr">
              <a:defRPr sz="900" b="0">
                <a:solidFill>
                  <a:srgbClr val="111827"/>
                </a:solidFill>
                <a:latin typeface="Calibri"/>
              </a:defRPr>
            </a:pPr>
            <a:r>
              <a:t>$6K</a:t>
            </a:r>
          </a:p>
        </p:txBody>
      </p:sp>
      <p:sp>
        <p:nvSpPr>
          <p:cNvPr id="320" name="Rectangle 319"/>
          <p:cNvSpPr/>
          <p:nvPr/>
        </p:nvSpPr>
        <p:spPr>
          <a:xfrm>
            <a:off x="182880" y="5230368"/>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219456" y="5266944"/>
            <a:ext cx="1664207" cy="155448"/>
          </a:xfrm>
          <a:prstGeom prst="rect">
            <a:avLst/>
          </a:prstGeom>
          <a:noFill/>
        </p:spPr>
        <p:txBody>
          <a:bodyPr wrap="square">
            <a:spAutoFit/>
          </a:bodyPr>
          <a:lstStyle/>
          <a:p>
            <a:pPr algn="l">
              <a:defRPr sz="900" b="0">
                <a:solidFill>
                  <a:srgbClr val="065F46"/>
                </a:solidFill>
                <a:latin typeface="Calibri"/>
              </a:defRPr>
            </a:pPr>
            <a:r>
              <a:t>Portia L.</a:t>
            </a:r>
          </a:p>
        </p:txBody>
      </p:sp>
      <p:sp>
        <p:nvSpPr>
          <p:cNvPr id="322" name="Rectangle 321"/>
          <p:cNvSpPr/>
          <p:nvPr/>
        </p:nvSpPr>
        <p:spPr>
          <a:xfrm>
            <a:off x="1920240" y="5230368"/>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TextBox 322"/>
          <p:cNvSpPr txBox="1"/>
          <p:nvPr/>
        </p:nvSpPr>
        <p:spPr>
          <a:xfrm>
            <a:off x="1956816" y="5266944"/>
            <a:ext cx="749808" cy="155448"/>
          </a:xfrm>
          <a:prstGeom prst="rect">
            <a:avLst/>
          </a:prstGeom>
          <a:noFill/>
        </p:spPr>
        <p:txBody>
          <a:bodyPr wrap="square">
            <a:spAutoFit/>
          </a:bodyPr>
          <a:lstStyle/>
          <a:p>
            <a:pPr algn="ctr">
              <a:defRPr sz="900" b="0">
                <a:solidFill>
                  <a:srgbClr val="111827"/>
                </a:solidFill>
                <a:latin typeface="Calibri"/>
              </a:defRPr>
            </a:pPr>
            <a:r>
              <a:t>53</a:t>
            </a:r>
          </a:p>
        </p:txBody>
      </p:sp>
      <p:sp>
        <p:nvSpPr>
          <p:cNvPr id="324" name="Rectangle 323"/>
          <p:cNvSpPr/>
          <p:nvPr/>
        </p:nvSpPr>
        <p:spPr>
          <a:xfrm>
            <a:off x="2743200" y="5230368"/>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2779776" y="5266944"/>
            <a:ext cx="749808" cy="155448"/>
          </a:xfrm>
          <a:prstGeom prst="rect">
            <a:avLst/>
          </a:prstGeom>
          <a:noFill/>
        </p:spPr>
        <p:txBody>
          <a:bodyPr wrap="square">
            <a:spAutoFit/>
          </a:bodyPr>
          <a:lstStyle/>
          <a:p>
            <a:pPr algn="ctr">
              <a:defRPr sz="900" b="0">
                <a:solidFill>
                  <a:srgbClr val="059669"/>
                </a:solidFill>
                <a:latin typeface="Calibri"/>
              </a:defRPr>
            </a:pPr>
            <a:r>
              <a:t>45</a:t>
            </a:r>
          </a:p>
        </p:txBody>
      </p:sp>
      <p:sp>
        <p:nvSpPr>
          <p:cNvPr id="326" name="Rectangle 325"/>
          <p:cNvSpPr/>
          <p:nvPr/>
        </p:nvSpPr>
        <p:spPr>
          <a:xfrm>
            <a:off x="3566160" y="5230368"/>
            <a:ext cx="868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3602736" y="5266944"/>
            <a:ext cx="795528" cy="155448"/>
          </a:xfrm>
          <a:prstGeom prst="rect">
            <a:avLst/>
          </a:prstGeom>
          <a:noFill/>
        </p:spPr>
        <p:txBody>
          <a:bodyPr wrap="square">
            <a:spAutoFit/>
          </a:bodyPr>
          <a:lstStyle/>
          <a:p>
            <a:pPr algn="ctr">
              <a:defRPr sz="900" b="0">
                <a:solidFill>
                  <a:srgbClr val="059669"/>
                </a:solidFill>
                <a:latin typeface="Calibri"/>
              </a:defRPr>
            </a:pPr>
            <a:r>
              <a:t>15%</a:t>
            </a:r>
          </a:p>
        </p:txBody>
      </p:sp>
      <p:sp>
        <p:nvSpPr>
          <p:cNvPr id="328" name="Rectangle 327"/>
          <p:cNvSpPr/>
          <p:nvPr/>
        </p:nvSpPr>
        <p:spPr>
          <a:xfrm>
            <a:off x="4434840" y="5230368"/>
            <a:ext cx="14173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TextBox 328"/>
          <p:cNvSpPr txBox="1"/>
          <p:nvPr/>
        </p:nvSpPr>
        <p:spPr>
          <a:xfrm>
            <a:off x="4471416" y="5266944"/>
            <a:ext cx="1344168" cy="155448"/>
          </a:xfrm>
          <a:prstGeom prst="rect">
            <a:avLst/>
          </a:prstGeom>
          <a:noFill/>
        </p:spPr>
        <p:txBody>
          <a:bodyPr wrap="square">
            <a:spAutoFit/>
          </a:bodyPr>
          <a:lstStyle/>
          <a:p>
            <a:pPr algn="ctr">
              <a:defRPr sz="900" b="0">
                <a:solidFill>
                  <a:srgbClr val="111827"/>
                </a:solidFill>
                <a:latin typeface="Calibri"/>
              </a:defRPr>
            </a:pPr>
            <a:r>
              <a:t>$17K</a:t>
            </a:r>
          </a:p>
        </p:txBody>
      </p:sp>
      <p:sp>
        <p:nvSpPr>
          <p:cNvPr id="330" name="Rectangle 329"/>
          <p:cNvSpPr/>
          <p:nvPr/>
        </p:nvSpPr>
        <p:spPr>
          <a:xfrm>
            <a:off x="182880" y="5449824"/>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219456" y="5486400"/>
            <a:ext cx="1664207" cy="155448"/>
          </a:xfrm>
          <a:prstGeom prst="rect">
            <a:avLst/>
          </a:prstGeom>
          <a:noFill/>
        </p:spPr>
        <p:txBody>
          <a:bodyPr wrap="square">
            <a:spAutoFit/>
          </a:bodyPr>
          <a:lstStyle/>
          <a:p>
            <a:pPr algn="l">
              <a:defRPr sz="900" b="0">
                <a:solidFill>
                  <a:srgbClr val="6D28D9"/>
                </a:solidFill>
                <a:latin typeface="Calibri"/>
              </a:defRPr>
            </a:pPr>
            <a:r>
              <a:t>Christopher H.</a:t>
            </a:r>
          </a:p>
        </p:txBody>
      </p:sp>
      <p:sp>
        <p:nvSpPr>
          <p:cNvPr id="332" name="Rectangle 331"/>
          <p:cNvSpPr/>
          <p:nvPr/>
        </p:nvSpPr>
        <p:spPr>
          <a:xfrm>
            <a:off x="1920240" y="5449824"/>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1956816" y="5486400"/>
            <a:ext cx="749808" cy="155448"/>
          </a:xfrm>
          <a:prstGeom prst="rect">
            <a:avLst/>
          </a:prstGeom>
          <a:noFill/>
        </p:spPr>
        <p:txBody>
          <a:bodyPr wrap="square">
            <a:spAutoFit/>
          </a:bodyPr>
          <a:lstStyle/>
          <a:p>
            <a:pPr algn="ctr">
              <a:defRPr sz="900" b="0">
                <a:solidFill>
                  <a:srgbClr val="111827"/>
                </a:solidFill>
                <a:latin typeface="Calibri"/>
              </a:defRPr>
            </a:pPr>
            <a:r>
              <a:t>45</a:t>
            </a:r>
          </a:p>
        </p:txBody>
      </p:sp>
      <p:sp>
        <p:nvSpPr>
          <p:cNvPr id="334" name="Rectangle 333"/>
          <p:cNvSpPr/>
          <p:nvPr/>
        </p:nvSpPr>
        <p:spPr>
          <a:xfrm>
            <a:off x="2743200" y="5449824"/>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TextBox 334"/>
          <p:cNvSpPr txBox="1"/>
          <p:nvPr/>
        </p:nvSpPr>
        <p:spPr>
          <a:xfrm>
            <a:off x="2779776" y="5486400"/>
            <a:ext cx="749808" cy="155448"/>
          </a:xfrm>
          <a:prstGeom prst="rect">
            <a:avLst/>
          </a:prstGeom>
          <a:noFill/>
        </p:spPr>
        <p:txBody>
          <a:bodyPr wrap="square">
            <a:spAutoFit/>
          </a:bodyPr>
          <a:lstStyle/>
          <a:p>
            <a:pPr algn="ctr">
              <a:defRPr sz="900" b="0">
                <a:solidFill>
                  <a:srgbClr val="059669"/>
                </a:solidFill>
                <a:latin typeface="Calibri"/>
              </a:defRPr>
            </a:pPr>
            <a:r>
              <a:t>45</a:t>
            </a:r>
          </a:p>
        </p:txBody>
      </p:sp>
      <p:sp>
        <p:nvSpPr>
          <p:cNvPr id="336" name="Rectangle 335"/>
          <p:cNvSpPr/>
          <p:nvPr/>
        </p:nvSpPr>
        <p:spPr>
          <a:xfrm>
            <a:off x="3566160" y="5449824"/>
            <a:ext cx="868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TextBox 336"/>
          <p:cNvSpPr txBox="1"/>
          <p:nvPr/>
        </p:nvSpPr>
        <p:spPr>
          <a:xfrm>
            <a:off x="3602736" y="5486400"/>
            <a:ext cx="795528" cy="155448"/>
          </a:xfrm>
          <a:prstGeom prst="rect">
            <a:avLst/>
          </a:prstGeom>
          <a:noFill/>
        </p:spPr>
        <p:txBody>
          <a:bodyPr wrap="square">
            <a:spAutoFit/>
          </a:bodyPr>
          <a:lstStyle/>
          <a:p>
            <a:pPr algn="ctr">
              <a:defRPr sz="900" b="0">
                <a:solidFill>
                  <a:srgbClr val="059669"/>
                </a:solidFill>
                <a:latin typeface="Calibri"/>
              </a:defRPr>
            </a:pPr>
            <a:r>
              <a:t>0%</a:t>
            </a:r>
          </a:p>
        </p:txBody>
      </p:sp>
      <p:sp>
        <p:nvSpPr>
          <p:cNvPr id="338" name="Rectangle 337"/>
          <p:cNvSpPr/>
          <p:nvPr/>
        </p:nvSpPr>
        <p:spPr>
          <a:xfrm>
            <a:off x="4434840" y="5449824"/>
            <a:ext cx="14173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TextBox 338"/>
          <p:cNvSpPr txBox="1"/>
          <p:nvPr/>
        </p:nvSpPr>
        <p:spPr>
          <a:xfrm>
            <a:off x="4471416" y="5486400"/>
            <a:ext cx="1344168" cy="155448"/>
          </a:xfrm>
          <a:prstGeom prst="rect">
            <a:avLst/>
          </a:prstGeom>
          <a:noFill/>
        </p:spPr>
        <p:txBody>
          <a:bodyPr wrap="square">
            <a:spAutoFit/>
          </a:bodyPr>
          <a:lstStyle/>
          <a:p>
            <a:pPr algn="ctr">
              <a:defRPr sz="900" b="0">
                <a:solidFill>
                  <a:srgbClr val="111827"/>
                </a:solidFill>
                <a:latin typeface="Calibri"/>
              </a:defRPr>
            </a:pPr>
            <a:r>
              <a:t>$119K</a:t>
            </a:r>
          </a:p>
        </p:txBody>
      </p:sp>
      <p:sp>
        <p:nvSpPr>
          <p:cNvPr id="340" name="Rectangle 339"/>
          <p:cNvSpPr/>
          <p:nvPr/>
        </p:nvSpPr>
        <p:spPr>
          <a:xfrm>
            <a:off x="182880" y="5669280"/>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TextBox 340"/>
          <p:cNvSpPr txBox="1"/>
          <p:nvPr/>
        </p:nvSpPr>
        <p:spPr>
          <a:xfrm>
            <a:off x="219456" y="5705856"/>
            <a:ext cx="1664207" cy="155448"/>
          </a:xfrm>
          <a:prstGeom prst="rect">
            <a:avLst/>
          </a:prstGeom>
          <a:noFill/>
        </p:spPr>
        <p:txBody>
          <a:bodyPr wrap="square">
            <a:spAutoFit/>
          </a:bodyPr>
          <a:lstStyle/>
          <a:p>
            <a:pPr algn="l">
              <a:defRPr sz="900" b="0">
                <a:solidFill>
                  <a:srgbClr val="6D28D9"/>
                </a:solidFill>
                <a:latin typeface="Calibri"/>
              </a:defRPr>
            </a:pPr>
            <a:r>
              <a:t>Ron D.</a:t>
            </a:r>
          </a:p>
        </p:txBody>
      </p:sp>
      <p:sp>
        <p:nvSpPr>
          <p:cNvPr id="342" name="Rectangle 341"/>
          <p:cNvSpPr/>
          <p:nvPr/>
        </p:nvSpPr>
        <p:spPr>
          <a:xfrm>
            <a:off x="1920240" y="5669280"/>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TextBox 342"/>
          <p:cNvSpPr txBox="1"/>
          <p:nvPr/>
        </p:nvSpPr>
        <p:spPr>
          <a:xfrm>
            <a:off x="1956816" y="5705856"/>
            <a:ext cx="749808" cy="155448"/>
          </a:xfrm>
          <a:prstGeom prst="rect">
            <a:avLst/>
          </a:prstGeom>
          <a:noFill/>
        </p:spPr>
        <p:txBody>
          <a:bodyPr wrap="square">
            <a:spAutoFit/>
          </a:bodyPr>
          <a:lstStyle/>
          <a:p>
            <a:pPr algn="ctr">
              <a:defRPr sz="900" b="0">
                <a:solidFill>
                  <a:srgbClr val="111827"/>
                </a:solidFill>
                <a:latin typeface="Calibri"/>
              </a:defRPr>
            </a:pPr>
            <a:r>
              <a:t>35</a:t>
            </a:r>
          </a:p>
        </p:txBody>
      </p:sp>
      <p:sp>
        <p:nvSpPr>
          <p:cNvPr id="344" name="Rectangle 343"/>
          <p:cNvSpPr/>
          <p:nvPr/>
        </p:nvSpPr>
        <p:spPr>
          <a:xfrm>
            <a:off x="2743200" y="5669280"/>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TextBox 344"/>
          <p:cNvSpPr txBox="1"/>
          <p:nvPr/>
        </p:nvSpPr>
        <p:spPr>
          <a:xfrm>
            <a:off x="2779776" y="5705856"/>
            <a:ext cx="749808" cy="155448"/>
          </a:xfrm>
          <a:prstGeom prst="rect">
            <a:avLst/>
          </a:prstGeom>
          <a:noFill/>
        </p:spPr>
        <p:txBody>
          <a:bodyPr wrap="square">
            <a:spAutoFit/>
          </a:bodyPr>
          <a:lstStyle/>
          <a:p>
            <a:pPr algn="ctr">
              <a:defRPr sz="900" b="0">
                <a:solidFill>
                  <a:srgbClr val="059669"/>
                </a:solidFill>
                <a:latin typeface="Calibri"/>
              </a:defRPr>
            </a:pPr>
            <a:r>
              <a:t>34</a:t>
            </a:r>
          </a:p>
        </p:txBody>
      </p:sp>
      <p:sp>
        <p:nvSpPr>
          <p:cNvPr id="346" name="Rectangle 345"/>
          <p:cNvSpPr/>
          <p:nvPr/>
        </p:nvSpPr>
        <p:spPr>
          <a:xfrm>
            <a:off x="3566160" y="5669280"/>
            <a:ext cx="868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TextBox 346"/>
          <p:cNvSpPr txBox="1"/>
          <p:nvPr/>
        </p:nvSpPr>
        <p:spPr>
          <a:xfrm>
            <a:off x="3602736" y="5705856"/>
            <a:ext cx="795528" cy="155448"/>
          </a:xfrm>
          <a:prstGeom prst="rect">
            <a:avLst/>
          </a:prstGeom>
          <a:noFill/>
        </p:spPr>
        <p:txBody>
          <a:bodyPr wrap="square">
            <a:spAutoFit/>
          </a:bodyPr>
          <a:lstStyle/>
          <a:p>
            <a:pPr algn="ctr">
              <a:defRPr sz="900" b="0">
                <a:solidFill>
                  <a:srgbClr val="059669"/>
                </a:solidFill>
                <a:latin typeface="Calibri"/>
              </a:defRPr>
            </a:pPr>
            <a:r>
              <a:t>3%</a:t>
            </a:r>
          </a:p>
        </p:txBody>
      </p:sp>
      <p:sp>
        <p:nvSpPr>
          <p:cNvPr id="348" name="Rectangle 347"/>
          <p:cNvSpPr/>
          <p:nvPr/>
        </p:nvSpPr>
        <p:spPr>
          <a:xfrm>
            <a:off x="4434840" y="5669280"/>
            <a:ext cx="14173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TextBox 348"/>
          <p:cNvSpPr txBox="1"/>
          <p:nvPr/>
        </p:nvSpPr>
        <p:spPr>
          <a:xfrm>
            <a:off x="4471416" y="5705856"/>
            <a:ext cx="1344168" cy="155448"/>
          </a:xfrm>
          <a:prstGeom prst="rect">
            <a:avLst/>
          </a:prstGeom>
          <a:noFill/>
        </p:spPr>
        <p:txBody>
          <a:bodyPr wrap="square">
            <a:spAutoFit/>
          </a:bodyPr>
          <a:lstStyle/>
          <a:p>
            <a:pPr algn="ctr">
              <a:defRPr sz="900" b="0">
                <a:solidFill>
                  <a:srgbClr val="111827"/>
                </a:solidFill>
                <a:latin typeface="Calibri"/>
              </a:defRPr>
            </a:pPr>
            <a:r>
              <a:t>$169K</a:t>
            </a:r>
          </a:p>
        </p:txBody>
      </p:sp>
      <p:sp>
        <p:nvSpPr>
          <p:cNvPr id="350" name="Rectangle 349"/>
          <p:cNvSpPr/>
          <p:nvPr/>
        </p:nvSpPr>
        <p:spPr>
          <a:xfrm>
            <a:off x="182880" y="5888736"/>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TextBox 350"/>
          <p:cNvSpPr txBox="1"/>
          <p:nvPr/>
        </p:nvSpPr>
        <p:spPr>
          <a:xfrm>
            <a:off x="219456" y="5925312"/>
            <a:ext cx="1664207" cy="155448"/>
          </a:xfrm>
          <a:prstGeom prst="rect">
            <a:avLst/>
          </a:prstGeom>
          <a:noFill/>
        </p:spPr>
        <p:txBody>
          <a:bodyPr wrap="square">
            <a:spAutoFit/>
          </a:bodyPr>
          <a:lstStyle/>
          <a:p>
            <a:pPr algn="l">
              <a:defRPr sz="900" b="0">
                <a:solidFill>
                  <a:srgbClr val="065F46"/>
                </a:solidFill>
                <a:latin typeface="Calibri"/>
              </a:defRPr>
            </a:pPr>
            <a:r>
              <a:t>Erika C.</a:t>
            </a:r>
          </a:p>
        </p:txBody>
      </p:sp>
      <p:sp>
        <p:nvSpPr>
          <p:cNvPr id="352" name="Rectangle 351"/>
          <p:cNvSpPr/>
          <p:nvPr/>
        </p:nvSpPr>
        <p:spPr>
          <a:xfrm>
            <a:off x="1920240" y="5888736"/>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1956816" y="5925312"/>
            <a:ext cx="749808" cy="155448"/>
          </a:xfrm>
          <a:prstGeom prst="rect">
            <a:avLst/>
          </a:prstGeom>
          <a:noFill/>
        </p:spPr>
        <p:txBody>
          <a:bodyPr wrap="square">
            <a:spAutoFit/>
          </a:bodyPr>
          <a:lstStyle/>
          <a:p>
            <a:pPr algn="ctr">
              <a:defRPr sz="900" b="0">
                <a:solidFill>
                  <a:srgbClr val="111827"/>
                </a:solidFill>
                <a:latin typeface="Calibri"/>
              </a:defRPr>
            </a:pPr>
            <a:r>
              <a:t>42</a:t>
            </a:r>
          </a:p>
        </p:txBody>
      </p:sp>
      <p:sp>
        <p:nvSpPr>
          <p:cNvPr id="354" name="Rectangle 353"/>
          <p:cNvSpPr/>
          <p:nvPr/>
        </p:nvSpPr>
        <p:spPr>
          <a:xfrm>
            <a:off x="2743200" y="5888736"/>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TextBox 354"/>
          <p:cNvSpPr txBox="1"/>
          <p:nvPr/>
        </p:nvSpPr>
        <p:spPr>
          <a:xfrm>
            <a:off x="2779776" y="5925312"/>
            <a:ext cx="749808" cy="155448"/>
          </a:xfrm>
          <a:prstGeom prst="rect">
            <a:avLst/>
          </a:prstGeom>
          <a:noFill/>
        </p:spPr>
        <p:txBody>
          <a:bodyPr wrap="square">
            <a:spAutoFit/>
          </a:bodyPr>
          <a:lstStyle/>
          <a:p>
            <a:pPr algn="ctr">
              <a:defRPr sz="900" b="0">
                <a:solidFill>
                  <a:srgbClr val="059669"/>
                </a:solidFill>
                <a:latin typeface="Calibri"/>
              </a:defRPr>
            </a:pPr>
            <a:r>
              <a:t>41</a:t>
            </a:r>
          </a:p>
        </p:txBody>
      </p:sp>
      <p:sp>
        <p:nvSpPr>
          <p:cNvPr id="356" name="Rectangle 355"/>
          <p:cNvSpPr/>
          <p:nvPr/>
        </p:nvSpPr>
        <p:spPr>
          <a:xfrm>
            <a:off x="3566160" y="5888736"/>
            <a:ext cx="868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TextBox 356"/>
          <p:cNvSpPr txBox="1"/>
          <p:nvPr/>
        </p:nvSpPr>
        <p:spPr>
          <a:xfrm>
            <a:off x="3602736" y="5925312"/>
            <a:ext cx="795528" cy="155448"/>
          </a:xfrm>
          <a:prstGeom prst="rect">
            <a:avLst/>
          </a:prstGeom>
          <a:noFill/>
        </p:spPr>
        <p:txBody>
          <a:bodyPr wrap="square">
            <a:spAutoFit/>
          </a:bodyPr>
          <a:lstStyle/>
          <a:p>
            <a:pPr algn="ctr">
              <a:defRPr sz="900" b="0">
                <a:solidFill>
                  <a:srgbClr val="059669"/>
                </a:solidFill>
                <a:latin typeface="Calibri"/>
              </a:defRPr>
            </a:pPr>
            <a:r>
              <a:t>2%</a:t>
            </a:r>
          </a:p>
        </p:txBody>
      </p:sp>
      <p:sp>
        <p:nvSpPr>
          <p:cNvPr id="358" name="Rectangle 357"/>
          <p:cNvSpPr/>
          <p:nvPr/>
        </p:nvSpPr>
        <p:spPr>
          <a:xfrm>
            <a:off x="4434840" y="5888736"/>
            <a:ext cx="14173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TextBox 358"/>
          <p:cNvSpPr txBox="1"/>
          <p:nvPr/>
        </p:nvSpPr>
        <p:spPr>
          <a:xfrm>
            <a:off x="4471416" y="5925312"/>
            <a:ext cx="1344168" cy="155448"/>
          </a:xfrm>
          <a:prstGeom prst="rect">
            <a:avLst/>
          </a:prstGeom>
          <a:noFill/>
        </p:spPr>
        <p:txBody>
          <a:bodyPr wrap="square">
            <a:spAutoFit/>
          </a:bodyPr>
          <a:lstStyle/>
          <a:p>
            <a:pPr algn="ctr">
              <a:defRPr sz="900" b="0">
                <a:solidFill>
                  <a:srgbClr val="111827"/>
                </a:solidFill>
                <a:latin typeface="Calibri"/>
              </a:defRPr>
            </a:pPr>
            <a:r>
              <a:t>$13K</a:t>
            </a:r>
          </a:p>
        </p:txBody>
      </p:sp>
      <p:sp>
        <p:nvSpPr>
          <p:cNvPr id="360" name="Rectangle 359"/>
          <p:cNvSpPr/>
          <p:nvPr/>
        </p:nvSpPr>
        <p:spPr>
          <a:xfrm>
            <a:off x="182880" y="6108192"/>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TextBox 360"/>
          <p:cNvSpPr txBox="1"/>
          <p:nvPr/>
        </p:nvSpPr>
        <p:spPr>
          <a:xfrm>
            <a:off x="219456" y="6144768"/>
            <a:ext cx="1664207" cy="155448"/>
          </a:xfrm>
          <a:prstGeom prst="rect">
            <a:avLst/>
          </a:prstGeom>
          <a:noFill/>
        </p:spPr>
        <p:txBody>
          <a:bodyPr wrap="square">
            <a:spAutoFit/>
          </a:bodyPr>
          <a:lstStyle/>
          <a:p>
            <a:pPr algn="l">
              <a:defRPr sz="900" b="0">
                <a:solidFill>
                  <a:srgbClr val="065F46"/>
                </a:solidFill>
                <a:latin typeface="Calibri"/>
              </a:defRPr>
            </a:pPr>
            <a:r>
              <a:t>Kurt B.</a:t>
            </a:r>
          </a:p>
        </p:txBody>
      </p:sp>
      <p:sp>
        <p:nvSpPr>
          <p:cNvPr id="362" name="Rectangle 361"/>
          <p:cNvSpPr/>
          <p:nvPr/>
        </p:nvSpPr>
        <p:spPr>
          <a:xfrm>
            <a:off x="1920240" y="6108192"/>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TextBox 362"/>
          <p:cNvSpPr txBox="1"/>
          <p:nvPr/>
        </p:nvSpPr>
        <p:spPr>
          <a:xfrm>
            <a:off x="1956816" y="6144768"/>
            <a:ext cx="749808" cy="155448"/>
          </a:xfrm>
          <a:prstGeom prst="rect">
            <a:avLst/>
          </a:prstGeom>
          <a:noFill/>
        </p:spPr>
        <p:txBody>
          <a:bodyPr wrap="square">
            <a:spAutoFit/>
          </a:bodyPr>
          <a:lstStyle/>
          <a:p>
            <a:pPr algn="ctr">
              <a:defRPr sz="900" b="0">
                <a:solidFill>
                  <a:srgbClr val="111827"/>
                </a:solidFill>
                <a:latin typeface="Calibri"/>
              </a:defRPr>
            </a:pPr>
            <a:r>
              <a:t>42</a:t>
            </a:r>
          </a:p>
        </p:txBody>
      </p:sp>
      <p:sp>
        <p:nvSpPr>
          <p:cNvPr id="364" name="Rectangle 363"/>
          <p:cNvSpPr/>
          <p:nvPr/>
        </p:nvSpPr>
        <p:spPr>
          <a:xfrm>
            <a:off x="2743200" y="6108192"/>
            <a:ext cx="8229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2779776" y="6144768"/>
            <a:ext cx="749808" cy="155448"/>
          </a:xfrm>
          <a:prstGeom prst="rect">
            <a:avLst/>
          </a:prstGeom>
          <a:noFill/>
        </p:spPr>
        <p:txBody>
          <a:bodyPr wrap="square">
            <a:spAutoFit/>
          </a:bodyPr>
          <a:lstStyle/>
          <a:p>
            <a:pPr algn="ctr">
              <a:defRPr sz="900" b="0">
                <a:solidFill>
                  <a:srgbClr val="059669"/>
                </a:solidFill>
                <a:latin typeface="Calibri"/>
              </a:defRPr>
            </a:pPr>
            <a:r>
              <a:t>41</a:t>
            </a:r>
          </a:p>
        </p:txBody>
      </p:sp>
      <p:sp>
        <p:nvSpPr>
          <p:cNvPr id="366" name="Rectangle 365"/>
          <p:cNvSpPr/>
          <p:nvPr/>
        </p:nvSpPr>
        <p:spPr>
          <a:xfrm>
            <a:off x="3566160" y="6108192"/>
            <a:ext cx="86868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TextBox 366"/>
          <p:cNvSpPr txBox="1"/>
          <p:nvPr/>
        </p:nvSpPr>
        <p:spPr>
          <a:xfrm>
            <a:off x="3602736" y="6144768"/>
            <a:ext cx="795528" cy="155448"/>
          </a:xfrm>
          <a:prstGeom prst="rect">
            <a:avLst/>
          </a:prstGeom>
          <a:noFill/>
        </p:spPr>
        <p:txBody>
          <a:bodyPr wrap="square">
            <a:spAutoFit/>
          </a:bodyPr>
          <a:lstStyle/>
          <a:p>
            <a:pPr algn="ctr">
              <a:defRPr sz="900" b="0">
                <a:solidFill>
                  <a:srgbClr val="059669"/>
                </a:solidFill>
                <a:latin typeface="Calibri"/>
              </a:defRPr>
            </a:pPr>
            <a:r>
              <a:t>2%</a:t>
            </a:r>
          </a:p>
        </p:txBody>
      </p:sp>
      <p:sp>
        <p:nvSpPr>
          <p:cNvPr id="368" name="Rectangle 367"/>
          <p:cNvSpPr/>
          <p:nvPr/>
        </p:nvSpPr>
        <p:spPr>
          <a:xfrm>
            <a:off x="4434840" y="6108192"/>
            <a:ext cx="141732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TextBox 368"/>
          <p:cNvSpPr txBox="1"/>
          <p:nvPr/>
        </p:nvSpPr>
        <p:spPr>
          <a:xfrm>
            <a:off x="4471416" y="6144768"/>
            <a:ext cx="1344168" cy="155448"/>
          </a:xfrm>
          <a:prstGeom prst="rect">
            <a:avLst/>
          </a:prstGeom>
          <a:noFill/>
        </p:spPr>
        <p:txBody>
          <a:bodyPr wrap="square">
            <a:spAutoFit/>
          </a:bodyPr>
          <a:lstStyle/>
          <a:p>
            <a:pPr algn="ctr">
              <a:defRPr sz="900" b="0">
                <a:solidFill>
                  <a:srgbClr val="111827"/>
                </a:solidFill>
                <a:latin typeface="Calibri"/>
              </a:defRPr>
            </a:pPr>
            <a:r>
              <a:t>$49K</a:t>
            </a:r>
          </a:p>
        </p:txBody>
      </p:sp>
      <p:sp>
        <p:nvSpPr>
          <p:cNvPr id="370" name="Rectangle 369"/>
          <p:cNvSpPr/>
          <p:nvPr/>
        </p:nvSpPr>
        <p:spPr>
          <a:xfrm>
            <a:off x="182880" y="6327648"/>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TextBox 370"/>
          <p:cNvSpPr txBox="1"/>
          <p:nvPr/>
        </p:nvSpPr>
        <p:spPr>
          <a:xfrm>
            <a:off x="219456" y="6364224"/>
            <a:ext cx="1664207" cy="155448"/>
          </a:xfrm>
          <a:prstGeom prst="rect">
            <a:avLst/>
          </a:prstGeom>
          <a:noFill/>
        </p:spPr>
        <p:txBody>
          <a:bodyPr wrap="square">
            <a:spAutoFit/>
          </a:bodyPr>
          <a:lstStyle/>
          <a:p>
            <a:pPr algn="l">
              <a:defRPr sz="900" b="0">
                <a:solidFill>
                  <a:srgbClr val="6D28D9"/>
                </a:solidFill>
                <a:latin typeface="Calibri"/>
              </a:defRPr>
            </a:pPr>
            <a:r>
              <a:t>Alexis B.</a:t>
            </a:r>
          </a:p>
        </p:txBody>
      </p:sp>
      <p:sp>
        <p:nvSpPr>
          <p:cNvPr id="372" name="Rectangle 371"/>
          <p:cNvSpPr/>
          <p:nvPr/>
        </p:nvSpPr>
        <p:spPr>
          <a:xfrm>
            <a:off x="1920240" y="6327648"/>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TextBox 372"/>
          <p:cNvSpPr txBox="1"/>
          <p:nvPr/>
        </p:nvSpPr>
        <p:spPr>
          <a:xfrm>
            <a:off x="1956816" y="6364224"/>
            <a:ext cx="749808" cy="155448"/>
          </a:xfrm>
          <a:prstGeom prst="rect">
            <a:avLst/>
          </a:prstGeom>
          <a:noFill/>
        </p:spPr>
        <p:txBody>
          <a:bodyPr wrap="square">
            <a:spAutoFit/>
          </a:bodyPr>
          <a:lstStyle/>
          <a:p>
            <a:pPr algn="ctr">
              <a:defRPr sz="900" b="0">
                <a:solidFill>
                  <a:srgbClr val="111827"/>
                </a:solidFill>
                <a:latin typeface="Calibri"/>
              </a:defRPr>
            </a:pPr>
            <a:r>
              <a:t>22</a:t>
            </a:r>
          </a:p>
        </p:txBody>
      </p:sp>
      <p:sp>
        <p:nvSpPr>
          <p:cNvPr id="374" name="Rectangle 373"/>
          <p:cNvSpPr/>
          <p:nvPr/>
        </p:nvSpPr>
        <p:spPr>
          <a:xfrm>
            <a:off x="2743200" y="6327648"/>
            <a:ext cx="8229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TextBox 374"/>
          <p:cNvSpPr txBox="1"/>
          <p:nvPr/>
        </p:nvSpPr>
        <p:spPr>
          <a:xfrm>
            <a:off x="2779776" y="6364224"/>
            <a:ext cx="749808" cy="155448"/>
          </a:xfrm>
          <a:prstGeom prst="rect">
            <a:avLst/>
          </a:prstGeom>
          <a:noFill/>
        </p:spPr>
        <p:txBody>
          <a:bodyPr wrap="square">
            <a:spAutoFit/>
          </a:bodyPr>
          <a:lstStyle/>
          <a:p>
            <a:pPr algn="ctr">
              <a:defRPr sz="900" b="0">
                <a:solidFill>
                  <a:srgbClr val="059669"/>
                </a:solidFill>
                <a:latin typeface="Calibri"/>
              </a:defRPr>
            </a:pPr>
            <a:r>
              <a:t>22</a:t>
            </a:r>
          </a:p>
        </p:txBody>
      </p:sp>
      <p:sp>
        <p:nvSpPr>
          <p:cNvPr id="376" name="Rectangle 375"/>
          <p:cNvSpPr/>
          <p:nvPr/>
        </p:nvSpPr>
        <p:spPr>
          <a:xfrm>
            <a:off x="3566160" y="6327648"/>
            <a:ext cx="86868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TextBox 376"/>
          <p:cNvSpPr txBox="1"/>
          <p:nvPr/>
        </p:nvSpPr>
        <p:spPr>
          <a:xfrm>
            <a:off x="3602736" y="6364224"/>
            <a:ext cx="795528" cy="155448"/>
          </a:xfrm>
          <a:prstGeom prst="rect">
            <a:avLst/>
          </a:prstGeom>
          <a:noFill/>
        </p:spPr>
        <p:txBody>
          <a:bodyPr wrap="square">
            <a:spAutoFit/>
          </a:bodyPr>
          <a:lstStyle/>
          <a:p>
            <a:pPr algn="ctr">
              <a:defRPr sz="900" b="0">
                <a:solidFill>
                  <a:srgbClr val="059669"/>
                </a:solidFill>
                <a:latin typeface="Calibri"/>
              </a:defRPr>
            </a:pPr>
            <a:r>
              <a:t>0%</a:t>
            </a:r>
          </a:p>
        </p:txBody>
      </p:sp>
      <p:sp>
        <p:nvSpPr>
          <p:cNvPr id="378" name="Rectangle 377"/>
          <p:cNvSpPr/>
          <p:nvPr/>
        </p:nvSpPr>
        <p:spPr>
          <a:xfrm>
            <a:off x="4434840" y="6327648"/>
            <a:ext cx="141732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TextBox 378"/>
          <p:cNvSpPr txBox="1"/>
          <p:nvPr/>
        </p:nvSpPr>
        <p:spPr>
          <a:xfrm>
            <a:off x="4471416" y="6364224"/>
            <a:ext cx="1344168" cy="155448"/>
          </a:xfrm>
          <a:prstGeom prst="rect">
            <a:avLst/>
          </a:prstGeom>
          <a:noFill/>
        </p:spPr>
        <p:txBody>
          <a:bodyPr wrap="square">
            <a:spAutoFit/>
          </a:bodyPr>
          <a:lstStyle/>
          <a:p>
            <a:pPr algn="ctr">
              <a:defRPr sz="900" b="0">
                <a:solidFill>
                  <a:srgbClr val="111827"/>
                </a:solidFill>
                <a:latin typeface="Calibri"/>
              </a:defRPr>
            </a:pPr>
            <a:r>
              <a:t>$120K</a:t>
            </a:r>
          </a:p>
        </p:txBody>
      </p:sp>
      <p:sp>
        <p:nvSpPr>
          <p:cNvPr id="380" name="Rectangle 379"/>
          <p:cNvSpPr/>
          <p:nvPr/>
        </p:nvSpPr>
        <p:spPr>
          <a:xfrm>
            <a:off x="6126480" y="4133088"/>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TextBox 380"/>
          <p:cNvSpPr txBox="1"/>
          <p:nvPr/>
        </p:nvSpPr>
        <p:spPr>
          <a:xfrm>
            <a:off x="6163056" y="4169664"/>
            <a:ext cx="1664207" cy="155448"/>
          </a:xfrm>
          <a:prstGeom prst="rect">
            <a:avLst/>
          </a:prstGeom>
          <a:noFill/>
        </p:spPr>
        <p:txBody>
          <a:bodyPr wrap="square">
            <a:spAutoFit/>
          </a:bodyPr>
          <a:lstStyle/>
          <a:p>
            <a:pPr algn="l">
              <a:defRPr sz="900" b="0">
                <a:solidFill>
                  <a:srgbClr val="111827"/>
                </a:solidFill>
                <a:latin typeface="Calibri"/>
              </a:defRPr>
            </a:pPr>
            <a:r>
              <a:t>Alexis B.</a:t>
            </a:r>
          </a:p>
        </p:txBody>
      </p:sp>
      <p:sp>
        <p:nvSpPr>
          <p:cNvPr id="382" name="Rectangle 381"/>
          <p:cNvSpPr/>
          <p:nvPr/>
        </p:nvSpPr>
        <p:spPr>
          <a:xfrm>
            <a:off x="7863840" y="4133088"/>
            <a:ext cx="10058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TextBox 382"/>
          <p:cNvSpPr txBox="1"/>
          <p:nvPr/>
        </p:nvSpPr>
        <p:spPr>
          <a:xfrm>
            <a:off x="7900415" y="4169664"/>
            <a:ext cx="932688" cy="155448"/>
          </a:xfrm>
          <a:prstGeom prst="rect">
            <a:avLst/>
          </a:prstGeom>
          <a:noFill/>
        </p:spPr>
        <p:txBody>
          <a:bodyPr wrap="square">
            <a:spAutoFit/>
          </a:bodyPr>
          <a:lstStyle/>
          <a:p>
            <a:pPr algn="ctr">
              <a:defRPr sz="900" b="0">
                <a:solidFill>
                  <a:srgbClr val="DC2626"/>
                </a:solidFill>
                <a:latin typeface="Calibri"/>
              </a:defRPr>
            </a:pPr>
            <a:r>
              <a:t>0%</a:t>
            </a:r>
          </a:p>
        </p:txBody>
      </p:sp>
      <p:sp>
        <p:nvSpPr>
          <p:cNvPr id="384" name="Rectangle 383"/>
          <p:cNvSpPr/>
          <p:nvPr/>
        </p:nvSpPr>
        <p:spPr>
          <a:xfrm>
            <a:off x="8869680" y="4133088"/>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TextBox 384"/>
          <p:cNvSpPr txBox="1"/>
          <p:nvPr/>
        </p:nvSpPr>
        <p:spPr>
          <a:xfrm>
            <a:off x="8906255" y="4169664"/>
            <a:ext cx="978407" cy="155448"/>
          </a:xfrm>
          <a:prstGeom prst="rect">
            <a:avLst/>
          </a:prstGeom>
          <a:noFill/>
        </p:spPr>
        <p:txBody>
          <a:bodyPr wrap="square">
            <a:spAutoFit/>
          </a:bodyPr>
          <a:lstStyle/>
          <a:p>
            <a:pPr algn="ctr">
              <a:defRPr sz="900" b="0">
                <a:solidFill>
                  <a:srgbClr val="059669"/>
                </a:solidFill>
                <a:latin typeface="Calibri"/>
              </a:defRPr>
            </a:pPr>
            <a:r>
              <a:t>+92.3%</a:t>
            </a:r>
          </a:p>
        </p:txBody>
      </p:sp>
      <p:sp>
        <p:nvSpPr>
          <p:cNvPr id="386" name="Rectangle 385"/>
          <p:cNvSpPr/>
          <p:nvPr/>
        </p:nvSpPr>
        <p:spPr>
          <a:xfrm>
            <a:off x="9921240" y="4133088"/>
            <a:ext cx="14630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TextBox 386"/>
          <p:cNvSpPr txBox="1"/>
          <p:nvPr/>
        </p:nvSpPr>
        <p:spPr>
          <a:xfrm>
            <a:off x="9957815" y="4169664"/>
            <a:ext cx="1389888" cy="155448"/>
          </a:xfrm>
          <a:prstGeom prst="rect">
            <a:avLst/>
          </a:prstGeom>
          <a:noFill/>
        </p:spPr>
        <p:txBody>
          <a:bodyPr wrap="square">
            <a:spAutoFit/>
          </a:bodyPr>
          <a:lstStyle/>
          <a:p>
            <a:pPr algn="ctr">
              <a:defRPr sz="900" b="0">
                <a:solidFill>
                  <a:srgbClr val="111827"/>
                </a:solidFill>
                <a:latin typeface="Calibri"/>
              </a:defRPr>
            </a:pPr>
            <a:r>
              <a:t>$45,557</a:t>
            </a:r>
          </a:p>
        </p:txBody>
      </p:sp>
      <p:sp>
        <p:nvSpPr>
          <p:cNvPr id="388" name="Rectangle 387"/>
          <p:cNvSpPr/>
          <p:nvPr/>
        </p:nvSpPr>
        <p:spPr>
          <a:xfrm>
            <a:off x="11384280" y="4133088"/>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11420855" y="4169664"/>
            <a:ext cx="521208" cy="155448"/>
          </a:xfrm>
          <a:prstGeom prst="rect">
            <a:avLst/>
          </a:prstGeom>
          <a:noFill/>
        </p:spPr>
        <p:txBody>
          <a:bodyPr wrap="square">
            <a:spAutoFit/>
          </a:bodyPr>
          <a:lstStyle/>
          <a:p>
            <a:pPr algn="ctr">
              <a:defRPr sz="900" b="0">
                <a:solidFill>
                  <a:srgbClr val="D97706"/>
                </a:solidFill>
                <a:latin typeface="Calibri"/>
              </a:defRPr>
            </a:pPr>
            <a:r>
              <a:t>Efficient</a:t>
            </a:r>
          </a:p>
        </p:txBody>
      </p:sp>
      <p:sp>
        <p:nvSpPr>
          <p:cNvPr id="390" name="Rectangle 389"/>
          <p:cNvSpPr/>
          <p:nvPr/>
        </p:nvSpPr>
        <p:spPr>
          <a:xfrm>
            <a:off x="6126480" y="4352544"/>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TextBox 390"/>
          <p:cNvSpPr txBox="1"/>
          <p:nvPr/>
        </p:nvSpPr>
        <p:spPr>
          <a:xfrm>
            <a:off x="6163056" y="4389120"/>
            <a:ext cx="1664207" cy="155448"/>
          </a:xfrm>
          <a:prstGeom prst="rect">
            <a:avLst/>
          </a:prstGeom>
          <a:noFill/>
        </p:spPr>
        <p:txBody>
          <a:bodyPr wrap="square">
            <a:spAutoFit/>
          </a:bodyPr>
          <a:lstStyle/>
          <a:p>
            <a:pPr algn="l">
              <a:defRPr sz="900" b="0">
                <a:solidFill>
                  <a:srgbClr val="111827"/>
                </a:solidFill>
                <a:latin typeface="Calibri"/>
              </a:defRPr>
            </a:pPr>
            <a:r>
              <a:t>Ron D.</a:t>
            </a:r>
          </a:p>
        </p:txBody>
      </p:sp>
      <p:sp>
        <p:nvSpPr>
          <p:cNvPr id="392" name="Rectangle 391"/>
          <p:cNvSpPr/>
          <p:nvPr/>
        </p:nvSpPr>
        <p:spPr>
          <a:xfrm>
            <a:off x="7863840" y="4352544"/>
            <a:ext cx="10058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TextBox 392"/>
          <p:cNvSpPr txBox="1"/>
          <p:nvPr/>
        </p:nvSpPr>
        <p:spPr>
          <a:xfrm>
            <a:off x="7900415" y="4389120"/>
            <a:ext cx="932688" cy="155448"/>
          </a:xfrm>
          <a:prstGeom prst="rect">
            <a:avLst/>
          </a:prstGeom>
          <a:noFill/>
        </p:spPr>
        <p:txBody>
          <a:bodyPr wrap="square">
            <a:spAutoFit/>
          </a:bodyPr>
          <a:lstStyle/>
          <a:p>
            <a:pPr algn="ctr">
              <a:defRPr sz="900" b="0">
                <a:solidFill>
                  <a:srgbClr val="DC2626"/>
                </a:solidFill>
                <a:latin typeface="Calibri"/>
              </a:defRPr>
            </a:pPr>
            <a:r>
              <a:t>40%</a:t>
            </a:r>
          </a:p>
        </p:txBody>
      </p:sp>
      <p:sp>
        <p:nvSpPr>
          <p:cNvPr id="394" name="Rectangle 393"/>
          <p:cNvSpPr/>
          <p:nvPr/>
        </p:nvSpPr>
        <p:spPr>
          <a:xfrm>
            <a:off x="8869680" y="4352544"/>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TextBox 394"/>
          <p:cNvSpPr txBox="1"/>
          <p:nvPr/>
        </p:nvSpPr>
        <p:spPr>
          <a:xfrm>
            <a:off x="8906255" y="4389120"/>
            <a:ext cx="978407" cy="155448"/>
          </a:xfrm>
          <a:prstGeom prst="rect">
            <a:avLst/>
          </a:prstGeom>
          <a:noFill/>
        </p:spPr>
        <p:txBody>
          <a:bodyPr wrap="square">
            <a:spAutoFit/>
          </a:bodyPr>
          <a:lstStyle/>
          <a:p>
            <a:pPr algn="ctr">
              <a:defRPr sz="900" b="0">
                <a:solidFill>
                  <a:srgbClr val="DC2626"/>
                </a:solidFill>
                <a:latin typeface="Calibri"/>
              </a:defRPr>
            </a:pPr>
            <a:r>
              <a:t>-19.1%</a:t>
            </a:r>
          </a:p>
        </p:txBody>
      </p:sp>
      <p:sp>
        <p:nvSpPr>
          <p:cNvPr id="396" name="Rectangle 395"/>
          <p:cNvSpPr/>
          <p:nvPr/>
        </p:nvSpPr>
        <p:spPr>
          <a:xfrm>
            <a:off x="9921240" y="4352544"/>
            <a:ext cx="14630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TextBox 396"/>
          <p:cNvSpPr txBox="1"/>
          <p:nvPr/>
        </p:nvSpPr>
        <p:spPr>
          <a:xfrm>
            <a:off x="9957815" y="4389120"/>
            <a:ext cx="1389888" cy="155448"/>
          </a:xfrm>
          <a:prstGeom prst="rect">
            <a:avLst/>
          </a:prstGeom>
          <a:noFill/>
        </p:spPr>
        <p:txBody>
          <a:bodyPr wrap="square">
            <a:spAutoFit/>
          </a:bodyPr>
          <a:lstStyle/>
          <a:p>
            <a:pPr algn="ctr">
              <a:defRPr sz="900" b="0">
                <a:solidFill>
                  <a:srgbClr val="111827"/>
                </a:solidFill>
                <a:latin typeface="Calibri"/>
              </a:defRPr>
            </a:pPr>
            <a:r>
              <a:t>$40,150</a:t>
            </a:r>
          </a:p>
        </p:txBody>
      </p:sp>
      <p:sp>
        <p:nvSpPr>
          <p:cNvPr id="398" name="Rectangle 397"/>
          <p:cNvSpPr/>
          <p:nvPr/>
        </p:nvSpPr>
        <p:spPr>
          <a:xfrm>
            <a:off x="11384280" y="4352544"/>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TextBox 398"/>
          <p:cNvSpPr txBox="1"/>
          <p:nvPr/>
        </p:nvSpPr>
        <p:spPr>
          <a:xfrm>
            <a:off x="11420855" y="4389120"/>
            <a:ext cx="521208" cy="155448"/>
          </a:xfrm>
          <a:prstGeom prst="rect">
            <a:avLst/>
          </a:prstGeom>
          <a:noFill/>
        </p:spPr>
        <p:txBody>
          <a:bodyPr wrap="square">
            <a:spAutoFit/>
          </a:bodyPr>
          <a:lstStyle/>
          <a:p>
            <a:pPr algn="ctr">
              <a:defRPr sz="900" b="0">
                <a:solidFill>
                  <a:srgbClr val="DC2626"/>
                </a:solidFill>
                <a:latin typeface="Calibri"/>
              </a:defRPr>
            </a:pPr>
            <a:r>
              <a:t>At Risk</a:t>
            </a:r>
          </a:p>
        </p:txBody>
      </p:sp>
      <p:sp>
        <p:nvSpPr>
          <p:cNvPr id="400" name="Rectangle 399"/>
          <p:cNvSpPr/>
          <p:nvPr/>
        </p:nvSpPr>
        <p:spPr>
          <a:xfrm>
            <a:off x="6126480" y="4572000"/>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TextBox 400"/>
          <p:cNvSpPr txBox="1"/>
          <p:nvPr/>
        </p:nvSpPr>
        <p:spPr>
          <a:xfrm>
            <a:off x="6163056" y="4608576"/>
            <a:ext cx="1664207" cy="155448"/>
          </a:xfrm>
          <a:prstGeom prst="rect">
            <a:avLst/>
          </a:prstGeom>
          <a:noFill/>
        </p:spPr>
        <p:txBody>
          <a:bodyPr wrap="square">
            <a:spAutoFit/>
          </a:bodyPr>
          <a:lstStyle/>
          <a:p>
            <a:pPr algn="l">
              <a:defRPr sz="900" b="0">
                <a:solidFill>
                  <a:srgbClr val="111827"/>
                </a:solidFill>
                <a:latin typeface="Calibri"/>
              </a:defRPr>
            </a:pPr>
            <a:r>
              <a:t>Kurt B.</a:t>
            </a:r>
          </a:p>
        </p:txBody>
      </p:sp>
      <p:sp>
        <p:nvSpPr>
          <p:cNvPr id="402" name="Rectangle 401"/>
          <p:cNvSpPr/>
          <p:nvPr/>
        </p:nvSpPr>
        <p:spPr>
          <a:xfrm>
            <a:off x="7863840" y="4572000"/>
            <a:ext cx="10058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TextBox 402"/>
          <p:cNvSpPr txBox="1"/>
          <p:nvPr/>
        </p:nvSpPr>
        <p:spPr>
          <a:xfrm>
            <a:off x="7900415" y="4608576"/>
            <a:ext cx="932688" cy="155448"/>
          </a:xfrm>
          <a:prstGeom prst="rect">
            <a:avLst/>
          </a:prstGeom>
          <a:noFill/>
        </p:spPr>
        <p:txBody>
          <a:bodyPr wrap="square">
            <a:spAutoFit/>
          </a:bodyPr>
          <a:lstStyle/>
          <a:p>
            <a:pPr algn="ctr">
              <a:defRPr sz="900" b="0">
                <a:solidFill>
                  <a:srgbClr val="DC2626"/>
                </a:solidFill>
                <a:latin typeface="Calibri"/>
              </a:defRPr>
            </a:pPr>
            <a:r>
              <a:t>0%</a:t>
            </a:r>
          </a:p>
        </p:txBody>
      </p:sp>
      <p:sp>
        <p:nvSpPr>
          <p:cNvPr id="404" name="Rectangle 403"/>
          <p:cNvSpPr/>
          <p:nvPr/>
        </p:nvSpPr>
        <p:spPr>
          <a:xfrm>
            <a:off x="8869680" y="4572000"/>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TextBox 404"/>
          <p:cNvSpPr txBox="1"/>
          <p:nvPr/>
        </p:nvSpPr>
        <p:spPr>
          <a:xfrm>
            <a:off x="8906255" y="4608576"/>
            <a:ext cx="978407" cy="155448"/>
          </a:xfrm>
          <a:prstGeom prst="rect">
            <a:avLst/>
          </a:prstGeom>
          <a:noFill/>
        </p:spPr>
        <p:txBody>
          <a:bodyPr wrap="square">
            <a:spAutoFit/>
          </a:bodyPr>
          <a:lstStyle/>
          <a:p>
            <a:pPr algn="ctr">
              <a:defRPr sz="900" b="0">
                <a:solidFill>
                  <a:srgbClr val="DC2626"/>
                </a:solidFill>
                <a:latin typeface="Calibri"/>
              </a:defRPr>
            </a:pPr>
            <a:r>
              <a:t>-5.0%</a:t>
            </a:r>
          </a:p>
        </p:txBody>
      </p:sp>
      <p:sp>
        <p:nvSpPr>
          <p:cNvPr id="406" name="Rectangle 405"/>
          <p:cNvSpPr/>
          <p:nvPr/>
        </p:nvSpPr>
        <p:spPr>
          <a:xfrm>
            <a:off x="9921240" y="4572000"/>
            <a:ext cx="14630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TextBox 406"/>
          <p:cNvSpPr txBox="1"/>
          <p:nvPr/>
        </p:nvSpPr>
        <p:spPr>
          <a:xfrm>
            <a:off x="9957815" y="4608576"/>
            <a:ext cx="1389888" cy="155448"/>
          </a:xfrm>
          <a:prstGeom prst="rect">
            <a:avLst/>
          </a:prstGeom>
          <a:noFill/>
        </p:spPr>
        <p:txBody>
          <a:bodyPr wrap="square">
            <a:spAutoFit/>
          </a:bodyPr>
          <a:lstStyle/>
          <a:p>
            <a:pPr algn="ctr">
              <a:defRPr sz="900" b="0">
                <a:solidFill>
                  <a:srgbClr val="111827"/>
                </a:solidFill>
                <a:latin typeface="Calibri"/>
              </a:defRPr>
            </a:pPr>
            <a:r>
              <a:t>$37,686</a:t>
            </a:r>
          </a:p>
        </p:txBody>
      </p:sp>
      <p:sp>
        <p:nvSpPr>
          <p:cNvPr id="408" name="Rectangle 407"/>
          <p:cNvSpPr/>
          <p:nvPr/>
        </p:nvSpPr>
        <p:spPr>
          <a:xfrm>
            <a:off x="11384280" y="4572000"/>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TextBox 408"/>
          <p:cNvSpPr txBox="1"/>
          <p:nvPr/>
        </p:nvSpPr>
        <p:spPr>
          <a:xfrm>
            <a:off x="11420855" y="4608576"/>
            <a:ext cx="521208" cy="155448"/>
          </a:xfrm>
          <a:prstGeom prst="rect">
            <a:avLst/>
          </a:prstGeom>
          <a:noFill/>
        </p:spPr>
        <p:txBody>
          <a:bodyPr wrap="square">
            <a:spAutoFit/>
          </a:bodyPr>
          <a:lstStyle/>
          <a:p>
            <a:pPr algn="ctr">
              <a:defRPr sz="900" b="0">
                <a:solidFill>
                  <a:srgbClr val="DC2626"/>
                </a:solidFill>
                <a:latin typeface="Calibri"/>
              </a:defRPr>
            </a:pPr>
            <a:r>
              <a:t>At Risk</a:t>
            </a:r>
          </a:p>
        </p:txBody>
      </p:sp>
      <p:sp>
        <p:nvSpPr>
          <p:cNvPr id="410" name="Rectangle 409"/>
          <p:cNvSpPr/>
          <p:nvPr/>
        </p:nvSpPr>
        <p:spPr>
          <a:xfrm>
            <a:off x="6126480" y="4791456"/>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TextBox 410"/>
          <p:cNvSpPr txBox="1"/>
          <p:nvPr/>
        </p:nvSpPr>
        <p:spPr>
          <a:xfrm>
            <a:off x="6163056" y="4828032"/>
            <a:ext cx="1664207" cy="155448"/>
          </a:xfrm>
          <a:prstGeom prst="rect">
            <a:avLst/>
          </a:prstGeom>
          <a:noFill/>
        </p:spPr>
        <p:txBody>
          <a:bodyPr wrap="square">
            <a:spAutoFit/>
          </a:bodyPr>
          <a:lstStyle/>
          <a:p>
            <a:pPr algn="l">
              <a:defRPr sz="900" b="0">
                <a:solidFill>
                  <a:srgbClr val="111827"/>
                </a:solidFill>
                <a:latin typeface="Calibri"/>
              </a:defRPr>
            </a:pPr>
            <a:r>
              <a:t>Christopher H.</a:t>
            </a:r>
          </a:p>
        </p:txBody>
      </p:sp>
      <p:sp>
        <p:nvSpPr>
          <p:cNvPr id="412" name="Rectangle 411"/>
          <p:cNvSpPr/>
          <p:nvPr/>
        </p:nvSpPr>
        <p:spPr>
          <a:xfrm>
            <a:off x="7863840" y="4791456"/>
            <a:ext cx="10058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TextBox 412"/>
          <p:cNvSpPr txBox="1"/>
          <p:nvPr/>
        </p:nvSpPr>
        <p:spPr>
          <a:xfrm>
            <a:off x="7900415" y="4828032"/>
            <a:ext cx="932688" cy="155448"/>
          </a:xfrm>
          <a:prstGeom prst="rect">
            <a:avLst/>
          </a:prstGeom>
          <a:noFill/>
        </p:spPr>
        <p:txBody>
          <a:bodyPr wrap="square">
            <a:spAutoFit/>
          </a:bodyPr>
          <a:lstStyle/>
          <a:p>
            <a:pPr algn="ctr">
              <a:defRPr sz="900" b="0">
                <a:solidFill>
                  <a:srgbClr val="DC2626"/>
                </a:solidFill>
                <a:latin typeface="Calibri"/>
              </a:defRPr>
            </a:pPr>
            <a:r>
              <a:t>40%</a:t>
            </a:r>
          </a:p>
        </p:txBody>
      </p:sp>
      <p:sp>
        <p:nvSpPr>
          <p:cNvPr id="414" name="Rectangle 413"/>
          <p:cNvSpPr/>
          <p:nvPr/>
        </p:nvSpPr>
        <p:spPr>
          <a:xfrm>
            <a:off x="8869680" y="4791456"/>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TextBox 414"/>
          <p:cNvSpPr txBox="1"/>
          <p:nvPr/>
        </p:nvSpPr>
        <p:spPr>
          <a:xfrm>
            <a:off x="8906255" y="4828032"/>
            <a:ext cx="978407" cy="155448"/>
          </a:xfrm>
          <a:prstGeom prst="rect">
            <a:avLst/>
          </a:prstGeom>
          <a:noFill/>
        </p:spPr>
        <p:txBody>
          <a:bodyPr wrap="square">
            <a:spAutoFit/>
          </a:bodyPr>
          <a:lstStyle/>
          <a:p>
            <a:pPr algn="ctr">
              <a:defRPr sz="900" b="0">
                <a:solidFill>
                  <a:srgbClr val="DC2626"/>
                </a:solidFill>
                <a:latin typeface="Calibri"/>
              </a:defRPr>
            </a:pPr>
            <a:r>
              <a:t>-34.6%</a:t>
            </a:r>
          </a:p>
        </p:txBody>
      </p:sp>
      <p:sp>
        <p:nvSpPr>
          <p:cNvPr id="416" name="Rectangle 415"/>
          <p:cNvSpPr/>
          <p:nvPr/>
        </p:nvSpPr>
        <p:spPr>
          <a:xfrm>
            <a:off x="9921240" y="4791456"/>
            <a:ext cx="14630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TextBox 416"/>
          <p:cNvSpPr txBox="1"/>
          <p:nvPr/>
        </p:nvSpPr>
        <p:spPr>
          <a:xfrm>
            <a:off x="9957815" y="4828032"/>
            <a:ext cx="1389888" cy="155448"/>
          </a:xfrm>
          <a:prstGeom prst="rect">
            <a:avLst/>
          </a:prstGeom>
          <a:noFill/>
        </p:spPr>
        <p:txBody>
          <a:bodyPr wrap="square">
            <a:spAutoFit/>
          </a:bodyPr>
          <a:lstStyle/>
          <a:p>
            <a:pPr algn="ctr">
              <a:defRPr sz="900" b="0">
                <a:solidFill>
                  <a:srgbClr val="111827"/>
                </a:solidFill>
                <a:latin typeface="Calibri"/>
              </a:defRPr>
            </a:pPr>
            <a:r>
              <a:t>$31,776</a:t>
            </a:r>
          </a:p>
        </p:txBody>
      </p:sp>
      <p:sp>
        <p:nvSpPr>
          <p:cNvPr id="418" name="Rectangle 417"/>
          <p:cNvSpPr/>
          <p:nvPr/>
        </p:nvSpPr>
        <p:spPr>
          <a:xfrm>
            <a:off x="11384280" y="4791456"/>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TextBox 418"/>
          <p:cNvSpPr txBox="1"/>
          <p:nvPr/>
        </p:nvSpPr>
        <p:spPr>
          <a:xfrm>
            <a:off x="11420855" y="4828032"/>
            <a:ext cx="521208" cy="155448"/>
          </a:xfrm>
          <a:prstGeom prst="rect">
            <a:avLst/>
          </a:prstGeom>
          <a:noFill/>
        </p:spPr>
        <p:txBody>
          <a:bodyPr wrap="square">
            <a:spAutoFit/>
          </a:bodyPr>
          <a:lstStyle/>
          <a:p>
            <a:pPr algn="ctr">
              <a:defRPr sz="900" b="0">
                <a:solidFill>
                  <a:srgbClr val="DC2626"/>
                </a:solidFill>
                <a:latin typeface="Calibri"/>
              </a:defRPr>
            </a:pPr>
            <a:r>
              <a:t>At Risk</a:t>
            </a:r>
          </a:p>
        </p:txBody>
      </p:sp>
      <p:sp>
        <p:nvSpPr>
          <p:cNvPr id="420" name="Rectangle 419"/>
          <p:cNvSpPr/>
          <p:nvPr/>
        </p:nvSpPr>
        <p:spPr>
          <a:xfrm>
            <a:off x="6126480" y="5010912"/>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TextBox 420"/>
          <p:cNvSpPr txBox="1"/>
          <p:nvPr/>
        </p:nvSpPr>
        <p:spPr>
          <a:xfrm>
            <a:off x="6163056" y="5047488"/>
            <a:ext cx="1664207" cy="155448"/>
          </a:xfrm>
          <a:prstGeom prst="rect">
            <a:avLst/>
          </a:prstGeom>
          <a:noFill/>
        </p:spPr>
        <p:txBody>
          <a:bodyPr wrap="square">
            <a:spAutoFit/>
          </a:bodyPr>
          <a:lstStyle/>
          <a:p>
            <a:pPr algn="l">
              <a:defRPr sz="900" b="0">
                <a:solidFill>
                  <a:srgbClr val="111827"/>
                </a:solidFill>
                <a:latin typeface="Calibri"/>
              </a:defRPr>
            </a:pPr>
            <a:r>
              <a:t>Derek J.</a:t>
            </a:r>
          </a:p>
        </p:txBody>
      </p:sp>
      <p:sp>
        <p:nvSpPr>
          <p:cNvPr id="422" name="Rectangle 421"/>
          <p:cNvSpPr/>
          <p:nvPr/>
        </p:nvSpPr>
        <p:spPr>
          <a:xfrm>
            <a:off x="7863840" y="5010912"/>
            <a:ext cx="10058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TextBox 422"/>
          <p:cNvSpPr txBox="1"/>
          <p:nvPr/>
        </p:nvSpPr>
        <p:spPr>
          <a:xfrm>
            <a:off x="7900415" y="5047488"/>
            <a:ext cx="932688" cy="155448"/>
          </a:xfrm>
          <a:prstGeom prst="rect">
            <a:avLst/>
          </a:prstGeom>
          <a:noFill/>
        </p:spPr>
        <p:txBody>
          <a:bodyPr wrap="square">
            <a:spAutoFit/>
          </a:bodyPr>
          <a:lstStyle/>
          <a:p>
            <a:pPr algn="ctr">
              <a:defRPr sz="900" b="0">
                <a:solidFill>
                  <a:srgbClr val="059669"/>
                </a:solidFill>
                <a:latin typeface="Calibri"/>
              </a:defRPr>
            </a:pPr>
            <a:r>
              <a:t>100%</a:t>
            </a:r>
          </a:p>
        </p:txBody>
      </p:sp>
      <p:sp>
        <p:nvSpPr>
          <p:cNvPr id="424" name="Rectangle 423"/>
          <p:cNvSpPr/>
          <p:nvPr/>
        </p:nvSpPr>
        <p:spPr>
          <a:xfrm>
            <a:off x="8869680" y="5010912"/>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TextBox 424"/>
          <p:cNvSpPr txBox="1"/>
          <p:nvPr/>
        </p:nvSpPr>
        <p:spPr>
          <a:xfrm>
            <a:off x="8906255" y="5047488"/>
            <a:ext cx="978407" cy="155448"/>
          </a:xfrm>
          <a:prstGeom prst="rect">
            <a:avLst/>
          </a:prstGeom>
          <a:noFill/>
        </p:spPr>
        <p:txBody>
          <a:bodyPr wrap="square">
            <a:spAutoFit/>
          </a:bodyPr>
          <a:lstStyle/>
          <a:p>
            <a:pPr algn="ctr">
              <a:defRPr sz="900" b="0">
                <a:solidFill>
                  <a:srgbClr val="DC2626"/>
                </a:solidFill>
                <a:latin typeface="Calibri"/>
              </a:defRPr>
            </a:pPr>
            <a:r>
              <a:t>-42.2%</a:t>
            </a:r>
          </a:p>
        </p:txBody>
      </p:sp>
      <p:sp>
        <p:nvSpPr>
          <p:cNvPr id="426" name="Rectangle 425"/>
          <p:cNvSpPr/>
          <p:nvPr/>
        </p:nvSpPr>
        <p:spPr>
          <a:xfrm>
            <a:off x="9921240" y="5010912"/>
            <a:ext cx="14630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TextBox 426"/>
          <p:cNvSpPr txBox="1"/>
          <p:nvPr/>
        </p:nvSpPr>
        <p:spPr>
          <a:xfrm>
            <a:off x="9957815" y="5047488"/>
            <a:ext cx="1389888" cy="155448"/>
          </a:xfrm>
          <a:prstGeom prst="rect">
            <a:avLst/>
          </a:prstGeom>
          <a:noFill/>
        </p:spPr>
        <p:txBody>
          <a:bodyPr wrap="square">
            <a:spAutoFit/>
          </a:bodyPr>
          <a:lstStyle/>
          <a:p>
            <a:pPr algn="ctr">
              <a:defRPr sz="900" b="0">
                <a:solidFill>
                  <a:srgbClr val="111827"/>
                </a:solidFill>
                <a:latin typeface="Calibri"/>
              </a:defRPr>
            </a:pPr>
            <a:r>
              <a:t>$31,502</a:t>
            </a:r>
          </a:p>
        </p:txBody>
      </p:sp>
      <p:sp>
        <p:nvSpPr>
          <p:cNvPr id="428" name="Rectangle 427"/>
          <p:cNvSpPr/>
          <p:nvPr/>
        </p:nvSpPr>
        <p:spPr>
          <a:xfrm>
            <a:off x="11384280" y="5010912"/>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TextBox 428"/>
          <p:cNvSpPr txBox="1"/>
          <p:nvPr/>
        </p:nvSpPr>
        <p:spPr>
          <a:xfrm>
            <a:off x="11420855" y="5047488"/>
            <a:ext cx="521208" cy="155448"/>
          </a:xfrm>
          <a:prstGeom prst="rect">
            <a:avLst/>
          </a:prstGeom>
          <a:noFill/>
        </p:spPr>
        <p:txBody>
          <a:bodyPr wrap="square">
            <a:spAutoFit/>
          </a:bodyPr>
          <a:lstStyle/>
          <a:p>
            <a:pPr algn="ctr">
              <a:defRPr sz="900" b="0">
                <a:solidFill>
                  <a:srgbClr val="D97706"/>
                </a:solidFill>
                <a:latin typeface="Calibri"/>
              </a:defRPr>
            </a:pPr>
            <a:r>
              <a:t>Qual Gap</a:t>
            </a:r>
          </a:p>
        </p:txBody>
      </p:sp>
      <p:sp>
        <p:nvSpPr>
          <p:cNvPr id="430" name="Rectangle 429"/>
          <p:cNvSpPr/>
          <p:nvPr/>
        </p:nvSpPr>
        <p:spPr>
          <a:xfrm>
            <a:off x="6126480" y="5230368"/>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TextBox 430"/>
          <p:cNvSpPr txBox="1"/>
          <p:nvPr/>
        </p:nvSpPr>
        <p:spPr>
          <a:xfrm>
            <a:off x="6163056" y="5266944"/>
            <a:ext cx="1664207" cy="155448"/>
          </a:xfrm>
          <a:prstGeom prst="rect">
            <a:avLst/>
          </a:prstGeom>
          <a:noFill/>
        </p:spPr>
        <p:txBody>
          <a:bodyPr wrap="square">
            <a:spAutoFit/>
          </a:bodyPr>
          <a:lstStyle/>
          <a:p>
            <a:pPr algn="l">
              <a:defRPr sz="900" b="0">
                <a:solidFill>
                  <a:srgbClr val="111827"/>
                </a:solidFill>
                <a:latin typeface="Calibri"/>
              </a:defRPr>
            </a:pPr>
            <a:r>
              <a:t>Derrick L.</a:t>
            </a:r>
          </a:p>
        </p:txBody>
      </p:sp>
      <p:sp>
        <p:nvSpPr>
          <p:cNvPr id="432" name="Rectangle 431"/>
          <p:cNvSpPr/>
          <p:nvPr/>
        </p:nvSpPr>
        <p:spPr>
          <a:xfrm>
            <a:off x="7863840" y="5230368"/>
            <a:ext cx="10058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TextBox 432"/>
          <p:cNvSpPr txBox="1"/>
          <p:nvPr/>
        </p:nvSpPr>
        <p:spPr>
          <a:xfrm>
            <a:off x="7900415" y="5266944"/>
            <a:ext cx="932688" cy="155448"/>
          </a:xfrm>
          <a:prstGeom prst="rect">
            <a:avLst/>
          </a:prstGeom>
          <a:noFill/>
        </p:spPr>
        <p:txBody>
          <a:bodyPr wrap="square">
            <a:spAutoFit/>
          </a:bodyPr>
          <a:lstStyle/>
          <a:p>
            <a:pPr algn="ctr">
              <a:defRPr sz="900" b="0">
                <a:solidFill>
                  <a:srgbClr val="059669"/>
                </a:solidFill>
                <a:latin typeface="Calibri"/>
              </a:defRPr>
            </a:pPr>
            <a:r>
              <a:t>100%</a:t>
            </a:r>
          </a:p>
        </p:txBody>
      </p:sp>
      <p:sp>
        <p:nvSpPr>
          <p:cNvPr id="434" name="Rectangle 433"/>
          <p:cNvSpPr/>
          <p:nvPr/>
        </p:nvSpPr>
        <p:spPr>
          <a:xfrm>
            <a:off x="8869680" y="5230368"/>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TextBox 434"/>
          <p:cNvSpPr txBox="1"/>
          <p:nvPr/>
        </p:nvSpPr>
        <p:spPr>
          <a:xfrm>
            <a:off x="8906255" y="5266944"/>
            <a:ext cx="978407" cy="155448"/>
          </a:xfrm>
          <a:prstGeom prst="rect">
            <a:avLst/>
          </a:prstGeom>
          <a:noFill/>
        </p:spPr>
        <p:txBody>
          <a:bodyPr wrap="square">
            <a:spAutoFit/>
          </a:bodyPr>
          <a:lstStyle/>
          <a:p>
            <a:pPr algn="ctr">
              <a:defRPr sz="900" b="0">
                <a:solidFill>
                  <a:srgbClr val="DC2626"/>
                </a:solidFill>
                <a:latin typeface="Calibri"/>
              </a:defRPr>
            </a:pPr>
            <a:r>
              <a:t>-54.5%</a:t>
            </a:r>
          </a:p>
        </p:txBody>
      </p:sp>
      <p:sp>
        <p:nvSpPr>
          <p:cNvPr id="436" name="Rectangle 435"/>
          <p:cNvSpPr/>
          <p:nvPr/>
        </p:nvSpPr>
        <p:spPr>
          <a:xfrm>
            <a:off x="9921240" y="5230368"/>
            <a:ext cx="14630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TextBox 436"/>
          <p:cNvSpPr txBox="1"/>
          <p:nvPr/>
        </p:nvSpPr>
        <p:spPr>
          <a:xfrm>
            <a:off x="9957815" y="5266944"/>
            <a:ext cx="1389888" cy="155448"/>
          </a:xfrm>
          <a:prstGeom prst="rect">
            <a:avLst/>
          </a:prstGeom>
          <a:noFill/>
        </p:spPr>
        <p:txBody>
          <a:bodyPr wrap="square">
            <a:spAutoFit/>
          </a:bodyPr>
          <a:lstStyle/>
          <a:p>
            <a:pPr algn="ctr">
              <a:defRPr sz="900" b="0">
                <a:solidFill>
                  <a:srgbClr val="111827"/>
                </a:solidFill>
                <a:latin typeface="Calibri"/>
              </a:defRPr>
            </a:pPr>
            <a:r>
              <a:t>$11,267</a:t>
            </a:r>
          </a:p>
        </p:txBody>
      </p:sp>
      <p:sp>
        <p:nvSpPr>
          <p:cNvPr id="438" name="Rectangle 437"/>
          <p:cNvSpPr/>
          <p:nvPr/>
        </p:nvSpPr>
        <p:spPr>
          <a:xfrm>
            <a:off x="11384280" y="5230368"/>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TextBox 438"/>
          <p:cNvSpPr txBox="1"/>
          <p:nvPr/>
        </p:nvSpPr>
        <p:spPr>
          <a:xfrm>
            <a:off x="11420855" y="5266944"/>
            <a:ext cx="521208" cy="155448"/>
          </a:xfrm>
          <a:prstGeom prst="rect">
            <a:avLst/>
          </a:prstGeom>
          <a:noFill/>
        </p:spPr>
        <p:txBody>
          <a:bodyPr wrap="square">
            <a:spAutoFit/>
          </a:bodyPr>
          <a:lstStyle/>
          <a:p>
            <a:pPr algn="ctr">
              <a:defRPr sz="900" b="0">
                <a:solidFill>
                  <a:srgbClr val="D97706"/>
                </a:solidFill>
                <a:latin typeface="Calibri"/>
              </a:defRPr>
            </a:pPr>
            <a:r>
              <a:t>Qual Gap</a:t>
            </a:r>
          </a:p>
        </p:txBody>
      </p:sp>
      <p:sp>
        <p:nvSpPr>
          <p:cNvPr id="440" name="Rectangle 439"/>
          <p:cNvSpPr/>
          <p:nvPr/>
        </p:nvSpPr>
        <p:spPr>
          <a:xfrm>
            <a:off x="6126480" y="5449824"/>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TextBox 440"/>
          <p:cNvSpPr txBox="1"/>
          <p:nvPr/>
        </p:nvSpPr>
        <p:spPr>
          <a:xfrm>
            <a:off x="6163056" y="5486400"/>
            <a:ext cx="1664207" cy="155448"/>
          </a:xfrm>
          <a:prstGeom prst="rect">
            <a:avLst/>
          </a:prstGeom>
          <a:noFill/>
        </p:spPr>
        <p:txBody>
          <a:bodyPr wrap="square">
            <a:spAutoFit/>
          </a:bodyPr>
          <a:lstStyle/>
          <a:p>
            <a:pPr algn="l">
              <a:defRPr sz="900" b="0">
                <a:solidFill>
                  <a:srgbClr val="111827"/>
                </a:solidFill>
                <a:latin typeface="Calibri"/>
              </a:defRPr>
            </a:pPr>
            <a:r>
              <a:t>Erika C.</a:t>
            </a:r>
          </a:p>
        </p:txBody>
      </p:sp>
      <p:sp>
        <p:nvSpPr>
          <p:cNvPr id="442" name="Rectangle 441"/>
          <p:cNvSpPr/>
          <p:nvPr/>
        </p:nvSpPr>
        <p:spPr>
          <a:xfrm>
            <a:off x="7863840" y="5449824"/>
            <a:ext cx="10058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TextBox 442"/>
          <p:cNvSpPr txBox="1"/>
          <p:nvPr/>
        </p:nvSpPr>
        <p:spPr>
          <a:xfrm>
            <a:off x="7900415" y="5486400"/>
            <a:ext cx="932688" cy="155448"/>
          </a:xfrm>
          <a:prstGeom prst="rect">
            <a:avLst/>
          </a:prstGeom>
          <a:noFill/>
        </p:spPr>
        <p:txBody>
          <a:bodyPr wrap="square">
            <a:spAutoFit/>
          </a:bodyPr>
          <a:lstStyle/>
          <a:p>
            <a:pPr algn="ctr">
              <a:defRPr sz="900" b="0">
                <a:solidFill>
                  <a:srgbClr val="DC2626"/>
                </a:solidFill>
                <a:latin typeface="Calibri"/>
              </a:defRPr>
            </a:pPr>
            <a:r>
              <a:t>0%</a:t>
            </a:r>
          </a:p>
        </p:txBody>
      </p:sp>
      <p:sp>
        <p:nvSpPr>
          <p:cNvPr id="444" name="Rectangle 443"/>
          <p:cNvSpPr/>
          <p:nvPr/>
        </p:nvSpPr>
        <p:spPr>
          <a:xfrm>
            <a:off x="8869680" y="5449824"/>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TextBox 444"/>
          <p:cNvSpPr txBox="1"/>
          <p:nvPr/>
        </p:nvSpPr>
        <p:spPr>
          <a:xfrm>
            <a:off x="8906255" y="5486400"/>
            <a:ext cx="978407" cy="155448"/>
          </a:xfrm>
          <a:prstGeom prst="rect">
            <a:avLst/>
          </a:prstGeom>
          <a:noFill/>
        </p:spPr>
        <p:txBody>
          <a:bodyPr wrap="square">
            <a:spAutoFit/>
          </a:bodyPr>
          <a:lstStyle/>
          <a:p>
            <a:pPr algn="ctr">
              <a:defRPr sz="900" b="0">
                <a:solidFill>
                  <a:srgbClr val="059669"/>
                </a:solidFill>
                <a:latin typeface="Calibri"/>
              </a:defRPr>
            </a:pPr>
            <a:r>
              <a:t>+509.5%</a:t>
            </a:r>
          </a:p>
        </p:txBody>
      </p:sp>
      <p:sp>
        <p:nvSpPr>
          <p:cNvPr id="446" name="Rectangle 445"/>
          <p:cNvSpPr/>
          <p:nvPr/>
        </p:nvSpPr>
        <p:spPr>
          <a:xfrm>
            <a:off x="9921240" y="5449824"/>
            <a:ext cx="14630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TextBox 446"/>
          <p:cNvSpPr txBox="1"/>
          <p:nvPr/>
        </p:nvSpPr>
        <p:spPr>
          <a:xfrm>
            <a:off x="9957815" y="5486400"/>
            <a:ext cx="1389888" cy="155448"/>
          </a:xfrm>
          <a:prstGeom prst="rect">
            <a:avLst/>
          </a:prstGeom>
          <a:noFill/>
        </p:spPr>
        <p:txBody>
          <a:bodyPr wrap="square">
            <a:spAutoFit/>
          </a:bodyPr>
          <a:lstStyle/>
          <a:p>
            <a:pPr algn="ctr">
              <a:defRPr sz="900" b="0">
                <a:solidFill>
                  <a:srgbClr val="111827"/>
                </a:solidFill>
                <a:latin typeface="Calibri"/>
              </a:defRPr>
            </a:pPr>
            <a:r>
              <a:t>$6,258</a:t>
            </a:r>
          </a:p>
        </p:txBody>
      </p:sp>
      <p:sp>
        <p:nvSpPr>
          <p:cNvPr id="448" name="Rectangle 447"/>
          <p:cNvSpPr/>
          <p:nvPr/>
        </p:nvSpPr>
        <p:spPr>
          <a:xfrm>
            <a:off x="11384280" y="5449824"/>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TextBox 448"/>
          <p:cNvSpPr txBox="1"/>
          <p:nvPr/>
        </p:nvSpPr>
        <p:spPr>
          <a:xfrm>
            <a:off x="11420855" y="5486400"/>
            <a:ext cx="521208" cy="155448"/>
          </a:xfrm>
          <a:prstGeom prst="rect">
            <a:avLst/>
          </a:prstGeom>
          <a:noFill/>
        </p:spPr>
        <p:txBody>
          <a:bodyPr wrap="square">
            <a:spAutoFit/>
          </a:bodyPr>
          <a:lstStyle/>
          <a:p>
            <a:pPr algn="ctr">
              <a:defRPr sz="900" b="0">
                <a:solidFill>
                  <a:srgbClr val="D97706"/>
                </a:solidFill>
                <a:latin typeface="Calibri"/>
              </a:defRPr>
            </a:pPr>
            <a:r>
              <a:t>Efficient</a:t>
            </a:r>
          </a:p>
        </p:txBody>
      </p:sp>
      <p:sp>
        <p:nvSpPr>
          <p:cNvPr id="450" name="Rectangle 449"/>
          <p:cNvSpPr/>
          <p:nvPr/>
        </p:nvSpPr>
        <p:spPr>
          <a:xfrm>
            <a:off x="6126480" y="5669280"/>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TextBox 450"/>
          <p:cNvSpPr txBox="1"/>
          <p:nvPr/>
        </p:nvSpPr>
        <p:spPr>
          <a:xfrm>
            <a:off x="6163056" y="5705856"/>
            <a:ext cx="1664207" cy="155448"/>
          </a:xfrm>
          <a:prstGeom prst="rect">
            <a:avLst/>
          </a:prstGeom>
          <a:noFill/>
        </p:spPr>
        <p:txBody>
          <a:bodyPr wrap="square">
            <a:spAutoFit/>
          </a:bodyPr>
          <a:lstStyle/>
          <a:p>
            <a:pPr algn="l">
              <a:defRPr sz="900" b="0">
                <a:solidFill>
                  <a:srgbClr val="111827"/>
                </a:solidFill>
                <a:latin typeface="Calibri"/>
              </a:defRPr>
            </a:pPr>
            <a:r>
              <a:t>Portia L.</a:t>
            </a:r>
          </a:p>
        </p:txBody>
      </p:sp>
      <p:sp>
        <p:nvSpPr>
          <p:cNvPr id="452" name="Rectangle 451"/>
          <p:cNvSpPr/>
          <p:nvPr/>
        </p:nvSpPr>
        <p:spPr>
          <a:xfrm>
            <a:off x="7863840" y="5669280"/>
            <a:ext cx="10058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TextBox 452"/>
          <p:cNvSpPr txBox="1"/>
          <p:nvPr/>
        </p:nvSpPr>
        <p:spPr>
          <a:xfrm>
            <a:off x="7900415" y="5705856"/>
            <a:ext cx="932688" cy="155448"/>
          </a:xfrm>
          <a:prstGeom prst="rect">
            <a:avLst/>
          </a:prstGeom>
          <a:noFill/>
        </p:spPr>
        <p:txBody>
          <a:bodyPr wrap="square">
            <a:spAutoFit/>
          </a:bodyPr>
          <a:lstStyle/>
          <a:p>
            <a:pPr algn="ctr">
              <a:defRPr sz="900" b="0">
                <a:solidFill>
                  <a:srgbClr val="DC2626"/>
                </a:solidFill>
                <a:latin typeface="Calibri"/>
              </a:defRPr>
            </a:pPr>
            <a:r>
              <a:t>25%</a:t>
            </a:r>
          </a:p>
        </p:txBody>
      </p:sp>
      <p:sp>
        <p:nvSpPr>
          <p:cNvPr id="454" name="Rectangle 453"/>
          <p:cNvSpPr/>
          <p:nvPr/>
        </p:nvSpPr>
        <p:spPr>
          <a:xfrm>
            <a:off x="8869680" y="5669280"/>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TextBox 454"/>
          <p:cNvSpPr txBox="1"/>
          <p:nvPr/>
        </p:nvSpPr>
        <p:spPr>
          <a:xfrm>
            <a:off x="8906255" y="5705856"/>
            <a:ext cx="978407" cy="155448"/>
          </a:xfrm>
          <a:prstGeom prst="rect">
            <a:avLst/>
          </a:prstGeom>
          <a:noFill/>
        </p:spPr>
        <p:txBody>
          <a:bodyPr wrap="square">
            <a:spAutoFit/>
          </a:bodyPr>
          <a:lstStyle/>
          <a:p>
            <a:pPr algn="ctr">
              <a:defRPr sz="900" b="0">
                <a:solidFill>
                  <a:srgbClr val="059669"/>
                </a:solidFill>
                <a:latin typeface="Calibri"/>
              </a:defRPr>
            </a:pPr>
            <a:r>
              <a:t>+462.6%</a:t>
            </a:r>
          </a:p>
        </p:txBody>
      </p:sp>
      <p:sp>
        <p:nvSpPr>
          <p:cNvPr id="456" name="Rectangle 455"/>
          <p:cNvSpPr/>
          <p:nvPr/>
        </p:nvSpPr>
        <p:spPr>
          <a:xfrm>
            <a:off x="9921240" y="5669280"/>
            <a:ext cx="14630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TextBox 456"/>
          <p:cNvSpPr txBox="1"/>
          <p:nvPr/>
        </p:nvSpPr>
        <p:spPr>
          <a:xfrm>
            <a:off x="9957815" y="5705856"/>
            <a:ext cx="1389888" cy="155448"/>
          </a:xfrm>
          <a:prstGeom prst="rect">
            <a:avLst/>
          </a:prstGeom>
          <a:noFill/>
        </p:spPr>
        <p:txBody>
          <a:bodyPr wrap="square">
            <a:spAutoFit/>
          </a:bodyPr>
          <a:lstStyle/>
          <a:p>
            <a:pPr algn="ctr">
              <a:defRPr sz="900" b="0">
                <a:solidFill>
                  <a:srgbClr val="111827"/>
                </a:solidFill>
                <a:latin typeface="Calibri"/>
              </a:defRPr>
            </a:pPr>
            <a:r>
              <a:t>$5,822</a:t>
            </a:r>
          </a:p>
        </p:txBody>
      </p:sp>
      <p:sp>
        <p:nvSpPr>
          <p:cNvPr id="458" name="Rectangle 457"/>
          <p:cNvSpPr/>
          <p:nvPr/>
        </p:nvSpPr>
        <p:spPr>
          <a:xfrm>
            <a:off x="11384280" y="5669280"/>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TextBox 458"/>
          <p:cNvSpPr txBox="1"/>
          <p:nvPr/>
        </p:nvSpPr>
        <p:spPr>
          <a:xfrm>
            <a:off x="11420855" y="5705856"/>
            <a:ext cx="521208" cy="155448"/>
          </a:xfrm>
          <a:prstGeom prst="rect">
            <a:avLst/>
          </a:prstGeom>
          <a:noFill/>
        </p:spPr>
        <p:txBody>
          <a:bodyPr wrap="square">
            <a:spAutoFit/>
          </a:bodyPr>
          <a:lstStyle/>
          <a:p>
            <a:pPr algn="ctr">
              <a:defRPr sz="900" b="0">
                <a:solidFill>
                  <a:srgbClr val="D97706"/>
                </a:solidFill>
                <a:latin typeface="Calibri"/>
              </a:defRPr>
            </a:pPr>
            <a:r>
              <a:t>Efficient</a:t>
            </a:r>
          </a:p>
        </p:txBody>
      </p:sp>
      <p:sp>
        <p:nvSpPr>
          <p:cNvPr id="460" name="Rectangle 459"/>
          <p:cNvSpPr/>
          <p:nvPr/>
        </p:nvSpPr>
        <p:spPr>
          <a:xfrm>
            <a:off x="6126480" y="5888736"/>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TextBox 460"/>
          <p:cNvSpPr txBox="1"/>
          <p:nvPr/>
        </p:nvSpPr>
        <p:spPr>
          <a:xfrm>
            <a:off x="6163056" y="5925312"/>
            <a:ext cx="1664207" cy="155448"/>
          </a:xfrm>
          <a:prstGeom prst="rect">
            <a:avLst/>
          </a:prstGeom>
          <a:noFill/>
        </p:spPr>
        <p:txBody>
          <a:bodyPr wrap="square">
            <a:spAutoFit/>
          </a:bodyPr>
          <a:lstStyle/>
          <a:p>
            <a:pPr algn="l">
              <a:defRPr sz="900" b="0">
                <a:solidFill>
                  <a:srgbClr val="111827"/>
                </a:solidFill>
                <a:latin typeface="Calibri"/>
              </a:defRPr>
            </a:pPr>
            <a:r>
              <a:t>Cameron B.</a:t>
            </a:r>
          </a:p>
        </p:txBody>
      </p:sp>
      <p:sp>
        <p:nvSpPr>
          <p:cNvPr id="462" name="Rectangle 461"/>
          <p:cNvSpPr/>
          <p:nvPr/>
        </p:nvSpPr>
        <p:spPr>
          <a:xfrm>
            <a:off x="7863840" y="5888736"/>
            <a:ext cx="10058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TextBox 462"/>
          <p:cNvSpPr txBox="1"/>
          <p:nvPr/>
        </p:nvSpPr>
        <p:spPr>
          <a:xfrm>
            <a:off x="7900415" y="5925312"/>
            <a:ext cx="932688" cy="155448"/>
          </a:xfrm>
          <a:prstGeom prst="rect">
            <a:avLst/>
          </a:prstGeom>
          <a:noFill/>
        </p:spPr>
        <p:txBody>
          <a:bodyPr wrap="square">
            <a:spAutoFit/>
          </a:bodyPr>
          <a:lstStyle/>
          <a:p>
            <a:pPr algn="ctr">
              <a:defRPr sz="900" b="0">
                <a:solidFill>
                  <a:srgbClr val="D97706"/>
                </a:solidFill>
                <a:latin typeface="Calibri"/>
              </a:defRPr>
            </a:pPr>
            <a:r>
              <a:t>60%</a:t>
            </a:r>
          </a:p>
        </p:txBody>
      </p:sp>
      <p:sp>
        <p:nvSpPr>
          <p:cNvPr id="464" name="Rectangle 463"/>
          <p:cNvSpPr/>
          <p:nvPr/>
        </p:nvSpPr>
        <p:spPr>
          <a:xfrm>
            <a:off x="8869680" y="5888736"/>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TextBox 464"/>
          <p:cNvSpPr txBox="1"/>
          <p:nvPr/>
        </p:nvSpPr>
        <p:spPr>
          <a:xfrm>
            <a:off x="8906255" y="5925312"/>
            <a:ext cx="978407" cy="155448"/>
          </a:xfrm>
          <a:prstGeom prst="rect">
            <a:avLst/>
          </a:prstGeom>
          <a:noFill/>
        </p:spPr>
        <p:txBody>
          <a:bodyPr wrap="square">
            <a:spAutoFit/>
          </a:bodyPr>
          <a:lstStyle/>
          <a:p>
            <a:pPr algn="ctr">
              <a:defRPr sz="900" b="0">
                <a:solidFill>
                  <a:srgbClr val="DC2626"/>
                </a:solidFill>
                <a:latin typeface="Calibri"/>
              </a:defRPr>
            </a:pPr>
            <a:r>
              <a:t>-60.4%</a:t>
            </a:r>
          </a:p>
        </p:txBody>
      </p:sp>
      <p:sp>
        <p:nvSpPr>
          <p:cNvPr id="466" name="Rectangle 465"/>
          <p:cNvSpPr/>
          <p:nvPr/>
        </p:nvSpPr>
        <p:spPr>
          <a:xfrm>
            <a:off x="9921240" y="5888736"/>
            <a:ext cx="14630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TextBox 466"/>
          <p:cNvSpPr txBox="1"/>
          <p:nvPr/>
        </p:nvSpPr>
        <p:spPr>
          <a:xfrm>
            <a:off x="9957815" y="5925312"/>
            <a:ext cx="1389888" cy="155448"/>
          </a:xfrm>
          <a:prstGeom prst="rect">
            <a:avLst/>
          </a:prstGeom>
          <a:noFill/>
        </p:spPr>
        <p:txBody>
          <a:bodyPr wrap="square">
            <a:spAutoFit/>
          </a:bodyPr>
          <a:lstStyle/>
          <a:p>
            <a:pPr algn="ctr">
              <a:defRPr sz="900" b="0">
                <a:solidFill>
                  <a:srgbClr val="111827"/>
                </a:solidFill>
                <a:latin typeface="Calibri"/>
              </a:defRPr>
            </a:pPr>
            <a:r>
              <a:t>$3,994</a:t>
            </a:r>
          </a:p>
        </p:txBody>
      </p:sp>
      <p:sp>
        <p:nvSpPr>
          <p:cNvPr id="468" name="Rectangle 467"/>
          <p:cNvSpPr/>
          <p:nvPr/>
        </p:nvSpPr>
        <p:spPr>
          <a:xfrm>
            <a:off x="11384280" y="5888736"/>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TextBox 468"/>
          <p:cNvSpPr txBox="1"/>
          <p:nvPr/>
        </p:nvSpPr>
        <p:spPr>
          <a:xfrm>
            <a:off x="11420855" y="5925312"/>
            <a:ext cx="521208" cy="155448"/>
          </a:xfrm>
          <a:prstGeom prst="rect">
            <a:avLst/>
          </a:prstGeom>
          <a:noFill/>
        </p:spPr>
        <p:txBody>
          <a:bodyPr wrap="square">
            <a:spAutoFit/>
          </a:bodyPr>
          <a:lstStyle/>
          <a:p>
            <a:pPr algn="ctr">
              <a:defRPr sz="900" b="0">
                <a:solidFill>
                  <a:srgbClr val="DC2626"/>
                </a:solidFill>
                <a:latin typeface="Calibri"/>
              </a:defRPr>
            </a:pPr>
            <a:r>
              <a:t>At Risk</a:t>
            </a:r>
          </a:p>
        </p:txBody>
      </p:sp>
      <p:sp>
        <p:nvSpPr>
          <p:cNvPr id="470" name="Rectangle 469"/>
          <p:cNvSpPr/>
          <p:nvPr/>
        </p:nvSpPr>
        <p:spPr>
          <a:xfrm>
            <a:off x="6126480" y="6108192"/>
            <a:ext cx="1737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TextBox 470"/>
          <p:cNvSpPr txBox="1"/>
          <p:nvPr/>
        </p:nvSpPr>
        <p:spPr>
          <a:xfrm>
            <a:off x="6163056" y="6144768"/>
            <a:ext cx="1664207" cy="155448"/>
          </a:xfrm>
          <a:prstGeom prst="rect">
            <a:avLst/>
          </a:prstGeom>
          <a:noFill/>
        </p:spPr>
        <p:txBody>
          <a:bodyPr wrap="square">
            <a:spAutoFit/>
          </a:bodyPr>
          <a:lstStyle/>
          <a:p>
            <a:pPr algn="l">
              <a:defRPr sz="900" b="0">
                <a:solidFill>
                  <a:srgbClr val="111827"/>
                </a:solidFill>
                <a:latin typeface="Calibri"/>
              </a:defRPr>
            </a:pPr>
            <a:r>
              <a:t>Taylor S.</a:t>
            </a:r>
          </a:p>
        </p:txBody>
      </p:sp>
      <p:sp>
        <p:nvSpPr>
          <p:cNvPr id="472" name="Rectangle 471"/>
          <p:cNvSpPr/>
          <p:nvPr/>
        </p:nvSpPr>
        <p:spPr>
          <a:xfrm>
            <a:off x="7863840" y="6108192"/>
            <a:ext cx="10058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TextBox 472"/>
          <p:cNvSpPr txBox="1"/>
          <p:nvPr/>
        </p:nvSpPr>
        <p:spPr>
          <a:xfrm>
            <a:off x="7900415" y="6144768"/>
            <a:ext cx="932688" cy="155448"/>
          </a:xfrm>
          <a:prstGeom prst="rect">
            <a:avLst/>
          </a:prstGeom>
          <a:noFill/>
        </p:spPr>
        <p:txBody>
          <a:bodyPr wrap="square">
            <a:spAutoFit/>
          </a:bodyPr>
          <a:lstStyle/>
          <a:p>
            <a:pPr algn="ctr">
              <a:defRPr sz="900" b="0">
                <a:solidFill>
                  <a:srgbClr val="DC2626"/>
                </a:solidFill>
                <a:latin typeface="Calibri"/>
              </a:defRPr>
            </a:pPr>
            <a:r>
              <a:t>50%</a:t>
            </a:r>
          </a:p>
        </p:txBody>
      </p:sp>
      <p:sp>
        <p:nvSpPr>
          <p:cNvPr id="474" name="Rectangle 473"/>
          <p:cNvSpPr/>
          <p:nvPr/>
        </p:nvSpPr>
        <p:spPr>
          <a:xfrm>
            <a:off x="8869680" y="6108192"/>
            <a:ext cx="10515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TextBox 474"/>
          <p:cNvSpPr txBox="1"/>
          <p:nvPr/>
        </p:nvSpPr>
        <p:spPr>
          <a:xfrm>
            <a:off x="8906255" y="6144768"/>
            <a:ext cx="978407" cy="155448"/>
          </a:xfrm>
          <a:prstGeom prst="rect">
            <a:avLst/>
          </a:prstGeom>
          <a:noFill/>
        </p:spPr>
        <p:txBody>
          <a:bodyPr wrap="square">
            <a:spAutoFit/>
          </a:bodyPr>
          <a:lstStyle/>
          <a:p>
            <a:pPr algn="ctr">
              <a:defRPr sz="900" b="0">
                <a:solidFill>
                  <a:srgbClr val="DC2626"/>
                </a:solidFill>
                <a:latin typeface="Calibri"/>
              </a:defRPr>
            </a:pPr>
            <a:r>
              <a:t>-37.9%</a:t>
            </a:r>
          </a:p>
        </p:txBody>
      </p:sp>
      <p:sp>
        <p:nvSpPr>
          <p:cNvPr id="476" name="Rectangle 475"/>
          <p:cNvSpPr/>
          <p:nvPr/>
        </p:nvSpPr>
        <p:spPr>
          <a:xfrm>
            <a:off x="9921240" y="6108192"/>
            <a:ext cx="146304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TextBox 476"/>
          <p:cNvSpPr txBox="1"/>
          <p:nvPr/>
        </p:nvSpPr>
        <p:spPr>
          <a:xfrm>
            <a:off x="9957815" y="6144768"/>
            <a:ext cx="1389888" cy="155448"/>
          </a:xfrm>
          <a:prstGeom prst="rect">
            <a:avLst/>
          </a:prstGeom>
          <a:noFill/>
        </p:spPr>
        <p:txBody>
          <a:bodyPr wrap="square">
            <a:spAutoFit/>
          </a:bodyPr>
          <a:lstStyle/>
          <a:p>
            <a:pPr algn="ctr">
              <a:defRPr sz="900" b="0">
                <a:solidFill>
                  <a:srgbClr val="111827"/>
                </a:solidFill>
                <a:latin typeface="Calibri"/>
              </a:defRPr>
            </a:pPr>
            <a:r>
              <a:t>$1,580</a:t>
            </a:r>
          </a:p>
        </p:txBody>
      </p:sp>
      <p:sp>
        <p:nvSpPr>
          <p:cNvPr id="478" name="Rectangle 477"/>
          <p:cNvSpPr/>
          <p:nvPr/>
        </p:nvSpPr>
        <p:spPr>
          <a:xfrm>
            <a:off x="11384280" y="6108192"/>
            <a:ext cx="594360" cy="219456"/>
          </a:xfrm>
          <a:prstGeom prst="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TextBox 478"/>
          <p:cNvSpPr txBox="1"/>
          <p:nvPr/>
        </p:nvSpPr>
        <p:spPr>
          <a:xfrm>
            <a:off x="11420855" y="6144768"/>
            <a:ext cx="521208" cy="155448"/>
          </a:xfrm>
          <a:prstGeom prst="rect">
            <a:avLst/>
          </a:prstGeom>
          <a:noFill/>
        </p:spPr>
        <p:txBody>
          <a:bodyPr wrap="square">
            <a:spAutoFit/>
          </a:bodyPr>
          <a:lstStyle/>
          <a:p>
            <a:pPr algn="ctr">
              <a:defRPr sz="900" b="0">
                <a:solidFill>
                  <a:srgbClr val="DC2626"/>
                </a:solidFill>
                <a:latin typeface="Calibri"/>
              </a:defRPr>
            </a:pPr>
            <a:r>
              <a:t>At Risk</a:t>
            </a:r>
          </a:p>
        </p:txBody>
      </p:sp>
      <p:sp>
        <p:nvSpPr>
          <p:cNvPr id="480" name="Rectangle 479"/>
          <p:cNvSpPr/>
          <p:nvPr/>
        </p:nvSpPr>
        <p:spPr>
          <a:xfrm>
            <a:off x="6126480" y="6327648"/>
            <a:ext cx="1737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TextBox 480"/>
          <p:cNvSpPr txBox="1"/>
          <p:nvPr/>
        </p:nvSpPr>
        <p:spPr>
          <a:xfrm>
            <a:off x="6163056" y="6364224"/>
            <a:ext cx="1664207" cy="155448"/>
          </a:xfrm>
          <a:prstGeom prst="rect">
            <a:avLst/>
          </a:prstGeom>
          <a:noFill/>
        </p:spPr>
        <p:txBody>
          <a:bodyPr wrap="square">
            <a:spAutoFit/>
          </a:bodyPr>
          <a:lstStyle/>
          <a:p>
            <a:pPr algn="l">
              <a:defRPr sz="900" b="0">
                <a:solidFill>
                  <a:srgbClr val="111827"/>
                </a:solidFill>
                <a:latin typeface="Calibri"/>
              </a:defRPr>
            </a:pPr>
            <a:r>
              <a:t>Westy M.</a:t>
            </a:r>
          </a:p>
        </p:txBody>
      </p:sp>
      <p:sp>
        <p:nvSpPr>
          <p:cNvPr id="482" name="Rectangle 481"/>
          <p:cNvSpPr/>
          <p:nvPr/>
        </p:nvSpPr>
        <p:spPr>
          <a:xfrm>
            <a:off x="7863840" y="6327648"/>
            <a:ext cx="10058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TextBox 482"/>
          <p:cNvSpPr txBox="1"/>
          <p:nvPr/>
        </p:nvSpPr>
        <p:spPr>
          <a:xfrm>
            <a:off x="7900415" y="6364224"/>
            <a:ext cx="932688" cy="155448"/>
          </a:xfrm>
          <a:prstGeom prst="rect">
            <a:avLst/>
          </a:prstGeom>
          <a:noFill/>
        </p:spPr>
        <p:txBody>
          <a:bodyPr wrap="square">
            <a:spAutoFit/>
          </a:bodyPr>
          <a:lstStyle/>
          <a:p>
            <a:pPr algn="ctr">
              <a:defRPr sz="900" b="0">
                <a:solidFill>
                  <a:srgbClr val="DC2626"/>
                </a:solidFill>
                <a:latin typeface="Calibri"/>
              </a:defRPr>
            </a:pPr>
            <a:r>
              <a:t>20%</a:t>
            </a:r>
          </a:p>
        </p:txBody>
      </p:sp>
      <p:sp>
        <p:nvSpPr>
          <p:cNvPr id="484" name="Rectangle 483"/>
          <p:cNvSpPr/>
          <p:nvPr/>
        </p:nvSpPr>
        <p:spPr>
          <a:xfrm>
            <a:off x="8869680" y="6327648"/>
            <a:ext cx="10515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TextBox 484"/>
          <p:cNvSpPr txBox="1"/>
          <p:nvPr/>
        </p:nvSpPr>
        <p:spPr>
          <a:xfrm>
            <a:off x="8906255" y="6364224"/>
            <a:ext cx="978407" cy="155448"/>
          </a:xfrm>
          <a:prstGeom prst="rect">
            <a:avLst/>
          </a:prstGeom>
          <a:noFill/>
        </p:spPr>
        <p:txBody>
          <a:bodyPr wrap="square">
            <a:spAutoFit/>
          </a:bodyPr>
          <a:lstStyle/>
          <a:p>
            <a:pPr algn="ctr">
              <a:defRPr sz="900" b="0">
                <a:solidFill>
                  <a:srgbClr val="DC2626"/>
                </a:solidFill>
                <a:latin typeface="Calibri"/>
              </a:defRPr>
            </a:pPr>
            <a:r>
              <a:t>-80.2%</a:t>
            </a:r>
          </a:p>
        </p:txBody>
      </p:sp>
      <p:sp>
        <p:nvSpPr>
          <p:cNvPr id="486" name="Rectangle 485"/>
          <p:cNvSpPr/>
          <p:nvPr/>
        </p:nvSpPr>
        <p:spPr>
          <a:xfrm>
            <a:off x="9921240" y="6327648"/>
            <a:ext cx="146304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TextBox 486"/>
          <p:cNvSpPr txBox="1"/>
          <p:nvPr/>
        </p:nvSpPr>
        <p:spPr>
          <a:xfrm>
            <a:off x="9957815" y="6364224"/>
            <a:ext cx="1389888" cy="155448"/>
          </a:xfrm>
          <a:prstGeom prst="rect">
            <a:avLst/>
          </a:prstGeom>
          <a:noFill/>
        </p:spPr>
        <p:txBody>
          <a:bodyPr wrap="square">
            <a:spAutoFit/>
          </a:bodyPr>
          <a:lstStyle/>
          <a:p>
            <a:pPr algn="ctr">
              <a:defRPr sz="900" b="0">
                <a:solidFill>
                  <a:srgbClr val="111827"/>
                </a:solidFill>
                <a:latin typeface="Calibri"/>
              </a:defRPr>
            </a:pPr>
            <a:r>
              <a:t>$388</a:t>
            </a:r>
          </a:p>
        </p:txBody>
      </p:sp>
      <p:sp>
        <p:nvSpPr>
          <p:cNvPr id="488" name="Rectangle 487"/>
          <p:cNvSpPr/>
          <p:nvPr/>
        </p:nvSpPr>
        <p:spPr>
          <a:xfrm>
            <a:off x="11384280" y="6327648"/>
            <a:ext cx="594360" cy="219456"/>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TextBox 488"/>
          <p:cNvSpPr txBox="1"/>
          <p:nvPr/>
        </p:nvSpPr>
        <p:spPr>
          <a:xfrm>
            <a:off x="11420855" y="6364224"/>
            <a:ext cx="521208" cy="155448"/>
          </a:xfrm>
          <a:prstGeom prst="rect">
            <a:avLst/>
          </a:prstGeom>
          <a:noFill/>
        </p:spPr>
        <p:txBody>
          <a:bodyPr wrap="square">
            <a:spAutoFit/>
          </a:bodyPr>
          <a:lstStyle/>
          <a:p>
            <a:pPr algn="ctr">
              <a:defRPr sz="900" b="0">
                <a:solidFill>
                  <a:srgbClr val="DC2626"/>
                </a:solidFill>
                <a:latin typeface="Calibri"/>
              </a:defRPr>
            </a:pPr>
            <a:r>
              <a:t>At Risk</a:t>
            </a:r>
          </a:p>
        </p:txBody>
      </p:sp>
      <p:sp>
        <p:nvSpPr>
          <p:cNvPr id="490" name="Rectangle 489"/>
          <p:cNvSpPr/>
          <p:nvPr/>
        </p:nvSpPr>
        <p:spPr>
          <a:xfrm>
            <a:off x="182880" y="6656832"/>
            <a:ext cx="11795760" cy="182880"/>
          </a:xfrm>
          <a:prstGeom prst="rect">
            <a:avLst/>
          </a:prstGeom>
          <a:solidFill>
            <a:srgbClr val="1E07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TextBox 490"/>
          <p:cNvSpPr txBox="1"/>
          <p:nvPr/>
        </p:nvSpPr>
        <p:spPr>
          <a:xfrm>
            <a:off x="274320" y="6693408"/>
            <a:ext cx="11612880" cy="128016"/>
          </a:xfrm>
          <a:prstGeom prst="rect">
            <a:avLst/>
          </a:prstGeom>
          <a:noFill/>
        </p:spPr>
        <p:txBody>
          <a:bodyPr wrap="square">
            <a:spAutoFit/>
          </a:bodyPr>
          <a:lstStyle/>
          <a:p>
            <a:pPr algn="l">
              <a:defRPr sz="950" b="1">
                <a:solidFill>
                  <a:srgbClr val="FFFFFF"/>
                </a:solidFill>
                <a:latin typeface="Calibri"/>
              </a:defRPr>
            </a:pPr>
            <a:r>
              <a:t>KEY INSIGHTS</a:t>
            </a:r>
          </a:p>
        </p:txBody>
      </p:sp>
      <p:sp>
        <p:nvSpPr>
          <p:cNvPr id="492" name="Rectangle 491"/>
          <p:cNvSpPr/>
          <p:nvPr/>
        </p:nvSpPr>
        <p:spPr>
          <a:xfrm>
            <a:off x="182880" y="6858000"/>
            <a:ext cx="3840480" cy="777240"/>
          </a:xfrm>
          <a:prstGeom prst="rect">
            <a:avLst/>
          </a:prstGeom>
          <a:solidFill>
            <a:srgbClr val="F3F4F6"/>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Rectangle 492"/>
          <p:cNvSpPr/>
          <p:nvPr/>
        </p:nvSpPr>
        <p:spPr>
          <a:xfrm>
            <a:off x="182880" y="6858000"/>
            <a:ext cx="54864" cy="7772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TextBox 493"/>
          <p:cNvSpPr txBox="1"/>
          <p:nvPr/>
        </p:nvSpPr>
        <p:spPr>
          <a:xfrm>
            <a:off x="292608" y="6903720"/>
            <a:ext cx="3685032" cy="201168"/>
          </a:xfrm>
          <a:prstGeom prst="rect">
            <a:avLst/>
          </a:prstGeom>
          <a:noFill/>
        </p:spPr>
        <p:txBody>
          <a:bodyPr wrap="square">
            <a:spAutoFit/>
          </a:bodyPr>
          <a:lstStyle/>
          <a:p>
            <a:pPr algn="l">
              <a:defRPr sz="1000" b="1">
                <a:solidFill>
                  <a:srgbClr val="111827"/>
                </a:solidFill>
                <a:latin typeface="Calibri"/>
              </a:defRPr>
            </a:pPr>
            <a:r>
              <a:t>Best Converter</a:t>
            </a:r>
          </a:p>
        </p:txBody>
      </p:sp>
      <p:sp>
        <p:nvSpPr>
          <p:cNvPr id="495" name="TextBox 494"/>
          <p:cNvSpPr txBox="1"/>
          <p:nvPr/>
        </p:nvSpPr>
        <p:spPr>
          <a:xfrm>
            <a:off x="292608" y="7114032"/>
            <a:ext cx="3685032" cy="475488"/>
          </a:xfrm>
          <a:prstGeom prst="rect">
            <a:avLst/>
          </a:prstGeom>
          <a:noFill/>
        </p:spPr>
        <p:txBody>
          <a:bodyPr wrap="square">
            <a:spAutoFit/>
          </a:bodyPr>
          <a:lstStyle/>
          <a:p>
            <a:pPr algn="l">
              <a:defRPr sz="850" b="0">
                <a:solidFill>
                  <a:srgbClr val="111827"/>
                </a:solidFill>
                <a:latin typeface="Calibri"/>
              </a:defRPr>
            </a:pPr>
            <a:r>
              <a:t>Portia L. leads at $28K per bind (27 binds, 5 acts/bind). Sets team benchmark for conversion quality.</a:t>
            </a:r>
          </a:p>
        </p:txBody>
      </p:sp>
      <p:sp>
        <p:nvSpPr>
          <p:cNvPr id="496" name="Rectangle 495"/>
          <p:cNvSpPr/>
          <p:nvPr/>
        </p:nvSpPr>
        <p:spPr>
          <a:xfrm>
            <a:off x="4133088" y="6858000"/>
            <a:ext cx="3840480" cy="777240"/>
          </a:xfrm>
          <a:prstGeom prst="rect">
            <a:avLst/>
          </a:prstGeom>
          <a:solidFill>
            <a:srgbClr val="F3F4F6"/>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Rectangle 496"/>
          <p:cNvSpPr/>
          <p:nvPr/>
        </p:nvSpPr>
        <p:spPr>
          <a:xfrm>
            <a:off x="4133088" y="6858000"/>
            <a:ext cx="54864" cy="7772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TextBox 497"/>
          <p:cNvSpPr txBox="1"/>
          <p:nvPr/>
        </p:nvSpPr>
        <p:spPr>
          <a:xfrm>
            <a:off x="4242816" y="6903720"/>
            <a:ext cx="3685032" cy="201168"/>
          </a:xfrm>
          <a:prstGeom prst="rect">
            <a:avLst/>
          </a:prstGeom>
          <a:noFill/>
        </p:spPr>
        <p:txBody>
          <a:bodyPr wrap="square">
            <a:spAutoFit/>
          </a:bodyPr>
          <a:lstStyle/>
          <a:p>
            <a:pPr algn="l">
              <a:defRPr sz="1000" b="1">
                <a:solidFill>
                  <a:srgbClr val="111827"/>
                </a:solidFill>
                <a:latin typeface="Calibri"/>
              </a:defRPr>
            </a:pPr>
            <a:r>
              <a:t>Biggest Portfolio Unlock</a:t>
            </a:r>
          </a:p>
        </p:txBody>
      </p:sp>
      <p:sp>
        <p:nvSpPr>
          <p:cNvPr id="499" name="TextBox 498"/>
          <p:cNvSpPr txBox="1"/>
          <p:nvPr/>
        </p:nvSpPr>
        <p:spPr>
          <a:xfrm>
            <a:off x="4242816" y="7114032"/>
            <a:ext cx="3685032" cy="475488"/>
          </a:xfrm>
          <a:prstGeom prst="rect">
            <a:avLst/>
          </a:prstGeom>
          <a:noFill/>
        </p:spPr>
        <p:txBody>
          <a:bodyPr wrap="square">
            <a:spAutoFit/>
          </a:bodyPr>
          <a:lstStyle/>
          <a:p>
            <a:pPr algn="l">
              <a:defRPr sz="850" b="0">
                <a:solidFill>
                  <a:srgbClr val="111827"/>
                </a:solidFill>
                <a:latin typeface="Calibri"/>
              </a:defRPr>
            </a:pPr>
            <a:r>
              <a:t>Portia L. has 8 dormant agencies (15% of portfolio). At $17K/active agency, 10% reactivation adds meaningful pipeline.</a:t>
            </a:r>
          </a:p>
        </p:txBody>
      </p:sp>
      <p:sp>
        <p:nvSpPr>
          <p:cNvPr id="500" name="Rectangle 499"/>
          <p:cNvSpPr/>
          <p:nvPr/>
        </p:nvSpPr>
        <p:spPr>
          <a:xfrm>
            <a:off x="8083296" y="6858000"/>
            <a:ext cx="3840480" cy="777240"/>
          </a:xfrm>
          <a:prstGeom prst="rect">
            <a:avLst/>
          </a:prstGeom>
          <a:solidFill>
            <a:srgbClr val="F3F4F6"/>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Rectangle 500"/>
          <p:cNvSpPr/>
          <p:nvPr/>
        </p:nvSpPr>
        <p:spPr>
          <a:xfrm>
            <a:off x="8083296" y="6858000"/>
            <a:ext cx="54864" cy="7772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TextBox 501"/>
          <p:cNvSpPr txBox="1"/>
          <p:nvPr/>
        </p:nvSpPr>
        <p:spPr>
          <a:xfrm>
            <a:off x="8193023" y="6903720"/>
            <a:ext cx="3685032" cy="201168"/>
          </a:xfrm>
          <a:prstGeom prst="rect">
            <a:avLst/>
          </a:prstGeom>
          <a:noFill/>
        </p:spPr>
        <p:txBody>
          <a:bodyPr wrap="square">
            <a:spAutoFit/>
          </a:bodyPr>
          <a:lstStyle/>
          <a:p>
            <a:pPr algn="l">
              <a:defRPr sz="1000" b="1">
                <a:solidFill>
                  <a:srgbClr val="111827"/>
                </a:solidFill>
                <a:latin typeface="Calibri"/>
              </a:defRPr>
            </a:pPr>
            <a:r>
              <a:t>Compliance → GWP Signal</a:t>
            </a:r>
          </a:p>
        </p:txBody>
      </p:sp>
      <p:sp>
        <p:nvSpPr>
          <p:cNvPr id="503" name="TextBox 502"/>
          <p:cNvSpPr txBox="1"/>
          <p:nvPr/>
        </p:nvSpPr>
        <p:spPr>
          <a:xfrm>
            <a:off x="8193023" y="7114032"/>
            <a:ext cx="3685032" cy="475488"/>
          </a:xfrm>
          <a:prstGeom prst="rect">
            <a:avLst/>
          </a:prstGeom>
          <a:noFill/>
        </p:spPr>
        <p:txBody>
          <a:bodyPr wrap="square">
            <a:spAutoFit/>
          </a:bodyPr>
          <a:lstStyle/>
          <a:p>
            <a:pPr algn="l">
              <a:defRPr sz="850" b="0">
                <a:solidFill>
                  <a:srgbClr val="111827"/>
                </a:solidFill>
                <a:latin typeface="Calibri"/>
              </a:defRPr>
            </a:pPr>
            <a:r>
              <a:t>Top-3 compliant reps avg GWP YOY -52.3% vs bottom-3 at +198.9%. Compliance does NOT track with GWP output this Q. Activity discipline is a leading indicator — use it to forecast rep trajectory.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