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50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20, 2026  |  50 days into Q2  |  41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$17.6M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$32.1M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174%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84%</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28,464</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113%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$2.4M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36pp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10865 vs Apr (17599)</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4 vs Q1 final (5)</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$24.7M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(71%)</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$7.8M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(22%)</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$2.5M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(7%)</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$18.4M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45,808</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5</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$7.85M written  ·  $12.17M pace  ·  20/31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20)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20)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20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18-20</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7" name="Rectangle 16"/>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19" name="Rectangle 18"/>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3" name="Rectangle 22"/>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5" name="Rectangle 24"/>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7" name="Rectangle 26"/>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29" name="Rectangle 28"/>
          <p:cNvSpPr/>
          <p:nvPr/>
        </p:nvSpPr>
        <p:spPr>
          <a:xfrm>
            <a:off x="8631935" y="11338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19</a:t>
            </a:r>
          </a:p>
        </p:txBody>
      </p:sp>
      <p:sp>
        <p:nvSpPr>
          <p:cNvPr id="31" name="TextBox 30"/>
          <p:cNvSpPr txBox="1"/>
          <p:nvPr/>
        </p:nvSpPr>
        <p:spPr>
          <a:xfrm>
            <a:off x="9692640" y="1211580"/>
            <a:ext cx="822960" cy="429768"/>
          </a:xfrm>
          <a:prstGeom prst="rect">
            <a:avLst/>
          </a:prstGeom>
          <a:noFill/>
        </p:spPr>
        <p:txBody>
          <a:bodyPr wrap="square">
            <a:spAutoFit/>
          </a:bodyPr>
          <a:lstStyle/>
          <a:p>
            <a:pPr algn="ctr">
              <a:defRPr sz="1100" b="1">
                <a:solidFill>
                  <a:srgbClr val="059669"/>
                </a:solidFill>
                <a:latin typeface="Calibri"/>
              </a:defRPr>
            </a:pPr>
            <a:r>
              <a:t>155%</a:t>
            </a:r>
          </a:p>
        </p:txBody>
      </p:sp>
      <p:sp>
        <p:nvSpPr>
          <p:cNvPr id="32" name="Rectangle 31"/>
          <p:cNvSpPr/>
          <p:nvPr/>
        </p:nvSpPr>
        <p:spPr>
          <a:xfrm>
            <a:off x="182880" y="158191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4" name="Rectangle 33"/>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6" name="Rectangle 35"/>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38" name="Rectangle 37"/>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0" name="Rectangle 39"/>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2" name="Rectangle 41"/>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4" name="Rectangle 43"/>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6" name="Rectangle 45"/>
          <p:cNvSpPr/>
          <p:nvPr/>
        </p:nvSpPr>
        <p:spPr>
          <a:xfrm>
            <a:off x="8631935"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33</a:t>
            </a:r>
          </a:p>
        </p:txBody>
      </p:sp>
      <p:sp>
        <p:nvSpPr>
          <p:cNvPr id="48" name="TextBox 47"/>
          <p:cNvSpPr txBox="1"/>
          <p:nvPr/>
        </p:nvSpPr>
        <p:spPr>
          <a:xfrm>
            <a:off x="9692640" y="1714500"/>
            <a:ext cx="822960" cy="429768"/>
          </a:xfrm>
          <a:prstGeom prst="rect">
            <a:avLst/>
          </a:prstGeom>
          <a:noFill/>
        </p:spPr>
        <p:txBody>
          <a:bodyPr wrap="square">
            <a:spAutoFit/>
          </a:bodyPr>
          <a:lstStyle/>
          <a:p>
            <a:pPr algn="ctr">
              <a:defRPr sz="1100" b="1">
                <a:solidFill>
                  <a:srgbClr val="D97706"/>
                </a:solidFill>
                <a:latin typeface="Calibri"/>
              </a:defRPr>
            </a:pPr>
            <a:r>
              <a:t>82%</a:t>
            </a:r>
          </a:p>
        </p:txBody>
      </p:sp>
      <p:sp>
        <p:nvSpPr>
          <p:cNvPr id="49" name="TextBox 48"/>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0" name="Rectangle 49"/>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2" name="Rectangle 51"/>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4" name="Rectangle 53"/>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56" name="Rectangle 55"/>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58" name="Rectangle 57"/>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0" name="Rectangle 59"/>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2" name="Rectangle 61"/>
          <p:cNvSpPr/>
          <p:nvPr/>
        </p:nvSpPr>
        <p:spPr>
          <a:xfrm>
            <a:off x="8631935"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23</a:t>
            </a:r>
          </a:p>
        </p:txBody>
      </p:sp>
      <p:sp>
        <p:nvSpPr>
          <p:cNvPr id="64" name="TextBox 63"/>
          <p:cNvSpPr txBox="1"/>
          <p:nvPr/>
        </p:nvSpPr>
        <p:spPr>
          <a:xfrm>
            <a:off x="969264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65" name="Rectangle 64"/>
          <p:cNvSpPr/>
          <p:nvPr/>
        </p:nvSpPr>
        <p:spPr>
          <a:xfrm>
            <a:off x="182880" y="258775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67" name="Rectangle 66"/>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69" name="Rectangle 68"/>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1" name="Rectangle 70"/>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65</a:t>
            </a:r>
          </a:p>
        </p:txBody>
      </p:sp>
      <p:sp>
        <p:nvSpPr>
          <p:cNvPr id="73" name="Rectangle 72"/>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75" name="Rectangle 74"/>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77" name="Rectangle 76"/>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79" name="Rectangle 78"/>
          <p:cNvSpPr/>
          <p:nvPr/>
        </p:nvSpPr>
        <p:spPr>
          <a:xfrm>
            <a:off x="8631935" y="264261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12</a:t>
            </a:r>
          </a:p>
        </p:txBody>
      </p:sp>
      <p:sp>
        <p:nvSpPr>
          <p:cNvPr id="81" name="TextBox 80"/>
          <p:cNvSpPr txBox="1"/>
          <p:nvPr/>
        </p:nvSpPr>
        <p:spPr>
          <a:xfrm>
            <a:off x="9692640" y="2720340"/>
            <a:ext cx="822960" cy="429768"/>
          </a:xfrm>
          <a:prstGeom prst="rect">
            <a:avLst/>
          </a:prstGeom>
          <a:noFill/>
        </p:spPr>
        <p:txBody>
          <a:bodyPr wrap="square">
            <a:spAutoFit/>
          </a:bodyPr>
          <a:lstStyle/>
          <a:p>
            <a:pPr algn="ctr">
              <a:defRPr sz="1100" b="1">
                <a:solidFill>
                  <a:srgbClr val="059669"/>
                </a:solidFill>
                <a:latin typeface="Calibri"/>
              </a:defRPr>
            </a:pPr>
            <a:r>
              <a:t>137%</a:t>
            </a:r>
          </a:p>
        </p:txBody>
      </p:sp>
      <p:sp>
        <p:nvSpPr>
          <p:cNvPr id="82" name="TextBox 81"/>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83" name="Rectangle 82"/>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85" name="Rectangle 84"/>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87" name="Rectangle 86"/>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89" name="Rectangle 88"/>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91" name="Rectangle 90"/>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93" name="Rectangle 92"/>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95" name="Rectangle 94"/>
          <p:cNvSpPr/>
          <p:nvPr/>
        </p:nvSpPr>
        <p:spPr>
          <a:xfrm>
            <a:off x="8631935"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97" name="TextBox 96"/>
          <p:cNvSpPr txBox="1"/>
          <p:nvPr/>
        </p:nvSpPr>
        <p:spPr>
          <a:xfrm>
            <a:off x="969264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98" name="Rectangle 97"/>
          <p:cNvSpPr/>
          <p:nvPr/>
        </p:nvSpPr>
        <p:spPr>
          <a:xfrm>
            <a:off x="182880" y="3593591"/>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00" name="Rectangle 99"/>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2" name="Rectangle 101"/>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4" name="Rectangle 103"/>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06" name="Rectangle 105"/>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8" name="Rectangle 107"/>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10" name="Rectangle 109"/>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12" name="Rectangle 111"/>
          <p:cNvSpPr/>
          <p:nvPr/>
        </p:nvSpPr>
        <p:spPr>
          <a:xfrm>
            <a:off x="8631935"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9</a:t>
            </a:r>
          </a:p>
        </p:txBody>
      </p:sp>
      <p:sp>
        <p:nvSpPr>
          <p:cNvPr id="114" name="TextBox 113"/>
          <p:cNvSpPr txBox="1"/>
          <p:nvPr/>
        </p:nvSpPr>
        <p:spPr>
          <a:xfrm>
            <a:off x="9692640" y="3726180"/>
            <a:ext cx="822960" cy="429768"/>
          </a:xfrm>
          <a:prstGeom prst="rect">
            <a:avLst/>
          </a:prstGeom>
          <a:noFill/>
        </p:spPr>
        <p:txBody>
          <a:bodyPr wrap="square">
            <a:spAutoFit/>
          </a:bodyPr>
          <a:lstStyle/>
          <a:p>
            <a:pPr algn="ctr">
              <a:defRPr sz="1100" b="1">
                <a:solidFill>
                  <a:srgbClr val="DC2626"/>
                </a:solidFill>
                <a:latin typeface="Calibri"/>
              </a:defRPr>
            </a:pPr>
            <a:r>
              <a:t>34%</a:t>
            </a:r>
          </a:p>
        </p:txBody>
      </p:sp>
      <p:sp>
        <p:nvSpPr>
          <p:cNvPr id="115" name="Rectangle 114"/>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17" name="TextBox 116"/>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18" name="TextBox 117"/>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19" name="TextBox 118"/>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20" name="TextBox 119"/>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21" name="TextBox 120"/>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22" name="TextBox 121"/>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23" name="TextBox 122"/>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24" name="TextBox 123"/>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25" name="TextBox 124"/>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26" name="TextBox 125"/>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400</a:t>
            </a:r>
          </a:p>
        </p:txBody>
      </p:sp>
      <p:sp>
        <p:nvSpPr>
          <p:cNvPr id="127" name="TextBox 126"/>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28" name="TextBox 127"/>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82</a:t>
            </a:r>
          </a:p>
        </p:txBody>
      </p:sp>
      <p:sp>
        <p:nvSpPr>
          <p:cNvPr id="129" name="TextBox 128"/>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447</a:t>
            </a:r>
          </a:p>
        </p:txBody>
      </p:sp>
      <p:sp>
        <p:nvSpPr>
          <p:cNvPr id="130" name="TextBox 129"/>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62.2</a:t>
            </a:r>
          </a:p>
        </p:txBody>
      </p:sp>
      <p:sp>
        <p:nvSpPr>
          <p:cNvPr id="131" name="TextBox 130"/>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155%</a:t>
            </a:r>
          </a:p>
        </p:txBody>
      </p:sp>
      <p:sp>
        <p:nvSpPr>
          <p:cNvPr id="132" name="Rectangle 131"/>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34" name="TextBox 133"/>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5" name="TextBox 134"/>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210</a:t>
            </a:r>
          </a:p>
        </p:txBody>
      </p:sp>
      <p:sp>
        <p:nvSpPr>
          <p:cNvPr id="136" name="TextBox 135"/>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24</a:t>
            </a:r>
          </a:p>
        </p:txBody>
      </p:sp>
      <p:sp>
        <p:nvSpPr>
          <p:cNvPr id="137" name="TextBox 136"/>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80</a:t>
            </a:r>
          </a:p>
        </p:txBody>
      </p:sp>
      <p:sp>
        <p:nvSpPr>
          <p:cNvPr id="138" name="TextBox 137"/>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234</a:t>
            </a:r>
          </a:p>
        </p:txBody>
      </p:sp>
      <p:sp>
        <p:nvSpPr>
          <p:cNvPr id="139" name="TextBox 138"/>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33.0</a:t>
            </a:r>
          </a:p>
        </p:txBody>
      </p:sp>
      <p:sp>
        <p:nvSpPr>
          <p:cNvPr id="140" name="TextBox 139"/>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82%</a:t>
            </a:r>
          </a:p>
        </p:txBody>
      </p:sp>
      <p:sp>
        <p:nvSpPr>
          <p:cNvPr id="141" name="TextBox 140"/>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42" name="TextBox 141"/>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3" name="TextBox 142"/>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229</a:t>
            </a:r>
          </a:p>
        </p:txBody>
      </p:sp>
      <p:sp>
        <p:nvSpPr>
          <p:cNvPr id="144" name="TextBox 143"/>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45" name="TextBox 144"/>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37</a:t>
            </a:r>
          </a:p>
        </p:txBody>
      </p:sp>
      <p:sp>
        <p:nvSpPr>
          <p:cNvPr id="146" name="TextBox 145"/>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242</a:t>
            </a:r>
          </a:p>
        </p:txBody>
      </p:sp>
      <p:sp>
        <p:nvSpPr>
          <p:cNvPr id="147" name="TextBox 146"/>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34.3</a:t>
            </a:r>
          </a:p>
        </p:txBody>
      </p:sp>
      <p:sp>
        <p:nvSpPr>
          <p:cNvPr id="148" name="TextBox 147"/>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49" name="Rectangle 148"/>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51" name="TextBox 150"/>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2" name="TextBox 151"/>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370</a:t>
            </a:r>
          </a:p>
        </p:txBody>
      </p:sp>
      <p:sp>
        <p:nvSpPr>
          <p:cNvPr id="153" name="TextBox 152"/>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19</a:t>
            </a:r>
          </a:p>
        </p:txBody>
      </p:sp>
      <p:sp>
        <p:nvSpPr>
          <p:cNvPr id="154" name="TextBox 153"/>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45</a:t>
            </a:r>
          </a:p>
        </p:txBody>
      </p:sp>
      <p:sp>
        <p:nvSpPr>
          <p:cNvPr id="155" name="TextBox 154"/>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389</a:t>
            </a:r>
          </a:p>
        </p:txBody>
      </p:sp>
      <p:sp>
        <p:nvSpPr>
          <p:cNvPr id="156" name="TextBox 155"/>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54.7</a:t>
            </a:r>
          </a:p>
        </p:txBody>
      </p:sp>
      <p:sp>
        <p:nvSpPr>
          <p:cNvPr id="157" name="TextBox 156"/>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137%</a:t>
            </a:r>
          </a:p>
        </p:txBody>
      </p:sp>
      <p:sp>
        <p:nvSpPr>
          <p:cNvPr id="158" name="TextBox 157"/>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59" name="TextBox 158"/>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0" name="TextBox 159"/>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237</a:t>
            </a:r>
          </a:p>
        </p:txBody>
      </p:sp>
      <p:sp>
        <p:nvSpPr>
          <p:cNvPr id="161" name="TextBox 160"/>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15</a:t>
            </a:r>
          </a:p>
        </p:txBody>
      </p:sp>
      <p:sp>
        <p:nvSpPr>
          <p:cNvPr id="162" name="TextBox 161"/>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45</a:t>
            </a:r>
          </a:p>
        </p:txBody>
      </p:sp>
      <p:sp>
        <p:nvSpPr>
          <p:cNvPr id="163" name="TextBox 162"/>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252</a:t>
            </a:r>
          </a:p>
        </p:txBody>
      </p:sp>
      <p:sp>
        <p:nvSpPr>
          <p:cNvPr id="164" name="TextBox 163"/>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65" name="TextBox 164"/>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66" name="Rectangle 165"/>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68" name="TextBox 167"/>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9" name="TextBox 168"/>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78</a:t>
            </a:r>
          </a:p>
        </p:txBody>
      </p:sp>
      <p:sp>
        <p:nvSpPr>
          <p:cNvPr id="170" name="TextBox 169"/>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12</a:t>
            </a:r>
          </a:p>
        </p:txBody>
      </p:sp>
      <p:sp>
        <p:nvSpPr>
          <p:cNvPr id="171" name="TextBox 170"/>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7</a:t>
            </a:r>
          </a:p>
        </p:txBody>
      </p:sp>
      <p:sp>
        <p:nvSpPr>
          <p:cNvPr id="172" name="TextBox 171"/>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90</a:t>
            </a:r>
          </a:p>
        </p:txBody>
      </p:sp>
      <p:sp>
        <p:nvSpPr>
          <p:cNvPr id="173" name="TextBox 172"/>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13.5</a:t>
            </a:r>
          </a:p>
        </p:txBody>
      </p:sp>
      <p:sp>
        <p:nvSpPr>
          <p:cNvPr id="174" name="TextBox 173"/>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20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18-20</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7" name="Rectangle 16"/>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19" name="Rectangle 18"/>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3" name="Rectangle 22"/>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5" name="Rectangle 24"/>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7" name="Rectangle 26"/>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29" name="Rectangle 28"/>
          <p:cNvSpPr/>
          <p:nvPr/>
        </p:nvSpPr>
        <p:spPr>
          <a:xfrm>
            <a:off x="8631935"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16</a:t>
            </a:r>
          </a:p>
        </p:txBody>
      </p:sp>
      <p:sp>
        <p:nvSpPr>
          <p:cNvPr id="31" name="TextBox 30"/>
          <p:cNvSpPr txBox="1"/>
          <p:nvPr/>
        </p:nvSpPr>
        <p:spPr>
          <a:xfrm>
            <a:off x="9692640" y="1234440"/>
            <a:ext cx="822960" cy="475488"/>
          </a:xfrm>
          <a:prstGeom prst="rect">
            <a:avLst/>
          </a:prstGeom>
          <a:noFill/>
        </p:spPr>
        <p:txBody>
          <a:bodyPr wrap="square">
            <a:spAutoFit/>
          </a:bodyPr>
          <a:lstStyle/>
          <a:p>
            <a:pPr algn="ctr">
              <a:defRPr sz="1100" b="1">
                <a:solidFill>
                  <a:srgbClr val="D97706"/>
                </a:solidFill>
                <a:latin typeface="Calibri"/>
              </a:defRPr>
            </a:pPr>
            <a:r>
              <a:t>95%</a:t>
            </a:r>
          </a:p>
        </p:txBody>
      </p:sp>
      <p:sp>
        <p:nvSpPr>
          <p:cNvPr id="32" name="Rectangle 31"/>
          <p:cNvSpPr/>
          <p:nvPr/>
        </p:nvSpPr>
        <p:spPr>
          <a:xfrm>
            <a:off x="182880" y="162763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4" name="Rectangle 33"/>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38" name="Rectangle 37"/>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0" name="Rectangle 39"/>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2" name="Rectangle 41"/>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4" name="Rectangle 43"/>
          <p:cNvSpPr/>
          <p:nvPr/>
        </p:nvSpPr>
        <p:spPr>
          <a:xfrm>
            <a:off x="8631935"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15</a:t>
            </a:r>
          </a:p>
        </p:txBody>
      </p:sp>
      <p:sp>
        <p:nvSpPr>
          <p:cNvPr id="46" name="TextBox 45"/>
          <p:cNvSpPr txBox="1"/>
          <p:nvPr/>
        </p:nvSpPr>
        <p:spPr>
          <a:xfrm>
            <a:off x="9692640" y="1783079"/>
            <a:ext cx="822960" cy="475488"/>
          </a:xfrm>
          <a:prstGeom prst="rect">
            <a:avLst/>
          </a:prstGeom>
          <a:noFill/>
        </p:spPr>
        <p:txBody>
          <a:bodyPr wrap="square">
            <a:spAutoFit/>
          </a:bodyPr>
          <a:lstStyle/>
          <a:p>
            <a:pPr algn="ctr">
              <a:defRPr sz="1100" b="1">
                <a:solidFill>
                  <a:srgbClr val="DC2626"/>
                </a:solidFill>
                <a:latin typeface="Calibri"/>
              </a:defRPr>
            </a:pPr>
            <a:r>
              <a:t>58%</a:t>
            </a:r>
          </a:p>
        </p:txBody>
      </p:sp>
      <p:sp>
        <p:nvSpPr>
          <p:cNvPr id="47" name="TextBox 46"/>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48" name="Rectangle 47"/>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2" name="Rectangle 51"/>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4" name="Rectangle 53"/>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56" name="Rectangle 55"/>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58" name="Rectangle 57"/>
          <p:cNvSpPr/>
          <p:nvPr/>
        </p:nvSpPr>
        <p:spPr>
          <a:xfrm>
            <a:off x="8631935"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17</a:t>
            </a:r>
          </a:p>
        </p:txBody>
      </p:sp>
      <p:sp>
        <p:nvSpPr>
          <p:cNvPr id="60" name="TextBox 59"/>
          <p:cNvSpPr txBox="1"/>
          <p:nvPr/>
        </p:nvSpPr>
        <p:spPr>
          <a:xfrm>
            <a:off x="9692640" y="2331720"/>
            <a:ext cx="822960" cy="475488"/>
          </a:xfrm>
          <a:prstGeom prst="rect">
            <a:avLst/>
          </a:prstGeom>
          <a:noFill/>
        </p:spPr>
        <p:txBody>
          <a:bodyPr wrap="square">
            <a:spAutoFit/>
          </a:bodyPr>
          <a:lstStyle/>
          <a:p>
            <a:pPr algn="ctr">
              <a:defRPr sz="1100" b="1">
                <a:solidFill>
                  <a:srgbClr val="DC2626"/>
                </a:solidFill>
                <a:latin typeface="Calibri"/>
              </a:defRPr>
            </a:pPr>
            <a:r>
              <a:t>72%</a:t>
            </a:r>
          </a:p>
        </p:txBody>
      </p:sp>
      <p:sp>
        <p:nvSpPr>
          <p:cNvPr id="61" name="Rectangle 60"/>
          <p:cNvSpPr/>
          <p:nvPr/>
        </p:nvSpPr>
        <p:spPr>
          <a:xfrm>
            <a:off x="182880" y="272491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63" name="Rectangle 62"/>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67" name="Rectangle 66"/>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69" name="Rectangle 68"/>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1" name="Rectangle 70"/>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73" name="Rectangle 72"/>
          <p:cNvSpPr/>
          <p:nvPr/>
        </p:nvSpPr>
        <p:spPr>
          <a:xfrm>
            <a:off x="8631935"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2</a:t>
            </a:r>
          </a:p>
        </p:txBody>
      </p:sp>
      <p:sp>
        <p:nvSpPr>
          <p:cNvPr id="75" name="TextBox 74"/>
          <p:cNvSpPr txBox="1"/>
          <p:nvPr/>
        </p:nvSpPr>
        <p:spPr>
          <a:xfrm>
            <a:off x="9692640" y="2880359"/>
            <a:ext cx="822960" cy="475488"/>
          </a:xfrm>
          <a:prstGeom prst="rect">
            <a:avLst/>
          </a:prstGeom>
          <a:noFill/>
        </p:spPr>
        <p:txBody>
          <a:bodyPr wrap="square">
            <a:spAutoFit/>
          </a:bodyPr>
          <a:lstStyle/>
          <a:p>
            <a:pPr algn="ctr">
              <a:defRPr sz="1100" b="1">
                <a:solidFill>
                  <a:srgbClr val="D97706"/>
                </a:solidFill>
                <a:latin typeface="Calibri"/>
              </a:defRPr>
            </a:pPr>
            <a:r>
              <a:t>82%</a:t>
            </a:r>
          </a:p>
        </p:txBody>
      </p:sp>
      <p:sp>
        <p:nvSpPr>
          <p:cNvPr id="76" name="TextBox 75"/>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77" name="Rectangle 76"/>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79" name="Rectangle 78"/>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1" name="Rectangle 80"/>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83" name="Rectangle 82"/>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5" name="Rectangle 84"/>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87" name="Rectangle 86"/>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89" name="Rectangle 88"/>
          <p:cNvSpPr/>
          <p:nvPr/>
        </p:nvSpPr>
        <p:spPr>
          <a:xfrm>
            <a:off x="8631935"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20</a:t>
            </a:r>
          </a:p>
        </p:txBody>
      </p:sp>
      <p:sp>
        <p:nvSpPr>
          <p:cNvPr id="91" name="TextBox 90"/>
          <p:cNvSpPr txBox="1"/>
          <p:nvPr/>
        </p:nvSpPr>
        <p:spPr>
          <a:xfrm>
            <a:off x="9692640" y="3429000"/>
            <a:ext cx="822960" cy="475488"/>
          </a:xfrm>
          <a:prstGeom prst="rect">
            <a:avLst/>
          </a:prstGeom>
          <a:noFill/>
        </p:spPr>
        <p:txBody>
          <a:bodyPr wrap="square">
            <a:spAutoFit/>
          </a:bodyPr>
          <a:lstStyle/>
          <a:p>
            <a:pPr algn="ctr">
              <a:defRPr sz="1100" b="1">
                <a:solidFill>
                  <a:srgbClr val="DC2626"/>
                </a:solidFill>
                <a:latin typeface="Calibri"/>
              </a:defRPr>
            </a:pPr>
            <a:r>
              <a:t>34%</a:t>
            </a:r>
          </a:p>
        </p:txBody>
      </p:sp>
      <p:sp>
        <p:nvSpPr>
          <p:cNvPr id="92" name="Rectangle 91"/>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94" name="TextBox 93"/>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95" name="TextBox 94"/>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96" name="TextBox 95"/>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97" name="TextBox 96"/>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98" name="TextBox 97"/>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99" name="TextBox 98"/>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00" name="TextBox 99"/>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01" name="TextBox 100"/>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02" name="TextBox 101"/>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03" name="TextBox 102"/>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323</a:t>
            </a:r>
          </a:p>
        </p:txBody>
      </p:sp>
      <p:sp>
        <p:nvSpPr>
          <p:cNvPr id="104" name="TextBox 103"/>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05" name="TextBox 104"/>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34</a:t>
            </a:r>
          </a:p>
        </p:txBody>
      </p:sp>
      <p:sp>
        <p:nvSpPr>
          <p:cNvPr id="106" name="TextBox 105"/>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333</a:t>
            </a:r>
          </a:p>
        </p:txBody>
      </p:sp>
      <p:sp>
        <p:nvSpPr>
          <p:cNvPr id="107" name="TextBox 106"/>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47.5</a:t>
            </a:r>
          </a:p>
        </p:txBody>
      </p:sp>
      <p:sp>
        <p:nvSpPr>
          <p:cNvPr id="108" name="TextBox 107"/>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95%</a:t>
            </a:r>
          </a:p>
        </p:txBody>
      </p:sp>
      <p:sp>
        <p:nvSpPr>
          <p:cNvPr id="109" name="Rectangle 108"/>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11" name="TextBox 110"/>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2" name="TextBox 111"/>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139</a:t>
            </a:r>
          </a:p>
        </p:txBody>
      </p:sp>
      <p:sp>
        <p:nvSpPr>
          <p:cNvPr id="113" name="TextBox 112"/>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7</a:t>
            </a:r>
          </a:p>
        </p:txBody>
      </p:sp>
      <p:sp>
        <p:nvSpPr>
          <p:cNvPr id="114" name="TextBox 113"/>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9</a:t>
            </a:r>
          </a:p>
        </p:txBody>
      </p:sp>
      <p:sp>
        <p:nvSpPr>
          <p:cNvPr id="115" name="TextBox 114"/>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146</a:t>
            </a:r>
          </a:p>
        </p:txBody>
      </p:sp>
      <p:sp>
        <p:nvSpPr>
          <p:cNvPr id="116" name="TextBox 115"/>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29.2</a:t>
            </a:r>
          </a:p>
        </p:txBody>
      </p:sp>
      <p:sp>
        <p:nvSpPr>
          <p:cNvPr id="117" name="TextBox 116"/>
          <p:cNvSpPr txBox="1"/>
          <p:nvPr/>
        </p:nvSpPr>
        <p:spPr>
          <a:xfrm>
            <a:off x="6583679" y="4535424"/>
            <a:ext cx="914400" cy="201168"/>
          </a:xfrm>
          <a:prstGeom prst="rect">
            <a:avLst/>
          </a:prstGeom>
          <a:noFill/>
        </p:spPr>
        <p:txBody>
          <a:bodyPr wrap="square">
            <a:spAutoFit/>
          </a:bodyPr>
          <a:lstStyle/>
          <a:p>
            <a:pPr algn="ctr">
              <a:defRPr sz="900" b="0">
                <a:solidFill>
                  <a:srgbClr val="DC2626"/>
                </a:solidFill>
                <a:latin typeface="Calibri"/>
              </a:defRPr>
            </a:pPr>
            <a:r>
              <a:t>58%</a:t>
            </a:r>
          </a:p>
        </p:txBody>
      </p:sp>
      <p:sp>
        <p:nvSpPr>
          <p:cNvPr id="118" name="TextBox 117"/>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19" name="TextBox 118"/>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0" name="TextBox 119"/>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170</a:t>
            </a:r>
          </a:p>
        </p:txBody>
      </p:sp>
      <p:sp>
        <p:nvSpPr>
          <p:cNvPr id="121" name="TextBox 120"/>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22" name="TextBox 121"/>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25</a:t>
            </a:r>
          </a:p>
        </p:txBody>
      </p:sp>
      <p:sp>
        <p:nvSpPr>
          <p:cNvPr id="123" name="TextBox 122"/>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180</a:t>
            </a:r>
          </a:p>
        </p:txBody>
      </p:sp>
      <p:sp>
        <p:nvSpPr>
          <p:cNvPr id="124" name="TextBox 123"/>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36.0</a:t>
            </a:r>
          </a:p>
        </p:txBody>
      </p:sp>
      <p:sp>
        <p:nvSpPr>
          <p:cNvPr id="125" name="TextBox 124"/>
          <p:cNvSpPr txBox="1"/>
          <p:nvPr/>
        </p:nvSpPr>
        <p:spPr>
          <a:xfrm>
            <a:off x="6583679" y="4791456"/>
            <a:ext cx="914400" cy="201168"/>
          </a:xfrm>
          <a:prstGeom prst="rect">
            <a:avLst/>
          </a:prstGeom>
          <a:noFill/>
        </p:spPr>
        <p:txBody>
          <a:bodyPr wrap="square">
            <a:spAutoFit/>
          </a:bodyPr>
          <a:lstStyle/>
          <a:p>
            <a:pPr algn="ctr">
              <a:defRPr sz="900" b="0">
                <a:solidFill>
                  <a:srgbClr val="DC2626"/>
                </a:solidFill>
                <a:latin typeface="Calibri"/>
              </a:defRPr>
            </a:pPr>
            <a:r>
              <a:t>72%</a:t>
            </a:r>
          </a:p>
        </p:txBody>
      </p:sp>
      <p:sp>
        <p:nvSpPr>
          <p:cNvPr id="126" name="Rectangle 125"/>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28" name="TextBox 127"/>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9" name="TextBox 128"/>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195</a:t>
            </a:r>
          </a:p>
        </p:txBody>
      </p:sp>
      <p:sp>
        <p:nvSpPr>
          <p:cNvPr id="130" name="TextBox 129"/>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31" name="TextBox 130"/>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17</a:t>
            </a:r>
          </a:p>
        </p:txBody>
      </p:sp>
      <p:sp>
        <p:nvSpPr>
          <p:cNvPr id="132" name="TextBox 131"/>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205</a:t>
            </a:r>
          </a:p>
        </p:txBody>
      </p:sp>
      <p:sp>
        <p:nvSpPr>
          <p:cNvPr id="133" name="TextBox 132"/>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41.0</a:t>
            </a:r>
          </a:p>
        </p:txBody>
      </p:sp>
      <p:sp>
        <p:nvSpPr>
          <p:cNvPr id="134" name="TextBox 133"/>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82%</a:t>
            </a:r>
          </a:p>
        </p:txBody>
      </p:sp>
      <p:sp>
        <p:nvSpPr>
          <p:cNvPr id="135" name="TextBox 134"/>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36" name="TextBox 135"/>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7" name="TextBox 136"/>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115</a:t>
            </a:r>
          </a:p>
        </p:txBody>
      </p:sp>
      <p:sp>
        <p:nvSpPr>
          <p:cNvPr id="138" name="TextBox 137"/>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6</a:t>
            </a:r>
          </a:p>
        </p:txBody>
      </p:sp>
      <p:sp>
        <p:nvSpPr>
          <p:cNvPr id="139" name="TextBox 138"/>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6</a:t>
            </a:r>
          </a:p>
        </p:txBody>
      </p:sp>
      <p:sp>
        <p:nvSpPr>
          <p:cNvPr id="140" name="TextBox 139"/>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121</a:t>
            </a:r>
          </a:p>
        </p:txBody>
      </p:sp>
      <p:sp>
        <p:nvSpPr>
          <p:cNvPr id="141" name="TextBox 140"/>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16.8</a:t>
            </a:r>
          </a:p>
        </p:txBody>
      </p:sp>
      <p:sp>
        <p:nvSpPr>
          <p:cNvPr id="142" name="TextBox 141"/>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6530</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470</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$16.9M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$4.2M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$3.7M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3132</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311</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$9.1M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$1.0M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$2.7M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4974</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273</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$7.7M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$1.2M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$3.4M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30</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90%</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3001</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235</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$5.7M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$729K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$1.5M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1675</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119</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$3.8M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$118K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$1.4M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3643</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105</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$2.7M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$75K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$665K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2522</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48</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$1.2M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111827"/>
                </a:solidFill>
                <a:latin typeface="Calibri"/>
              </a:defRPr>
            </a:pPr>
            <a:r>
              <a:t>$0</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$191K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46</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C2626"/>
                </a:solidFill>
                <a:latin typeface="Calibri"/>
              </a:defRPr>
            </a:pPr>
            <a:r>
              <a:t>7</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87%</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1449</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32</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$24K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$289K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48</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829</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49</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$901K</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059669"/>
                </a:solidFill>
                <a:latin typeface="Calibri"/>
              </a:defRPr>
            </a:pPr>
            <a:r>
              <a:t>$307K</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$102K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26</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2</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531</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20</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$686K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$316K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215</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215</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6922</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288</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$8.0M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$1.5M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$2.3M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184 portfolio  ·  181 active  ·  3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219 portfolio  ·  203 active  ·  16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403 portfolio  ·  384 active  ·  95%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2026-05-20</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(5 reps with dormant agencies)</a:t>
            </a:r>
          </a:p>
        </p:txBody>
      </p:sp>
      <p:sp>
        <p:nvSpPr>
          <p:cNvPr id="8" name="Rectangle 7"/>
          <p:cNvSpPr/>
          <p:nvPr/>
        </p:nvSpPr>
        <p:spPr>
          <a:xfrm>
            <a:off x="274320" y="1280160"/>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3 of 30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Awesome Group Llc Dba Phoenix Services Ltd</a:t>
            </a:r>
          </a:p>
        </p:txBody>
      </p:sp>
      <p:sp>
        <p:nvSpPr>
          <p:cNvPr id="15" name="TextBox 14"/>
          <p:cNvSpPr txBox="1"/>
          <p:nvPr/>
        </p:nvSpPr>
        <p:spPr>
          <a:xfrm>
            <a:off x="457200" y="185623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6" name="TextBox 15"/>
          <p:cNvSpPr txBox="1"/>
          <p:nvPr/>
        </p:nvSpPr>
        <p:spPr>
          <a:xfrm>
            <a:off x="585216" y="1837943"/>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7" name="TextBox 16"/>
          <p:cNvSpPr txBox="1"/>
          <p:nvPr/>
        </p:nvSpPr>
        <p:spPr>
          <a:xfrm>
            <a:off x="457200" y="202996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8" name="TextBox 17"/>
          <p:cNvSpPr txBox="1"/>
          <p:nvPr/>
        </p:nvSpPr>
        <p:spPr>
          <a:xfrm>
            <a:off x="585216" y="2011679"/>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19" name="Rectangle 18"/>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22" name="TextBox 21"/>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23" name="TextBox 22"/>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48 agencies dormant</a:t>
            </a:r>
          </a:p>
        </p:txBody>
      </p:sp>
      <p:sp>
        <p:nvSpPr>
          <p:cNvPr id="24" name="TextBox 23"/>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5" name="TextBox 24"/>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6" name="Rectangle 25"/>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9" name="TextBox 28"/>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30" name="TextBox 29"/>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31" name="TextBox 30"/>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33" name="TextBox 32"/>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4" name="TextBox 33"/>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5" name="TextBox 34"/>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6" name="TextBox 35"/>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7" name="Rectangle 36"/>
          <p:cNvSpPr/>
          <p:nvPr/>
        </p:nvSpPr>
        <p:spPr>
          <a:xfrm>
            <a:off x="6263640" y="3154680"/>
            <a:ext cx="5623560" cy="1709928"/>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3154680"/>
            <a:ext cx="54864" cy="170992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40" name="TextBox 39"/>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7 dormant</a:t>
            </a:r>
          </a:p>
        </p:txBody>
      </p:sp>
      <p:sp>
        <p:nvSpPr>
          <p:cNvPr id="41" name="TextBox 40"/>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7 of 53 agencies dormant</a:t>
            </a:r>
          </a:p>
        </p:txBody>
      </p:sp>
      <p:sp>
        <p:nvSpPr>
          <p:cNvPr id="42" name="TextBox 41"/>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Allcom Insurance Corporation</a:t>
            </a:r>
          </a:p>
        </p:txBody>
      </p:sp>
      <p:sp>
        <p:nvSpPr>
          <p:cNvPr id="44" name="TextBox 43"/>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6" name="TextBox 45"/>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8" name="TextBox 47"/>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50" name="TextBox 49"/>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1" name="TextBox 50"/>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52" name="TextBox 51"/>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3" name="TextBox 52"/>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54" name="TextBox 53"/>
          <p:cNvSpPr txBox="1"/>
          <p:nvPr/>
        </p:nvSpPr>
        <p:spPr>
          <a:xfrm>
            <a:off x="6446520" y="459943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5" name="TextBox 54"/>
          <p:cNvSpPr txBox="1"/>
          <p:nvPr/>
        </p:nvSpPr>
        <p:spPr>
          <a:xfrm>
            <a:off x="6574536" y="4581144"/>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6" name="Rectangle 55"/>
          <p:cNvSpPr/>
          <p:nvPr/>
        </p:nvSpPr>
        <p:spPr>
          <a:xfrm>
            <a:off x="6263640" y="4956048"/>
            <a:ext cx="5623560" cy="841247"/>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63640" y="4956048"/>
            <a:ext cx="54864" cy="841247"/>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9944" y="4992624"/>
            <a:ext cx="4251960" cy="219456"/>
          </a:xfrm>
          <a:prstGeom prst="rect">
            <a:avLst/>
          </a:prstGeom>
          <a:noFill/>
        </p:spPr>
        <p:txBody>
          <a:bodyPr wrap="none">
            <a:spAutoFit/>
          </a:bodyPr>
          <a:lstStyle/>
          <a:p>
            <a:pPr algn="l">
              <a:defRPr sz="1100" b="1">
                <a:solidFill>
                  <a:srgbClr val="111827"/>
                </a:solidFill>
                <a:latin typeface="Calibri"/>
              </a:defRPr>
            </a:pPr>
            <a:r>
              <a:t>Taylor Sloan</a:t>
            </a:r>
          </a:p>
        </p:txBody>
      </p:sp>
      <p:sp>
        <p:nvSpPr>
          <p:cNvPr id="59" name="TextBox 58"/>
          <p:cNvSpPr txBox="1"/>
          <p:nvPr/>
        </p:nvSpPr>
        <p:spPr>
          <a:xfrm>
            <a:off x="10652760" y="5010912"/>
            <a:ext cx="1097280" cy="201168"/>
          </a:xfrm>
          <a:prstGeom prst="rect">
            <a:avLst/>
          </a:prstGeom>
          <a:noFill/>
        </p:spPr>
        <p:txBody>
          <a:bodyPr wrap="none">
            <a:spAutoFit/>
          </a:bodyPr>
          <a:lstStyle/>
          <a:p>
            <a:pPr algn="r">
              <a:defRPr sz="900" b="1">
                <a:solidFill>
                  <a:srgbClr val="D97706"/>
                </a:solidFill>
                <a:latin typeface="Calibri"/>
              </a:defRPr>
            </a:pPr>
            <a:r>
              <a:t>2 dormant</a:t>
            </a:r>
          </a:p>
        </p:txBody>
      </p:sp>
      <p:sp>
        <p:nvSpPr>
          <p:cNvPr id="60" name="TextBox 59"/>
          <p:cNvSpPr txBox="1"/>
          <p:nvPr/>
        </p:nvSpPr>
        <p:spPr>
          <a:xfrm>
            <a:off x="6409944" y="5193792"/>
            <a:ext cx="5349240" cy="146304"/>
          </a:xfrm>
          <a:prstGeom prst="rect">
            <a:avLst/>
          </a:prstGeom>
          <a:noFill/>
        </p:spPr>
        <p:txBody>
          <a:bodyPr wrap="none">
            <a:spAutoFit/>
          </a:bodyPr>
          <a:lstStyle/>
          <a:p>
            <a:pPr algn="l">
              <a:defRPr sz="900" b="0">
                <a:solidFill>
                  <a:srgbClr val="6B7280"/>
                </a:solidFill>
                <a:latin typeface="Calibri"/>
              </a:defRPr>
            </a:pPr>
            <a:r>
              <a:t>2 of 28 agencies dormant</a:t>
            </a:r>
          </a:p>
        </p:txBody>
      </p:sp>
      <p:sp>
        <p:nvSpPr>
          <p:cNvPr id="61" name="TextBox 60"/>
          <p:cNvSpPr txBox="1"/>
          <p:nvPr/>
        </p:nvSpPr>
        <p:spPr>
          <a:xfrm>
            <a:off x="6446520" y="5358384"/>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62" name="TextBox 61"/>
          <p:cNvSpPr txBox="1"/>
          <p:nvPr/>
        </p:nvSpPr>
        <p:spPr>
          <a:xfrm>
            <a:off x="6574536" y="5340096"/>
            <a:ext cx="5221224" cy="182880"/>
          </a:xfrm>
          <a:prstGeom prst="rect">
            <a:avLst/>
          </a:prstGeom>
          <a:noFill/>
        </p:spPr>
        <p:txBody>
          <a:bodyPr wrap="none">
            <a:spAutoFit/>
          </a:bodyPr>
          <a:lstStyle/>
          <a:p>
            <a:pPr algn="l">
              <a:defRPr sz="1000" b="0">
                <a:solidFill>
                  <a:srgbClr val="374151"/>
                </a:solidFill>
                <a:latin typeface="Calibri"/>
              </a:defRPr>
            </a:pPr>
            <a:r>
              <a:t>Safeguard Insurance Solutions Llc</a:t>
            </a:r>
          </a:p>
        </p:txBody>
      </p:sp>
      <p:sp>
        <p:nvSpPr>
          <p:cNvPr id="63" name="TextBox 62"/>
          <p:cNvSpPr txBox="1"/>
          <p:nvPr/>
        </p:nvSpPr>
        <p:spPr>
          <a:xfrm>
            <a:off x="6446520" y="5532120"/>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64" name="TextBox 63"/>
          <p:cNvSpPr txBox="1"/>
          <p:nvPr/>
        </p:nvSpPr>
        <p:spPr>
          <a:xfrm>
            <a:off x="6574536" y="5513832"/>
            <a:ext cx="5221224" cy="182880"/>
          </a:xfrm>
          <a:prstGeom prst="rect">
            <a:avLst/>
          </a:prstGeom>
          <a:noFill/>
        </p:spPr>
        <p:txBody>
          <a:bodyPr wrap="none">
            <a:spAutoFit/>
          </a:bodyPr>
          <a:lstStyle/>
          <a:p>
            <a:pPr algn="l">
              <a:defRPr sz="1000" b="0">
                <a:solidFill>
                  <a:srgbClr val="374151"/>
                </a:solidFill>
                <a:latin typeface="Calibri"/>
              </a:defRPr>
            </a:pPr>
            <a:r>
              <a:t>Titanic Insurance Services Inc.</a:t>
            </a:r>
          </a:p>
        </p:txBody>
      </p:sp>
      <p:sp>
        <p:nvSpPr>
          <p:cNvPr id="65" name="Rectangle 64"/>
          <p:cNvSpPr/>
          <p:nvPr/>
        </p:nvSpPr>
        <p:spPr>
          <a:xfrm>
            <a:off x="6263640" y="5888736"/>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263640" y="5888736"/>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09944" y="5925312"/>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68" name="TextBox 67"/>
          <p:cNvSpPr txBox="1"/>
          <p:nvPr/>
        </p:nvSpPr>
        <p:spPr>
          <a:xfrm>
            <a:off x="10652760" y="5943599"/>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69" name="TextBox 68"/>
          <p:cNvSpPr txBox="1"/>
          <p:nvPr/>
        </p:nvSpPr>
        <p:spPr>
          <a:xfrm>
            <a:off x="6409944" y="6126479"/>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70" name="TextBox 69"/>
          <p:cNvSpPr txBox="1"/>
          <p:nvPr/>
        </p:nvSpPr>
        <p:spPr>
          <a:xfrm>
            <a:off x="6446520" y="6291072"/>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1" name="TextBox 70"/>
          <p:cNvSpPr txBox="1"/>
          <p:nvPr/>
        </p:nvSpPr>
        <p:spPr>
          <a:xfrm>
            <a:off x="6574536" y="6272784"/>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72" name="TextBox 71"/>
          <p:cNvSpPr txBox="1"/>
          <p:nvPr/>
        </p:nvSpPr>
        <p:spPr>
          <a:xfrm>
            <a:off x="6446520" y="6464808"/>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3" name="TextBox 72"/>
          <p:cNvSpPr txBox="1"/>
          <p:nvPr/>
        </p:nvSpPr>
        <p:spPr>
          <a:xfrm>
            <a:off x="6574536" y="6446520"/>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74" name="TextBox 73"/>
          <p:cNvSpPr txBox="1"/>
          <p:nvPr/>
        </p:nvSpPr>
        <p:spPr>
          <a:xfrm>
            <a:off x="6446520" y="663854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5" name="TextBox 74"/>
          <p:cNvSpPr txBox="1"/>
          <p:nvPr/>
        </p:nvSpPr>
        <p:spPr>
          <a:xfrm>
            <a:off x="6574536" y="6620256"/>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76" name="TextBox 75"/>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+ 4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20</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$2.7M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$2.5M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$2.2M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$1.8M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$1.8M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$1.3M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$964K</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$942K</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$917K</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$847K</a:t>
            </a:r>
          </a:p>
        </p:txBody>
      </p:sp>
      <p:sp>
        <p:nvSpPr>
          <p:cNvPr id="88" name="Rectangle 87"/>
          <p:cNvSpPr/>
          <p:nvPr/>
        </p:nvSpPr>
        <p:spPr>
          <a:xfrm>
            <a:off x="228600"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$786K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$775K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$696K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$672K</a:t>
            </a:r>
          </a:p>
        </p:txBody>
      </p:sp>
      <p:sp>
        <p:nvSpPr>
          <p:cNvPr id="108" name="Rectangle 107"/>
          <p:cNvSpPr/>
          <p:nvPr/>
        </p:nvSpPr>
        <p:spPr>
          <a:xfrm>
            <a:off x="228600"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$554K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2048</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1932</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1425</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1164</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1085</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944</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899</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865</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654</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513</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497</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457</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418</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404</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364</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344</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336</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321</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309</a:t>
            </a:r>
          </a:p>
        </p:txBody>
      </p:sp>
      <p:sp>
        <p:nvSpPr>
          <p:cNvPr id="215" name="Rectangle 214"/>
          <p:cNvSpPr/>
          <p:nvPr/>
        </p:nvSpPr>
        <p:spPr>
          <a:xfrm>
            <a:off x="6291072" y="5833871"/>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293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20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$327K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$327K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16</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The Dorfman Organization, Ltd.</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$308K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22</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$303K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$277K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$243K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20</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Amerigo Insurance Agency</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$234K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$232K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$217K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$216K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CASCADE INSURANCE SERVICES INC DBA: CASCADE MUTUAL INSURANCE SERV</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Truczone Insurance Agency LLC</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Aic Insurance Agency LLC</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$178K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5</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203 fleet binds  ·  $19.0M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20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$3.8M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$2.8M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$1.5M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$1.3M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$1.2M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$1.0M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$978K</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$873K</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$791K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$692K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$665K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$606K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$587K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$574K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$556K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$524K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$454K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$446K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$441K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$405K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$399K</a:t>
            </a:r>
          </a:p>
        </p:txBody>
      </p:sp>
      <p:sp>
        <p:nvSpPr>
          <p:cNvPr id="131" name="Rectangle 130"/>
          <p:cNvSpPr/>
          <p:nvPr/>
        </p:nvSpPr>
        <p:spPr>
          <a:xfrm>
            <a:off x="6254496" y="184708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$392K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$390K</a:t>
            </a:r>
          </a:p>
        </p:txBody>
      </p:sp>
      <p:sp>
        <p:nvSpPr>
          <p:cNvPr id="141" name="Rectangle 140"/>
          <p:cNvSpPr/>
          <p:nvPr/>
        </p:nvSpPr>
        <p:spPr>
          <a:xfrm>
            <a:off x="6254496"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$380K</a:t>
            </a:r>
          </a:p>
        </p:txBody>
      </p:sp>
      <p:sp>
        <p:nvSpPr>
          <p:cNvPr id="146" name="Rectangle 145"/>
          <p:cNvSpPr/>
          <p:nvPr/>
        </p:nvSpPr>
        <p:spPr>
          <a:xfrm>
            <a:off x="6254496" y="2615184"/>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$372K</a:t>
            </a:r>
          </a:p>
        </p:txBody>
      </p:sp>
      <p:sp>
        <p:nvSpPr>
          <p:cNvPr id="151" name="Rectangle 150"/>
          <p:cNvSpPr/>
          <p:nvPr/>
        </p:nvSpPr>
        <p:spPr>
          <a:xfrm>
            <a:off x="6254496"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$368K</a:t>
            </a:r>
          </a:p>
        </p:txBody>
      </p:sp>
      <p:sp>
        <p:nvSpPr>
          <p:cNvPr id="156" name="Rectangle 155"/>
          <p:cNvSpPr/>
          <p:nvPr/>
        </p:nvSpPr>
        <p:spPr>
          <a:xfrm>
            <a:off x="6254496"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$367K</a:t>
            </a:r>
          </a:p>
        </p:txBody>
      </p:sp>
      <p:sp>
        <p:nvSpPr>
          <p:cNvPr id="161" name="Rectangle 160"/>
          <p:cNvSpPr/>
          <p:nvPr/>
        </p:nvSpPr>
        <p:spPr>
          <a:xfrm>
            <a:off x="6254496"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$362K</a:t>
            </a:r>
          </a:p>
        </p:txBody>
      </p:sp>
      <p:sp>
        <p:nvSpPr>
          <p:cNvPr id="166" name="Rectangle 165"/>
          <p:cNvSpPr/>
          <p:nvPr/>
        </p:nvSpPr>
        <p:spPr>
          <a:xfrm>
            <a:off x="6254496" y="3639312"/>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$353K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Damandeep Singh</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Mayflower Insurance Services</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$341K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Nicholas Banks</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$326K</a:t>
            </a:r>
          </a:p>
        </p:txBody>
      </p:sp>
      <p:sp>
        <p:nvSpPr>
          <p:cNvPr id="181" name="Rectangle 180"/>
          <p:cNvSpPr/>
          <p:nvPr/>
        </p:nvSpPr>
        <p:spPr>
          <a:xfrm>
            <a:off x="6254496"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$321K</a:t>
            </a:r>
          </a:p>
        </p:txBody>
      </p:sp>
      <p:sp>
        <p:nvSpPr>
          <p:cNvPr id="186" name="Rectangle 185"/>
          <p:cNvSpPr/>
          <p:nvPr/>
        </p:nvSpPr>
        <p:spPr>
          <a:xfrm>
            <a:off x="6254496"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Scarlette Mcbrayer</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$315K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$313K</a:t>
            </a:r>
          </a:p>
        </p:txBody>
      </p:sp>
      <p:sp>
        <p:nvSpPr>
          <p:cNvPr id="196" name="Rectangle 195"/>
          <p:cNvSpPr/>
          <p:nvPr/>
        </p:nvSpPr>
        <p:spPr>
          <a:xfrm>
            <a:off x="6254496"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$313K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Omar Elmanzalawy</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$310K</a:t>
            </a:r>
          </a:p>
        </p:txBody>
      </p:sp>
      <p:sp>
        <p:nvSpPr>
          <p:cNvPr id="206" name="Rectangle 205"/>
          <p:cNvSpPr/>
          <p:nvPr/>
        </p:nvSpPr>
        <p:spPr>
          <a:xfrm>
            <a:off x="6254496"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Rubjot Singh</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Indi Insurance LLC</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$296K</a:t>
            </a:r>
          </a:p>
        </p:txBody>
      </p:sp>
      <p:sp>
        <p:nvSpPr>
          <p:cNvPr id="211" name="Rectangle 210"/>
          <p:cNvSpPr/>
          <p:nvPr/>
        </p:nvSpPr>
        <p:spPr>
          <a:xfrm>
            <a:off x="6254496"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Salman Arzu</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Statewide Risk Management I</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$291K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