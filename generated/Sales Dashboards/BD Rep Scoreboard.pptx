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57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27, 2026  |  57 days into Q2  |  34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$20.0M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$31.9M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173%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87%</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31,336</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109%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$2.2M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39pp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13799 vs Apr (17537)</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$28.0M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$8.7M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$2.9M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45,772</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$10.33M written  ·  $11.86M pace  ·  27/31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27)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27)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27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25-27</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12</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6</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20</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441</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91</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488</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255</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24</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279</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418</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52</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438</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52.7</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247</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48</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263</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113</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128</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27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25-27</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25</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10</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65%</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10</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C2626"/>
                </a:solidFill>
                <a:latin typeface="Calibri"/>
              </a:defRPr>
            </a:pPr>
            <a:r>
              <a:t>72%</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12</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82%</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11</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375</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385</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183</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14</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32.5</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65%</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204</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30</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215</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35.8</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72%</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246</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41.0</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165</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172</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7075</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497</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$17.2M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$4.5M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$4.1M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3418</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347</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$9.8M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$3.0M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5477</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307</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$8.9M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3317</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257</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$6.3M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$778K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$1.8M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1850</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130</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$4.2M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4047</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110</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$2.7M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$794K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2781</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53</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$246K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1610</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931</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50</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$917K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614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$801K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214</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214</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7626</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297</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$8.3M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$2.8M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207 active  ·  13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388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2026-05-27</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(4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TextBox 60"/>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27</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$3.1M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$2.2M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$2.1M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$966K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$957K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$831K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$774K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$723K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$640K</a:t>
            </a:r>
          </a:p>
        </p:txBody>
      </p:sp>
      <p:sp>
        <p:nvSpPr>
          <p:cNvPr id="108" name="Rectangle 107"/>
          <p:cNvSpPr/>
          <p:nvPr/>
        </p:nvSpPr>
        <p:spPr>
          <a:xfrm>
            <a:off x="228600"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$598K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2224</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2096</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1578</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1323</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1184</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1030</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1001</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956</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705</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566</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533</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517</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463</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446</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392</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375</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367</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357</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350</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27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$203K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MST INSURANCE SERVICES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$174K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221 fleet binds  ·  $20.2M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27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27,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$4.6M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$3.3M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$1.7M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$990K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$834K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$700K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$652K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$617K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$545K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$542K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$531K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$505K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$493K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$445K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$442K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$439K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$407K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86" name="Rectangle 185"/>
          <p:cNvSpPr/>
          <p:nvPr/>
        </p:nvSpPr>
        <p:spPr>
          <a:xfrm>
            <a:off x="6254496" y="466344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$330K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