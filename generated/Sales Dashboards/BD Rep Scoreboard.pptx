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58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28, 2026  |  58 days into Q2  |  33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28,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$19.9M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$31.3M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170%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88%</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32,108</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110%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$1.7M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40pp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14605 vs Apr (17503)</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$28.5M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(71%)</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$8.8M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(22%)</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$2.9M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45,733</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$10.28M written  ·  $11.39M pace  ·  28/31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28)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28,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28)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28,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28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28,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25-28</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8" name="Rectangle 17"/>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20" name="Rectangle 19"/>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4" name="Rectangle 23"/>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6" name="Rectangle 25"/>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8" name="Rectangle 27"/>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30" name="Rectangle 29"/>
          <p:cNvSpPr/>
          <p:nvPr/>
        </p:nvSpPr>
        <p:spPr>
          <a:xfrm>
            <a:off x="863193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32" name="Rectangle 31"/>
          <p:cNvSpPr/>
          <p:nvPr/>
        </p:nvSpPr>
        <p:spPr>
          <a:xfrm>
            <a:off x="9729216" y="11338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11580"/>
            <a:ext cx="1097280" cy="411480"/>
          </a:xfrm>
          <a:prstGeom prst="rect">
            <a:avLst/>
          </a:prstGeom>
          <a:noFill/>
        </p:spPr>
        <p:txBody>
          <a:bodyPr wrap="square">
            <a:spAutoFit/>
          </a:bodyPr>
          <a:lstStyle/>
          <a:p>
            <a:pPr algn="ctr">
              <a:defRPr sz="1100" b="1">
                <a:solidFill>
                  <a:srgbClr val="FFFFFF"/>
                </a:solidFill>
                <a:latin typeface="Calibri"/>
              </a:defRPr>
            </a:pPr>
            <a:r>
              <a:t>19</a:t>
            </a:r>
          </a:p>
        </p:txBody>
      </p:sp>
      <p:sp>
        <p:nvSpPr>
          <p:cNvPr id="34" name="TextBox 33"/>
          <p:cNvSpPr txBox="1"/>
          <p:nvPr/>
        </p:nvSpPr>
        <p:spPr>
          <a:xfrm>
            <a:off x="10789920" y="1211580"/>
            <a:ext cx="822960" cy="429768"/>
          </a:xfrm>
          <a:prstGeom prst="rect">
            <a:avLst/>
          </a:prstGeom>
          <a:noFill/>
        </p:spPr>
        <p:txBody>
          <a:bodyPr wrap="square">
            <a:spAutoFit/>
          </a:bodyPr>
          <a:lstStyle/>
          <a:p>
            <a:pPr algn="ctr">
              <a:defRPr sz="1100" b="1">
                <a:solidFill>
                  <a:srgbClr val="059669"/>
                </a:solidFill>
                <a:latin typeface="Calibri"/>
              </a:defRPr>
            </a:pPr>
            <a:r>
              <a:t>150%</a:t>
            </a:r>
          </a:p>
        </p:txBody>
      </p:sp>
      <p:sp>
        <p:nvSpPr>
          <p:cNvPr id="35" name="Rectangle 34"/>
          <p:cNvSpPr/>
          <p:nvPr/>
        </p:nvSpPr>
        <p:spPr>
          <a:xfrm>
            <a:off x="182880" y="158191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7" name="Rectangle 36"/>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9" name="Rectangle 38"/>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41" name="Rectangle 40"/>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3" name="Rectangle 42"/>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5" name="Rectangle 44"/>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7" name="Rectangle 46"/>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9" name="Rectangle 48"/>
          <p:cNvSpPr/>
          <p:nvPr/>
        </p:nvSpPr>
        <p:spPr>
          <a:xfrm>
            <a:off x="863193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72</a:t>
            </a:r>
          </a:p>
        </p:txBody>
      </p:sp>
      <p:sp>
        <p:nvSpPr>
          <p:cNvPr id="51" name="Rectangle 50"/>
          <p:cNvSpPr/>
          <p:nvPr/>
        </p:nvSpPr>
        <p:spPr>
          <a:xfrm>
            <a:off x="972921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92640" y="1714500"/>
            <a:ext cx="1097280" cy="411480"/>
          </a:xfrm>
          <a:prstGeom prst="rect">
            <a:avLst/>
          </a:prstGeom>
          <a:noFill/>
        </p:spPr>
        <p:txBody>
          <a:bodyPr wrap="square">
            <a:spAutoFit/>
          </a:bodyPr>
          <a:lstStyle/>
          <a:p>
            <a:pPr algn="ctr">
              <a:defRPr sz="1100" b="1">
                <a:solidFill>
                  <a:srgbClr val="FFFFFF"/>
                </a:solidFill>
                <a:latin typeface="Calibri"/>
              </a:defRPr>
            </a:pPr>
            <a:r>
              <a:t>26</a:t>
            </a:r>
          </a:p>
        </p:txBody>
      </p:sp>
      <p:sp>
        <p:nvSpPr>
          <p:cNvPr id="53" name="TextBox 52"/>
          <p:cNvSpPr txBox="1"/>
          <p:nvPr/>
        </p:nvSpPr>
        <p:spPr>
          <a:xfrm>
            <a:off x="10789920" y="1714500"/>
            <a:ext cx="822960" cy="429768"/>
          </a:xfrm>
          <a:prstGeom prst="rect">
            <a:avLst/>
          </a:prstGeom>
          <a:noFill/>
        </p:spPr>
        <p:txBody>
          <a:bodyPr wrap="square">
            <a:spAutoFit/>
          </a:bodyPr>
          <a:lstStyle/>
          <a:p>
            <a:pPr algn="ctr">
              <a:defRPr sz="1100" b="1">
                <a:solidFill>
                  <a:srgbClr val="D97706"/>
                </a:solidFill>
                <a:latin typeface="Calibri"/>
              </a:defRPr>
            </a:pPr>
            <a:r>
              <a:t>96%</a:t>
            </a:r>
          </a:p>
        </p:txBody>
      </p:sp>
      <p:sp>
        <p:nvSpPr>
          <p:cNvPr id="54" name="TextBox 53"/>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5" name="Rectangle 54"/>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7" name="Rectangle 56"/>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9" name="Rectangle 58"/>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61" name="Rectangle 60"/>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63" name="Rectangle 62"/>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5" name="Rectangle 64"/>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7" name="Rectangle 66"/>
          <p:cNvSpPr/>
          <p:nvPr/>
        </p:nvSpPr>
        <p:spPr>
          <a:xfrm>
            <a:off x="8631935"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69" name="Rectangle 68"/>
          <p:cNvSpPr/>
          <p:nvPr/>
        </p:nvSpPr>
        <p:spPr>
          <a:xfrm>
            <a:off x="9729216" y="213969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692640" y="221742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71" name="TextBox 70"/>
          <p:cNvSpPr txBox="1"/>
          <p:nvPr/>
        </p:nvSpPr>
        <p:spPr>
          <a:xfrm>
            <a:off x="1078992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72" name="Rectangle 71"/>
          <p:cNvSpPr/>
          <p:nvPr/>
        </p:nvSpPr>
        <p:spPr>
          <a:xfrm>
            <a:off x="182880" y="2587752"/>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74" name="Rectangle 73"/>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76" name="Rectangle 75"/>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8" name="Rectangle 77"/>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64</a:t>
            </a:r>
          </a:p>
        </p:txBody>
      </p:sp>
      <p:sp>
        <p:nvSpPr>
          <p:cNvPr id="80" name="Rectangle 79"/>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82" name="Rectangle 81"/>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84" name="Rectangle 83"/>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86" name="Rectangle 85"/>
          <p:cNvSpPr/>
          <p:nvPr/>
        </p:nvSpPr>
        <p:spPr>
          <a:xfrm>
            <a:off x="863193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88" name="Rectangle 87"/>
          <p:cNvSpPr/>
          <p:nvPr/>
        </p:nvSpPr>
        <p:spPr>
          <a:xfrm>
            <a:off x="9729216" y="264261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692640" y="2720340"/>
            <a:ext cx="1097280" cy="411480"/>
          </a:xfrm>
          <a:prstGeom prst="rect">
            <a:avLst/>
          </a:prstGeom>
          <a:noFill/>
        </p:spPr>
        <p:txBody>
          <a:bodyPr wrap="square">
            <a:spAutoFit/>
          </a:bodyPr>
          <a:lstStyle/>
          <a:p>
            <a:pPr algn="ctr">
              <a:defRPr sz="1100" b="1">
                <a:solidFill>
                  <a:srgbClr val="FFFFFF"/>
                </a:solidFill>
                <a:latin typeface="Calibri"/>
              </a:defRPr>
            </a:pPr>
            <a:r>
              <a:t>37</a:t>
            </a:r>
          </a:p>
        </p:txBody>
      </p:sp>
      <p:sp>
        <p:nvSpPr>
          <p:cNvPr id="90" name="TextBox 89"/>
          <p:cNvSpPr txBox="1"/>
          <p:nvPr/>
        </p:nvSpPr>
        <p:spPr>
          <a:xfrm>
            <a:off x="10789920" y="2720340"/>
            <a:ext cx="822960" cy="429768"/>
          </a:xfrm>
          <a:prstGeom prst="rect">
            <a:avLst/>
          </a:prstGeom>
          <a:noFill/>
        </p:spPr>
        <p:txBody>
          <a:bodyPr wrap="square">
            <a:spAutoFit/>
          </a:bodyPr>
          <a:lstStyle/>
          <a:p>
            <a:pPr algn="ctr">
              <a:defRPr sz="1100" b="1">
                <a:solidFill>
                  <a:srgbClr val="059669"/>
                </a:solidFill>
                <a:latin typeface="Calibri"/>
              </a:defRPr>
            </a:pPr>
            <a:r>
              <a:t>132%</a:t>
            </a:r>
          </a:p>
        </p:txBody>
      </p:sp>
      <p:sp>
        <p:nvSpPr>
          <p:cNvPr id="91" name="TextBox 90"/>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92" name="Rectangle 91"/>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94" name="Rectangle 93"/>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96" name="Rectangle 95"/>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98" name="Rectangle 97"/>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100" name="Rectangle 99"/>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102" name="Rectangle 101"/>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04" name="Rectangle 103"/>
          <p:cNvSpPr/>
          <p:nvPr/>
        </p:nvSpPr>
        <p:spPr>
          <a:xfrm>
            <a:off x="863193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106" name="Rectangle 105"/>
          <p:cNvSpPr/>
          <p:nvPr/>
        </p:nvSpPr>
        <p:spPr>
          <a:xfrm>
            <a:off x="97292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9692640" y="3223260"/>
            <a:ext cx="1097280" cy="411480"/>
          </a:xfrm>
          <a:prstGeom prst="rect">
            <a:avLst/>
          </a:prstGeom>
          <a:noFill/>
        </p:spPr>
        <p:txBody>
          <a:bodyPr wrap="square">
            <a:spAutoFit/>
          </a:bodyPr>
          <a:lstStyle/>
          <a:p>
            <a:pPr algn="ctr">
              <a:defRPr sz="1100" b="1">
                <a:solidFill>
                  <a:srgbClr val="FFFFFF"/>
                </a:solidFill>
                <a:latin typeface="Calibri"/>
              </a:defRPr>
            </a:pPr>
            <a:r>
              <a:t>11</a:t>
            </a:r>
          </a:p>
        </p:txBody>
      </p:sp>
      <p:sp>
        <p:nvSpPr>
          <p:cNvPr id="108" name="TextBox 107"/>
          <p:cNvSpPr txBox="1"/>
          <p:nvPr/>
        </p:nvSpPr>
        <p:spPr>
          <a:xfrm>
            <a:off x="1078992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109" name="Rectangle 108"/>
          <p:cNvSpPr/>
          <p:nvPr/>
        </p:nvSpPr>
        <p:spPr>
          <a:xfrm>
            <a:off x="182880" y="3593591"/>
            <a:ext cx="1143000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11" name="Rectangle 110"/>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3" name="Rectangle 112"/>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5" name="Rectangle 114"/>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17" name="Rectangle 116"/>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19" name="Rectangle 118"/>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21" name="Rectangle 120"/>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23" name="Rectangle 122"/>
          <p:cNvSpPr/>
          <p:nvPr/>
        </p:nvSpPr>
        <p:spPr>
          <a:xfrm>
            <a:off x="863193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125" name="Rectangle 124"/>
          <p:cNvSpPr/>
          <p:nvPr/>
        </p:nvSpPr>
        <p:spPr>
          <a:xfrm>
            <a:off x="97292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9692640" y="3726180"/>
            <a:ext cx="1097280" cy="411480"/>
          </a:xfrm>
          <a:prstGeom prst="rect">
            <a:avLst/>
          </a:prstGeom>
          <a:noFill/>
        </p:spPr>
        <p:txBody>
          <a:bodyPr wrap="square">
            <a:spAutoFit/>
          </a:bodyPr>
          <a:lstStyle/>
          <a:p>
            <a:pPr algn="ctr">
              <a:defRPr sz="1100" b="1">
                <a:solidFill>
                  <a:srgbClr val="FFFFFF"/>
                </a:solidFill>
                <a:latin typeface="Calibri"/>
              </a:defRPr>
            </a:pPr>
            <a:r>
              <a:t>21</a:t>
            </a:r>
          </a:p>
        </p:txBody>
      </p:sp>
      <p:sp>
        <p:nvSpPr>
          <p:cNvPr id="127" name="TextBox 126"/>
          <p:cNvSpPr txBox="1"/>
          <p:nvPr/>
        </p:nvSpPr>
        <p:spPr>
          <a:xfrm>
            <a:off x="10789920" y="3726180"/>
            <a:ext cx="822960" cy="429768"/>
          </a:xfrm>
          <a:prstGeom prst="rect">
            <a:avLst/>
          </a:prstGeom>
          <a:noFill/>
        </p:spPr>
        <p:txBody>
          <a:bodyPr wrap="square">
            <a:spAutoFit/>
          </a:bodyPr>
          <a:lstStyle/>
          <a:p>
            <a:pPr algn="ctr">
              <a:defRPr sz="1100" b="1">
                <a:solidFill>
                  <a:srgbClr val="DC2626"/>
                </a:solidFill>
                <a:latin typeface="Calibri"/>
              </a:defRPr>
            </a:pPr>
            <a:r>
              <a:t>44%</a:t>
            </a:r>
          </a:p>
        </p:txBody>
      </p:sp>
      <p:sp>
        <p:nvSpPr>
          <p:cNvPr id="128" name="Rectangle 127"/>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30" name="TextBox 129"/>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31" name="TextBox 130"/>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32" name="TextBox 131"/>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33" name="TextBox 132"/>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34" name="TextBox 133"/>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35" name="TextBox 134"/>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36" name="TextBox 135"/>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37" name="TextBox 136"/>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38" name="TextBox 137"/>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9" name="TextBox 138"/>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448</a:t>
            </a:r>
          </a:p>
        </p:txBody>
      </p:sp>
      <p:sp>
        <p:nvSpPr>
          <p:cNvPr id="140" name="TextBox 139"/>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41" name="TextBox 140"/>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94</a:t>
            </a:r>
          </a:p>
        </p:txBody>
      </p:sp>
      <p:sp>
        <p:nvSpPr>
          <p:cNvPr id="142" name="TextBox 141"/>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495</a:t>
            </a:r>
          </a:p>
        </p:txBody>
      </p:sp>
      <p:sp>
        <p:nvSpPr>
          <p:cNvPr id="143" name="TextBox 142"/>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60.1</a:t>
            </a:r>
          </a:p>
        </p:txBody>
      </p:sp>
      <p:sp>
        <p:nvSpPr>
          <p:cNvPr id="144" name="TextBox 143"/>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150%</a:t>
            </a:r>
          </a:p>
        </p:txBody>
      </p:sp>
      <p:sp>
        <p:nvSpPr>
          <p:cNvPr id="145" name="Rectangle 144"/>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47" name="TextBox 146"/>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8" name="TextBox 147"/>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274</a:t>
            </a:r>
          </a:p>
        </p:txBody>
      </p:sp>
      <p:sp>
        <p:nvSpPr>
          <p:cNvPr id="149" name="TextBox 148"/>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25</a:t>
            </a:r>
          </a:p>
        </p:txBody>
      </p:sp>
      <p:sp>
        <p:nvSpPr>
          <p:cNvPr id="150" name="TextBox 149"/>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87</a:t>
            </a:r>
          </a:p>
        </p:txBody>
      </p:sp>
      <p:sp>
        <p:nvSpPr>
          <p:cNvPr id="151" name="TextBox 150"/>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299</a:t>
            </a:r>
          </a:p>
        </p:txBody>
      </p:sp>
      <p:sp>
        <p:nvSpPr>
          <p:cNvPr id="152" name="TextBox 151"/>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38.6</a:t>
            </a:r>
          </a:p>
        </p:txBody>
      </p:sp>
      <p:sp>
        <p:nvSpPr>
          <p:cNvPr id="153" name="TextBox 152"/>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96%</a:t>
            </a:r>
          </a:p>
        </p:txBody>
      </p:sp>
      <p:sp>
        <p:nvSpPr>
          <p:cNvPr id="154" name="TextBox 153"/>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55" name="TextBox 154"/>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6" name="TextBox 155"/>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241</a:t>
            </a:r>
          </a:p>
        </p:txBody>
      </p:sp>
      <p:sp>
        <p:nvSpPr>
          <p:cNvPr id="157" name="TextBox 156"/>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58" name="TextBox 157"/>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38</a:t>
            </a:r>
          </a:p>
        </p:txBody>
      </p:sp>
      <p:sp>
        <p:nvSpPr>
          <p:cNvPr id="159" name="TextBox 158"/>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254</a:t>
            </a:r>
          </a:p>
        </p:txBody>
      </p:sp>
      <p:sp>
        <p:nvSpPr>
          <p:cNvPr id="160" name="TextBox 159"/>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34.4</a:t>
            </a:r>
          </a:p>
        </p:txBody>
      </p:sp>
      <p:sp>
        <p:nvSpPr>
          <p:cNvPr id="161" name="TextBox 160"/>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62" name="Rectangle 161"/>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64" name="TextBox 163"/>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5" name="TextBox 164"/>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435</a:t>
            </a:r>
          </a:p>
        </p:txBody>
      </p:sp>
      <p:sp>
        <p:nvSpPr>
          <p:cNvPr id="166" name="TextBox 165"/>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20</a:t>
            </a:r>
          </a:p>
        </p:txBody>
      </p:sp>
      <p:sp>
        <p:nvSpPr>
          <p:cNvPr id="167" name="TextBox 166"/>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55</a:t>
            </a:r>
          </a:p>
        </p:txBody>
      </p:sp>
      <p:sp>
        <p:nvSpPr>
          <p:cNvPr id="168" name="TextBox 167"/>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455</a:t>
            </a:r>
          </a:p>
        </p:txBody>
      </p:sp>
      <p:sp>
        <p:nvSpPr>
          <p:cNvPr id="169" name="TextBox 168"/>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52.7</a:t>
            </a:r>
          </a:p>
        </p:txBody>
      </p:sp>
      <p:sp>
        <p:nvSpPr>
          <p:cNvPr id="170" name="TextBox 169"/>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132%</a:t>
            </a:r>
          </a:p>
        </p:txBody>
      </p:sp>
      <p:sp>
        <p:nvSpPr>
          <p:cNvPr id="171" name="TextBox 170"/>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72" name="TextBox 171"/>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73" name="TextBox 172"/>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254</a:t>
            </a:r>
          </a:p>
        </p:txBody>
      </p:sp>
      <p:sp>
        <p:nvSpPr>
          <p:cNvPr id="174" name="TextBox 173"/>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75" name="TextBox 174"/>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50</a:t>
            </a:r>
          </a:p>
        </p:txBody>
      </p:sp>
      <p:sp>
        <p:nvSpPr>
          <p:cNvPr id="176" name="TextBox 175"/>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270</a:t>
            </a:r>
          </a:p>
        </p:txBody>
      </p:sp>
      <p:sp>
        <p:nvSpPr>
          <p:cNvPr id="177" name="TextBox 176"/>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78" name="TextBox 177"/>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79" name="Rectangle 178"/>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81" name="TextBox 180"/>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82" name="TextBox 181"/>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129</a:t>
            </a:r>
          </a:p>
        </p:txBody>
      </p:sp>
      <p:sp>
        <p:nvSpPr>
          <p:cNvPr id="183" name="TextBox 182"/>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84" name="TextBox 183"/>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15</a:t>
            </a:r>
          </a:p>
        </p:txBody>
      </p:sp>
      <p:sp>
        <p:nvSpPr>
          <p:cNvPr id="185" name="TextBox 184"/>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145</a:t>
            </a:r>
          </a:p>
        </p:txBody>
      </p:sp>
      <p:sp>
        <p:nvSpPr>
          <p:cNvPr id="186" name="TextBox 185"/>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17.7</a:t>
            </a:r>
          </a:p>
        </p:txBody>
      </p:sp>
      <p:sp>
        <p:nvSpPr>
          <p:cNvPr id="187" name="TextBox 186"/>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28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28, 2026</a:t>
            </a:r>
          </a:p>
        </p:txBody>
      </p:sp>
      <p:sp>
        <p:nvSpPr>
          <p:cNvPr id="6" name="Rectangle 5"/>
          <p:cNvSpPr/>
          <p:nvPr/>
        </p:nvSpPr>
        <p:spPr>
          <a:xfrm>
            <a:off x="182880" y="804672"/>
            <a:ext cx="1143000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18-24</a:t>
            </a:r>
          </a:p>
        </p:txBody>
      </p:sp>
      <p:sp>
        <p:nvSpPr>
          <p:cNvPr id="15" name="TextBox 14"/>
          <p:cNvSpPr txBox="1"/>
          <p:nvPr/>
        </p:nvSpPr>
        <p:spPr>
          <a:xfrm>
            <a:off x="9692640" y="850392"/>
            <a:ext cx="1097280" cy="201168"/>
          </a:xfrm>
          <a:prstGeom prst="rect">
            <a:avLst/>
          </a:prstGeom>
          <a:noFill/>
        </p:spPr>
        <p:txBody>
          <a:bodyPr wrap="square">
            <a:spAutoFit/>
          </a:bodyPr>
          <a:lstStyle/>
          <a:p>
            <a:pPr algn="ctr">
              <a:defRPr sz="900" b="1">
                <a:solidFill>
                  <a:srgbClr val="FFFFFF"/>
                </a:solidFill>
                <a:latin typeface="Calibri"/>
              </a:defRPr>
            </a:pPr>
            <a:r>
              <a:t>May 25-28</a:t>
            </a:r>
          </a:p>
        </p:txBody>
      </p:sp>
      <p:sp>
        <p:nvSpPr>
          <p:cNvPr id="16" name="TextBox 15"/>
          <p:cNvSpPr txBox="1"/>
          <p:nvPr/>
        </p:nvSpPr>
        <p:spPr>
          <a:xfrm>
            <a:off x="1078992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7" name="TextBox 16"/>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8" name="Rectangle 17"/>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20" name="Rectangle 19"/>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2" name="Rectangle 21"/>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4" name="Rectangle 23"/>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6" name="Rectangle 25"/>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8" name="Rectangle 27"/>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30" name="Rectangle 29"/>
          <p:cNvSpPr/>
          <p:nvPr/>
        </p:nvSpPr>
        <p:spPr>
          <a:xfrm>
            <a:off x="863193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32" name="Rectangle 31"/>
          <p:cNvSpPr/>
          <p:nvPr/>
        </p:nvSpPr>
        <p:spPr>
          <a:xfrm>
            <a:off x="972921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92640" y="1234440"/>
            <a:ext cx="1097280" cy="457200"/>
          </a:xfrm>
          <a:prstGeom prst="rect">
            <a:avLst/>
          </a:prstGeom>
          <a:noFill/>
        </p:spPr>
        <p:txBody>
          <a:bodyPr wrap="square">
            <a:spAutoFit/>
          </a:bodyPr>
          <a:lstStyle/>
          <a:p>
            <a:pPr algn="ctr">
              <a:defRPr sz="1100" b="1">
                <a:solidFill>
                  <a:srgbClr val="FFFFFF"/>
                </a:solidFill>
                <a:latin typeface="Calibri"/>
              </a:defRPr>
            </a:pPr>
            <a:r>
              <a:t>36</a:t>
            </a:r>
          </a:p>
        </p:txBody>
      </p:sp>
      <p:sp>
        <p:nvSpPr>
          <p:cNvPr id="34" name="TextBox 33"/>
          <p:cNvSpPr txBox="1"/>
          <p:nvPr/>
        </p:nvSpPr>
        <p:spPr>
          <a:xfrm>
            <a:off x="10789920" y="1234440"/>
            <a:ext cx="822960" cy="475488"/>
          </a:xfrm>
          <a:prstGeom prst="rect">
            <a:avLst/>
          </a:prstGeom>
          <a:noFill/>
        </p:spPr>
        <p:txBody>
          <a:bodyPr wrap="square">
            <a:spAutoFit/>
          </a:bodyPr>
          <a:lstStyle/>
          <a:p>
            <a:pPr algn="ctr">
              <a:defRPr sz="1100" b="1">
                <a:solidFill>
                  <a:srgbClr val="D97706"/>
                </a:solidFill>
                <a:latin typeface="Calibri"/>
              </a:defRPr>
            </a:pPr>
            <a:r>
              <a:t>94%</a:t>
            </a:r>
          </a:p>
        </p:txBody>
      </p:sp>
      <p:sp>
        <p:nvSpPr>
          <p:cNvPr id="35" name="Rectangle 34"/>
          <p:cNvSpPr/>
          <p:nvPr/>
        </p:nvSpPr>
        <p:spPr>
          <a:xfrm>
            <a:off x="182880" y="162763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7" name="Rectangle 36"/>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41" name="Rectangle 40"/>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3" name="Rectangle 42"/>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5" name="Rectangle 44"/>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7" name="Rectangle 46"/>
          <p:cNvSpPr/>
          <p:nvPr/>
        </p:nvSpPr>
        <p:spPr>
          <a:xfrm>
            <a:off x="863193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49" name="Rectangle 48"/>
          <p:cNvSpPr/>
          <p:nvPr/>
        </p:nvSpPr>
        <p:spPr>
          <a:xfrm>
            <a:off x="97292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92640" y="1783079"/>
            <a:ext cx="1097280" cy="457200"/>
          </a:xfrm>
          <a:prstGeom prst="rect">
            <a:avLst/>
          </a:prstGeom>
          <a:noFill/>
        </p:spPr>
        <p:txBody>
          <a:bodyPr wrap="square">
            <a:spAutoFit/>
          </a:bodyPr>
          <a:lstStyle/>
          <a:p>
            <a:pPr algn="ctr">
              <a:defRPr sz="1100" b="1">
                <a:solidFill>
                  <a:srgbClr val="FFFFFF"/>
                </a:solidFill>
                <a:latin typeface="Calibri"/>
              </a:defRPr>
            </a:pPr>
            <a:r>
              <a:t>16</a:t>
            </a:r>
          </a:p>
        </p:txBody>
      </p:sp>
      <p:sp>
        <p:nvSpPr>
          <p:cNvPr id="51" name="TextBox 50"/>
          <p:cNvSpPr txBox="1"/>
          <p:nvPr/>
        </p:nvSpPr>
        <p:spPr>
          <a:xfrm>
            <a:off x="10789920" y="1783079"/>
            <a:ext cx="822960" cy="475488"/>
          </a:xfrm>
          <a:prstGeom prst="rect">
            <a:avLst/>
          </a:prstGeom>
          <a:noFill/>
        </p:spPr>
        <p:txBody>
          <a:bodyPr wrap="square">
            <a:spAutoFit/>
          </a:bodyPr>
          <a:lstStyle/>
          <a:p>
            <a:pPr algn="ctr">
              <a:defRPr sz="1100" b="1">
                <a:solidFill>
                  <a:srgbClr val="DC2626"/>
                </a:solidFill>
                <a:latin typeface="Calibri"/>
              </a:defRPr>
            </a:pPr>
            <a:r>
              <a:t>67%</a:t>
            </a:r>
          </a:p>
        </p:txBody>
      </p:sp>
      <p:sp>
        <p:nvSpPr>
          <p:cNvPr id="52" name="TextBox 51"/>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53" name="Rectangle 52"/>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7" name="Rectangle 56"/>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9" name="Rectangle 58"/>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61" name="Rectangle 60"/>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42</a:t>
            </a:r>
          </a:p>
        </p:txBody>
      </p:sp>
      <p:sp>
        <p:nvSpPr>
          <p:cNvPr id="63" name="Rectangle 62"/>
          <p:cNvSpPr/>
          <p:nvPr/>
        </p:nvSpPr>
        <p:spPr>
          <a:xfrm>
            <a:off x="863193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65" name="Rectangle 64"/>
          <p:cNvSpPr/>
          <p:nvPr/>
        </p:nvSpPr>
        <p:spPr>
          <a:xfrm>
            <a:off x="97292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692640" y="2331720"/>
            <a:ext cx="1097280" cy="457200"/>
          </a:xfrm>
          <a:prstGeom prst="rect">
            <a:avLst/>
          </a:prstGeom>
          <a:noFill/>
        </p:spPr>
        <p:txBody>
          <a:bodyPr wrap="square">
            <a:spAutoFit/>
          </a:bodyPr>
          <a:lstStyle/>
          <a:p>
            <a:pPr algn="ctr">
              <a:defRPr sz="1100" b="1">
                <a:solidFill>
                  <a:srgbClr val="FFFFFF"/>
                </a:solidFill>
                <a:latin typeface="Calibri"/>
              </a:defRPr>
            </a:pPr>
            <a:r>
              <a:t>22</a:t>
            </a:r>
          </a:p>
        </p:txBody>
      </p:sp>
      <p:sp>
        <p:nvSpPr>
          <p:cNvPr id="67" name="TextBox 66"/>
          <p:cNvSpPr txBox="1"/>
          <p:nvPr/>
        </p:nvSpPr>
        <p:spPr>
          <a:xfrm>
            <a:off x="10789920" y="2331720"/>
            <a:ext cx="822960" cy="475488"/>
          </a:xfrm>
          <a:prstGeom prst="rect">
            <a:avLst/>
          </a:prstGeom>
          <a:noFill/>
        </p:spPr>
        <p:txBody>
          <a:bodyPr wrap="square">
            <a:spAutoFit/>
          </a:bodyPr>
          <a:lstStyle/>
          <a:p>
            <a:pPr algn="ctr">
              <a:defRPr sz="1100" b="1">
                <a:solidFill>
                  <a:srgbClr val="D97706"/>
                </a:solidFill>
                <a:latin typeface="Calibri"/>
              </a:defRPr>
            </a:pPr>
            <a:r>
              <a:t>76%</a:t>
            </a:r>
          </a:p>
        </p:txBody>
      </p:sp>
      <p:sp>
        <p:nvSpPr>
          <p:cNvPr id="68" name="Rectangle 67"/>
          <p:cNvSpPr/>
          <p:nvPr/>
        </p:nvSpPr>
        <p:spPr>
          <a:xfrm>
            <a:off x="182880" y="2724911"/>
            <a:ext cx="1143000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70" name="Rectangle 69"/>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74" name="Rectangle 73"/>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76" name="Rectangle 75"/>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8" name="Rectangle 77"/>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80" name="Rectangle 79"/>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82" name="Rectangle 81"/>
          <p:cNvSpPr/>
          <p:nvPr/>
        </p:nvSpPr>
        <p:spPr>
          <a:xfrm>
            <a:off x="9729216"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9692640" y="2880359"/>
            <a:ext cx="1097280" cy="457200"/>
          </a:xfrm>
          <a:prstGeom prst="rect">
            <a:avLst/>
          </a:prstGeom>
          <a:noFill/>
        </p:spPr>
        <p:txBody>
          <a:bodyPr wrap="square">
            <a:spAutoFit/>
          </a:bodyPr>
          <a:lstStyle/>
          <a:p>
            <a:pPr algn="ctr">
              <a:defRPr sz="1100" b="1">
                <a:solidFill>
                  <a:srgbClr val="FFFFFF"/>
                </a:solidFill>
                <a:latin typeface="Calibri"/>
              </a:defRPr>
            </a:pPr>
            <a:r>
              <a:t>23</a:t>
            </a:r>
          </a:p>
        </p:txBody>
      </p:sp>
      <p:sp>
        <p:nvSpPr>
          <p:cNvPr id="84" name="TextBox 83"/>
          <p:cNvSpPr txBox="1"/>
          <p:nvPr/>
        </p:nvSpPr>
        <p:spPr>
          <a:xfrm>
            <a:off x="10789920" y="2880359"/>
            <a:ext cx="822960" cy="475488"/>
          </a:xfrm>
          <a:prstGeom prst="rect">
            <a:avLst/>
          </a:prstGeom>
          <a:noFill/>
        </p:spPr>
        <p:txBody>
          <a:bodyPr wrap="square">
            <a:spAutoFit/>
          </a:bodyPr>
          <a:lstStyle/>
          <a:p>
            <a:pPr algn="ctr">
              <a:defRPr sz="1100" b="1">
                <a:solidFill>
                  <a:srgbClr val="D97706"/>
                </a:solidFill>
                <a:latin typeface="Calibri"/>
              </a:defRPr>
            </a:pPr>
            <a:r>
              <a:t>86%</a:t>
            </a:r>
          </a:p>
        </p:txBody>
      </p:sp>
      <p:sp>
        <p:nvSpPr>
          <p:cNvPr id="85" name="TextBox 84"/>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86" name="Rectangle 85"/>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8" name="Rectangle 87"/>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0" name="Rectangle 89"/>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92" name="Rectangle 91"/>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94" name="Rectangle 93"/>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96" name="Rectangle 95"/>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98" name="Rectangle 97"/>
          <p:cNvSpPr/>
          <p:nvPr/>
        </p:nvSpPr>
        <p:spPr>
          <a:xfrm>
            <a:off x="863193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60</a:t>
            </a:r>
          </a:p>
        </p:txBody>
      </p:sp>
      <p:sp>
        <p:nvSpPr>
          <p:cNvPr id="100" name="Rectangle 99"/>
          <p:cNvSpPr/>
          <p:nvPr/>
        </p:nvSpPr>
        <p:spPr>
          <a:xfrm>
            <a:off x="97292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692640" y="3429000"/>
            <a:ext cx="1097280" cy="457200"/>
          </a:xfrm>
          <a:prstGeom prst="rect">
            <a:avLst/>
          </a:prstGeom>
          <a:noFill/>
        </p:spPr>
        <p:txBody>
          <a:bodyPr wrap="square">
            <a:spAutoFit/>
          </a:bodyPr>
          <a:lstStyle/>
          <a:p>
            <a:pPr algn="ctr">
              <a:defRPr sz="1100" b="1">
                <a:solidFill>
                  <a:srgbClr val="FFFFFF"/>
                </a:solidFill>
                <a:latin typeface="Calibri"/>
              </a:defRPr>
            </a:pPr>
            <a:r>
              <a:t>22</a:t>
            </a:r>
          </a:p>
        </p:txBody>
      </p:sp>
      <p:sp>
        <p:nvSpPr>
          <p:cNvPr id="102" name="TextBox 101"/>
          <p:cNvSpPr txBox="1"/>
          <p:nvPr/>
        </p:nvSpPr>
        <p:spPr>
          <a:xfrm>
            <a:off x="10789920" y="3429000"/>
            <a:ext cx="822960" cy="475488"/>
          </a:xfrm>
          <a:prstGeom prst="rect">
            <a:avLst/>
          </a:prstGeom>
          <a:noFill/>
        </p:spPr>
        <p:txBody>
          <a:bodyPr wrap="square">
            <a:spAutoFit/>
          </a:bodyPr>
          <a:lstStyle/>
          <a:p>
            <a:pPr algn="ctr">
              <a:defRPr sz="1100" b="1">
                <a:solidFill>
                  <a:srgbClr val="DC2626"/>
                </a:solidFill>
                <a:latin typeface="Calibri"/>
              </a:defRPr>
            </a:pPr>
            <a:r>
              <a:t>46%</a:t>
            </a:r>
          </a:p>
        </p:txBody>
      </p:sp>
      <p:sp>
        <p:nvSpPr>
          <p:cNvPr id="103" name="Rectangle 102"/>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05" name="TextBox 104"/>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06" name="TextBox 105"/>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07" name="TextBox 106"/>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08" name="TextBox 107"/>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09" name="TextBox 108"/>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10" name="TextBox 109"/>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11" name="TextBox 110"/>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12" name="TextBox 111"/>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13" name="TextBox 112"/>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4" name="TextBox 113"/>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386</a:t>
            </a:r>
          </a:p>
        </p:txBody>
      </p:sp>
      <p:sp>
        <p:nvSpPr>
          <p:cNvPr id="115" name="TextBox 114"/>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16" name="TextBox 115"/>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39</a:t>
            </a:r>
          </a:p>
        </p:txBody>
      </p:sp>
      <p:sp>
        <p:nvSpPr>
          <p:cNvPr id="117" name="TextBox 116"/>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396</a:t>
            </a:r>
          </a:p>
        </p:txBody>
      </p:sp>
      <p:sp>
        <p:nvSpPr>
          <p:cNvPr id="118" name="TextBox 117"/>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46.9</a:t>
            </a:r>
          </a:p>
        </p:txBody>
      </p:sp>
      <p:sp>
        <p:nvSpPr>
          <p:cNvPr id="119" name="TextBox 118"/>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94%</a:t>
            </a:r>
          </a:p>
        </p:txBody>
      </p:sp>
      <p:sp>
        <p:nvSpPr>
          <p:cNvPr id="120" name="Rectangle 119"/>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22" name="TextBox 121"/>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3" name="TextBox 122"/>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189</a:t>
            </a:r>
          </a:p>
        </p:txBody>
      </p:sp>
      <p:sp>
        <p:nvSpPr>
          <p:cNvPr id="124" name="TextBox 123"/>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25" name="TextBox 124"/>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14</a:t>
            </a:r>
          </a:p>
        </p:txBody>
      </p:sp>
      <p:sp>
        <p:nvSpPr>
          <p:cNvPr id="126" name="TextBox 125"/>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201</a:t>
            </a:r>
          </a:p>
        </p:txBody>
      </p:sp>
      <p:sp>
        <p:nvSpPr>
          <p:cNvPr id="127" name="TextBox 126"/>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33.5</a:t>
            </a:r>
          </a:p>
        </p:txBody>
      </p:sp>
      <p:sp>
        <p:nvSpPr>
          <p:cNvPr id="128" name="TextBox 127"/>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67%</a:t>
            </a:r>
          </a:p>
        </p:txBody>
      </p:sp>
      <p:sp>
        <p:nvSpPr>
          <p:cNvPr id="129" name="TextBox 128"/>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30" name="TextBox 129"/>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1" name="TextBox 130"/>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216</a:t>
            </a:r>
          </a:p>
        </p:txBody>
      </p:sp>
      <p:sp>
        <p:nvSpPr>
          <p:cNvPr id="132" name="TextBox 131"/>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11</a:t>
            </a:r>
          </a:p>
        </p:txBody>
      </p:sp>
      <p:sp>
        <p:nvSpPr>
          <p:cNvPr id="133" name="TextBox 132"/>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32</a:t>
            </a:r>
          </a:p>
        </p:txBody>
      </p:sp>
      <p:sp>
        <p:nvSpPr>
          <p:cNvPr id="134" name="TextBox 133"/>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227</a:t>
            </a:r>
          </a:p>
        </p:txBody>
      </p:sp>
      <p:sp>
        <p:nvSpPr>
          <p:cNvPr id="135" name="TextBox 134"/>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37.8</a:t>
            </a:r>
          </a:p>
        </p:txBody>
      </p:sp>
      <p:sp>
        <p:nvSpPr>
          <p:cNvPr id="136" name="TextBox 135"/>
          <p:cNvSpPr txBox="1"/>
          <p:nvPr/>
        </p:nvSpPr>
        <p:spPr>
          <a:xfrm>
            <a:off x="6583679" y="4791456"/>
            <a:ext cx="914400" cy="201168"/>
          </a:xfrm>
          <a:prstGeom prst="rect">
            <a:avLst/>
          </a:prstGeom>
          <a:noFill/>
        </p:spPr>
        <p:txBody>
          <a:bodyPr wrap="square">
            <a:spAutoFit/>
          </a:bodyPr>
          <a:lstStyle/>
          <a:p>
            <a:pPr algn="ctr">
              <a:defRPr sz="900" b="0">
                <a:solidFill>
                  <a:srgbClr val="D97706"/>
                </a:solidFill>
                <a:latin typeface="Calibri"/>
              </a:defRPr>
            </a:pPr>
            <a:r>
              <a:t>76%</a:t>
            </a:r>
          </a:p>
        </p:txBody>
      </p:sp>
      <p:sp>
        <p:nvSpPr>
          <p:cNvPr id="137" name="Rectangle 136"/>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39" name="TextBox 138"/>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0" name="TextBox 139"/>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243</a:t>
            </a:r>
          </a:p>
        </p:txBody>
      </p:sp>
      <p:sp>
        <p:nvSpPr>
          <p:cNvPr id="141" name="TextBox 140"/>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14</a:t>
            </a:r>
          </a:p>
        </p:txBody>
      </p:sp>
      <p:sp>
        <p:nvSpPr>
          <p:cNvPr id="142" name="TextBox 141"/>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19</a:t>
            </a:r>
          </a:p>
        </p:txBody>
      </p:sp>
      <p:sp>
        <p:nvSpPr>
          <p:cNvPr id="143" name="TextBox 142"/>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257</a:t>
            </a:r>
          </a:p>
        </p:txBody>
      </p:sp>
      <p:sp>
        <p:nvSpPr>
          <p:cNvPr id="144" name="TextBox 143"/>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42.8</a:t>
            </a:r>
          </a:p>
        </p:txBody>
      </p:sp>
      <p:sp>
        <p:nvSpPr>
          <p:cNvPr id="145" name="TextBox 144"/>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46" name="TextBox 145"/>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47" name="TextBox 146"/>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48" name="TextBox 147"/>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176</a:t>
            </a:r>
          </a:p>
        </p:txBody>
      </p:sp>
      <p:sp>
        <p:nvSpPr>
          <p:cNvPr id="149" name="TextBox 148"/>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7</a:t>
            </a:r>
          </a:p>
        </p:txBody>
      </p:sp>
      <p:sp>
        <p:nvSpPr>
          <p:cNvPr id="150" name="TextBox 149"/>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51" name="TextBox 150"/>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183</a:t>
            </a:r>
          </a:p>
        </p:txBody>
      </p:sp>
      <p:sp>
        <p:nvSpPr>
          <p:cNvPr id="152" name="TextBox 151"/>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23.0</a:t>
            </a:r>
          </a:p>
        </p:txBody>
      </p:sp>
      <p:sp>
        <p:nvSpPr>
          <p:cNvPr id="153" name="TextBox 152"/>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46%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28,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7226</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498</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$17.2M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$4.6M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$4.2M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3503</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350</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$9.8M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$3.1M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5614</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313</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$9.0M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$3.7M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3424</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259</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$6.0M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$778K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$1.9M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1887</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127</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$4.1M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$126K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$1.6M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4155</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113</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$2.8M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$105K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$835K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2855</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53</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$1.3M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$271K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C2626"/>
                </a:solidFill>
                <a:latin typeface="Calibri"/>
              </a:defRPr>
            </a:pPr>
            <a:r>
              <a:t>6</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89%</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1655</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34</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$38K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$351K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50</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49</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945</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54</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$959K</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$316K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$114K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27</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621</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25</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$824K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216</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216</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7795</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303</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$8.4M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$1.6M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$2.9M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182 portfolio  ·  181 active  ·  1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220 portfolio  ·  207 active  ·  13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402 portfolio  ·  388 active  ·  97%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2026-05-28</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28,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(4 reps with dormant agencies)</a:t>
            </a:r>
          </a:p>
        </p:txBody>
      </p:sp>
      <p:sp>
        <p:nvSpPr>
          <p:cNvPr id="8" name="Rectangle 7"/>
          <p:cNvSpPr/>
          <p:nvPr/>
        </p:nvSpPr>
        <p:spPr>
          <a:xfrm>
            <a:off x="27432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5" name="Rectangle 14"/>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18" name="TextBox 17"/>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9" name="TextBox 18"/>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50 agencies dormant</a:t>
            </a:r>
          </a:p>
        </p:txBody>
      </p:sp>
      <p:sp>
        <p:nvSpPr>
          <p:cNvPr id="20" name="TextBox 19"/>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1" name="TextBox 20"/>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2" name="Rectangle 21"/>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5" name="TextBox 24"/>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26" name="TextBox 25"/>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27" name="TextBox 26"/>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28" name="TextBox 27"/>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29" name="TextBox 28"/>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0" name="TextBox 29"/>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1" name="TextBox 30"/>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3" name="Rectangle 32"/>
          <p:cNvSpPr/>
          <p:nvPr/>
        </p:nvSpPr>
        <p:spPr>
          <a:xfrm>
            <a:off x="6263640" y="3154680"/>
            <a:ext cx="5623560" cy="1536192"/>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63640" y="3154680"/>
            <a:ext cx="54864" cy="1536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36" name="TextBox 35"/>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6 dormant</a:t>
            </a:r>
          </a:p>
        </p:txBody>
      </p:sp>
      <p:sp>
        <p:nvSpPr>
          <p:cNvPr id="37" name="TextBox 36"/>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6 of 53 agencies dormant</a:t>
            </a:r>
          </a:p>
        </p:txBody>
      </p:sp>
      <p:sp>
        <p:nvSpPr>
          <p:cNvPr id="38" name="TextBox 37"/>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39" name="TextBox 38"/>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0" name="TextBox 39"/>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1" name="TextBox 40"/>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2" name="TextBox 41"/>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44" name="TextBox 43"/>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46" name="TextBox 45"/>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48" name="TextBox 47"/>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0" name="Rectangle 49"/>
          <p:cNvSpPr/>
          <p:nvPr/>
        </p:nvSpPr>
        <p:spPr>
          <a:xfrm>
            <a:off x="6263640" y="4782312"/>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63640" y="4782312"/>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9944" y="4818888"/>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53" name="TextBox 52"/>
          <p:cNvSpPr txBox="1"/>
          <p:nvPr/>
        </p:nvSpPr>
        <p:spPr>
          <a:xfrm>
            <a:off x="10652760" y="4837176"/>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54" name="TextBox 53"/>
          <p:cNvSpPr txBox="1"/>
          <p:nvPr/>
        </p:nvSpPr>
        <p:spPr>
          <a:xfrm>
            <a:off x="6409944" y="5020056"/>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55" name="TextBox 54"/>
          <p:cNvSpPr txBox="1"/>
          <p:nvPr/>
        </p:nvSpPr>
        <p:spPr>
          <a:xfrm>
            <a:off x="6446520" y="5184648"/>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6" name="TextBox 55"/>
          <p:cNvSpPr txBox="1"/>
          <p:nvPr/>
        </p:nvSpPr>
        <p:spPr>
          <a:xfrm>
            <a:off x="6574536" y="5166360"/>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57" name="TextBox 56"/>
          <p:cNvSpPr txBox="1"/>
          <p:nvPr/>
        </p:nvSpPr>
        <p:spPr>
          <a:xfrm>
            <a:off x="6446520" y="535838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58" name="TextBox 57"/>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59" name="TextBox 58"/>
          <p:cNvSpPr txBox="1"/>
          <p:nvPr/>
        </p:nvSpPr>
        <p:spPr>
          <a:xfrm>
            <a:off x="6446520" y="5532120"/>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0" name="TextBox 59"/>
          <p:cNvSpPr txBox="1"/>
          <p:nvPr/>
        </p:nvSpPr>
        <p:spPr>
          <a:xfrm>
            <a:off x="6574536" y="5513832"/>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61" name="TextBox 60"/>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+ 5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28,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28</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28,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$3.0M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$2.2M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$2.1M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$1.7M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$1.7M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$1.1M</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$991K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$831K</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$775K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$764K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$737K</a:t>
            </a:r>
          </a:p>
        </p:txBody>
      </p:sp>
      <p:sp>
        <p:nvSpPr>
          <p:cNvPr id="103" name="Rectangle 102"/>
          <p:cNvSpPr/>
          <p:nvPr/>
        </p:nvSpPr>
        <p:spPr>
          <a:xfrm>
            <a:off x="228600" y="5596127"/>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$600K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$595K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2283</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2140</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1622</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1359</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1185</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1062</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1047</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977</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717</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582</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540</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525</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468</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467</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402</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387</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372</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372</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354</a:t>
            </a:r>
          </a:p>
        </p:txBody>
      </p:sp>
      <p:sp>
        <p:nvSpPr>
          <p:cNvPr id="215" name="Rectangle 214"/>
          <p:cNvSpPr/>
          <p:nvPr/>
        </p:nvSpPr>
        <p:spPr>
          <a:xfrm>
            <a:off x="6291072"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335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28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28,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Ameritrans Risk Solutions, Inc DBA American Transportation &amp; Ener</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$371K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33</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$323K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$315K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15</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$239K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15</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$231K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$220K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MST INSURANCE SERVICES INC</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$175K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Get Logan Inc</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$171K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6</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217 fleet binds  ·  $19.9M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28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28,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$4.6M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$3.3M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$1.7M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$1.5M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$1.1M</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$1.0M</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$838K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$720K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$706K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$700K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$688K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$683K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$638K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$589K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$565K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$548K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$529K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Daven Loomba</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GoldenEra Insurance Agency</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$505K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$493K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Koraima Pino</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Vantage Ins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$455K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$443K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$442K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$412K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$408K</a:t>
            </a:r>
          </a:p>
        </p:txBody>
      </p:sp>
      <p:sp>
        <p:nvSpPr>
          <p:cNvPr id="156" name="Rectangle 155"/>
          <p:cNvSpPr/>
          <p:nvPr/>
        </p:nvSpPr>
        <p:spPr>
          <a:xfrm>
            <a:off x="6254496" y="312724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$407K</a:t>
            </a:r>
          </a:p>
        </p:txBody>
      </p:sp>
      <p:sp>
        <p:nvSpPr>
          <p:cNvPr id="161" name="Rectangle 160"/>
          <p:cNvSpPr/>
          <p:nvPr/>
        </p:nvSpPr>
        <p:spPr>
          <a:xfrm>
            <a:off x="6254496"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$396K</a:t>
            </a:r>
          </a:p>
        </p:txBody>
      </p:sp>
      <p:sp>
        <p:nvSpPr>
          <p:cNvPr id="166" name="Rectangle 165"/>
          <p:cNvSpPr/>
          <p:nvPr/>
        </p:nvSpPr>
        <p:spPr>
          <a:xfrm>
            <a:off x="6254496" y="363931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Lynda Inderjeet</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R-T Specialty, LLC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$388K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$375K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$372K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$368K</a:t>
            </a:r>
          </a:p>
        </p:txBody>
      </p:sp>
      <p:sp>
        <p:nvSpPr>
          <p:cNvPr id="186" name="Rectangle 185"/>
          <p:cNvSpPr/>
          <p:nvPr/>
        </p:nvSpPr>
        <p:spPr>
          <a:xfrm>
            <a:off x="6254496" y="466344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Elena Tchernogorova</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$361K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$352K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$341K</a:t>
            </a:r>
          </a:p>
        </p:txBody>
      </p:sp>
      <p:sp>
        <p:nvSpPr>
          <p:cNvPr id="206" name="Rectangle 205"/>
          <p:cNvSpPr/>
          <p:nvPr/>
        </p:nvSpPr>
        <p:spPr>
          <a:xfrm>
            <a:off x="6254496"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$339K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$334K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