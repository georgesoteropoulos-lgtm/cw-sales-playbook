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GWP per month (new business + renewals + endorsements) for each month of 2026.</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48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18, 2026  |  48 days into Q2  |  43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$37.2M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$70.4M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116%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83%</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26,921</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111%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DC2626"/>
                </a:solidFill>
                <a:latin typeface="Calibri"/>
              </a:defRPr>
            </a:pPr>
            <a:r>
              <a:t>▼ $2.3M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35pp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9214 vs Apr (17707)</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$23.8M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(64%)</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$7.6M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(20%)</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$5.7M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(15%)</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$60.8M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45,883</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$12.80M written  ·  $22.04M pace  ·  18/31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18)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18)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18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18-18</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10</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10</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5</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3</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9</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391</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75</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438</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188</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73</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211</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213</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224</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366</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43</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380</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220</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44</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72</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6</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81</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18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18-18</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3</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10</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56%</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58" name="Rectangle 57"/>
          <p:cNvSpPr/>
          <p:nvPr/>
        </p:nvSpPr>
        <p:spPr>
          <a:xfrm>
            <a:off x="8631935"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8</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C2626"/>
                </a:solidFill>
                <a:latin typeface="Calibri"/>
              </a:defRPr>
            </a:pPr>
            <a:r>
              <a:t>68%</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81%</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5</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311</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33</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320</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134</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9</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141</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28.2</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56%</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162</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23</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171</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34.2</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68%</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8</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203</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81%</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102</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4</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5</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106</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6157</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454</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$16.0M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$4.2M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2966</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308</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$9.3M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$1.0M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$2.5M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4729</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282</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$8.1M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$1.1M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$3.3M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2812</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232</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$693K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1582</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114</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$3.6M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$1.3M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3467</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99</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$75K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$627K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1346</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31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$289K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797</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44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$909K</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2394</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42</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$807K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2</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504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18</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$625K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211</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211</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6530</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274</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$7.7M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$1.5M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$2.2M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203 active  ·  16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384 active  ·  95%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2026-05-18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841247"/>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84124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2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2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Safeguard Insurance Solutions Llc</a:t>
            </a:r>
          </a:p>
        </p:txBody>
      </p:sp>
      <p:sp>
        <p:nvSpPr>
          <p:cNvPr id="63" name="TextBox 62"/>
          <p:cNvSpPr txBox="1"/>
          <p:nvPr/>
        </p:nvSpPr>
        <p:spPr>
          <a:xfrm>
            <a:off x="6446520" y="5532120"/>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4" name="TextBox 63"/>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5" name="Rectangle 64"/>
          <p:cNvSpPr/>
          <p:nvPr/>
        </p:nvSpPr>
        <p:spPr>
          <a:xfrm>
            <a:off x="6263640" y="5888736"/>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63640" y="5888736"/>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8" name="TextBox 67"/>
          <p:cNvSpPr txBox="1"/>
          <p:nvPr/>
        </p:nvSpPr>
        <p:spPr>
          <a:xfrm>
            <a:off x="10652760" y="5943599"/>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9" name="TextBox 68"/>
          <p:cNvSpPr txBox="1"/>
          <p:nvPr/>
        </p:nvSpPr>
        <p:spPr>
          <a:xfrm>
            <a:off x="6409944" y="6126479"/>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70" name="TextBox 69"/>
          <p:cNvSpPr txBox="1"/>
          <p:nvPr/>
        </p:nvSpPr>
        <p:spPr>
          <a:xfrm>
            <a:off x="6446520" y="629107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2" name="TextBox 71"/>
          <p:cNvSpPr txBox="1"/>
          <p:nvPr/>
        </p:nvSpPr>
        <p:spPr>
          <a:xfrm>
            <a:off x="6446520" y="646480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46520"/>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4" name="TextBox 73"/>
          <p:cNvSpPr txBox="1"/>
          <p:nvPr/>
        </p:nvSpPr>
        <p:spPr>
          <a:xfrm>
            <a:off x="6446520" y="66385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5" name="TextBox 74"/>
          <p:cNvSpPr txBox="1"/>
          <p:nvPr/>
        </p:nvSpPr>
        <p:spPr>
          <a:xfrm>
            <a:off x="6574536" y="6620256"/>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6" name="TextBox 75"/>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18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$2.8M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$933K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$897K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88" name="Rectangle 87"/>
          <p:cNvSpPr/>
          <p:nvPr/>
        </p:nvSpPr>
        <p:spPr>
          <a:xfrm>
            <a:off x="228600" y="4882895"/>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$786K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$735K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$704K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$699K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1904</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1814</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1365</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1122</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1034</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892</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832</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807</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622</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491</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471</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440</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389</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374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342</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338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321</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305</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294</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274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18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$429K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18</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$203K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$187K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Aic Insurance Agency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$178K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5</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Cameron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Brown'S Ins Agency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Get Logan Inc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$171K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6</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205 fleet binds  ·  $19.0M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18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$3.7M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$2.7M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$972K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$850K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$770K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$660K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$640K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$571K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$449K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$447K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$444K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$419K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$382K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$381K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$369K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51" name="Rectangle 150"/>
          <p:cNvSpPr/>
          <p:nvPr/>
        </p:nvSpPr>
        <p:spPr>
          <a:xfrm>
            <a:off x="6254496" y="287121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$353K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$351K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$333K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$319K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Michelle Malkhasyan</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Truck Secure Insurance Services, I…</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$301K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$298K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Rubjot Singh</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Indi Insurance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$296K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