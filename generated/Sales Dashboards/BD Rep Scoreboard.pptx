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51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21, 2026  |  51 days into Q2  |  40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$18.6M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$33.1M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179%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85%</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29,226</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114%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$3.3M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37pp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11632 vs Apr (17594)</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$25.8M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(71%)</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$8.2M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$2.5M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45,798</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$8.84M written  ·  $13.05M pace  ·  21/31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21)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21)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21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18-21</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19" name="Rectangle 18"/>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3" name="Rectangle 22"/>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5" name="Rectangle 24"/>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7" name="Rectangle 26"/>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9" name="Rectangle 28"/>
          <p:cNvSpPr/>
          <p:nvPr/>
        </p:nvSpPr>
        <p:spPr>
          <a:xfrm>
            <a:off x="8631935" y="11338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059669"/>
                </a:solidFill>
                <a:latin typeface="Calibri"/>
              </a:defRPr>
            </a:pPr>
            <a:r>
              <a:t>155%</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6" name="Rectangle 35"/>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8" name="Rectangle 37"/>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0" name="Rectangle 39"/>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6" name="Rectangle 45"/>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97706"/>
                </a:solidFill>
                <a:latin typeface="Calibri"/>
              </a:defRPr>
            </a:pPr>
            <a:r>
              <a:t>82%</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23</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26</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33</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12</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409</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82</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456</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62.2</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155%</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220</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82</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243</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33.0</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229</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242</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383</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45</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403</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241</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46</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257</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80</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10</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93</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21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18-21</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28</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27</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63%</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58" name="Rectangle 57"/>
          <p:cNvSpPr/>
          <p:nvPr/>
        </p:nvSpPr>
        <p:spPr>
          <a:xfrm>
            <a:off x="8631935"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30</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97706"/>
                </a:solidFill>
                <a:latin typeface="Calibri"/>
              </a:defRPr>
            </a:pPr>
            <a:r>
              <a:t>77%</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87%</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335</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35</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345</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150</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8</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10</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158</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31.6</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63%</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181</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25</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192</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38.4</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97706"/>
                </a:solidFill>
                <a:latin typeface="Calibri"/>
              </a:defRPr>
            </a:pPr>
            <a:r>
              <a:t>77%</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217</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43.4</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87%</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128</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6</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10</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134</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6681</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472</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$17.3M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$4.3M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$3.7M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3215</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328</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$9.8M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$1.3M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$2.8M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5091</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288</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$8.1M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$1.2M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$3.5M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30</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90%</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3096</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247</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$6.0M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$756K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$1.6M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1717</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123</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$3.8M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$1.4M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3743</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103</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$2.5M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$684K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2575</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48</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$191K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46</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7</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87%</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1492</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48</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855</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49</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$889K</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$307K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575</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23</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$789K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214</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214</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7071</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295</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$8.0M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$2.4M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184 portfolio  ·  181 active  ·  3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219 portfolio  ·  204 active  ·  15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403 portfolio  ·  385 active  ·  96%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2026-05-21</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3 of 30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Awesome Group Llc Dba Phoenix Services Ltd</a:t>
            </a:r>
          </a:p>
        </p:txBody>
      </p:sp>
      <p:sp>
        <p:nvSpPr>
          <p:cNvPr id="15" name="TextBox 14"/>
          <p:cNvSpPr txBox="1"/>
          <p:nvPr/>
        </p:nvSpPr>
        <p:spPr>
          <a:xfrm>
            <a:off x="457200" y="185623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6" name="TextBox 15"/>
          <p:cNvSpPr txBox="1"/>
          <p:nvPr/>
        </p:nvSpPr>
        <p:spPr>
          <a:xfrm>
            <a:off x="585216" y="1837943"/>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7" name="TextBox 16"/>
          <p:cNvSpPr txBox="1"/>
          <p:nvPr/>
        </p:nvSpPr>
        <p:spPr>
          <a:xfrm>
            <a:off x="457200" y="202996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18" name="TextBox 17"/>
          <p:cNvSpPr txBox="1"/>
          <p:nvPr/>
        </p:nvSpPr>
        <p:spPr>
          <a:xfrm>
            <a:off x="585216" y="2011679"/>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19" name="Rectangle 18"/>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22" name="TextBox 21"/>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23" name="TextBox 22"/>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48 agencies dormant</a:t>
            </a:r>
          </a:p>
        </p:txBody>
      </p:sp>
      <p:sp>
        <p:nvSpPr>
          <p:cNvPr id="24" name="TextBox 23"/>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5" name="TextBox 24"/>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6" name="Rectangle 25"/>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9" name="TextBox 28"/>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30" name="TextBox 29"/>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31" name="TextBox 30"/>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33" name="TextBox 32"/>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4" name="TextBox 33"/>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5" name="TextBox 34"/>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6" name="TextBox 35"/>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7" name="Rectangle 36"/>
          <p:cNvSpPr/>
          <p:nvPr/>
        </p:nvSpPr>
        <p:spPr>
          <a:xfrm>
            <a:off x="6263640" y="3154680"/>
            <a:ext cx="5623560" cy="1709928"/>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3154680"/>
            <a:ext cx="54864" cy="170992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40" name="TextBox 39"/>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7 dormant</a:t>
            </a:r>
          </a:p>
        </p:txBody>
      </p:sp>
      <p:sp>
        <p:nvSpPr>
          <p:cNvPr id="41" name="TextBox 40"/>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7 of 53 agencies dormant</a:t>
            </a:r>
          </a:p>
        </p:txBody>
      </p:sp>
      <p:sp>
        <p:nvSpPr>
          <p:cNvPr id="42" name="TextBox 41"/>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Allcom Insurance Corporation</a:t>
            </a:r>
          </a:p>
        </p:txBody>
      </p:sp>
      <p:sp>
        <p:nvSpPr>
          <p:cNvPr id="44" name="TextBox 43"/>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6" name="TextBox 45"/>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8" name="TextBox 47"/>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50" name="TextBox 49"/>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1" name="TextBox 50"/>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52" name="TextBox 51"/>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3" name="TextBox 52"/>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54" name="TextBox 53"/>
          <p:cNvSpPr txBox="1"/>
          <p:nvPr/>
        </p:nvSpPr>
        <p:spPr>
          <a:xfrm>
            <a:off x="6446520" y="459943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55" name="TextBox 54"/>
          <p:cNvSpPr txBox="1"/>
          <p:nvPr/>
        </p:nvSpPr>
        <p:spPr>
          <a:xfrm>
            <a:off x="6574536" y="4581144"/>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6" name="Rectangle 55"/>
          <p:cNvSpPr/>
          <p:nvPr/>
        </p:nvSpPr>
        <p:spPr>
          <a:xfrm>
            <a:off x="6263640" y="4956048"/>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263640" y="4956048"/>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409944" y="4992624"/>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9" name="TextBox 58"/>
          <p:cNvSpPr txBox="1"/>
          <p:nvPr/>
        </p:nvSpPr>
        <p:spPr>
          <a:xfrm>
            <a:off x="10652760" y="5010912"/>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60" name="TextBox 59"/>
          <p:cNvSpPr txBox="1"/>
          <p:nvPr/>
        </p:nvSpPr>
        <p:spPr>
          <a:xfrm>
            <a:off x="6409944" y="5193792"/>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61" name="TextBox 60"/>
          <p:cNvSpPr txBox="1"/>
          <p:nvPr/>
        </p:nvSpPr>
        <p:spPr>
          <a:xfrm>
            <a:off x="6446520" y="5358384"/>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62" name="TextBox 61"/>
          <p:cNvSpPr txBox="1"/>
          <p:nvPr/>
        </p:nvSpPr>
        <p:spPr>
          <a:xfrm>
            <a:off x="6574536" y="5340096"/>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63" name="Rectangle 62"/>
          <p:cNvSpPr/>
          <p:nvPr/>
        </p:nvSpPr>
        <p:spPr>
          <a:xfrm>
            <a:off x="6263640" y="5724144"/>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263640" y="5724144"/>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09944" y="5760720"/>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6" name="TextBox 65"/>
          <p:cNvSpPr txBox="1"/>
          <p:nvPr/>
        </p:nvSpPr>
        <p:spPr>
          <a:xfrm>
            <a:off x="10652760" y="5779007"/>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7" name="TextBox 66"/>
          <p:cNvSpPr txBox="1"/>
          <p:nvPr/>
        </p:nvSpPr>
        <p:spPr>
          <a:xfrm>
            <a:off x="6409944" y="5961888"/>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68" name="TextBox 67"/>
          <p:cNvSpPr txBox="1"/>
          <p:nvPr/>
        </p:nvSpPr>
        <p:spPr>
          <a:xfrm>
            <a:off x="6446520" y="612648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9" name="TextBox 68"/>
          <p:cNvSpPr txBox="1"/>
          <p:nvPr/>
        </p:nvSpPr>
        <p:spPr>
          <a:xfrm>
            <a:off x="6574536" y="6108192"/>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70" name="TextBox 69"/>
          <p:cNvSpPr txBox="1"/>
          <p:nvPr/>
        </p:nvSpPr>
        <p:spPr>
          <a:xfrm>
            <a:off x="6446520" y="6300216"/>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1" name="TextBox 70"/>
          <p:cNvSpPr txBox="1"/>
          <p:nvPr/>
        </p:nvSpPr>
        <p:spPr>
          <a:xfrm>
            <a:off x="6574536" y="6281928"/>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72" name="TextBox 71"/>
          <p:cNvSpPr txBox="1"/>
          <p:nvPr/>
        </p:nvSpPr>
        <p:spPr>
          <a:xfrm>
            <a:off x="6446520" y="6473952"/>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73" name="TextBox 72"/>
          <p:cNvSpPr txBox="1"/>
          <p:nvPr/>
        </p:nvSpPr>
        <p:spPr>
          <a:xfrm>
            <a:off x="6574536" y="6455664"/>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74" name="TextBox 73"/>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21</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$3.0M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$2.6M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$2.4M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$2.0M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$1.8M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$964K</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$892K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$859K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$796K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$770K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$765K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$722K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$696K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$636K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2117</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1979</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1472</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1200</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1104</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974</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930</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878</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670</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525</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508</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466</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429</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418</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371</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345</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345</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329</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319</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299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21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$330K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16</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The Dorfman Organization, Ltd.</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$308K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22</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$277K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$232K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Swan Insurance Sales, LLC</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215 fleet binds  ·  $20.2M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21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21,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$3.9M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$2.9M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$1.3M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$1.1M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$979K</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$890K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$791K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$693K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$690K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$647K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$616K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$592K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$556K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$458K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$454K</a:t>
            </a:r>
          </a:p>
        </p:txBody>
      </p:sp>
      <p:sp>
        <p:nvSpPr>
          <p:cNvPr id="106" name="Rectangle 105"/>
          <p:cNvSpPr/>
          <p:nvPr/>
        </p:nvSpPr>
        <p:spPr>
          <a:xfrm>
            <a:off x="228600"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$445K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$441K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26" name="Rectangle 125"/>
          <p:cNvSpPr/>
          <p:nvPr/>
        </p:nvSpPr>
        <p:spPr>
          <a:xfrm>
            <a:off x="6254496" y="1591056"/>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$413K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$399K</a:t>
            </a:r>
          </a:p>
        </p:txBody>
      </p:sp>
      <p:sp>
        <p:nvSpPr>
          <p:cNvPr id="136" name="Rectangle 135"/>
          <p:cNvSpPr/>
          <p:nvPr/>
        </p:nvSpPr>
        <p:spPr>
          <a:xfrm>
            <a:off x="6254496" y="210312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$396K</a:t>
            </a:r>
          </a:p>
        </p:txBody>
      </p:sp>
      <p:sp>
        <p:nvSpPr>
          <p:cNvPr id="141" name="Rectangle 140"/>
          <p:cNvSpPr/>
          <p:nvPr/>
        </p:nvSpPr>
        <p:spPr>
          <a:xfrm>
            <a:off x="6254496"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$391K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$388K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$380K</a:t>
            </a:r>
          </a:p>
        </p:txBody>
      </p:sp>
      <p:sp>
        <p:nvSpPr>
          <p:cNvPr id="156" name="Rectangle 155"/>
          <p:cNvSpPr/>
          <p:nvPr/>
        </p:nvSpPr>
        <p:spPr>
          <a:xfrm>
            <a:off x="6254496" y="312724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66" name="Rectangle 165"/>
          <p:cNvSpPr/>
          <p:nvPr/>
        </p:nvSpPr>
        <p:spPr>
          <a:xfrm>
            <a:off x="6254496"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$362K</a:t>
            </a:r>
          </a:p>
        </p:txBody>
      </p:sp>
      <p:sp>
        <p:nvSpPr>
          <p:cNvPr id="171" name="Rectangle 170"/>
          <p:cNvSpPr/>
          <p:nvPr/>
        </p:nvSpPr>
        <p:spPr>
          <a:xfrm>
            <a:off x="6254496" y="389534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$355K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181" name="Rectangle 180"/>
          <p:cNvSpPr/>
          <p:nvPr/>
        </p:nvSpPr>
        <p:spPr>
          <a:xfrm>
            <a:off x="6254496" y="440740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$327K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$326K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$326K</a:t>
            </a:r>
          </a:p>
        </p:txBody>
      </p:sp>
      <p:sp>
        <p:nvSpPr>
          <p:cNvPr id="196" name="Rectangle 195"/>
          <p:cNvSpPr/>
          <p:nvPr/>
        </p:nvSpPr>
        <p:spPr>
          <a:xfrm>
            <a:off x="6254496"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$321K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Scarlette Mcbrayer</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$315K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$310K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$310K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