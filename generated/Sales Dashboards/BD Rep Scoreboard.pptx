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62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Jun 01, 2026  |  62 days into Q2  |  29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$22.4M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$32.9M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173%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82%</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35,384</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107%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$2.5M vs May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40pp vs Q1 avg (43%)</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18511 vs May (16873)</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5 vs Q1 final (4)</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$31.8M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(72%)</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$9.4M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(21%)</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$3.2M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$19.0M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43%</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48,449</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4</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(Jun):  $0.49M written  ·  $14.63M pace  ·  1/30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1–Jun 01)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1–Jun 01)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1–Jun 01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25-31</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Jun 1-1</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32" name="Rectangle 31"/>
          <p:cNvSpPr/>
          <p:nvPr/>
        </p:nvSpPr>
        <p:spPr>
          <a:xfrm>
            <a:off x="9729216" y="11338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147%</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9" name="Rectangle 38"/>
          <p:cNvSpPr/>
          <p:nvPr/>
        </p:nvSpPr>
        <p:spPr>
          <a:xfrm>
            <a:off x="314553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1" name="Rectangle 40"/>
          <p:cNvSpPr/>
          <p:nvPr/>
        </p:nvSpPr>
        <p:spPr>
          <a:xfrm>
            <a:off x="424281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3" name="Rectangle 42"/>
          <p:cNvSpPr/>
          <p:nvPr/>
        </p:nvSpPr>
        <p:spPr>
          <a:xfrm>
            <a:off x="534009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5" name="Rectangle 44"/>
          <p:cNvSpPr/>
          <p:nvPr/>
        </p:nvSpPr>
        <p:spPr>
          <a:xfrm>
            <a:off x="643737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51" name="Rectangle 50"/>
          <p:cNvSpPr/>
          <p:nvPr/>
        </p:nvSpPr>
        <p:spPr>
          <a:xfrm>
            <a:off x="972921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2</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99%</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7" name="Rectangle 56"/>
          <p:cNvSpPr/>
          <p:nvPr/>
        </p:nvSpPr>
        <p:spPr>
          <a:xfrm>
            <a:off x="314553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9" name="Rectangle 58"/>
          <p:cNvSpPr/>
          <p:nvPr/>
        </p:nvSpPr>
        <p:spPr>
          <a:xfrm>
            <a:off x="424281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1" name="Rectangle 60"/>
          <p:cNvSpPr/>
          <p:nvPr/>
        </p:nvSpPr>
        <p:spPr>
          <a:xfrm>
            <a:off x="534009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3" name="Rectangle 62"/>
          <p:cNvSpPr/>
          <p:nvPr/>
        </p:nvSpPr>
        <p:spPr>
          <a:xfrm>
            <a:off x="643737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5" name="Rectangle 64"/>
          <p:cNvSpPr/>
          <p:nvPr/>
        </p:nvSpPr>
        <p:spPr>
          <a:xfrm>
            <a:off x="753465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30</a:t>
            </a:r>
          </a:p>
        </p:txBody>
      </p:sp>
      <p:sp>
        <p:nvSpPr>
          <p:cNvPr id="69" name="Rectangle 68"/>
          <p:cNvSpPr/>
          <p:nvPr/>
        </p:nvSpPr>
        <p:spPr>
          <a:xfrm>
            <a:off x="9729216" y="213969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85%</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64</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88" name="Rectangle 87"/>
          <p:cNvSpPr/>
          <p:nvPr/>
        </p:nvSpPr>
        <p:spPr>
          <a:xfrm>
            <a:off x="9729216"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1</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133%</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6" name="Rectangle 95"/>
          <p:cNvSpPr/>
          <p:nvPr/>
        </p:nvSpPr>
        <p:spPr>
          <a:xfrm>
            <a:off x="424281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8" name="Rectangle 97"/>
          <p:cNvSpPr/>
          <p:nvPr/>
        </p:nvSpPr>
        <p:spPr>
          <a:xfrm>
            <a:off x="534009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0" name="Rectangle 99"/>
          <p:cNvSpPr/>
          <p:nvPr/>
        </p:nvSpPr>
        <p:spPr>
          <a:xfrm>
            <a:off x="643737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2" name="Rectangle 101"/>
          <p:cNvSpPr/>
          <p:nvPr/>
        </p:nvSpPr>
        <p:spPr>
          <a:xfrm>
            <a:off x="753465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06" name="Rectangle 105"/>
          <p:cNvSpPr/>
          <p:nvPr/>
        </p:nvSpPr>
        <p:spPr>
          <a:xfrm>
            <a:off x="97292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1</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87%</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5" name="Rectangle 114"/>
          <p:cNvSpPr/>
          <p:nvPr/>
        </p:nvSpPr>
        <p:spPr>
          <a:xfrm>
            <a:off x="424281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7" name="Rectangle 116"/>
          <p:cNvSpPr/>
          <p:nvPr/>
        </p:nvSpPr>
        <p:spPr>
          <a:xfrm>
            <a:off x="534009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9" name="Rectangle 118"/>
          <p:cNvSpPr/>
          <p:nvPr/>
        </p:nvSpPr>
        <p:spPr>
          <a:xfrm>
            <a:off x="6437376"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41</a:t>
            </a:r>
          </a:p>
        </p:txBody>
      </p:sp>
      <p:sp>
        <p:nvSpPr>
          <p:cNvPr id="125" name="Rectangle 124"/>
          <p:cNvSpPr/>
          <p:nvPr/>
        </p:nvSpPr>
        <p:spPr>
          <a:xfrm>
            <a:off x="972921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52%</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479</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101</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526</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58.9</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147%</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295</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27</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88</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322</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39.6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99%</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271</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33.9</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85%</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457</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56</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477</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53.4</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133%</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275</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17</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52</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292</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34.9</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87%</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148</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17</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165</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20.6</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1–Jun 01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25-31</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Jun 1-1</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0" name="Rectangle 19"/>
          <p:cNvSpPr/>
          <p:nvPr/>
        </p:nvSpPr>
        <p:spPr>
          <a:xfrm>
            <a:off x="314553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2" name="Rectangle 21"/>
          <p:cNvSpPr/>
          <p:nvPr/>
        </p:nvSpPr>
        <p:spPr>
          <a:xfrm>
            <a:off x="424281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6" name="Rectangle 25"/>
          <p:cNvSpPr/>
          <p:nvPr/>
        </p:nvSpPr>
        <p:spPr>
          <a:xfrm>
            <a:off x="643737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0" name="Rectangle 29"/>
          <p:cNvSpPr/>
          <p:nvPr/>
        </p:nvSpPr>
        <p:spPr>
          <a:xfrm>
            <a:off x="8631935"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32" name="Rectangle 31"/>
          <p:cNvSpPr/>
          <p:nvPr/>
        </p:nvSpPr>
        <p:spPr>
          <a:xfrm>
            <a:off x="9729216" y="113385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96%</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10896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0" name="Rectangle 39"/>
          <p:cNvSpPr/>
          <p:nvPr/>
        </p:nvSpPr>
        <p:spPr>
          <a:xfrm>
            <a:off x="424281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2" name="Rectangle 41"/>
          <p:cNvSpPr/>
          <p:nvPr/>
        </p:nvSpPr>
        <p:spPr>
          <a:xfrm>
            <a:off x="534009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4" name="Rectangle 43"/>
          <p:cNvSpPr/>
          <p:nvPr/>
        </p:nvSpPr>
        <p:spPr>
          <a:xfrm>
            <a:off x="6437376"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8" name="Rectangle 47"/>
          <p:cNvSpPr/>
          <p:nvPr/>
        </p:nvSpPr>
        <p:spPr>
          <a:xfrm>
            <a:off x="8631935"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50" name="Rectangle 49"/>
          <p:cNvSpPr/>
          <p:nvPr/>
        </p:nvSpPr>
        <p:spPr>
          <a:xfrm>
            <a:off x="972921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52" name="TextBox 51"/>
          <p:cNvSpPr txBox="1"/>
          <p:nvPr/>
        </p:nvSpPr>
        <p:spPr>
          <a:xfrm>
            <a:off x="10789920" y="1783079"/>
            <a:ext cx="822960" cy="475488"/>
          </a:xfrm>
          <a:prstGeom prst="rect">
            <a:avLst/>
          </a:prstGeom>
          <a:noFill/>
        </p:spPr>
        <p:txBody>
          <a:bodyPr wrap="square">
            <a:spAutoFit/>
          </a:bodyPr>
          <a:lstStyle/>
          <a:p>
            <a:pPr algn="ctr">
              <a:defRPr sz="1100" b="1">
                <a:solidFill>
                  <a:srgbClr val="DC2626"/>
                </a:solidFill>
                <a:latin typeface="Calibri"/>
              </a:defRPr>
            </a:pPr>
            <a:r>
              <a:t>67%</a:t>
            </a:r>
          </a:p>
        </p:txBody>
      </p:sp>
      <p:sp>
        <p:nvSpPr>
          <p:cNvPr id="53" name="TextBox 52"/>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4" name="Rectangle 53"/>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14553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10896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534009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6437376"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97292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2</a:t>
            </a:r>
          </a:p>
        </p:txBody>
      </p:sp>
      <p:sp>
        <p:nvSpPr>
          <p:cNvPr id="69" name="TextBox 68"/>
          <p:cNvSpPr txBox="1"/>
          <p:nvPr/>
        </p:nvSpPr>
        <p:spPr>
          <a:xfrm>
            <a:off x="10789920" y="2331720"/>
            <a:ext cx="822960" cy="475488"/>
          </a:xfrm>
          <a:prstGeom prst="rect">
            <a:avLst/>
          </a:prstGeom>
          <a:noFill/>
        </p:spPr>
        <p:txBody>
          <a:bodyPr wrap="square">
            <a:spAutoFit/>
          </a:bodyPr>
          <a:lstStyle/>
          <a:p>
            <a:pPr algn="ctr">
              <a:defRPr sz="1100" b="1">
                <a:solidFill>
                  <a:srgbClr val="DC2626"/>
                </a:solidFill>
                <a:latin typeface="Calibri"/>
              </a:defRPr>
            </a:pPr>
            <a:r>
              <a:t>72%</a:t>
            </a:r>
          </a:p>
        </p:txBody>
      </p:sp>
      <p:sp>
        <p:nvSpPr>
          <p:cNvPr id="70" name="Rectangle 69"/>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2" name="Rectangle 71"/>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14553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10896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5" name="Rectangle 74"/>
          <p:cNvSpPr/>
          <p:nvPr/>
        </p:nvSpPr>
        <p:spPr>
          <a:xfrm>
            <a:off x="424281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7" name="Rectangle 7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9" name="Rectangle 78"/>
          <p:cNvSpPr/>
          <p:nvPr/>
        </p:nvSpPr>
        <p:spPr>
          <a:xfrm>
            <a:off x="643737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1" name="Rectangle 80"/>
          <p:cNvSpPr/>
          <p:nvPr/>
        </p:nvSpPr>
        <p:spPr>
          <a:xfrm>
            <a:off x="753465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3" name="Rectangle 82"/>
          <p:cNvSpPr/>
          <p:nvPr/>
        </p:nvSpPr>
        <p:spPr>
          <a:xfrm>
            <a:off x="8631935"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50</a:t>
            </a:r>
          </a:p>
        </p:txBody>
      </p:sp>
      <p:sp>
        <p:nvSpPr>
          <p:cNvPr id="85" name="Rectangle 84"/>
          <p:cNvSpPr/>
          <p:nvPr/>
        </p:nvSpPr>
        <p:spPr>
          <a:xfrm>
            <a:off x="972921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7" name="TextBox 86"/>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81%</a:t>
            </a:r>
          </a:p>
        </p:txBody>
      </p:sp>
      <p:sp>
        <p:nvSpPr>
          <p:cNvPr id="88" name="TextBox 87"/>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9" name="Rectangle 88"/>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1" name="Rectangle 90"/>
          <p:cNvSpPr/>
          <p:nvPr/>
        </p:nvSpPr>
        <p:spPr>
          <a:xfrm>
            <a:off x="314553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3" name="Rectangle 92"/>
          <p:cNvSpPr/>
          <p:nvPr/>
        </p:nvSpPr>
        <p:spPr>
          <a:xfrm>
            <a:off x="424281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5" name="Rectangle 94"/>
          <p:cNvSpPr/>
          <p:nvPr/>
        </p:nvSpPr>
        <p:spPr>
          <a:xfrm>
            <a:off x="534009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7" name="Rectangle 96"/>
          <p:cNvSpPr/>
          <p:nvPr/>
        </p:nvSpPr>
        <p:spPr>
          <a:xfrm>
            <a:off x="6437376"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9" name="Rectangle 98"/>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1" name="Rectangle 100"/>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51</a:t>
            </a:r>
          </a:p>
        </p:txBody>
      </p:sp>
      <p:sp>
        <p:nvSpPr>
          <p:cNvPr id="103" name="Rectangle 102"/>
          <p:cNvSpPr/>
          <p:nvPr/>
        </p:nvSpPr>
        <p:spPr>
          <a:xfrm>
            <a:off x="972921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105" name="TextBox 104"/>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53%</a:t>
            </a:r>
          </a:p>
        </p:txBody>
      </p:sp>
      <p:sp>
        <p:nvSpPr>
          <p:cNvPr id="106" name="Rectangle 105"/>
          <p:cNvSpPr/>
          <p:nvPr/>
        </p:nvSpPr>
        <p:spPr>
          <a:xfrm>
            <a:off x="182880" y="382219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6032" y="3977639"/>
            <a:ext cx="1828800" cy="475488"/>
          </a:xfrm>
          <a:prstGeom prst="rect">
            <a:avLst/>
          </a:prstGeom>
          <a:noFill/>
        </p:spPr>
        <p:txBody>
          <a:bodyPr wrap="square">
            <a:spAutoFit/>
          </a:bodyPr>
          <a:lstStyle/>
          <a:p>
            <a:pPr algn="l">
              <a:defRPr sz="900" b="1">
                <a:solidFill>
                  <a:srgbClr val="111827"/>
                </a:solidFill>
                <a:latin typeface="Calibri"/>
              </a:defRPr>
            </a:pPr>
            <a:r>
              <a:t>Lydia Ramos</a:t>
            </a:r>
          </a:p>
        </p:txBody>
      </p:sp>
      <p:sp>
        <p:nvSpPr>
          <p:cNvPr id="108" name="Rectangle 107"/>
          <p:cNvSpPr/>
          <p:nvPr/>
        </p:nvSpPr>
        <p:spPr>
          <a:xfrm>
            <a:off x="2048256" y="387705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011680" y="397763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110" name="Rectangle 109"/>
          <p:cNvSpPr/>
          <p:nvPr/>
        </p:nvSpPr>
        <p:spPr>
          <a:xfrm>
            <a:off x="3145536" y="387705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108960" y="397763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112" name="Rectangle 111"/>
          <p:cNvSpPr/>
          <p:nvPr/>
        </p:nvSpPr>
        <p:spPr>
          <a:xfrm>
            <a:off x="4242816" y="387705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206240" y="397763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114" name="Rectangle 113"/>
          <p:cNvSpPr/>
          <p:nvPr/>
        </p:nvSpPr>
        <p:spPr>
          <a:xfrm>
            <a:off x="5340096" y="387705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303520" y="3977639"/>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116" name="Rectangle 115"/>
          <p:cNvSpPr/>
          <p:nvPr/>
        </p:nvSpPr>
        <p:spPr>
          <a:xfrm>
            <a:off x="6437376" y="387705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00800" y="3977639"/>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118" name="Rectangle 117"/>
          <p:cNvSpPr/>
          <p:nvPr/>
        </p:nvSpPr>
        <p:spPr>
          <a:xfrm>
            <a:off x="7534655" y="387705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498079" y="3977639"/>
            <a:ext cx="1097280" cy="457200"/>
          </a:xfrm>
          <a:prstGeom prst="rect">
            <a:avLst/>
          </a:prstGeom>
          <a:noFill/>
        </p:spPr>
        <p:txBody>
          <a:bodyPr wrap="square">
            <a:spAutoFit/>
          </a:bodyPr>
          <a:lstStyle/>
          <a:p>
            <a:pPr algn="ctr">
              <a:defRPr sz="1100" b="1">
                <a:solidFill>
                  <a:srgbClr val="FFFFFF"/>
                </a:solidFill>
                <a:latin typeface="Calibri"/>
              </a:defRPr>
            </a:pPr>
            <a:r>
              <a:t>6</a:t>
            </a:r>
          </a:p>
        </p:txBody>
      </p:sp>
      <p:sp>
        <p:nvSpPr>
          <p:cNvPr id="120" name="Rectangle 119"/>
          <p:cNvSpPr/>
          <p:nvPr/>
        </p:nvSpPr>
        <p:spPr>
          <a:xfrm>
            <a:off x="8631935" y="387705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595359" y="3977639"/>
            <a:ext cx="1097280" cy="457200"/>
          </a:xfrm>
          <a:prstGeom prst="rect">
            <a:avLst/>
          </a:prstGeom>
          <a:noFill/>
        </p:spPr>
        <p:txBody>
          <a:bodyPr wrap="square">
            <a:spAutoFit/>
          </a:bodyPr>
          <a:lstStyle/>
          <a:p>
            <a:pPr algn="ctr">
              <a:defRPr sz="1100" b="1">
                <a:solidFill>
                  <a:srgbClr val="FFFFFF"/>
                </a:solidFill>
                <a:latin typeface="Calibri"/>
              </a:defRPr>
            </a:pPr>
            <a:r>
              <a:t>62</a:t>
            </a:r>
          </a:p>
        </p:txBody>
      </p:sp>
      <p:sp>
        <p:nvSpPr>
          <p:cNvPr id="122" name="Rectangle 121"/>
          <p:cNvSpPr/>
          <p:nvPr/>
        </p:nvSpPr>
        <p:spPr>
          <a:xfrm>
            <a:off x="9729216" y="387705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9692640" y="397763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124" name="TextBox 123"/>
          <p:cNvSpPr txBox="1"/>
          <p:nvPr/>
        </p:nvSpPr>
        <p:spPr>
          <a:xfrm>
            <a:off x="10789920" y="3977639"/>
            <a:ext cx="822960" cy="475488"/>
          </a:xfrm>
          <a:prstGeom prst="rect">
            <a:avLst/>
          </a:prstGeom>
          <a:noFill/>
        </p:spPr>
        <p:txBody>
          <a:bodyPr wrap="square">
            <a:spAutoFit/>
          </a:bodyPr>
          <a:lstStyle/>
          <a:p>
            <a:pPr algn="ctr">
              <a:defRPr sz="1100" b="1">
                <a:solidFill>
                  <a:srgbClr val="DC2626"/>
                </a:solidFill>
                <a:latin typeface="Calibri"/>
              </a:defRPr>
            </a:pPr>
            <a:r>
              <a:t>18%</a:t>
            </a:r>
          </a:p>
        </p:txBody>
      </p:sp>
      <p:sp>
        <p:nvSpPr>
          <p:cNvPr id="125" name="Rectangle 124"/>
          <p:cNvSpPr/>
          <p:nvPr/>
        </p:nvSpPr>
        <p:spPr>
          <a:xfrm>
            <a:off x="0" y="455371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82880" y="462686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27" name="TextBox 126"/>
          <p:cNvSpPr txBox="1"/>
          <p:nvPr/>
        </p:nvSpPr>
        <p:spPr>
          <a:xfrm>
            <a:off x="1554480" y="462686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28" name="TextBox 127"/>
          <p:cNvSpPr txBox="1"/>
          <p:nvPr/>
        </p:nvSpPr>
        <p:spPr>
          <a:xfrm>
            <a:off x="2148840" y="462686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29" name="TextBox 128"/>
          <p:cNvSpPr txBox="1"/>
          <p:nvPr/>
        </p:nvSpPr>
        <p:spPr>
          <a:xfrm>
            <a:off x="3337560" y="462686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0" name="TextBox 129"/>
          <p:cNvSpPr txBox="1"/>
          <p:nvPr/>
        </p:nvSpPr>
        <p:spPr>
          <a:xfrm>
            <a:off x="4251960" y="462686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1" name="TextBox 130"/>
          <p:cNvSpPr txBox="1"/>
          <p:nvPr/>
        </p:nvSpPr>
        <p:spPr>
          <a:xfrm>
            <a:off x="5029200" y="462686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2" name="TextBox 131"/>
          <p:cNvSpPr txBox="1"/>
          <p:nvPr/>
        </p:nvSpPr>
        <p:spPr>
          <a:xfrm>
            <a:off x="5806440" y="462686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3" name="TextBox 132"/>
          <p:cNvSpPr txBox="1"/>
          <p:nvPr/>
        </p:nvSpPr>
        <p:spPr>
          <a:xfrm>
            <a:off x="6583679" y="462686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4" name="TextBox 133"/>
          <p:cNvSpPr txBox="1"/>
          <p:nvPr/>
        </p:nvSpPr>
        <p:spPr>
          <a:xfrm>
            <a:off x="182880" y="4828031"/>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35" name="TextBox 134"/>
          <p:cNvSpPr txBox="1"/>
          <p:nvPr/>
        </p:nvSpPr>
        <p:spPr>
          <a:xfrm>
            <a:off x="1554480" y="4828031"/>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6" name="TextBox 135"/>
          <p:cNvSpPr txBox="1"/>
          <p:nvPr/>
        </p:nvSpPr>
        <p:spPr>
          <a:xfrm>
            <a:off x="2148840" y="4828031"/>
            <a:ext cx="1188720" cy="201168"/>
          </a:xfrm>
          <a:prstGeom prst="rect">
            <a:avLst/>
          </a:prstGeom>
          <a:noFill/>
        </p:spPr>
        <p:txBody>
          <a:bodyPr wrap="square">
            <a:spAutoFit/>
          </a:bodyPr>
          <a:lstStyle/>
          <a:p>
            <a:pPr algn="ctr">
              <a:defRPr sz="900" b="0">
                <a:solidFill>
                  <a:srgbClr val="111827"/>
                </a:solidFill>
                <a:latin typeface="Calibri"/>
              </a:defRPr>
            </a:pPr>
            <a:r>
              <a:t>407</a:t>
            </a:r>
          </a:p>
        </p:txBody>
      </p:sp>
      <p:sp>
        <p:nvSpPr>
          <p:cNvPr id="137" name="TextBox 136"/>
          <p:cNvSpPr txBox="1"/>
          <p:nvPr/>
        </p:nvSpPr>
        <p:spPr>
          <a:xfrm>
            <a:off x="3337560" y="4828031"/>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38" name="TextBox 137"/>
          <p:cNvSpPr txBox="1"/>
          <p:nvPr/>
        </p:nvSpPr>
        <p:spPr>
          <a:xfrm>
            <a:off x="4251960" y="4828031"/>
            <a:ext cx="777240" cy="201168"/>
          </a:xfrm>
          <a:prstGeom prst="rect">
            <a:avLst/>
          </a:prstGeom>
          <a:noFill/>
        </p:spPr>
        <p:txBody>
          <a:bodyPr wrap="square">
            <a:spAutoFit/>
          </a:bodyPr>
          <a:lstStyle/>
          <a:p>
            <a:pPr algn="ctr">
              <a:defRPr sz="900" b="0">
                <a:solidFill>
                  <a:srgbClr val="6B7280"/>
                </a:solidFill>
                <a:latin typeface="Calibri"/>
              </a:defRPr>
            </a:pPr>
            <a:r>
              <a:t>43</a:t>
            </a:r>
          </a:p>
        </p:txBody>
      </p:sp>
      <p:sp>
        <p:nvSpPr>
          <p:cNvPr id="139" name="TextBox 138"/>
          <p:cNvSpPr txBox="1"/>
          <p:nvPr/>
        </p:nvSpPr>
        <p:spPr>
          <a:xfrm>
            <a:off x="5029200" y="4828031"/>
            <a:ext cx="777240" cy="201168"/>
          </a:xfrm>
          <a:prstGeom prst="rect">
            <a:avLst/>
          </a:prstGeom>
          <a:noFill/>
        </p:spPr>
        <p:txBody>
          <a:bodyPr wrap="square">
            <a:spAutoFit/>
          </a:bodyPr>
          <a:lstStyle/>
          <a:p>
            <a:pPr algn="ctr">
              <a:defRPr sz="900" b="0">
                <a:solidFill>
                  <a:srgbClr val="111827"/>
                </a:solidFill>
                <a:latin typeface="Calibri"/>
              </a:defRPr>
            </a:pPr>
            <a:r>
              <a:t>417</a:t>
            </a:r>
          </a:p>
        </p:txBody>
      </p:sp>
      <p:sp>
        <p:nvSpPr>
          <p:cNvPr id="140" name="TextBox 139"/>
          <p:cNvSpPr txBox="1"/>
          <p:nvPr/>
        </p:nvSpPr>
        <p:spPr>
          <a:xfrm>
            <a:off x="5806440" y="4828031"/>
            <a:ext cx="777240" cy="201168"/>
          </a:xfrm>
          <a:prstGeom prst="rect">
            <a:avLst/>
          </a:prstGeom>
          <a:noFill/>
        </p:spPr>
        <p:txBody>
          <a:bodyPr wrap="square">
            <a:spAutoFit/>
          </a:bodyPr>
          <a:lstStyle/>
          <a:p>
            <a:pPr algn="ctr">
              <a:defRPr sz="900" b="0">
                <a:solidFill>
                  <a:srgbClr val="111827"/>
                </a:solidFill>
                <a:latin typeface="Calibri"/>
              </a:defRPr>
            </a:pPr>
            <a:r>
              <a:t>48.1</a:t>
            </a:r>
          </a:p>
        </p:txBody>
      </p:sp>
      <p:sp>
        <p:nvSpPr>
          <p:cNvPr id="141" name="TextBox 140"/>
          <p:cNvSpPr txBox="1"/>
          <p:nvPr/>
        </p:nvSpPr>
        <p:spPr>
          <a:xfrm>
            <a:off x="6583679" y="4828031"/>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42" name="Rectangle 141"/>
          <p:cNvSpPr/>
          <p:nvPr/>
        </p:nvSpPr>
        <p:spPr>
          <a:xfrm>
            <a:off x="182880" y="506577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82880" y="508406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44" name="TextBox 143"/>
          <p:cNvSpPr txBox="1"/>
          <p:nvPr/>
        </p:nvSpPr>
        <p:spPr>
          <a:xfrm>
            <a:off x="1554480" y="508406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5" name="TextBox 144"/>
          <p:cNvSpPr txBox="1"/>
          <p:nvPr/>
        </p:nvSpPr>
        <p:spPr>
          <a:xfrm>
            <a:off x="2148840" y="5084064"/>
            <a:ext cx="1188720" cy="201168"/>
          </a:xfrm>
          <a:prstGeom prst="rect">
            <a:avLst/>
          </a:prstGeom>
          <a:noFill/>
        </p:spPr>
        <p:txBody>
          <a:bodyPr wrap="square">
            <a:spAutoFit/>
          </a:bodyPr>
          <a:lstStyle/>
          <a:p>
            <a:pPr algn="ctr">
              <a:defRPr sz="900" b="0">
                <a:solidFill>
                  <a:srgbClr val="111827"/>
                </a:solidFill>
                <a:latin typeface="Calibri"/>
              </a:defRPr>
            </a:pPr>
            <a:r>
              <a:t>221</a:t>
            </a:r>
          </a:p>
        </p:txBody>
      </p:sp>
      <p:sp>
        <p:nvSpPr>
          <p:cNvPr id="146" name="TextBox 145"/>
          <p:cNvSpPr txBox="1"/>
          <p:nvPr/>
        </p:nvSpPr>
        <p:spPr>
          <a:xfrm>
            <a:off x="3337560" y="5084064"/>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47" name="TextBox 146"/>
          <p:cNvSpPr txBox="1"/>
          <p:nvPr/>
        </p:nvSpPr>
        <p:spPr>
          <a:xfrm>
            <a:off x="4251960" y="5084064"/>
            <a:ext cx="777240" cy="201168"/>
          </a:xfrm>
          <a:prstGeom prst="rect">
            <a:avLst/>
          </a:prstGeom>
          <a:noFill/>
        </p:spPr>
        <p:txBody>
          <a:bodyPr wrap="square">
            <a:spAutoFit/>
          </a:bodyPr>
          <a:lstStyle/>
          <a:p>
            <a:pPr algn="ctr">
              <a:defRPr sz="900" b="0">
                <a:solidFill>
                  <a:srgbClr val="6B7280"/>
                </a:solidFill>
                <a:latin typeface="Calibri"/>
              </a:defRPr>
            </a:pPr>
            <a:r>
              <a:t>16</a:t>
            </a:r>
          </a:p>
        </p:txBody>
      </p:sp>
      <p:sp>
        <p:nvSpPr>
          <p:cNvPr id="148" name="TextBox 147"/>
          <p:cNvSpPr txBox="1"/>
          <p:nvPr/>
        </p:nvSpPr>
        <p:spPr>
          <a:xfrm>
            <a:off x="5029200" y="5084064"/>
            <a:ext cx="777240" cy="201168"/>
          </a:xfrm>
          <a:prstGeom prst="rect">
            <a:avLst/>
          </a:prstGeom>
          <a:noFill/>
        </p:spPr>
        <p:txBody>
          <a:bodyPr wrap="square">
            <a:spAutoFit/>
          </a:bodyPr>
          <a:lstStyle/>
          <a:p>
            <a:pPr algn="ctr">
              <a:defRPr sz="900" b="0">
                <a:solidFill>
                  <a:srgbClr val="111827"/>
                </a:solidFill>
                <a:latin typeface="Calibri"/>
              </a:defRPr>
            </a:pPr>
            <a:r>
              <a:t>233</a:t>
            </a:r>
          </a:p>
        </p:txBody>
      </p:sp>
      <p:sp>
        <p:nvSpPr>
          <p:cNvPr id="149" name="TextBox 148"/>
          <p:cNvSpPr txBox="1"/>
          <p:nvPr/>
        </p:nvSpPr>
        <p:spPr>
          <a:xfrm>
            <a:off x="5806440" y="5084064"/>
            <a:ext cx="777240" cy="201168"/>
          </a:xfrm>
          <a:prstGeom prst="rect">
            <a:avLst/>
          </a:prstGeom>
          <a:noFill/>
        </p:spPr>
        <p:txBody>
          <a:bodyPr wrap="square">
            <a:spAutoFit/>
          </a:bodyPr>
          <a:lstStyle/>
          <a:p>
            <a:pPr algn="ctr">
              <a:defRPr sz="900" b="0">
                <a:solidFill>
                  <a:srgbClr val="111827"/>
                </a:solidFill>
                <a:latin typeface="Calibri"/>
              </a:defRPr>
            </a:pPr>
            <a:r>
              <a:t>33.3</a:t>
            </a:r>
          </a:p>
        </p:txBody>
      </p:sp>
      <p:sp>
        <p:nvSpPr>
          <p:cNvPr id="150" name="TextBox 149"/>
          <p:cNvSpPr txBox="1"/>
          <p:nvPr/>
        </p:nvSpPr>
        <p:spPr>
          <a:xfrm>
            <a:off x="6583679" y="5084064"/>
            <a:ext cx="914400" cy="201168"/>
          </a:xfrm>
          <a:prstGeom prst="rect">
            <a:avLst/>
          </a:prstGeom>
          <a:noFill/>
        </p:spPr>
        <p:txBody>
          <a:bodyPr wrap="square">
            <a:spAutoFit/>
          </a:bodyPr>
          <a:lstStyle/>
          <a:p>
            <a:pPr algn="ctr">
              <a:defRPr sz="900" b="0">
                <a:solidFill>
                  <a:srgbClr val="DC2626"/>
                </a:solidFill>
                <a:latin typeface="Calibri"/>
              </a:defRPr>
            </a:pPr>
            <a:r>
              <a:t>67%</a:t>
            </a:r>
          </a:p>
        </p:txBody>
      </p:sp>
      <p:sp>
        <p:nvSpPr>
          <p:cNvPr id="151" name="TextBox 150"/>
          <p:cNvSpPr txBox="1"/>
          <p:nvPr/>
        </p:nvSpPr>
        <p:spPr>
          <a:xfrm>
            <a:off x="182880" y="534009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52" name="TextBox 151"/>
          <p:cNvSpPr txBox="1"/>
          <p:nvPr/>
        </p:nvSpPr>
        <p:spPr>
          <a:xfrm>
            <a:off x="1554480" y="534009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53" name="TextBox 152"/>
          <p:cNvSpPr txBox="1"/>
          <p:nvPr/>
        </p:nvSpPr>
        <p:spPr>
          <a:xfrm>
            <a:off x="2148840" y="5340096"/>
            <a:ext cx="1188720" cy="201168"/>
          </a:xfrm>
          <a:prstGeom prst="rect">
            <a:avLst/>
          </a:prstGeom>
          <a:noFill/>
        </p:spPr>
        <p:txBody>
          <a:bodyPr wrap="square">
            <a:spAutoFit/>
          </a:bodyPr>
          <a:lstStyle/>
          <a:p>
            <a:pPr algn="ctr">
              <a:defRPr sz="900" b="0">
                <a:solidFill>
                  <a:srgbClr val="111827"/>
                </a:solidFill>
                <a:latin typeface="Calibri"/>
              </a:defRPr>
            </a:pPr>
            <a:r>
              <a:t>236</a:t>
            </a:r>
          </a:p>
        </p:txBody>
      </p:sp>
      <p:sp>
        <p:nvSpPr>
          <p:cNvPr id="154" name="TextBox 153"/>
          <p:cNvSpPr txBox="1"/>
          <p:nvPr/>
        </p:nvSpPr>
        <p:spPr>
          <a:xfrm>
            <a:off x="3337560" y="5340096"/>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55" name="TextBox 154"/>
          <p:cNvSpPr txBox="1"/>
          <p:nvPr/>
        </p:nvSpPr>
        <p:spPr>
          <a:xfrm>
            <a:off x="4251960" y="5340096"/>
            <a:ext cx="777240" cy="201168"/>
          </a:xfrm>
          <a:prstGeom prst="rect">
            <a:avLst/>
          </a:prstGeom>
          <a:noFill/>
        </p:spPr>
        <p:txBody>
          <a:bodyPr wrap="square">
            <a:spAutoFit/>
          </a:bodyPr>
          <a:lstStyle/>
          <a:p>
            <a:pPr algn="ctr">
              <a:defRPr sz="900" b="0">
                <a:solidFill>
                  <a:srgbClr val="6B7280"/>
                </a:solidFill>
                <a:latin typeface="Calibri"/>
              </a:defRPr>
            </a:pPr>
            <a:r>
              <a:t>40</a:t>
            </a:r>
          </a:p>
        </p:txBody>
      </p:sp>
      <p:sp>
        <p:nvSpPr>
          <p:cNvPr id="156" name="TextBox 155"/>
          <p:cNvSpPr txBox="1"/>
          <p:nvPr/>
        </p:nvSpPr>
        <p:spPr>
          <a:xfrm>
            <a:off x="5029200" y="5340096"/>
            <a:ext cx="777240" cy="201168"/>
          </a:xfrm>
          <a:prstGeom prst="rect">
            <a:avLst/>
          </a:prstGeom>
          <a:noFill/>
        </p:spPr>
        <p:txBody>
          <a:bodyPr wrap="square">
            <a:spAutoFit/>
          </a:bodyPr>
          <a:lstStyle/>
          <a:p>
            <a:pPr algn="ctr">
              <a:defRPr sz="900" b="0">
                <a:solidFill>
                  <a:srgbClr val="111827"/>
                </a:solidFill>
                <a:latin typeface="Calibri"/>
              </a:defRPr>
            </a:pPr>
            <a:r>
              <a:t>252</a:t>
            </a:r>
          </a:p>
        </p:txBody>
      </p:sp>
      <p:sp>
        <p:nvSpPr>
          <p:cNvPr id="157" name="TextBox 156"/>
          <p:cNvSpPr txBox="1"/>
          <p:nvPr/>
        </p:nvSpPr>
        <p:spPr>
          <a:xfrm>
            <a:off x="5806440" y="5340096"/>
            <a:ext cx="777240" cy="201168"/>
          </a:xfrm>
          <a:prstGeom prst="rect">
            <a:avLst/>
          </a:prstGeom>
          <a:noFill/>
        </p:spPr>
        <p:txBody>
          <a:bodyPr wrap="square">
            <a:spAutoFit/>
          </a:bodyPr>
          <a:lstStyle/>
          <a:p>
            <a:pPr algn="ctr">
              <a:defRPr sz="900" b="0">
                <a:solidFill>
                  <a:srgbClr val="111827"/>
                </a:solidFill>
                <a:latin typeface="Calibri"/>
              </a:defRPr>
            </a:pPr>
            <a:r>
              <a:t>36.0</a:t>
            </a:r>
          </a:p>
        </p:txBody>
      </p:sp>
      <p:sp>
        <p:nvSpPr>
          <p:cNvPr id="158" name="TextBox 157"/>
          <p:cNvSpPr txBox="1"/>
          <p:nvPr/>
        </p:nvSpPr>
        <p:spPr>
          <a:xfrm>
            <a:off x="6583679" y="5340096"/>
            <a:ext cx="914400" cy="201168"/>
          </a:xfrm>
          <a:prstGeom prst="rect">
            <a:avLst/>
          </a:prstGeom>
          <a:noFill/>
        </p:spPr>
        <p:txBody>
          <a:bodyPr wrap="square">
            <a:spAutoFit/>
          </a:bodyPr>
          <a:lstStyle/>
          <a:p>
            <a:pPr algn="ctr">
              <a:defRPr sz="900" b="0">
                <a:solidFill>
                  <a:srgbClr val="DC2626"/>
                </a:solidFill>
                <a:latin typeface="Calibri"/>
              </a:defRPr>
            </a:pPr>
            <a:r>
              <a:t>72%</a:t>
            </a:r>
          </a:p>
        </p:txBody>
      </p:sp>
      <p:sp>
        <p:nvSpPr>
          <p:cNvPr id="159" name="Rectangle 158"/>
          <p:cNvSpPr/>
          <p:nvPr/>
        </p:nvSpPr>
        <p:spPr>
          <a:xfrm>
            <a:off x="182880" y="557784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82880" y="5596127"/>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61" name="TextBox 160"/>
          <p:cNvSpPr txBox="1"/>
          <p:nvPr/>
        </p:nvSpPr>
        <p:spPr>
          <a:xfrm>
            <a:off x="1554480" y="5596127"/>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62" name="TextBox 161"/>
          <p:cNvSpPr txBox="1"/>
          <p:nvPr/>
        </p:nvSpPr>
        <p:spPr>
          <a:xfrm>
            <a:off x="2148840" y="5596127"/>
            <a:ext cx="1188720" cy="201168"/>
          </a:xfrm>
          <a:prstGeom prst="rect">
            <a:avLst/>
          </a:prstGeom>
          <a:noFill/>
        </p:spPr>
        <p:txBody>
          <a:bodyPr wrap="square">
            <a:spAutoFit/>
          </a:bodyPr>
          <a:lstStyle/>
          <a:p>
            <a:pPr algn="ctr">
              <a:defRPr sz="900" b="0">
                <a:solidFill>
                  <a:srgbClr val="111827"/>
                </a:solidFill>
                <a:latin typeface="Calibri"/>
              </a:defRPr>
            </a:pPr>
            <a:r>
              <a:t>270</a:t>
            </a:r>
          </a:p>
        </p:txBody>
      </p:sp>
      <p:sp>
        <p:nvSpPr>
          <p:cNvPr id="163" name="TextBox 162"/>
          <p:cNvSpPr txBox="1"/>
          <p:nvPr/>
        </p:nvSpPr>
        <p:spPr>
          <a:xfrm>
            <a:off x="3337560" y="5596127"/>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64" name="TextBox 163"/>
          <p:cNvSpPr txBox="1"/>
          <p:nvPr/>
        </p:nvSpPr>
        <p:spPr>
          <a:xfrm>
            <a:off x="4251960" y="5596127"/>
            <a:ext cx="777240" cy="201168"/>
          </a:xfrm>
          <a:prstGeom prst="rect">
            <a:avLst/>
          </a:prstGeom>
          <a:noFill/>
        </p:spPr>
        <p:txBody>
          <a:bodyPr wrap="square">
            <a:spAutoFit/>
          </a:bodyPr>
          <a:lstStyle/>
          <a:p>
            <a:pPr algn="ctr">
              <a:defRPr sz="900" b="0">
                <a:solidFill>
                  <a:srgbClr val="6B7280"/>
                </a:solidFill>
                <a:latin typeface="Calibri"/>
              </a:defRPr>
            </a:pPr>
            <a:r>
              <a:t>21</a:t>
            </a:r>
          </a:p>
        </p:txBody>
      </p:sp>
      <p:sp>
        <p:nvSpPr>
          <p:cNvPr id="165" name="TextBox 164"/>
          <p:cNvSpPr txBox="1"/>
          <p:nvPr/>
        </p:nvSpPr>
        <p:spPr>
          <a:xfrm>
            <a:off x="5029200" y="5596127"/>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66" name="TextBox 165"/>
          <p:cNvSpPr txBox="1"/>
          <p:nvPr/>
        </p:nvSpPr>
        <p:spPr>
          <a:xfrm>
            <a:off x="5806440" y="5596127"/>
            <a:ext cx="77724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67" name="TextBox 166"/>
          <p:cNvSpPr txBox="1"/>
          <p:nvPr/>
        </p:nvSpPr>
        <p:spPr>
          <a:xfrm>
            <a:off x="6583679" y="5596127"/>
            <a:ext cx="914400" cy="201168"/>
          </a:xfrm>
          <a:prstGeom prst="rect">
            <a:avLst/>
          </a:prstGeom>
          <a:noFill/>
        </p:spPr>
        <p:txBody>
          <a:bodyPr wrap="square">
            <a:spAutoFit/>
          </a:bodyPr>
          <a:lstStyle/>
          <a:p>
            <a:pPr algn="ctr">
              <a:defRPr sz="900" b="0">
                <a:solidFill>
                  <a:srgbClr val="D97706"/>
                </a:solidFill>
                <a:latin typeface="Calibri"/>
              </a:defRPr>
            </a:pPr>
            <a:r>
              <a:t>81%</a:t>
            </a:r>
          </a:p>
        </p:txBody>
      </p:sp>
      <p:sp>
        <p:nvSpPr>
          <p:cNvPr id="168" name="TextBox 167"/>
          <p:cNvSpPr txBox="1"/>
          <p:nvPr/>
        </p:nvSpPr>
        <p:spPr>
          <a:xfrm>
            <a:off x="182880" y="5852159"/>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69" name="TextBox 168"/>
          <p:cNvSpPr txBox="1"/>
          <p:nvPr/>
        </p:nvSpPr>
        <p:spPr>
          <a:xfrm>
            <a:off x="1554480" y="5852159"/>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70" name="TextBox 169"/>
          <p:cNvSpPr txBox="1"/>
          <p:nvPr/>
        </p:nvSpPr>
        <p:spPr>
          <a:xfrm>
            <a:off x="2148840" y="5852159"/>
            <a:ext cx="118872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71" name="TextBox 170"/>
          <p:cNvSpPr txBox="1"/>
          <p:nvPr/>
        </p:nvSpPr>
        <p:spPr>
          <a:xfrm>
            <a:off x="3337560" y="5852159"/>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72" name="TextBox 171"/>
          <p:cNvSpPr txBox="1"/>
          <p:nvPr/>
        </p:nvSpPr>
        <p:spPr>
          <a:xfrm>
            <a:off x="4251960" y="5852159"/>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73" name="TextBox 172"/>
          <p:cNvSpPr txBox="1"/>
          <p:nvPr/>
        </p:nvSpPr>
        <p:spPr>
          <a:xfrm>
            <a:off x="5029200" y="5852159"/>
            <a:ext cx="777240" cy="201168"/>
          </a:xfrm>
          <a:prstGeom prst="rect">
            <a:avLst/>
          </a:prstGeom>
          <a:noFill/>
        </p:spPr>
        <p:txBody>
          <a:bodyPr wrap="square">
            <a:spAutoFit/>
          </a:bodyPr>
          <a:lstStyle/>
          <a:p>
            <a:pPr algn="ctr">
              <a:defRPr sz="900" b="0">
                <a:solidFill>
                  <a:srgbClr val="111827"/>
                </a:solidFill>
                <a:latin typeface="Calibri"/>
              </a:defRPr>
            </a:pPr>
            <a:r>
              <a:t>212</a:t>
            </a:r>
          </a:p>
        </p:txBody>
      </p:sp>
      <p:sp>
        <p:nvSpPr>
          <p:cNvPr id="174" name="TextBox 173"/>
          <p:cNvSpPr txBox="1"/>
          <p:nvPr/>
        </p:nvSpPr>
        <p:spPr>
          <a:xfrm>
            <a:off x="5806440" y="5852159"/>
            <a:ext cx="777240" cy="201168"/>
          </a:xfrm>
          <a:prstGeom prst="rect">
            <a:avLst/>
          </a:prstGeom>
          <a:noFill/>
        </p:spPr>
        <p:txBody>
          <a:bodyPr wrap="square">
            <a:spAutoFit/>
          </a:bodyPr>
          <a:lstStyle/>
          <a:p>
            <a:pPr algn="ctr">
              <a:defRPr sz="900" b="0">
                <a:solidFill>
                  <a:srgbClr val="111827"/>
                </a:solidFill>
                <a:latin typeface="Calibri"/>
              </a:defRPr>
            </a:pPr>
            <a:r>
              <a:t>26.5</a:t>
            </a:r>
          </a:p>
        </p:txBody>
      </p:sp>
      <p:sp>
        <p:nvSpPr>
          <p:cNvPr id="175" name="TextBox 174"/>
          <p:cNvSpPr txBox="1"/>
          <p:nvPr/>
        </p:nvSpPr>
        <p:spPr>
          <a:xfrm>
            <a:off x="6583679" y="5852159"/>
            <a:ext cx="914400" cy="201168"/>
          </a:xfrm>
          <a:prstGeom prst="rect">
            <a:avLst/>
          </a:prstGeom>
          <a:noFill/>
        </p:spPr>
        <p:txBody>
          <a:bodyPr wrap="square">
            <a:spAutoFit/>
          </a:bodyPr>
          <a:lstStyle/>
          <a:p>
            <a:pPr algn="ctr">
              <a:defRPr sz="900" b="0">
                <a:solidFill>
                  <a:srgbClr val="DC2626"/>
                </a:solidFill>
                <a:latin typeface="Calibri"/>
              </a:defRPr>
            </a:pPr>
            <a:r>
              <a:t>53%</a:t>
            </a:r>
          </a:p>
        </p:txBody>
      </p:sp>
      <p:sp>
        <p:nvSpPr>
          <p:cNvPr id="176" name="Rectangle 175"/>
          <p:cNvSpPr/>
          <p:nvPr/>
        </p:nvSpPr>
        <p:spPr>
          <a:xfrm>
            <a:off x="182880" y="608990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82880" y="6108192"/>
            <a:ext cx="1371600" cy="201168"/>
          </a:xfrm>
          <a:prstGeom prst="rect">
            <a:avLst/>
          </a:prstGeom>
          <a:noFill/>
        </p:spPr>
        <p:txBody>
          <a:bodyPr wrap="square">
            <a:spAutoFit/>
          </a:bodyPr>
          <a:lstStyle/>
          <a:p>
            <a:pPr algn="l">
              <a:defRPr sz="900" b="1">
                <a:solidFill>
                  <a:srgbClr val="111827"/>
                </a:solidFill>
                <a:latin typeface="Calibri"/>
              </a:defRPr>
            </a:pPr>
            <a:r>
              <a:t>Lydia Ramos</a:t>
            </a:r>
          </a:p>
        </p:txBody>
      </p:sp>
      <p:sp>
        <p:nvSpPr>
          <p:cNvPr id="178" name="TextBox 177"/>
          <p:cNvSpPr txBox="1"/>
          <p:nvPr/>
        </p:nvSpPr>
        <p:spPr>
          <a:xfrm>
            <a:off x="1554480" y="61081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79" name="TextBox 178"/>
          <p:cNvSpPr txBox="1"/>
          <p:nvPr/>
        </p:nvSpPr>
        <p:spPr>
          <a:xfrm>
            <a:off x="2148840" y="6108192"/>
            <a:ext cx="1188720" cy="201168"/>
          </a:xfrm>
          <a:prstGeom prst="rect">
            <a:avLst/>
          </a:prstGeom>
          <a:noFill/>
        </p:spPr>
        <p:txBody>
          <a:bodyPr wrap="square">
            <a:spAutoFit/>
          </a:bodyPr>
          <a:lstStyle/>
          <a:p>
            <a:pPr algn="ctr">
              <a:defRPr sz="900" b="0">
                <a:solidFill>
                  <a:srgbClr val="111827"/>
                </a:solidFill>
                <a:latin typeface="Calibri"/>
              </a:defRPr>
            </a:pPr>
            <a:r>
              <a:t>65</a:t>
            </a:r>
          </a:p>
        </p:txBody>
      </p:sp>
      <p:sp>
        <p:nvSpPr>
          <p:cNvPr id="180" name="TextBox 179"/>
          <p:cNvSpPr txBox="1"/>
          <p:nvPr/>
        </p:nvSpPr>
        <p:spPr>
          <a:xfrm>
            <a:off x="3337560" y="6108192"/>
            <a:ext cx="914400" cy="201168"/>
          </a:xfrm>
          <a:prstGeom prst="rect">
            <a:avLst/>
          </a:prstGeom>
          <a:noFill/>
        </p:spPr>
        <p:txBody>
          <a:bodyPr wrap="square">
            <a:spAutoFit/>
          </a:bodyPr>
          <a:lstStyle/>
          <a:p>
            <a:pPr algn="ctr">
              <a:defRPr sz="900" b="0">
                <a:solidFill>
                  <a:srgbClr val="111827"/>
                </a:solidFill>
                <a:latin typeface="Calibri"/>
              </a:defRPr>
            </a:pPr>
            <a:r>
              <a:t>5</a:t>
            </a:r>
          </a:p>
        </p:txBody>
      </p:sp>
      <p:sp>
        <p:nvSpPr>
          <p:cNvPr id="181" name="TextBox 180"/>
          <p:cNvSpPr txBox="1"/>
          <p:nvPr/>
        </p:nvSpPr>
        <p:spPr>
          <a:xfrm>
            <a:off x="4251960" y="6108192"/>
            <a:ext cx="777240" cy="201168"/>
          </a:xfrm>
          <a:prstGeom prst="rect">
            <a:avLst/>
          </a:prstGeom>
          <a:noFill/>
        </p:spPr>
        <p:txBody>
          <a:bodyPr wrap="square">
            <a:spAutoFit/>
          </a:bodyPr>
          <a:lstStyle/>
          <a:p>
            <a:pPr algn="ctr">
              <a:defRPr sz="900" b="0">
                <a:solidFill>
                  <a:srgbClr val="6B7280"/>
                </a:solidFill>
                <a:latin typeface="Calibri"/>
              </a:defRPr>
            </a:pPr>
            <a:r>
              <a:t>8</a:t>
            </a:r>
          </a:p>
        </p:txBody>
      </p:sp>
      <p:sp>
        <p:nvSpPr>
          <p:cNvPr id="182" name="TextBox 181"/>
          <p:cNvSpPr txBox="1"/>
          <p:nvPr/>
        </p:nvSpPr>
        <p:spPr>
          <a:xfrm>
            <a:off x="5029200" y="6108192"/>
            <a:ext cx="777240" cy="201168"/>
          </a:xfrm>
          <a:prstGeom prst="rect">
            <a:avLst/>
          </a:prstGeom>
          <a:noFill/>
        </p:spPr>
        <p:txBody>
          <a:bodyPr wrap="square">
            <a:spAutoFit/>
          </a:bodyPr>
          <a:lstStyle/>
          <a:p>
            <a:pPr algn="ctr">
              <a:defRPr sz="900" b="0">
                <a:solidFill>
                  <a:srgbClr val="111827"/>
                </a:solidFill>
                <a:latin typeface="Calibri"/>
              </a:defRPr>
            </a:pPr>
            <a:r>
              <a:t>70</a:t>
            </a:r>
          </a:p>
        </p:txBody>
      </p:sp>
      <p:sp>
        <p:nvSpPr>
          <p:cNvPr id="183" name="TextBox 182"/>
          <p:cNvSpPr txBox="1"/>
          <p:nvPr/>
        </p:nvSpPr>
        <p:spPr>
          <a:xfrm>
            <a:off x="5806440" y="6108192"/>
            <a:ext cx="777240" cy="201168"/>
          </a:xfrm>
          <a:prstGeom prst="rect">
            <a:avLst/>
          </a:prstGeom>
          <a:noFill/>
        </p:spPr>
        <p:txBody>
          <a:bodyPr wrap="square">
            <a:spAutoFit/>
          </a:bodyPr>
          <a:lstStyle/>
          <a:p>
            <a:pPr algn="ctr">
              <a:defRPr sz="900" b="0">
                <a:solidFill>
                  <a:srgbClr val="111827"/>
                </a:solidFill>
                <a:latin typeface="Calibri"/>
              </a:defRPr>
            </a:pPr>
            <a:r>
              <a:t>8.8</a:t>
            </a:r>
          </a:p>
        </p:txBody>
      </p:sp>
      <p:sp>
        <p:nvSpPr>
          <p:cNvPr id="184" name="TextBox 183"/>
          <p:cNvSpPr txBox="1"/>
          <p:nvPr/>
        </p:nvSpPr>
        <p:spPr>
          <a:xfrm>
            <a:off x="6583679" y="6108192"/>
            <a:ext cx="914400" cy="201168"/>
          </a:xfrm>
          <a:prstGeom prst="rect">
            <a:avLst/>
          </a:prstGeom>
          <a:noFill/>
        </p:spPr>
        <p:txBody>
          <a:bodyPr wrap="square">
            <a:spAutoFit/>
          </a:bodyPr>
          <a:lstStyle/>
          <a:p>
            <a:pPr algn="ctr">
              <a:defRPr sz="900" b="0">
                <a:solidFill>
                  <a:srgbClr val="DC2626"/>
                </a:solidFill>
                <a:latin typeface="Calibri"/>
              </a:defRPr>
            </a:pPr>
            <a:r>
              <a:t>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7526</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535</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$4.7M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$4.3M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3630</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371</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$10.1M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$1.5M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$3.1M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5832</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335</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$1.5M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$4.0M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3583</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275</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$6.7M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$921K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$2.0M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1969</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126</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$3.9M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$1.8M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4358</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113</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$2.6M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$213K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$870K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Lydia Ramos</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54</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$2.2M</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1884</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71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$2.1M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$86K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$570K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1718</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41</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$1.5M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$38K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$382K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3016</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52</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$1.3M</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$273K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991</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54</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$1.0M</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$153K</a:t>
            </a:r>
          </a:p>
        </p:txBody>
      </p:sp>
      <p:sp>
        <p:nvSpPr>
          <p:cNvPr id="135" name="TextBox 134"/>
          <p:cNvSpPr txBox="1"/>
          <p:nvPr/>
        </p:nvSpPr>
        <p:spPr>
          <a:xfrm>
            <a:off x="182880" y="5340096"/>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36" name="TextBox 135"/>
          <p:cNvSpPr txBox="1"/>
          <p:nvPr/>
        </p:nvSpPr>
        <p:spPr>
          <a:xfrm>
            <a:off x="1691639" y="5340096"/>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37" name="TextBox 136"/>
          <p:cNvSpPr txBox="1"/>
          <p:nvPr/>
        </p:nvSpPr>
        <p:spPr>
          <a:xfrm>
            <a:off x="2404872" y="534009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38" name="TextBox 137"/>
          <p:cNvSpPr txBox="1"/>
          <p:nvPr/>
        </p:nvSpPr>
        <p:spPr>
          <a:xfrm>
            <a:off x="3026664" y="5340096"/>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139" name="TextBox 138"/>
          <p:cNvSpPr txBox="1"/>
          <p:nvPr/>
        </p:nvSpPr>
        <p:spPr>
          <a:xfrm>
            <a:off x="3739896" y="5340096"/>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140" name="TextBox 139"/>
          <p:cNvSpPr txBox="1"/>
          <p:nvPr/>
        </p:nvSpPr>
        <p:spPr>
          <a:xfrm>
            <a:off x="4361688" y="5340096"/>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41" name="TextBox 140"/>
          <p:cNvSpPr txBox="1"/>
          <p:nvPr/>
        </p:nvSpPr>
        <p:spPr>
          <a:xfrm>
            <a:off x="5321807" y="5340096"/>
            <a:ext cx="804672" cy="201168"/>
          </a:xfrm>
          <a:prstGeom prst="rect">
            <a:avLst/>
          </a:prstGeom>
          <a:noFill/>
        </p:spPr>
        <p:txBody>
          <a:bodyPr wrap="none">
            <a:spAutoFit/>
          </a:bodyPr>
          <a:lstStyle/>
          <a:p>
            <a:pPr algn="ctr">
              <a:defRPr sz="950" b="0">
                <a:solidFill>
                  <a:srgbClr val="111827"/>
                </a:solidFill>
                <a:latin typeface="Calibri"/>
              </a:defRPr>
            </a:pPr>
            <a:r>
              <a:t>647</a:t>
            </a:r>
          </a:p>
        </p:txBody>
      </p:sp>
      <p:sp>
        <p:nvSpPr>
          <p:cNvPr id="142" name="TextBox 141"/>
          <p:cNvSpPr txBox="1"/>
          <p:nvPr/>
        </p:nvSpPr>
        <p:spPr>
          <a:xfrm>
            <a:off x="6126479" y="5340096"/>
            <a:ext cx="731520" cy="201168"/>
          </a:xfrm>
          <a:prstGeom prst="rect">
            <a:avLst/>
          </a:prstGeom>
          <a:noFill/>
        </p:spPr>
        <p:txBody>
          <a:bodyPr wrap="none">
            <a:spAutoFit/>
          </a:bodyPr>
          <a:lstStyle/>
          <a:p>
            <a:pPr algn="ctr">
              <a:defRPr sz="950" b="0">
                <a:solidFill>
                  <a:srgbClr val="111827"/>
                </a:solidFill>
                <a:latin typeface="Calibri"/>
              </a:defRPr>
            </a:pPr>
            <a:r>
              <a:t>27</a:t>
            </a:r>
          </a:p>
        </p:txBody>
      </p:sp>
      <p:sp>
        <p:nvSpPr>
          <p:cNvPr id="143" name="TextBox 142"/>
          <p:cNvSpPr txBox="1"/>
          <p:nvPr/>
        </p:nvSpPr>
        <p:spPr>
          <a:xfrm>
            <a:off x="6857999" y="5340096"/>
            <a:ext cx="960120" cy="201168"/>
          </a:xfrm>
          <a:prstGeom prst="rect">
            <a:avLst/>
          </a:prstGeom>
          <a:noFill/>
        </p:spPr>
        <p:txBody>
          <a:bodyPr wrap="none">
            <a:spAutoFit/>
          </a:bodyPr>
          <a:lstStyle/>
          <a:p>
            <a:pPr algn="ctr">
              <a:defRPr sz="950" b="0">
                <a:solidFill>
                  <a:srgbClr val="065F46"/>
                </a:solidFill>
                <a:latin typeface="Calibri"/>
              </a:defRPr>
            </a:pPr>
            <a:r>
              <a:t>$917K</a:t>
            </a:r>
          </a:p>
        </p:txBody>
      </p:sp>
      <p:sp>
        <p:nvSpPr>
          <p:cNvPr id="144" name="TextBox 143"/>
          <p:cNvSpPr txBox="1"/>
          <p:nvPr/>
        </p:nvSpPr>
        <p:spPr>
          <a:xfrm>
            <a:off x="7818119" y="5340096"/>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45" name="TextBox 144"/>
          <p:cNvSpPr txBox="1"/>
          <p:nvPr/>
        </p:nvSpPr>
        <p:spPr>
          <a:xfrm>
            <a:off x="8622792" y="5340096"/>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46" name="Rectangle 145"/>
          <p:cNvSpPr/>
          <p:nvPr/>
        </p:nvSpPr>
        <p:spPr>
          <a:xfrm>
            <a:off x="182880" y="5779007"/>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274320" y="5815583"/>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48" name="Rectangle 147"/>
          <p:cNvSpPr/>
          <p:nvPr/>
        </p:nvSpPr>
        <p:spPr>
          <a:xfrm>
            <a:off x="182880" y="5998464"/>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82880" y="6016751"/>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50" name="TextBox 149"/>
          <p:cNvSpPr txBox="1"/>
          <p:nvPr/>
        </p:nvSpPr>
        <p:spPr>
          <a:xfrm>
            <a:off x="1691639" y="6016751"/>
            <a:ext cx="713232" cy="274320"/>
          </a:xfrm>
          <a:prstGeom prst="rect">
            <a:avLst/>
          </a:prstGeom>
          <a:noFill/>
        </p:spPr>
        <p:txBody>
          <a:bodyPr wrap="square">
            <a:spAutoFit/>
          </a:bodyPr>
          <a:lstStyle/>
          <a:p>
            <a:pPr algn="ctr">
              <a:defRPr sz="950" b="0">
                <a:solidFill>
                  <a:srgbClr val="6B7280"/>
                </a:solidFill>
                <a:latin typeface="Calibri"/>
              </a:defRPr>
            </a:pPr>
            <a:r>
              <a:t>169</a:t>
            </a:r>
          </a:p>
        </p:txBody>
      </p:sp>
      <p:sp>
        <p:nvSpPr>
          <p:cNvPr id="151" name="TextBox 150"/>
          <p:cNvSpPr txBox="1"/>
          <p:nvPr/>
        </p:nvSpPr>
        <p:spPr>
          <a:xfrm>
            <a:off x="2404872" y="6016751"/>
            <a:ext cx="621792" cy="274320"/>
          </a:xfrm>
          <a:prstGeom prst="rect">
            <a:avLst/>
          </a:prstGeom>
          <a:noFill/>
        </p:spPr>
        <p:txBody>
          <a:bodyPr wrap="square">
            <a:spAutoFit/>
          </a:bodyPr>
          <a:lstStyle/>
          <a:p>
            <a:pPr algn="ctr">
              <a:defRPr sz="950" b="0">
                <a:solidFill>
                  <a:srgbClr val="059669"/>
                </a:solidFill>
                <a:latin typeface="Calibri"/>
              </a:defRPr>
            </a:pPr>
            <a:r>
              <a:t>169</a:t>
            </a:r>
          </a:p>
        </p:txBody>
      </p:sp>
      <p:sp>
        <p:nvSpPr>
          <p:cNvPr id="152" name="TextBox 151"/>
          <p:cNvSpPr txBox="1"/>
          <p:nvPr/>
        </p:nvSpPr>
        <p:spPr>
          <a:xfrm>
            <a:off x="3026664" y="6016751"/>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53" name="TextBox 152"/>
          <p:cNvSpPr txBox="1"/>
          <p:nvPr/>
        </p:nvSpPr>
        <p:spPr>
          <a:xfrm>
            <a:off x="3739896" y="6016751"/>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54" name="TextBox 153"/>
          <p:cNvSpPr txBox="1"/>
          <p:nvPr/>
        </p:nvSpPr>
        <p:spPr>
          <a:xfrm>
            <a:off x="4361688" y="6016751"/>
            <a:ext cx="960120" cy="274320"/>
          </a:xfrm>
          <a:prstGeom prst="rect">
            <a:avLst/>
          </a:prstGeom>
          <a:noFill/>
        </p:spPr>
        <p:txBody>
          <a:bodyPr wrap="square">
            <a:spAutoFit/>
          </a:bodyPr>
          <a:lstStyle/>
          <a:p>
            <a:pPr algn="ctr">
              <a:defRPr sz="950" b="0">
                <a:solidFill>
                  <a:srgbClr val="6D28D9"/>
                </a:solidFill>
                <a:latin typeface="Calibri"/>
              </a:defRPr>
            </a:pPr>
            <a:r>
              <a:t>$9.5M</a:t>
            </a:r>
          </a:p>
        </p:txBody>
      </p:sp>
      <p:sp>
        <p:nvSpPr>
          <p:cNvPr id="155" name="TextBox 154"/>
          <p:cNvSpPr txBox="1"/>
          <p:nvPr/>
        </p:nvSpPr>
        <p:spPr>
          <a:xfrm>
            <a:off x="5321807" y="6016751"/>
            <a:ext cx="804672" cy="274320"/>
          </a:xfrm>
          <a:prstGeom prst="rect">
            <a:avLst/>
          </a:prstGeom>
          <a:noFill/>
        </p:spPr>
        <p:txBody>
          <a:bodyPr wrap="square">
            <a:spAutoFit/>
          </a:bodyPr>
          <a:lstStyle/>
          <a:p>
            <a:pPr algn="ctr">
              <a:defRPr sz="950" b="0">
                <a:solidFill>
                  <a:srgbClr val="111827"/>
                </a:solidFill>
                <a:latin typeface="Calibri"/>
              </a:defRPr>
            </a:pPr>
            <a:r>
              <a:t>6259</a:t>
            </a:r>
          </a:p>
        </p:txBody>
      </p:sp>
      <p:sp>
        <p:nvSpPr>
          <p:cNvPr id="156" name="TextBox 155"/>
          <p:cNvSpPr txBox="1"/>
          <p:nvPr/>
        </p:nvSpPr>
        <p:spPr>
          <a:xfrm>
            <a:off x="6126479" y="6016751"/>
            <a:ext cx="731520" cy="274320"/>
          </a:xfrm>
          <a:prstGeom prst="rect">
            <a:avLst/>
          </a:prstGeom>
          <a:noFill/>
        </p:spPr>
        <p:txBody>
          <a:bodyPr wrap="square">
            <a:spAutoFit/>
          </a:bodyPr>
          <a:lstStyle/>
          <a:p>
            <a:pPr algn="ctr">
              <a:defRPr sz="950" b="0">
                <a:solidFill>
                  <a:srgbClr val="111827"/>
                </a:solidFill>
                <a:latin typeface="Calibri"/>
              </a:defRPr>
            </a:pPr>
            <a:r>
              <a:t>248</a:t>
            </a:r>
          </a:p>
        </p:txBody>
      </p:sp>
      <p:sp>
        <p:nvSpPr>
          <p:cNvPr id="157" name="TextBox 156"/>
          <p:cNvSpPr txBox="1"/>
          <p:nvPr/>
        </p:nvSpPr>
        <p:spPr>
          <a:xfrm>
            <a:off x="6857999" y="6016751"/>
            <a:ext cx="960120" cy="274320"/>
          </a:xfrm>
          <a:prstGeom prst="rect">
            <a:avLst/>
          </a:prstGeom>
          <a:noFill/>
        </p:spPr>
        <p:txBody>
          <a:bodyPr wrap="square">
            <a:spAutoFit/>
          </a:bodyPr>
          <a:lstStyle/>
          <a:p>
            <a:pPr algn="ctr">
              <a:defRPr sz="950" b="0">
                <a:solidFill>
                  <a:srgbClr val="6D28D9"/>
                </a:solidFill>
                <a:latin typeface="Calibri"/>
              </a:defRPr>
            </a:pPr>
            <a:r>
              <a:t>$7.1M</a:t>
            </a:r>
          </a:p>
        </p:txBody>
      </p:sp>
      <p:sp>
        <p:nvSpPr>
          <p:cNvPr id="158" name="TextBox 157"/>
          <p:cNvSpPr txBox="1"/>
          <p:nvPr/>
        </p:nvSpPr>
        <p:spPr>
          <a:xfrm>
            <a:off x="7818119" y="6016751"/>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59" name="TextBox 158"/>
          <p:cNvSpPr txBox="1"/>
          <p:nvPr/>
        </p:nvSpPr>
        <p:spPr>
          <a:xfrm>
            <a:off x="8622792" y="6016751"/>
            <a:ext cx="804672" cy="274320"/>
          </a:xfrm>
          <a:prstGeom prst="rect">
            <a:avLst/>
          </a:prstGeom>
          <a:noFill/>
        </p:spPr>
        <p:txBody>
          <a:bodyPr wrap="square">
            <a:spAutoFit/>
          </a:bodyPr>
          <a:lstStyle/>
          <a:p>
            <a:pPr algn="ctr">
              <a:defRPr sz="950" b="0">
                <a:solidFill>
                  <a:srgbClr val="DC2626"/>
                </a:solidFill>
                <a:latin typeface="Calibri"/>
              </a:defRPr>
            </a:pPr>
            <a:r>
              <a:t>$2.6M</a:t>
            </a:r>
          </a:p>
        </p:txBody>
      </p:sp>
      <p:sp>
        <p:nvSpPr>
          <p:cNvPr id="160" name="Rectangle 159"/>
          <p:cNvSpPr/>
          <p:nvPr/>
        </p:nvSpPr>
        <p:spPr>
          <a:xfrm>
            <a:off x="182880" y="6400799"/>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82880" y="6400799"/>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292608" y="6446519"/>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63" name="TextBox 162"/>
          <p:cNvSpPr txBox="1"/>
          <p:nvPr/>
        </p:nvSpPr>
        <p:spPr>
          <a:xfrm>
            <a:off x="292608" y="6601967"/>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64" name="Rectangle 163"/>
          <p:cNvSpPr/>
          <p:nvPr/>
        </p:nvSpPr>
        <p:spPr>
          <a:xfrm>
            <a:off x="3282696" y="6400799"/>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3282696" y="6400799"/>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3392424" y="6446519"/>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67" name="TextBox 166"/>
          <p:cNvSpPr txBox="1"/>
          <p:nvPr/>
        </p:nvSpPr>
        <p:spPr>
          <a:xfrm>
            <a:off x="3392424" y="6601967"/>
            <a:ext cx="2880360" cy="146304"/>
          </a:xfrm>
          <a:prstGeom prst="rect">
            <a:avLst/>
          </a:prstGeom>
          <a:noFill/>
        </p:spPr>
        <p:txBody>
          <a:bodyPr wrap="none">
            <a:spAutoFit/>
          </a:bodyPr>
          <a:lstStyle/>
          <a:p>
            <a:pPr algn="l">
              <a:defRPr sz="850" b="0">
                <a:solidFill>
                  <a:srgbClr val="FFFFFF"/>
                </a:solidFill>
                <a:latin typeface="Calibri"/>
              </a:defRPr>
            </a:pPr>
            <a:r>
              <a:t>274 portfolio  ·  260 active  ·  14 dormant</a:t>
            </a:r>
          </a:p>
        </p:txBody>
      </p:sp>
      <p:sp>
        <p:nvSpPr>
          <p:cNvPr id="168" name="Rectangle 167"/>
          <p:cNvSpPr/>
          <p:nvPr/>
        </p:nvSpPr>
        <p:spPr>
          <a:xfrm>
            <a:off x="6382512" y="6400799"/>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382512" y="6400799"/>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6492240" y="6446519"/>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71" name="TextBox 170"/>
          <p:cNvSpPr txBox="1"/>
          <p:nvPr/>
        </p:nvSpPr>
        <p:spPr>
          <a:xfrm>
            <a:off x="6492240" y="6601967"/>
            <a:ext cx="2880360" cy="146304"/>
          </a:xfrm>
          <a:prstGeom prst="rect">
            <a:avLst/>
          </a:prstGeom>
          <a:noFill/>
        </p:spPr>
        <p:txBody>
          <a:bodyPr wrap="none">
            <a:spAutoFit/>
          </a:bodyPr>
          <a:lstStyle/>
          <a:p>
            <a:pPr algn="l">
              <a:defRPr sz="850" b="0">
                <a:solidFill>
                  <a:srgbClr val="FFFFFF"/>
                </a:solidFill>
                <a:latin typeface="Calibri"/>
              </a:defRPr>
            </a:pPr>
            <a:r>
              <a:t>456 portfolio  ·  441 active  ·  97%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2026-06-01</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57" name="TextBox 56"/>
          <p:cNvSpPr txBox="1"/>
          <p:nvPr/>
        </p:nvSpPr>
        <p:spPr>
          <a:xfrm>
            <a:off x="6446520" y="535838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8" name="TextBox 57"/>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59" name="TextBox 58"/>
          <p:cNvSpPr txBox="1"/>
          <p:nvPr/>
        </p:nvSpPr>
        <p:spPr>
          <a:xfrm>
            <a:off x="6446520" y="553212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0" name="TextBox 59"/>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1" name="Rectangle 60"/>
          <p:cNvSpPr/>
          <p:nvPr/>
        </p:nvSpPr>
        <p:spPr>
          <a:xfrm>
            <a:off x="6263640" y="5888736"/>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63640" y="5888736"/>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9944" y="5925312"/>
            <a:ext cx="4251960" cy="219456"/>
          </a:xfrm>
          <a:prstGeom prst="rect">
            <a:avLst/>
          </a:prstGeom>
          <a:noFill/>
        </p:spPr>
        <p:txBody>
          <a:bodyPr wrap="none">
            <a:spAutoFit/>
          </a:bodyPr>
          <a:lstStyle/>
          <a:p>
            <a:pPr algn="l">
              <a:defRPr sz="1100" b="1">
                <a:solidFill>
                  <a:srgbClr val="111827"/>
                </a:solidFill>
                <a:latin typeface="Calibri"/>
              </a:defRPr>
            </a:pPr>
            <a:r>
              <a:t>Lydia Ramos</a:t>
            </a:r>
          </a:p>
        </p:txBody>
      </p:sp>
      <p:sp>
        <p:nvSpPr>
          <p:cNvPr id="64" name="TextBox 63"/>
          <p:cNvSpPr txBox="1"/>
          <p:nvPr/>
        </p:nvSpPr>
        <p:spPr>
          <a:xfrm>
            <a:off x="10652760" y="5943600"/>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65" name="TextBox 64"/>
          <p:cNvSpPr txBox="1"/>
          <p:nvPr/>
        </p:nvSpPr>
        <p:spPr>
          <a:xfrm>
            <a:off x="6409944" y="6126480"/>
            <a:ext cx="5349240" cy="146304"/>
          </a:xfrm>
          <a:prstGeom prst="rect">
            <a:avLst/>
          </a:prstGeom>
          <a:noFill/>
        </p:spPr>
        <p:txBody>
          <a:bodyPr wrap="none">
            <a:spAutoFit/>
          </a:bodyPr>
          <a:lstStyle/>
          <a:p>
            <a:pPr algn="l">
              <a:defRPr sz="900" b="0">
                <a:solidFill>
                  <a:srgbClr val="6B7280"/>
                </a:solidFill>
                <a:latin typeface="Calibri"/>
              </a:defRPr>
            </a:pPr>
            <a:r>
              <a:t>1 of 54 agencies dormant</a:t>
            </a:r>
          </a:p>
        </p:txBody>
      </p:sp>
      <p:sp>
        <p:nvSpPr>
          <p:cNvPr id="66" name="TextBox 65"/>
          <p:cNvSpPr txBox="1"/>
          <p:nvPr/>
        </p:nvSpPr>
        <p:spPr>
          <a:xfrm>
            <a:off x="6446520" y="6291072"/>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7" name="TextBox 66"/>
          <p:cNvSpPr txBox="1"/>
          <p:nvPr/>
        </p:nvSpPr>
        <p:spPr>
          <a:xfrm>
            <a:off x="6574536" y="6272784"/>
            <a:ext cx="5221224" cy="182880"/>
          </a:xfrm>
          <a:prstGeom prst="rect">
            <a:avLst/>
          </a:prstGeom>
          <a:noFill/>
        </p:spPr>
        <p:txBody>
          <a:bodyPr wrap="none">
            <a:spAutoFit/>
          </a:bodyPr>
          <a:lstStyle/>
          <a:p>
            <a:pPr algn="l">
              <a:defRPr sz="1000" b="0">
                <a:solidFill>
                  <a:srgbClr val="374151"/>
                </a:solidFill>
                <a:latin typeface="Calibri"/>
              </a:defRPr>
            </a:pPr>
            <a:r>
              <a:t>Wgb Raby Lp Dba Champion Risk &amp; Insurance Services</a:t>
            </a:r>
          </a:p>
        </p:txBody>
      </p:sp>
      <p:sp>
        <p:nvSpPr>
          <p:cNvPr id="68" name="TextBox 67"/>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+ 5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1–Jun 01</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$3.3M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$2.6M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$2.5M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$973K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$865K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$830K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$764K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Connect Insurance Agency, Inc.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$745K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2376</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2228</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1699</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1400</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1215</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1119</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1105</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1039</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737</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607</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574</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546</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501</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487</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Lydia R.</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Storrs Insurance Group, Inc.</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420</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407</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397</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389</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381</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364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1–Jun 01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$323K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$315K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$281K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$247K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$239K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$214K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Prestige International Insurance Group Inc Dba Prestige Trucking </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$199K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Lydia R.</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Insurancehub Leavitt Agency,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$198K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240 fleet binds  ·  $22.5M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1–Jun 01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Jun 01,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$4.8M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$3.6M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$1.8M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$860K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$737K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$706K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$698K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$686K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$652K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$592K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$589K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$567K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$551K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$523K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$512K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Koraima Pino</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Vantage Ins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$464K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$443K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$438K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$435K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$433K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$430K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$423K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71" name="Rectangle 170"/>
          <p:cNvSpPr/>
          <p:nvPr/>
        </p:nvSpPr>
        <p:spPr>
          <a:xfrm>
            <a:off x="6254496" y="389534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$397K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$386K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$375K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$364K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Francis Regala</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211" name="Rectangle 210"/>
          <p:cNvSpPr/>
          <p:nvPr/>
        </p:nvSpPr>
        <p:spPr>
          <a:xfrm>
            <a:off x="6254496" y="594360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Api_User Api_User</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Insurance4Truckers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$344K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