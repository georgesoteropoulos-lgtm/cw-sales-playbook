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49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19, 2026  |  49 days into Q2  |  42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$17.4M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$32.4M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176%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64%</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BEHIND</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27,634</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112%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$2.8M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26pp vs Q1 avg (39%)</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9973 vs Apr (17661)</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$24.2M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(70%)</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$7.7M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$2.6M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39%</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45,853</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$7.68M written  ·  $12.52M pace  ·  19/31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19)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19)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19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18-19</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5</a:t>
            </a:r>
          </a:p>
        </p:txBody>
      </p:sp>
      <p:sp>
        <p:nvSpPr>
          <p:cNvPr id="19" name="Rectangle 18"/>
          <p:cNvSpPr/>
          <p:nvPr/>
        </p:nvSpPr>
        <p:spPr>
          <a:xfrm>
            <a:off x="3145536"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10</a:t>
            </a:r>
          </a:p>
        </p:txBody>
      </p:sp>
      <p:sp>
        <p:nvSpPr>
          <p:cNvPr id="21" name="Rectangle 20"/>
          <p:cNvSpPr/>
          <p:nvPr/>
        </p:nvSpPr>
        <p:spPr>
          <a:xfrm>
            <a:off x="4242816"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a:t>
            </a:r>
          </a:p>
        </p:txBody>
      </p:sp>
      <p:sp>
        <p:nvSpPr>
          <p:cNvPr id="23" name="Rectangle 22"/>
          <p:cNvSpPr/>
          <p:nvPr/>
        </p:nvSpPr>
        <p:spPr>
          <a:xfrm>
            <a:off x="5340096" y="11338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25" name="Rectangle 24"/>
          <p:cNvSpPr/>
          <p:nvPr/>
        </p:nvSpPr>
        <p:spPr>
          <a:xfrm>
            <a:off x="6437376"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24</a:t>
            </a:r>
          </a:p>
        </p:txBody>
      </p:sp>
      <p:sp>
        <p:nvSpPr>
          <p:cNvPr id="27" name="Rectangle 26"/>
          <p:cNvSpPr/>
          <p:nvPr/>
        </p:nvSpPr>
        <p:spPr>
          <a:xfrm>
            <a:off x="7534655"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2</a:t>
            </a:r>
          </a:p>
        </p:txBody>
      </p:sp>
      <p:sp>
        <p:nvSpPr>
          <p:cNvPr id="29" name="Rectangle 28"/>
          <p:cNvSpPr/>
          <p:nvPr/>
        </p:nvSpPr>
        <p:spPr>
          <a:xfrm>
            <a:off x="8631935" y="11338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DC2626"/>
                </a:solidFill>
                <a:latin typeface="Calibri"/>
              </a:defRPr>
            </a:pPr>
            <a:r>
              <a:t>20%</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6</a:t>
            </a:r>
          </a:p>
        </p:txBody>
      </p:sp>
      <p:sp>
        <p:nvSpPr>
          <p:cNvPr id="36" name="Rectangle 35"/>
          <p:cNvSpPr/>
          <p:nvPr/>
        </p:nvSpPr>
        <p:spPr>
          <a:xfrm>
            <a:off x="314553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38" name="Rectangle 37"/>
          <p:cNvSpPr/>
          <p:nvPr/>
        </p:nvSpPr>
        <p:spPr>
          <a:xfrm>
            <a:off x="424281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6</a:t>
            </a:r>
          </a:p>
        </p:txBody>
      </p:sp>
      <p:sp>
        <p:nvSpPr>
          <p:cNvPr id="40" name="Rectangle 39"/>
          <p:cNvSpPr/>
          <p:nvPr/>
        </p:nvSpPr>
        <p:spPr>
          <a:xfrm>
            <a:off x="534009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5</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2</a:t>
            </a:r>
          </a:p>
        </p:txBody>
      </p:sp>
      <p:sp>
        <p:nvSpPr>
          <p:cNvPr id="46" name="Rectangle 45"/>
          <p:cNvSpPr/>
          <p:nvPr/>
        </p:nvSpPr>
        <p:spPr>
          <a:xfrm>
            <a:off x="8631935"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C2626"/>
                </a:solidFill>
                <a:latin typeface="Calibri"/>
              </a:defRPr>
            </a:pPr>
            <a:r>
              <a:t>10%</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5</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9</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9</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1</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0</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0</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7.8</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DC2626"/>
                </a:solidFill>
                <a:latin typeface="Calibri"/>
              </a:defRPr>
            </a:pPr>
            <a:r>
              <a:t>20%</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0</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0</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3.8</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C2626"/>
                </a:solidFill>
                <a:latin typeface="Calibri"/>
              </a:defRPr>
            </a:pPr>
            <a:r>
              <a:t>10%</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213</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224</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367</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19</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44</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386</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220</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44</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233</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72</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6</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82</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19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18-19</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11</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57%</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58" name="Rectangle 57"/>
          <p:cNvSpPr/>
          <p:nvPr/>
        </p:nvSpPr>
        <p:spPr>
          <a:xfrm>
            <a:off x="8631935"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9</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C2626"/>
                </a:solidFill>
                <a:latin typeface="Calibri"/>
              </a:defRPr>
            </a:pPr>
            <a:r>
              <a:t>69%</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81%</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8</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311</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33</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321</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7</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9</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142</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28.4</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57%</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162</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23</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172</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34.4</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C2626"/>
                </a:solidFill>
                <a:latin typeface="Calibri"/>
              </a:defRPr>
            </a:pPr>
            <a:r>
              <a:t>69%</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195</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8</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203</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40.6</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81%</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104</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5</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5</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109</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6325</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463</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$16.5M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$4.2M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3050</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310</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$9.1M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$1.0M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$2.6M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4850</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275</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$7.9M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$1.2M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$3.3M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30</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90%</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2896</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238</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$710K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1624</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117</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$3.8M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$118K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$1.4M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3545</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95</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$2.4M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$75K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$629K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46</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C2626"/>
                </a:solidFill>
                <a:latin typeface="Calibri"/>
              </a:defRPr>
            </a:pPr>
            <a:r>
              <a:t>7</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87%</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1390</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31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$289K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2457</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42</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$870K</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$191K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48</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813</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49</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$858K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$307K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2</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515</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19</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$673K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213</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213</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6688</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282</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$8.0M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$1.5M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$2.3M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184 portfolio  ·  181 active  ·  3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219 portfolio  ·  203 active  ·  16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403 portfolio  ·  384 active  ·  95%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2026-05-19</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3 of 30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Awesome Group Llc Dba Phoenix Services Ltd</a:t>
            </a:r>
          </a:p>
        </p:txBody>
      </p:sp>
      <p:sp>
        <p:nvSpPr>
          <p:cNvPr id="15" name="TextBox 14"/>
          <p:cNvSpPr txBox="1"/>
          <p:nvPr/>
        </p:nvSpPr>
        <p:spPr>
          <a:xfrm>
            <a:off x="457200" y="185623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6" name="TextBox 15"/>
          <p:cNvSpPr txBox="1"/>
          <p:nvPr/>
        </p:nvSpPr>
        <p:spPr>
          <a:xfrm>
            <a:off x="585216" y="1837943"/>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7" name="TextBox 16"/>
          <p:cNvSpPr txBox="1"/>
          <p:nvPr/>
        </p:nvSpPr>
        <p:spPr>
          <a:xfrm>
            <a:off x="457200" y="202996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8" name="TextBox 17"/>
          <p:cNvSpPr txBox="1"/>
          <p:nvPr/>
        </p:nvSpPr>
        <p:spPr>
          <a:xfrm>
            <a:off x="585216" y="2011679"/>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19" name="Rectangle 18"/>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22" name="TextBox 21"/>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23" name="TextBox 22"/>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48 agencies dormant</a:t>
            </a:r>
          </a:p>
        </p:txBody>
      </p:sp>
      <p:sp>
        <p:nvSpPr>
          <p:cNvPr id="24" name="TextBox 23"/>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5" name="TextBox 24"/>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6" name="Rectangle 25"/>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9" name="TextBox 28"/>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30" name="TextBox 29"/>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31" name="TextBox 30"/>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33" name="TextBox 32"/>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4" name="TextBox 33"/>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5" name="TextBox 34"/>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6" name="TextBox 35"/>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7" name="Rectangle 36"/>
          <p:cNvSpPr/>
          <p:nvPr/>
        </p:nvSpPr>
        <p:spPr>
          <a:xfrm>
            <a:off x="6263640" y="3154680"/>
            <a:ext cx="5623560" cy="1709928"/>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3154680"/>
            <a:ext cx="54864" cy="170992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40" name="TextBox 39"/>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7 dormant</a:t>
            </a:r>
          </a:p>
        </p:txBody>
      </p:sp>
      <p:sp>
        <p:nvSpPr>
          <p:cNvPr id="41" name="TextBox 40"/>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7 of 53 agencies dormant</a:t>
            </a:r>
          </a:p>
        </p:txBody>
      </p:sp>
      <p:sp>
        <p:nvSpPr>
          <p:cNvPr id="42" name="TextBox 41"/>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Allcom Insurance Corporation</a:t>
            </a:r>
          </a:p>
        </p:txBody>
      </p:sp>
      <p:sp>
        <p:nvSpPr>
          <p:cNvPr id="44" name="TextBox 43"/>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6" name="TextBox 45"/>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8" name="TextBox 47"/>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50" name="TextBox 49"/>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1" name="TextBox 50"/>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52" name="TextBox 51"/>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3" name="TextBox 52"/>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54" name="TextBox 53"/>
          <p:cNvSpPr txBox="1"/>
          <p:nvPr/>
        </p:nvSpPr>
        <p:spPr>
          <a:xfrm>
            <a:off x="6446520" y="459943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5" name="TextBox 54"/>
          <p:cNvSpPr txBox="1"/>
          <p:nvPr/>
        </p:nvSpPr>
        <p:spPr>
          <a:xfrm>
            <a:off x="6574536" y="4581144"/>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6" name="Rectangle 55"/>
          <p:cNvSpPr/>
          <p:nvPr/>
        </p:nvSpPr>
        <p:spPr>
          <a:xfrm>
            <a:off x="6263640" y="4956048"/>
            <a:ext cx="5623560" cy="841247"/>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63640" y="4956048"/>
            <a:ext cx="54864" cy="841247"/>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9944" y="4992624"/>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9" name="TextBox 58"/>
          <p:cNvSpPr txBox="1"/>
          <p:nvPr/>
        </p:nvSpPr>
        <p:spPr>
          <a:xfrm>
            <a:off x="10652760" y="5010912"/>
            <a:ext cx="1097280" cy="201168"/>
          </a:xfrm>
          <a:prstGeom prst="rect">
            <a:avLst/>
          </a:prstGeom>
          <a:noFill/>
        </p:spPr>
        <p:txBody>
          <a:bodyPr wrap="none">
            <a:spAutoFit/>
          </a:bodyPr>
          <a:lstStyle/>
          <a:p>
            <a:pPr algn="r">
              <a:defRPr sz="900" b="1">
                <a:solidFill>
                  <a:srgbClr val="D97706"/>
                </a:solidFill>
                <a:latin typeface="Calibri"/>
              </a:defRPr>
            </a:pPr>
            <a:r>
              <a:t>2 dormant</a:t>
            </a:r>
          </a:p>
        </p:txBody>
      </p:sp>
      <p:sp>
        <p:nvSpPr>
          <p:cNvPr id="60" name="TextBox 59"/>
          <p:cNvSpPr txBox="1"/>
          <p:nvPr/>
        </p:nvSpPr>
        <p:spPr>
          <a:xfrm>
            <a:off x="6409944" y="5193792"/>
            <a:ext cx="5349240" cy="146304"/>
          </a:xfrm>
          <a:prstGeom prst="rect">
            <a:avLst/>
          </a:prstGeom>
          <a:noFill/>
        </p:spPr>
        <p:txBody>
          <a:bodyPr wrap="none">
            <a:spAutoFit/>
          </a:bodyPr>
          <a:lstStyle/>
          <a:p>
            <a:pPr algn="l">
              <a:defRPr sz="900" b="0">
                <a:solidFill>
                  <a:srgbClr val="6B7280"/>
                </a:solidFill>
                <a:latin typeface="Calibri"/>
              </a:defRPr>
            </a:pPr>
            <a:r>
              <a:t>2 of 28 agencies dormant</a:t>
            </a:r>
          </a:p>
        </p:txBody>
      </p:sp>
      <p:sp>
        <p:nvSpPr>
          <p:cNvPr id="61" name="TextBox 60"/>
          <p:cNvSpPr txBox="1"/>
          <p:nvPr/>
        </p:nvSpPr>
        <p:spPr>
          <a:xfrm>
            <a:off x="6446520" y="5358384"/>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2" name="TextBox 61"/>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Safeguard Insurance Solutions Llc</a:t>
            </a:r>
          </a:p>
        </p:txBody>
      </p:sp>
      <p:sp>
        <p:nvSpPr>
          <p:cNvPr id="63" name="TextBox 62"/>
          <p:cNvSpPr txBox="1"/>
          <p:nvPr/>
        </p:nvSpPr>
        <p:spPr>
          <a:xfrm>
            <a:off x="6446520" y="5532120"/>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4" name="TextBox 63"/>
          <p:cNvSpPr txBox="1"/>
          <p:nvPr/>
        </p:nvSpPr>
        <p:spPr>
          <a:xfrm>
            <a:off x="6574536" y="5513832"/>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65" name="Rectangle 64"/>
          <p:cNvSpPr/>
          <p:nvPr/>
        </p:nvSpPr>
        <p:spPr>
          <a:xfrm>
            <a:off x="6263640" y="5888736"/>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263640" y="5888736"/>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409944" y="5925312"/>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8" name="TextBox 67"/>
          <p:cNvSpPr txBox="1"/>
          <p:nvPr/>
        </p:nvSpPr>
        <p:spPr>
          <a:xfrm>
            <a:off x="10652760" y="5943599"/>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9" name="TextBox 68"/>
          <p:cNvSpPr txBox="1"/>
          <p:nvPr/>
        </p:nvSpPr>
        <p:spPr>
          <a:xfrm>
            <a:off x="6409944" y="6126479"/>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70" name="TextBox 69"/>
          <p:cNvSpPr txBox="1"/>
          <p:nvPr/>
        </p:nvSpPr>
        <p:spPr>
          <a:xfrm>
            <a:off x="6446520" y="6291072"/>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1" name="TextBox 70"/>
          <p:cNvSpPr txBox="1"/>
          <p:nvPr/>
        </p:nvSpPr>
        <p:spPr>
          <a:xfrm>
            <a:off x="6574536" y="6272784"/>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72" name="TextBox 71"/>
          <p:cNvSpPr txBox="1"/>
          <p:nvPr/>
        </p:nvSpPr>
        <p:spPr>
          <a:xfrm>
            <a:off x="6446520" y="6464808"/>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3" name="TextBox 72"/>
          <p:cNvSpPr txBox="1"/>
          <p:nvPr/>
        </p:nvSpPr>
        <p:spPr>
          <a:xfrm>
            <a:off x="6574536" y="6446520"/>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74" name="TextBox 73"/>
          <p:cNvSpPr txBox="1"/>
          <p:nvPr/>
        </p:nvSpPr>
        <p:spPr>
          <a:xfrm>
            <a:off x="6446520" y="66385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5" name="TextBox 74"/>
          <p:cNvSpPr txBox="1"/>
          <p:nvPr/>
        </p:nvSpPr>
        <p:spPr>
          <a:xfrm>
            <a:off x="6574536" y="6620256"/>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76" name="TextBox 75"/>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19</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$2.8M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$2.5M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$2.2M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$2.0M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$1.2M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$1.0M</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$901K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$886K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$828K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$786K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$775K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$735K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$707K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$636K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1974</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1874</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1384</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1139</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1062</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916</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863</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836</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634</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500</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483</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448</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407</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391</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349</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343</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330</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314</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303</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276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19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The Dorfman Organization, Ltd.</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$308K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22</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$277K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$231K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$215K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Velocity Insurance Multiservices LLC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$203K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$187K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Aic Insurance Agency LLC</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$178K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5</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202 fleet binds  ·  $18.8M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19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19,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$3.8M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$2.7M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$978K</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$850K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$770K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$671K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$644K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$606K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$575K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$574K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$556K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$449K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$446K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$403K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$399K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$389K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$382K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$369K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$361K</a:t>
            </a:r>
          </a:p>
        </p:txBody>
      </p:sp>
      <p:sp>
        <p:nvSpPr>
          <p:cNvPr id="151" name="Rectangle 150"/>
          <p:cNvSpPr/>
          <p:nvPr/>
        </p:nvSpPr>
        <p:spPr>
          <a:xfrm>
            <a:off x="6254496" y="2871216"/>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$353K</a:t>
            </a:r>
          </a:p>
        </p:txBody>
      </p:sp>
      <p:sp>
        <p:nvSpPr>
          <p:cNvPr id="156" name="Rectangle 155"/>
          <p:cNvSpPr/>
          <p:nvPr/>
        </p:nvSpPr>
        <p:spPr>
          <a:xfrm>
            <a:off x="6254496" y="312724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$347K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$331K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$326K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$321K</a:t>
            </a:r>
          </a:p>
        </p:txBody>
      </p:sp>
      <p:sp>
        <p:nvSpPr>
          <p:cNvPr id="181" name="Rectangle 180"/>
          <p:cNvSpPr/>
          <p:nvPr/>
        </p:nvSpPr>
        <p:spPr>
          <a:xfrm>
            <a:off x="6254496"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Scarlette Mcbrayer</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$315K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$313K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$310K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Michelle Malkhasyan</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Truck Secure Insurance Services, I…</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$301K</a:t>
            </a:r>
          </a:p>
        </p:txBody>
      </p:sp>
      <p:sp>
        <p:nvSpPr>
          <p:cNvPr id="206" name="Rectangle 205"/>
          <p:cNvSpPr/>
          <p:nvPr/>
        </p:nvSpPr>
        <p:spPr>
          <a:xfrm>
            <a:off x="6254496" y="568756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$298K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Rubjot Singh</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Indi Insurance LLC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$296K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