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60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30, 2026  |  60 days into Q2  |  31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$21.2M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$32.1M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174%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90%</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33,369</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111%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$2.3M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42pp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15904 vs Apr (17465)</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5 vs Q1 final (4)</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$29.9M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$8.9M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(21%)</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$3.1M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(8%)</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45,705</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4</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$11.55M written  ·  $11.93M pace  ·  30/31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30)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30)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30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25-30</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2" name="Rectangle 31"/>
          <p:cNvSpPr/>
          <p:nvPr/>
        </p:nvSpPr>
        <p:spPr>
          <a:xfrm>
            <a:off x="97292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150%</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9" name="Rectangle 38"/>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41" name="Rectangle 40"/>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3" name="Rectangle 42"/>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5" name="Rectangle 44"/>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51" name="Rectangle 50"/>
          <p:cNvSpPr/>
          <p:nvPr/>
        </p:nvSpPr>
        <p:spPr>
          <a:xfrm>
            <a:off x="972921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96%</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7" name="Rectangle 56"/>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9" name="Rectangle 58"/>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61" name="Rectangle 60"/>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3" name="Rectangle 62"/>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5" name="Rectangle 64"/>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9" name="Rectangle 68"/>
          <p:cNvSpPr/>
          <p:nvPr/>
        </p:nvSpPr>
        <p:spPr>
          <a:xfrm>
            <a:off x="972921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30</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64</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8" name="Rectangle 87"/>
          <p:cNvSpPr/>
          <p:nvPr/>
        </p:nvSpPr>
        <p:spPr>
          <a:xfrm>
            <a:off x="97292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132%</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6" name="Rectangle 95"/>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8" name="Rectangle 97"/>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100" name="Rectangle 99"/>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2" name="Rectangle 101"/>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6" name="Rectangle 105"/>
          <p:cNvSpPr/>
          <p:nvPr/>
        </p:nvSpPr>
        <p:spPr>
          <a:xfrm>
            <a:off x="972921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5" name="Rectangle 114"/>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7" name="Rectangle 116"/>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9" name="Rectangle 118"/>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5" name="Rectangle 124"/>
          <p:cNvSpPr/>
          <p:nvPr/>
        </p:nvSpPr>
        <p:spPr>
          <a:xfrm>
            <a:off x="9729216"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41</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44%</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479</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101</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526</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60.1</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150%</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295</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25</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88</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320</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271</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284</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456</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56</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476</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52.7</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132%</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275</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52</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291</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148</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17</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165</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30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25-30</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20" name="Rectangle 19"/>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6" name="Rectangle 25"/>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2" name="Rectangle 31"/>
          <p:cNvSpPr/>
          <p:nvPr/>
        </p:nvSpPr>
        <p:spPr>
          <a:xfrm>
            <a:off x="972921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1" name="Rectangle 40"/>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3" name="Rectangle 42"/>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5" name="Rectangle 44"/>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9" name="Rectangle 48"/>
          <p:cNvSpPr/>
          <p:nvPr/>
        </p:nvSpPr>
        <p:spPr>
          <a:xfrm>
            <a:off x="972921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51" name="TextBox 50"/>
          <p:cNvSpPr txBox="1"/>
          <p:nvPr/>
        </p:nvSpPr>
        <p:spPr>
          <a:xfrm>
            <a:off x="10789920" y="1783079"/>
            <a:ext cx="822960" cy="475488"/>
          </a:xfrm>
          <a:prstGeom prst="rect">
            <a:avLst/>
          </a:prstGeom>
          <a:noFill/>
        </p:spPr>
        <p:txBody>
          <a:bodyPr wrap="square">
            <a:spAutoFit/>
          </a:bodyPr>
          <a:lstStyle/>
          <a:p>
            <a:pPr algn="ctr">
              <a:defRPr sz="1100" b="1">
                <a:solidFill>
                  <a:srgbClr val="D97706"/>
                </a:solidFill>
                <a:latin typeface="Calibri"/>
              </a:defRPr>
            </a:pPr>
            <a:r>
              <a:t>78%</a:t>
            </a:r>
          </a:p>
        </p:txBody>
      </p:sp>
      <p:sp>
        <p:nvSpPr>
          <p:cNvPr id="52" name="TextBox 51"/>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3" name="Rectangle 52"/>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9729216"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TextBox 66"/>
          <p:cNvSpPr txBox="1"/>
          <p:nvPr/>
        </p:nvSpPr>
        <p:spPr>
          <a:xfrm>
            <a:off x="10789920" y="2331720"/>
            <a:ext cx="822960" cy="475488"/>
          </a:xfrm>
          <a:prstGeom prst="rect">
            <a:avLst/>
          </a:prstGeom>
          <a:noFill/>
        </p:spPr>
        <p:txBody>
          <a:bodyPr wrap="square">
            <a:spAutoFit/>
          </a:bodyPr>
          <a:lstStyle/>
          <a:p>
            <a:pPr algn="ctr">
              <a:defRPr sz="1100" b="1">
                <a:solidFill>
                  <a:srgbClr val="D97706"/>
                </a:solidFill>
                <a:latin typeface="Calibri"/>
              </a:defRPr>
            </a:pPr>
            <a:r>
              <a:t>83%</a:t>
            </a:r>
          </a:p>
        </p:txBody>
      </p:sp>
      <p:sp>
        <p:nvSpPr>
          <p:cNvPr id="68" name="Rectangle 67"/>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0" name="Rectangle 69"/>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4" name="Rectangle 73"/>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6" name="Rectangle 75"/>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8" name="Rectangle 77"/>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0" name="Rectangle 79"/>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2" name="Rectangle 81"/>
          <p:cNvSpPr/>
          <p:nvPr/>
        </p:nvSpPr>
        <p:spPr>
          <a:xfrm>
            <a:off x="972921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50</a:t>
            </a:r>
          </a:p>
        </p:txBody>
      </p:sp>
      <p:sp>
        <p:nvSpPr>
          <p:cNvPr id="84" name="TextBox 83"/>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85" name="TextBox 84"/>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6" name="Rectangle 85"/>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8" name="Rectangle 87"/>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Rectangle 89"/>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2" name="Rectangle 91"/>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4" name="Rectangle 93"/>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6" name="Rectangle 95"/>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8" name="Rectangle 97"/>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0" name="Rectangle 99"/>
          <p:cNvSpPr/>
          <p:nvPr/>
        </p:nvSpPr>
        <p:spPr>
          <a:xfrm>
            <a:off x="9729216"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51</a:t>
            </a:r>
          </a:p>
        </p:txBody>
      </p:sp>
      <p:sp>
        <p:nvSpPr>
          <p:cNvPr id="102" name="TextBox 101"/>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46%</a:t>
            </a:r>
          </a:p>
        </p:txBody>
      </p:sp>
      <p:sp>
        <p:nvSpPr>
          <p:cNvPr id="103" name="Rectangle 102"/>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05" name="TextBox 104"/>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06" name="TextBox 105"/>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07" name="TextBox 106"/>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08" name="TextBox 107"/>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09" name="TextBox 108"/>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10" name="TextBox 109"/>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11" name="TextBox 110"/>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12" name="TextBox 111"/>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13" name="TextBox 112"/>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4" name="TextBox 113"/>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407</a:t>
            </a:r>
          </a:p>
        </p:txBody>
      </p:sp>
      <p:sp>
        <p:nvSpPr>
          <p:cNvPr id="115" name="TextBox 114"/>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6" name="TextBox 115"/>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43</a:t>
            </a:r>
          </a:p>
        </p:txBody>
      </p:sp>
      <p:sp>
        <p:nvSpPr>
          <p:cNvPr id="117" name="TextBox 116"/>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417</a:t>
            </a:r>
          </a:p>
        </p:txBody>
      </p:sp>
      <p:sp>
        <p:nvSpPr>
          <p:cNvPr id="118" name="TextBox 117"/>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46.9</a:t>
            </a:r>
          </a:p>
        </p:txBody>
      </p:sp>
      <p:sp>
        <p:nvSpPr>
          <p:cNvPr id="119" name="TextBox 118"/>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20" name="Rectangle 119"/>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22" name="TextBox 121"/>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3" name="TextBox 122"/>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221</a:t>
            </a:r>
          </a:p>
        </p:txBody>
      </p:sp>
      <p:sp>
        <p:nvSpPr>
          <p:cNvPr id="124" name="TextBox 123"/>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25" name="TextBox 124"/>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16</a:t>
            </a:r>
          </a:p>
        </p:txBody>
      </p:sp>
      <p:sp>
        <p:nvSpPr>
          <p:cNvPr id="126" name="TextBox 125"/>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233</a:t>
            </a:r>
          </a:p>
        </p:txBody>
      </p:sp>
      <p:sp>
        <p:nvSpPr>
          <p:cNvPr id="127" name="TextBox 126"/>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38.8</a:t>
            </a:r>
          </a:p>
        </p:txBody>
      </p:sp>
      <p:sp>
        <p:nvSpPr>
          <p:cNvPr id="128" name="TextBox 127"/>
          <p:cNvSpPr txBox="1"/>
          <p:nvPr/>
        </p:nvSpPr>
        <p:spPr>
          <a:xfrm>
            <a:off x="6583679" y="4535424"/>
            <a:ext cx="914400" cy="201168"/>
          </a:xfrm>
          <a:prstGeom prst="rect">
            <a:avLst/>
          </a:prstGeom>
          <a:noFill/>
        </p:spPr>
        <p:txBody>
          <a:bodyPr wrap="square">
            <a:spAutoFit/>
          </a:bodyPr>
          <a:lstStyle/>
          <a:p>
            <a:pPr algn="ctr">
              <a:defRPr sz="900" b="0">
                <a:solidFill>
                  <a:srgbClr val="D97706"/>
                </a:solidFill>
                <a:latin typeface="Calibri"/>
              </a:defRPr>
            </a:pPr>
            <a:r>
              <a:t>78%</a:t>
            </a:r>
          </a:p>
        </p:txBody>
      </p:sp>
      <p:sp>
        <p:nvSpPr>
          <p:cNvPr id="129" name="TextBox 128"/>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30" name="TextBox 129"/>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1" name="TextBox 130"/>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235</a:t>
            </a:r>
          </a:p>
        </p:txBody>
      </p:sp>
      <p:sp>
        <p:nvSpPr>
          <p:cNvPr id="132" name="TextBox 131"/>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33" name="TextBox 132"/>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40</a:t>
            </a:r>
          </a:p>
        </p:txBody>
      </p:sp>
      <p:sp>
        <p:nvSpPr>
          <p:cNvPr id="134" name="TextBox 133"/>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250</a:t>
            </a:r>
          </a:p>
        </p:txBody>
      </p:sp>
      <p:sp>
        <p:nvSpPr>
          <p:cNvPr id="135" name="TextBox 134"/>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41.7</a:t>
            </a:r>
          </a:p>
        </p:txBody>
      </p:sp>
      <p:sp>
        <p:nvSpPr>
          <p:cNvPr id="136" name="TextBox 135"/>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83%</a:t>
            </a:r>
          </a:p>
        </p:txBody>
      </p:sp>
      <p:sp>
        <p:nvSpPr>
          <p:cNvPr id="137" name="Rectangle 136"/>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39" name="TextBox 138"/>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0" name="TextBox 139"/>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270</a:t>
            </a:r>
          </a:p>
        </p:txBody>
      </p:sp>
      <p:sp>
        <p:nvSpPr>
          <p:cNvPr id="141" name="TextBox 140"/>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42" name="TextBox 141"/>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21</a:t>
            </a:r>
          </a:p>
        </p:txBody>
      </p:sp>
      <p:sp>
        <p:nvSpPr>
          <p:cNvPr id="143" name="TextBox 142"/>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284</a:t>
            </a:r>
          </a:p>
        </p:txBody>
      </p:sp>
      <p:sp>
        <p:nvSpPr>
          <p:cNvPr id="144" name="TextBox 143"/>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47.3</a:t>
            </a:r>
          </a:p>
        </p:txBody>
      </p:sp>
      <p:sp>
        <p:nvSpPr>
          <p:cNvPr id="145" name="TextBox 144"/>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46" name="TextBox 145"/>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47" name="TextBox 146"/>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8" name="TextBox 147"/>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49" name="TextBox 148"/>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50" name="TextBox 149"/>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51" name="TextBox 150"/>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212</a:t>
            </a:r>
          </a:p>
        </p:txBody>
      </p:sp>
      <p:sp>
        <p:nvSpPr>
          <p:cNvPr id="152" name="TextBox 151"/>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23.0</a:t>
            </a:r>
          </a:p>
        </p:txBody>
      </p:sp>
      <p:sp>
        <p:nvSpPr>
          <p:cNvPr id="153" name="TextBox 152"/>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7482</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535</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$4.6M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$4.3M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3624</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371</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$10.1M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$3.1M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5814</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336</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$9.8M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$3.9M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3573</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276</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$6.6M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$778K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$2.0M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1961</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126</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$4.0M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$1.6M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4349</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112</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$2.6M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$118K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$870K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1717</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40</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$1.5M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059669"/>
                </a:solidFill>
                <a:latin typeface="Calibri"/>
              </a:defRPr>
            </a:pPr>
            <a:r>
              <a:t>$38K</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$351K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2990</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51</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$1.3M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$273K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983</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55</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$114K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646</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27</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$917K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218</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218</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8099</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315</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$8.7M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$3.1M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207 active  ·  13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388 active  ·  97%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2026-05-30</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(4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57" name="TextBox 56"/>
          <p:cNvSpPr txBox="1"/>
          <p:nvPr/>
        </p:nvSpPr>
        <p:spPr>
          <a:xfrm>
            <a:off x="6446520" y="535838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8" name="TextBox 57"/>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59" name="TextBox 58"/>
          <p:cNvSpPr txBox="1"/>
          <p:nvPr/>
        </p:nvSpPr>
        <p:spPr>
          <a:xfrm>
            <a:off x="6446520" y="553212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0" name="TextBox 59"/>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1" name="TextBox 60"/>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+ 5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30</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$3.3M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$2.6M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$2.5M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$973K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$956K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$865K</a:t>
            </a:r>
          </a:p>
        </p:txBody>
      </p:sp>
      <p:sp>
        <p:nvSpPr>
          <p:cNvPr id="98" name="Rectangle 97"/>
          <p:cNvSpPr/>
          <p:nvPr/>
        </p:nvSpPr>
        <p:spPr>
          <a:xfrm>
            <a:off x="228600" y="5358383"/>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$830K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$764K</a:t>
            </a:r>
          </a:p>
        </p:txBody>
      </p:sp>
      <p:sp>
        <p:nvSpPr>
          <p:cNvPr id="108" name="Rectangle 107"/>
          <p:cNvSpPr/>
          <p:nvPr/>
        </p:nvSpPr>
        <p:spPr>
          <a:xfrm>
            <a:off x="228600"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Connect Insurance Agency, Inc.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$745K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2355</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2216</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1699</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1399</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1212</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1115</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1103</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1022</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737</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607</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566</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545</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499</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481</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407</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397</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389</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380</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360</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350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30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$323K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$315K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$281K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$247K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$239K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$214K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Prestige International Insurance Group Inc Dba Prestige Trucking </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$199K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235 fleet binds  ·  $22.0M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30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30,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$4.8M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$3.5M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$1.8M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$860K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$737K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$706K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$698K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$669K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$652K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$592K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$589K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$551K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$547K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$523K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$512K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Koraima Pino</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Vantage Ins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$464K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$443K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$438K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$435K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61" name="Rectangle 160"/>
          <p:cNvSpPr/>
          <p:nvPr/>
        </p:nvSpPr>
        <p:spPr>
          <a:xfrm>
            <a:off x="6254496" y="338328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$407K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$404K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$386K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$380K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$375K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96" name="Rectangle 195"/>
          <p:cNvSpPr/>
          <p:nvPr/>
        </p:nvSpPr>
        <p:spPr>
          <a:xfrm>
            <a:off x="6254496" y="517550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$364K</a:t>
            </a:r>
          </a:p>
        </p:txBody>
      </p:sp>
      <p:sp>
        <p:nvSpPr>
          <p:cNvPr id="206" name="Rectangle 205"/>
          <p:cNvSpPr/>
          <p:nvPr/>
        </p:nvSpPr>
        <p:spPr>
          <a:xfrm>
            <a:off x="6254496"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Francis Regala</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211" name="Rectangle 210"/>
          <p:cNvSpPr/>
          <p:nvPr/>
        </p:nvSpPr>
        <p:spPr>
          <a:xfrm>
            <a:off x="6254496" y="594360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Api_User Api_User</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Insurance4Truckers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$344K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