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6" r:id="rId18"/>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Gives every rep a single-page snapshot of where the team stands in Q2 before diving into individual performance.</a:t>
            </a:r>
          </a:p>
          <a:p/>
          <a:p>
            <a:r>
              <a:t>HOW THE NUMBERS ARE CALCULATED</a:t>
            </a:r>
          </a:p>
          <a:p>
            <a:r>
              <a:t>- Team Q2 GWP: sum of all bound premium written by BDMs + BDAs since Apr 1.</a:t>
            </a:r>
          </a:p>
          <a:p>
            <a:r>
              <a:t>- Q2 Projected Finish: (Q2 GWP to date ÷ days elapsed) × 91 days in the quarter, shown as "Proj." in the GWP tile label.</a:t>
            </a:r>
          </a:p>
          <a:p>
            <a:r>
              <a:t>- Q2 Submissions: total submission count from agencies assigned to Growth Team reps since Apr 1.</a:t>
            </a:r>
          </a:p>
          <a:p>
            <a:r>
              <a:t>- Activity Compliance Q2: each rep's weekly calls + meetings averaged across Q2 weeks vs. weekly goal (40 BDMs / 50 BDAs). This tile shows the team average.</a:t>
            </a:r>
          </a:p>
          <a:p>
            <a:r>
              <a:t>- Net New Agencies Appointed: count of "Activated Won" deals in the HubSpot NNA pipeline since Apr 1, BDMs only, filtered to deal names starting with "Appointed - " (true new appointments — excludes "Already appointed", "No deal received", "Duplicate", and pending paperwork tags). Goal = 4 per BDM per quarter. Green = at goal, amber = halfway, red = behind.</a:t>
            </a:r>
          </a:p>
          <a:p>
            <a:r>
              <a:t>- Badge pills: GWP and Submissions badges show pacing vs. Q1 Final total. Activity badge shows On Track / At Risk / Behind.</a:t>
            </a:r>
          </a:p>
          <a:p>
            <a:r>
              <a:t>- "vs last month" comparison: each box shows a delta vs the prior month (or Q1 avg for activity/agencies). Green ▲ = improving, red ▼ = declining.</a:t>
            </a:r>
          </a:p>
          <a:p>
            <a:r>
              <a:t>- Q2 MIX strip (purple): breaks the Q2 GWP figure into New Business / Renewals / Endorsements with each segment's $ amount and % of total. Shows what the team controls (gross production before cancellations).</a:t>
            </a:r>
          </a:p>
          <a:p>
            <a:r>
              <a:t>- Q1 Final strip (gray): Q1 full-quarter actuals for each metric — GWP, Activity %, Submissions, Agencies Appointed. Use as the benchmark for the four KPI tiles above.</a:t>
            </a:r>
          </a:p>
          <a:p>
            <a:r>
              <a:t>- MTD Pace: (GWP written this month to date ÷ days elapsed this month) × total days in the month.</a:t>
            </a:r>
          </a:p>
          <a:p>
            <a:r>
              <a:t>- YTD chart: total company Production per month (New + Renewal + Endorsement) for each month of 2026. GWP elsewhere on the deck is net of Cancellations and Reinstatements per Nyles's definition; Production is the gross "what was written" view used here.</a:t>
            </a:r>
          </a:p>
          <a:p/>
          <a:p>
            <a:r>
              <a:t>WHAT TO LOOK FOR</a:t>
            </a:r>
          </a:p>
          <a:p>
            <a:r>
              <a:t>- Read top to bottom: tiles answer "where are we vs goal?", Q2 MIX answers "what's driving GWP?", Q1 Final answers "how does this compare to last quarter?", MTD bar answers "are we on pace this month?", trend chart shows the trajectory.</a:t>
            </a:r>
          </a:p>
          <a:p>
            <a:r>
              <a:t>- If Q2 MIX shows endorsements running unusually high relative to NB, the headline GWP is leaning on existing-book activity, not new wins.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Shows where every BDM ranks in Q2. The goal is transparency — everyone sees the same numbers so there are no surprises.</a:t>
            </a:r>
          </a:p>
          <a:p/>
          <a:p>
            <a:r>
              <a:t>HOW THE NUMBERS ARE CALCULATED</a:t>
            </a:r>
          </a:p>
          <a:p>
            <a:r>
              <a:t>- Q2 GWP: total bound premium written by the rep since Apr 1.</a:t>
            </a:r>
          </a:p>
          <a:p>
            <a:r>
              <a:t>- Q2 Subs: total submission count (quotes + applications) for the rep since Apr 1.</a:t>
            </a:r>
          </a:p>
          <a:p>
            <a:r>
              <a:t>- OKR 1 — Subs YOY %: (Q2 subs to date this year ÷ same date range last year) − 1. Green = +100% or more vs. last year.</a:t>
            </a:r>
          </a:p>
          <a:p>
            <a:r>
              <a:t>- OKR 2 — Activity %: (avg weekly calls + meetings) ÷ 40 goal. Green = 100%+. Amber = 75–99%. Red = below 75%.</a:t>
            </a:r>
          </a:p>
          <a:p>
            <a:r>
              <a:t>- OKR 3 — Portfolio Active %: active agencies ÷ total assigned agencies. Active = any 2026 submission on the agency from any source (BDM, BDA, or direct). Green = 75%+.</a:t>
            </a:r>
          </a:p>
          <a:p>
            <a:r>
              <a:t>- OKR 4 — New Agencies: count of "Activated Won" deals in the HubSpot NNA pipeline since Apr 1, filtered to deal names starting with "Appointed - " (excludes "Already appointed", "No deal received", "Duplicate", and pending paperwork). Goal = 4 per quarter.</a:t>
            </a:r>
          </a:p>
          <a:p>
            <a:r>
              <a:t>- Composite Score /100: weighted blend of all 4 OKRs. Higher = stronger overall Q2 performance.</a:t>
            </a:r>
          </a:p>
          <a:p>
            <a:r>
              <a:t>- Trend arrow and Q1→Q2 score: composite score from Q1 final vs. Q2 current — shows whether a rep is improving or declining.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Same ranking view as BDMs but for BDAs. BDAs have a higher activity goal and do not have an OKR 4 (new agency activation).</a:t>
            </a:r>
          </a:p>
          <a:p/>
          <a:p>
            <a:r>
              <a:t>HOW THE NUMBERS ARE CALCULATED</a:t>
            </a:r>
          </a:p>
          <a:p>
            <a:r>
              <a:t>- Q2 GWP and Subs: same as BDMs — bound premium and submission count since Apr 1.</a:t>
            </a:r>
          </a:p>
          <a:p>
            <a:r>
              <a:t>- OKR 1 — Subs YOY %: (Q2 subs to date ÷ same period last year) − 1. BDA Q2 accountability started Apr 20 for Cabrera, Lewis, and Sloan — their YOY is calculated from that date forward.</a:t>
            </a:r>
          </a:p>
          <a:p>
            <a:r>
              <a:t>- OKR 2 — Activity %: (avg weekly calls + meetings) ÷ 50 goal. BDA goal is 50 acts/week, not 40.</a:t>
            </a:r>
          </a:p>
          <a:p>
            <a:r>
              <a:t>- OKR 3 — Portfolio Active %: same formula as BDMs. Active = any 2026 submission on the agency from any source. Green = 75%+ of assigned agencies active. BDA target = 70%.</a:t>
            </a:r>
          </a:p>
          <a:p>
            <a:r>
              <a:t>- Composite Score /100: weighted blend of OKRs 1–3 (no OKR 4 for BDAs).</a:t>
            </a:r>
          </a:p>
          <a:p>
            <a:r>
              <a:t>- Trend: Q1 composite score vs. Q2 current composite — arrow shows direction of change.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Shows week-by-week activity for every BDM. Activity is the leading indicator — GWP follows from consistent outreach.</a:t>
            </a:r>
          </a:p>
          <a:p/>
          <a:p>
            <a:r>
              <a:t>HOW THE NUMBERS ARE CALCULATED</a:t>
            </a:r>
          </a:p>
          <a:p>
            <a:r>
              <a:t>- Each cell = total calls + meetings logged in HubSpot for that rep in that calendar week. Emails are excluded.</a:t>
            </a:r>
          </a:p>
          <a:p>
            <a:r>
              <a:t>- Goal = 40 acts/week per BDM.</a:t>
            </a:r>
          </a:p>
          <a:p>
            <a:r>
              <a:t>- Green = 40+ (100% of goal). Amber = 30–39 (75–99%). Red = below 30 (&lt;75%). Gray = zero logged that week.</a:t>
            </a:r>
          </a:p>
          <a:p>
            <a:r>
              <a:t>- Avg % (right column): average of each week's (acts ÷ 40) across all Q2 weeks to date. This is the same number shown in OKR 2 on the rankings slide.</a:t>
            </a:r>
          </a:p>
          <a:p>
            <a:r>
              <a:t>- Summary table below the heatmap: Calls and Meetings are Q2 totals. Avg/Wk = total acts ÷ weeks elapsed. % to Goal = Avg/Wk ÷ 40.</a:t>
            </a:r>
          </a:p>
          <a:p>
            <a:r>
              <a:t>- BDA Activity Dashboard is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Same heatmap layout as BDMs but for BDAs. BDAs have a higher weekly goal because outbound activity is the core of their role.</a:t>
            </a:r>
          </a:p>
          <a:p/>
          <a:p>
            <a:r>
              <a:t>HOW THE NUMBERS ARE CALCULATED</a:t>
            </a:r>
          </a:p>
          <a:p>
            <a:r>
              <a:t>- Each cell = calls + meetings for that BDA in that week. Emails excluded.</a:t>
            </a:r>
          </a:p>
          <a:p>
            <a:r>
              <a:t>- Goal = 50 acts/week per BDA.</a:t>
            </a:r>
          </a:p>
          <a:p>
            <a:r>
              <a:t>- Green = 50+ (100%). Amber = 37–49 (75–99%). Red = below 37 (&lt;75%). Gray = zero logged.</a:t>
            </a:r>
          </a:p>
          <a:p>
            <a:r>
              <a:t>- Erika Cabrera, Portia Lewis, and Taylor Sloan: gray cells before the week of Apr 20 are expected — their Q2 activity accountability started that week, so earlier weeks are grayed out rather than shown as red.</a:t>
            </a:r>
          </a:p>
          <a:p>
            <a:r>
              <a:t>- Avg % (right column): average of each week's (acts ÷ 50) across the weeks they are accountable for. Matches OKR 2 on the rankings slide.</a:t>
            </a:r>
          </a:p>
          <a:p>
            <a:r>
              <a:t>- Summary table: totals are counted from Apr 1 for all BDAs, except Cabrera/Lewis/Sloan whose calls and meetings are counted from Apr 20.</a:t>
            </a:r>
          </a:p>
          <a:p>
            <a:r>
              <a:t>- BDM Activity Dashboard is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 RETAIL VERTICAL ONLY</a:t>
            </a:r>
          </a:p>
          <a:p>
            <a:r>
              <a:t>This slide is filtered to HubSpot companies tagged vertical = "Retailer". Networks, National Partners, and agencies with blank/missing vertical are excluded from BOTH per-rep counts AND the Unassigned row. Other team verticals are tracked on their own scoreboards.</a:t>
            </a:r>
          </a:p>
          <a:p/>
          <a:p>
            <a:r>
              <a:t>PURPOSE</a:t>
            </a:r>
          </a:p>
          <a:p>
            <a:r>
              <a:t>Shows how actively each rep is working their assigned RETAIL book. An agency assigned but not submitting in 2026 is a missed opportunity. Engagement % (OKR 3) is the headline number per rep.</a:t>
            </a:r>
          </a:p>
          <a:p/>
          <a:p>
            <a:r>
              <a:t>HOW THE NUMBERS ARE CALCULATED</a:t>
            </a:r>
          </a:p>
          <a:p>
            <a:r>
              <a:t>- Portfolio: Retail-vertical agencies assigned to the rep in HubSpot. BDMs matched via owner_2; BDAs via onboarding_success_agent. Non-Retail agencies in a rep's HS book are excluded from this count.</a:t>
            </a:r>
          </a:p>
          <a:p>
            <a:r>
              <a:t>- Active: agencies in the rep's Retail book with at least one 2026 submission from any source (including subs that came through a BDA below the BDM). Uses a normalized name match.</a:t>
            </a:r>
          </a:p>
          <a:p>
            <a:r>
              <a:t>- Dormant: Portfolio − Active. Specific names are listed on the next slide.</a:t>
            </a:r>
          </a:p>
          <a:p>
            <a:r>
              <a:t>- Eng. % (OKR 3): Active ÷ Portfolio × 100. Green = 75%+. Amber = 50–74%. Red = below 50%. BDM target = 100%. BDA target = 70%.</a:t>
            </a:r>
          </a:p>
          <a:p>
            <a:r>
              <a:t>- Q1 GWP: Q1 2026 gross written premium from this rep's Retail book.</a:t>
            </a:r>
          </a:p>
          <a:p>
            <a:r>
              <a:t>- Q2 Subs / Binds / GWP: Q2 2026 submission, bind, and bound-premium counts on the rep's Retail book.</a:t>
            </a:r>
          </a:p>
          <a:p>
            <a:r>
              <a:t>- Q2 Renew / Cancel: GWP from Q2 renewals / cancellations on the rep's Retail book. If cancels approach renewals, that rep has a retention problem.</a:t>
            </a:r>
          </a:p>
          <a:p>
            <a:r>
              <a:t>- Unassigned Retail row: Retail-vertical agencies that submitted in Q2 but do not map to any Growth Team rep's HubSpot book by name. Q1/Q2 GWP are summed directly from production data (dw_reader.policy_transaction_premium) — same source as per-rep GWP, filtered to producers not credited to any rep and matching the Retail-vertical 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Pairs with the Account Health slide. That slide gave you the dormant count; this slide names the specific agencies so reps can act — call them, get a sub in, or escalate. Driving these counts down is the path to OKR 3 (100% portfolio engagement for BDMs, 70% for BDAs).</a:t>
            </a:r>
          </a:p>
          <a:p/>
          <a:p>
            <a:r>
              <a:t>HOW THE LIST IS BUILT</a:t>
            </a:r>
          </a:p>
          <a:p>
            <a:r>
              <a:t>- Portfolio per rep is pulled from HubSpot live: BDMs via owner_2, BDAs via onboarding_success_agent.</a:t>
            </a:r>
          </a:p>
          <a:p>
            <a:r>
              <a:t>- An agency is DORMANT if it has zero 2026 submissions from any source (loose lens — same definition used on the Account Health slide). Name matching is normalized (strips LLC/Inc/Corp/DBA, punctuation, case) so 'Acme, LLC' and 'Acme LLC' match the same agency.</a:t>
            </a:r>
          </a:p>
          <a:p>
            <a:r>
              <a:t>- Card color stripe codes severity: red (5+ dormant), orange (3–4), amber (1–2), green (0).</a:t>
            </a:r>
          </a:p>
          <a:p>
            <a:r>
              <a:t>- Reps with zero dormant agencies aren't shown as empty cards — they're tallied in the footer 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OKR 4 — tracks BDM appointment performance and whether each newly-appointed agency is actually producing. Two signals: did we sign them this quarter, and have they started submitting?</a:t>
            </a:r>
          </a:p>
          <a:p/>
          <a:p>
            <a:r>
              <a:t>HOW THE NUMBERS ARE CALCULATED</a:t>
            </a:r>
          </a:p>
          <a:p>
            <a:r>
              <a:t>- Source: HubSpot deals in the Net New Agency (NNA) pipeline, stage = 'Activated Won', closedate &gt;= 2026-04-01.</a:t>
            </a:r>
          </a:p>
          <a:p>
            <a:r>
              <a:t>- Filter: only deals whose name starts with 'Appointed - ' count toward the OKR. BDMs use deal name prefixes to tag outcomes — we only credit true new appointments.</a:t>
            </a:r>
          </a:p>
          <a:p>
            <a:r>
              <a:t>  • 'Appointed - &lt;Agency&gt;'  → counts ✓</a:t>
            </a:r>
          </a:p>
          <a:p>
            <a:r>
              <a:t>  • 'Already appointed - &lt;Agency&gt;'  → excluded (relationship pre-existed)</a:t>
            </a:r>
          </a:p>
          <a:p>
            <a:r>
              <a:t>  • 'No deal received - &lt;Agency&gt;'  → excluded (paperwork never came back)</a:t>
            </a:r>
          </a:p>
          <a:p>
            <a:r>
              <a:t>  • 'Duplicate - &lt;Agency&gt;'  → excluded</a:t>
            </a:r>
          </a:p>
          <a:p>
            <a:r>
              <a:t>  • 'Deal created / pending paperwork - &lt;Agency&gt;'  → excluded (not closed yet)</a:t>
            </a:r>
          </a:p>
          <a:p>
            <a:r>
              <a:t>- Goal = 4 true new appointments per BDM per quarter (20 team total). Green = 4+. Amber = 2–3. Red = 0–1.</a:t>
            </a:r>
          </a:p>
          <a:p>
            <a:r>
              <a:t>- Each agency name on the slide has its 'Appointed -' prefix stripped and is suffixed with: (a) its Q2 submission count and (b) the bound GWP it has generated in Q2 (e.g., 'Acme Insurance — 3 Q2 subs · $145K GWP'). Zero Q2 subs = appointed but not producing yet (reactivation outreach). $0 GWP with subs &gt; 0 = quoting but not binding (pricing or quality issue).</a:t>
            </a:r>
          </a:p>
          <a:p>
            <a:r>
              <a:t>- '+X in pipeline' under the count = NNA deals still in earlier stages (Identified, Outreach, Discovery, Decision Maker Bought-In, Education, Intent to Partner, Onboarding/Setup). Near-term appointment pipeline.</a:t>
            </a:r>
          </a:p>
          <a:p>
            <a:r>
              <a:t>- Q1 reference is in the appendix.</a:t>
            </a:r>
          </a:p>
          <a:p>
            <a:r>
              <a:t>- We are 59 days into a 91-day quarter.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Shows which agencies are generating the most Q2 revenue (left) and the most activity (right). High GWP = biggest accounts. High subs = most active relationships. Comparing the two lists shows where volume and quality align vs. diverge — agencies on both lists are the team's anchor accounts.</a:t>
            </a:r>
          </a:p>
          <a:p/>
          <a:p>
            <a:r>
              <a:t>HOW THE NUMBERS ARE CALCULATED</a:t>
            </a:r>
          </a:p>
          <a:p>
            <a:r>
              <a:t>- Q2 GWP by Agency (left): sum of bound policy premiums from each agency since Apr 1, 2026. Only policies with a recorded premium counted.</a:t>
            </a:r>
          </a:p>
          <a:p>
            <a:r>
              <a:t>- Q2 Subs by Agency (right): total submission count per agency since Apr 1, 2026. Includes all submissions regardless of quote/bind status.</a:t>
            </a:r>
          </a:p>
          <a:p>
            <a:r>
              <a:t>- Rep shown = the rep who owns that agency in Metabase/HubSpot (last recorded if multiple).</a:t>
            </a:r>
          </a:p>
          <a:p>
            <a:r>
              <a:t>- Top 20 each, ranked largest to smallest. Agencies appearing in BOTH lists are flagged as anchor accounts (high volume AND high revenue).</a:t>
            </a:r>
          </a:p>
          <a:p/>
          <a:p>
            <a:r>
              <a:t>NEW BADGE</a:t>
            </a:r>
          </a:p>
          <a:p>
            <a:r>
              <a:t>- A green 'NEW' pill appears next to the rank when the agency was NOT in last week's emailed deck on this list. Snapshot is read from C:\Users\george.soteropoulos\top_lists_snapshot.json (refreshed automatically after every build).</a:t>
            </a:r>
          </a:p>
          <a:p>
            <a:r>
              <a:t>- First-time-ever build: no badges (no prior snapshot exists). Starting next Monday's auto-email, badges will appear for genuine new entrants.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Closes the deck with the highest-value Q2 wins. Fleet = 4+ power units — these multi-unit accounts move the GWP needle in a way single-unit binds don't. Use this as the finishing slide in QBR / leadership reviews.</a:t>
            </a:r>
          </a:p>
          <a:p/>
          <a:p>
            <a:r>
              <a:t>HOW THE NUMBERS ARE CALCULATED</a:t>
            </a:r>
          </a:p>
          <a:p>
            <a:r>
              <a:t>- Each row = a single bound fleet submission with premium &gt; $0, written since Apr 1, 2026.</a:t>
            </a:r>
          </a:p>
          <a:p>
            <a:r>
              <a:t>- Premium = GWP as recorded in the cw_rep.transportation_submissions database.</a:t>
            </a:r>
          </a:p>
          <a:p>
            <a:r>
              <a:t>- Ranked largest to smallest. Up to 20 shown.</a:t>
            </a:r>
          </a:p>
          <a:p>
            <a:r>
              <a:t>- Units = number of power units on the submission (num_power_units field).</a:t>
            </a:r>
          </a:p>
          <a:p>
            <a:r>
              <a:t>- Rep = the BDM or BDA who owns the agency (HubSpot ownership at sub time).</a:t>
            </a:r>
          </a:p>
          <a:p/>
          <a:p>
            <a:r>
              <a:t>SLIDE ORDER</a:t>
            </a:r>
          </a:p>
          <a:p>
            <a:r>
              <a:t>- This slide is intentionally placed LAST in the deck — after the Top 20 Agencies and Top 40 Individual Agents — so the read finishes on the team's biggest wins.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Names the individual insurance agents (producers) writing the most bound premium with Cover Whale in Q2. These are the specific people — not just agencies — your reps should know by name and prioritize for relationship-building. The agency list on the prior slide tells you which BROKERAGES matter; this slide tells you which PEOPLE.</a:t>
            </a:r>
          </a:p>
          <a:p/>
          <a:p>
            <a:r>
              <a:t>HOW THE NUMBERS ARE CALCULATED</a:t>
            </a:r>
          </a:p>
          <a:p>
            <a:r>
              <a:t>- Agent: current_producer_contact_first_name + current_producer_contact_last_name from dw_reader.policy_transaction_premium (same source as the Metabase Bound Business Report V2, card 31771).</a:t>
            </a:r>
          </a:p>
          <a:p>
            <a:r>
              <a:t>- Agency: the brokerage they work for (producer_name field).</a:t>
            </a:r>
          </a:p>
          <a:p>
            <a:r>
              <a:t>- Q2 GWP: total gross_written_premium_amount on transactions with transaction_effective_date &gt;= 2026-04-01.</a:t>
            </a:r>
          </a:p>
          <a:p>
            <a:r>
              <a:t>- Two side-by-side columns: ranks 1–20 left, 21–40 right.</a:t>
            </a:r>
          </a:p>
          <a:p/>
          <a:p>
            <a:r>
              <a:t>NEW BADGE</a:t>
            </a:r>
          </a:p>
          <a:p>
            <a:r>
              <a:t>- A green 'NEW' pill appears next to the rank when this agent (matched by name + agency) was NOT in last week's emailed deck's top 40. Snapshot stored at C:\Users\george.soteropoulos\top_lists_snapshot.json and refreshed every build.</a:t>
            </a:r>
          </a:p>
          <a:p>
            <a:r>
              <a:t>- A producer appearing here who also shows up on the prior slide as a 'NEW' agency is a likely single-account driver — worth investigating the deal behind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Q2 Team Scoreboard</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As of May 29, 2026  |  59 days into Q2  |  32 days remaining</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29, 2026</a:t>
            </a:r>
          </a:p>
        </p:txBody>
      </p:sp>
      <p:sp>
        <p:nvSpPr>
          <p:cNvPr id="6" name="Rounded Rectangle 5"/>
          <p:cNvSpPr/>
          <p:nvPr/>
        </p:nvSpPr>
        <p:spPr>
          <a:xfrm>
            <a:off x="457200"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664208"/>
            <a:ext cx="2596896" cy="594360"/>
          </a:xfrm>
          <a:prstGeom prst="rect">
            <a:avLst/>
          </a:prstGeom>
          <a:noFill/>
        </p:spPr>
        <p:txBody>
          <a:bodyPr wrap="square">
            <a:spAutoFit/>
          </a:bodyPr>
          <a:lstStyle/>
          <a:p>
            <a:pPr algn="ctr">
              <a:defRPr sz="2600" b="1">
                <a:solidFill>
                  <a:srgbClr val="111827"/>
                </a:solidFill>
                <a:latin typeface="Calibri"/>
              </a:defRPr>
            </a:pPr>
            <a:r>
              <a:t>$20.7M</a:t>
            </a:r>
          </a:p>
        </p:txBody>
      </p:sp>
      <p:sp>
        <p:nvSpPr>
          <p:cNvPr id="8" name="TextBox 7"/>
          <p:cNvSpPr txBox="1"/>
          <p:nvPr/>
        </p:nvSpPr>
        <p:spPr>
          <a:xfrm>
            <a:off x="530352" y="2286000"/>
            <a:ext cx="2596896" cy="274320"/>
          </a:xfrm>
          <a:prstGeom prst="rect">
            <a:avLst/>
          </a:prstGeom>
          <a:noFill/>
        </p:spPr>
        <p:txBody>
          <a:bodyPr wrap="square">
            <a:spAutoFit/>
          </a:bodyPr>
          <a:lstStyle/>
          <a:p>
            <a:pPr algn="ctr">
              <a:defRPr sz="950" b="0">
                <a:solidFill>
                  <a:srgbClr val="6B7280"/>
                </a:solidFill>
                <a:latin typeface="Calibri"/>
              </a:defRPr>
            </a:pPr>
            <a:r>
              <a:t>Team GWP Q2 YTD  |  Proj. $32.0M</a:t>
            </a:r>
          </a:p>
        </p:txBody>
      </p:sp>
      <p:sp>
        <p:nvSpPr>
          <p:cNvPr id="9" name="Rectangle 8"/>
          <p:cNvSpPr/>
          <p:nvPr/>
        </p:nvSpPr>
        <p:spPr>
          <a:xfrm>
            <a:off x="685800" y="2651760"/>
            <a:ext cx="2286000"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70048"/>
            <a:ext cx="2286000" cy="256032"/>
          </a:xfrm>
          <a:prstGeom prst="rect">
            <a:avLst/>
          </a:prstGeom>
          <a:noFill/>
        </p:spPr>
        <p:txBody>
          <a:bodyPr wrap="square">
            <a:spAutoFit/>
          </a:bodyPr>
          <a:lstStyle/>
          <a:p>
            <a:pPr algn="ctr">
              <a:defRPr sz="950" b="1">
                <a:solidFill>
                  <a:srgbClr val="FFFFFF"/>
                </a:solidFill>
                <a:latin typeface="Calibri"/>
              </a:defRPr>
            </a:pPr>
            <a:r>
              <a:t>Pacing 173% of Q1 Final</a:t>
            </a:r>
          </a:p>
        </p:txBody>
      </p:sp>
      <p:sp>
        <p:nvSpPr>
          <p:cNvPr id="11" name="Rounded Rectangle 10"/>
          <p:cNvSpPr/>
          <p:nvPr/>
        </p:nvSpPr>
        <p:spPr>
          <a:xfrm>
            <a:off x="3301898"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75050" y="1664208"/>
            <a:ext cx="2596896" cy="594360"/>
          </a:xfrm>
          <a:prstGeom prst="rect">
            <a:avLst/>
          </a:prstGeom>
          <a:noFill/>
        </p:spPr>
        <p:txBody>
          <a:bodyPr wrap="square">
            <a:spAutoFit/>
          </a:bodyPr>
          <a:lstStyle/>
          <a:p>
            <a:pPr algn="ctr">
              <a:defRPr sz="2600" b="1">
                <a:solidFill>
                  <a:srgbClr val="111827"/>
                </a:solidFill>
                <a:latin typeface="Calibri"/>
              </a:defRPr>
            </a:pPr>
            <a:r>
              <a:t>89%</a:t>
            </a:r>
          </a:p>
        </p:txBody>
      </p:sp>
      <p:sp>
        <p:nvSpPr>
          <p:cNvPr id="13" name="TextBox 12"/>
          <p:cNvSpPr txBox="1"/>
          <p:nvPr/>
        </p:nvSpPr>
        <p:spPr>
          <a:xfrm>
            <a:off x="3375050" y="2286000"/>
            <a:ext cx="2596896" cy="274320"/>
          </a:xfrm>
          <a:prstGeom prst="rect">
            <a:avLst/>
          </a:prstGeom>
          <a:noFill/>
        </p:spPr>
        <p:txBody>
          <a:bodyPr wrap="square">
            <a:spAutoFit/>
          </a:bodyPr>
          <a:lstStyle/>
          <a:p>
            <a:pPr algn="ctr">
              <a:defRPr sz="950" b="0">
                <a:solidFill>
                  <a:srgbClr val="6B7280"/>
                </a:solidFill>
                <a:latin typeface="Calibri"/>
              </a:defRPr>
            </a:pPr>
            <a:r>
              <a:t>Activity Compliance Q2</a:t>
            </a:r>
          </a:p>
        </p:txBody>
      </p:sp>
      <p:sp>
        <p:nvSpPr>
          <p:cNvPr id="14" name="Rectangle 13"/>
          <p:cNvSpPr/>
          <p:nvPr/>
        </p:nvSpPr>
        <p:spPr>
          <a:xfrm>
            <a:off x="3530498" y="2651760"/>
            <a:ext cx="2286000"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8" y="2670048"/>
            <a:ext cx="2286000" cy="256032"/>
          </a:xfrm>
          <a:prstGeom prst="rect">
            <a:avLst/>
          </a:prstGeom>
          <a:noFill/>
        </p:spPr>
        <p:txBody>
          <a:bodyPr wrap="square">
            <a:spAutoFit/>
          </a:bodyPr>
          <a:lstStyle/>
          <a:p>
            <a:pPr algn="ctr">
              <a:defRPr sz="950" b="1">
                <a:solidFill>
                  <a:srgbClr val="FFFFFF"/>
                </a:solidFill>
                <a:latin typeface="Calibri"/>
              </a:defRPr>
            </a:pPr>
            <a:r>
              <a:t>AT RISK</a:t>
            </a:r>
          </a:p>
        </p:txBody>
      </p:sp>
      <p:sp>
        <p:nvSpPr>
          <p:cNvPr id="16" name="Rounded Rectangle 15"/>
          <p:cNvSpPr/>
          <p:nvPr/>
        </p:nvSpPr>
        <p:spPr>
          <a:xfrm>
            <a:off x="6146596"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9748" y="1664208"/>
            <a:ext cx="2596896" cy="594360"/>
          </a:xfrm>
          <a:prstGeom prst="rect">
            <a:avLst/>
          </a:prstGeom>
          <a:noFill/>
        </p:spPr>
        <p:txBody>
          <a:bodyPr wrap="square">
            <a:spAutoFit/>
          </a:bodyPr>
          <a:lstStyle/>
          <a:p>
            <a:pPr algn="ctr">
              <a:defRPr sz="2600" b="1">
                <a:solidFill>
                  <a:srgbClr val="111827"/>
                </a:solidFill>
                <a:latin typeface="Calibri"/>
              </a:defRPr>
            </a:pPr>
            <a:r>
              <a:t>32,765</a:t>
            </a:r>
          </a:p>
        </p:txBody>
      </p:sp>
      <p:sp>
        <p:nvSpPr>
          <p:cNvPr id="18" name="TextBox 17"/>
          <p:cNvSpPr txBox="1"/>
          <p:nvPr/>
        </p:nvSpPr>
        <p:spPr>
          <a:xfrm>
            <a:off x="6219748" y="2286000"/>
            <a:ext cx="2596896" cy="274320"/>
          </a:xfrm>
          <a:prstGeom prst="rect">
            <a:avLst/>
          </a:prstGeom>
          <a:noFill/>
        </p:spPr>
        <p:txBody>
          <a:bodyPr wrap="square">
            <a:spAutoFit/>
          </a:bodyPr>
          <a:lstStyle/>
          <a:p>
            <a:pPr algn="ctr">
              <a:defRPr sz="950" b="0">
                <a:solidFill>
                  <a:srgbClr val="6B7280"/>
                </a:solidFill>
                <a:latin typeface="Calibri"/>
              </a:defRPr>
            </a:pPr>
            <a:r>
              <a:t>Submissions Q2 YTD</a:t>
            </a:r>
          </a:p>
        </p:txBody>
      </p:sp>
      <p:sp>
        <p:nvSpPr>
          <p:cNvPr id="19" name="Rectangle 18"/>
          <p:cNvSpPr/>
          <p:nvPr/>
        </p:nvSpPr>
        <p:spPr>
          <a:xfrm>
            <a:off x="6375196" y="2651760"/>
            <a:ext cx="2286000"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5196" y="2670048"/>
            <a:ext cx="2286000" cy="256032"/>
          </a:xfrm>
          <a:prstGeom prst="rect">
            <a:avLst/>
          </a:prstGeom>
          <a:noFill/>
        </p:spPr>
        <p:txBody>
          <a:bodyPr wrap="square">
            <a:spAutoFit/>
          </a:bodyPr>
          <a:lstStyle/>
          <a:p>
            <a:pPr algn="ctr">
              <a:defRPr sz="950" b="1">
                <a:solidFill>
                  <a:srgbClr val="FFFFFF"/>
                </a:solidFill>
                <a:latin typeface="Calibri"/>
              </a:defRPr>
            </a:pPr>
            <a:r>
              <a:t>Pacing 111% of Q1 Final</a:t>
            </a:r>
          </a:p>
        </p:txBody>
      </p:sp>
      <p:sp>
        <p:nvSpPr>
          <p:cNvPr id="21" name="Rounded Rectangle 20"/>
          <p:cNvSpPr/>
          <p:nvPr/>
        </p:nvSpPr>
        <p:spPr>
          <a:xfrm>
            <a:off x="8991295"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64447" y="1664208"/>
            <a:ext cx="2596896" cy="594360"/>
          </a:xfrm>
          <a:prstGeom prst="rect">
            <a:avLst/>
          </a:prstGeom>
          <a:noFill/>
        </p:spPr>
        <p:txBody>
          <a:bodyPr wrap="square">
            <a:spAutoFit/>
          </a:bodyPr>
          <a:lstStyle/>
          <a:p>
            <a:pPr algn="ctr">
              <a:defRPr sz="2600" b="1">
                <a:solidFill>
                  <a:srgbClr val="111827"/>
                </a:solidFill>
                <a:latin typeface="Calibri"/>
              </a:defRPr>
            </a:pPr>
            <a:r>
              <a:t>9</a:t>
            </a:r>
          </a:p>
        </p:txBody>
      </p:sp>
      <p:sp>
        <p:nvSpPr>
          <p:cNvPr id="23" name="TextBox 22"/>
          <p:cNvSpPr txBox="1"/>
          <p:nvPr/>
        </p:nvSpPr>
        <p:spPr>
          <a:xfrm>
            <a:off x="9064447" y="2286000"/>
            <a:ext cx="2596896" cy="274320"/>
          </a:xfrm>
          <a:prstGeom prst="rect">
            <a:avLst/>
          </a:prstGeom>
          <a:noFill/>
        </p:spPr>
        <p:txBody>
          <a:bodyPr wrap="square">
            <a:spAutoFit/>
          </a:bodyPr>
          <a:lstStyle/>
          <a:p>
            <a:pPr algn="ctr">
              <a:defRPr sz="950" b="0">
                <a:solidFill>
                  <a:srgbClr val="6B7280"/>
                </a:solidFill>
                <a:latin typeface="Calibri"/>
              </a:defRPr>
            </a:pPr>
            <a:r>
              <a:t>Net New Agencies Appointed</a:t>
            </a:r>
          </a:p>
        </p:txBody>
      </p:sp>
      <p:sp>
        <p:nvSpPr>
          <p:cNvPr id="24" name="Rectangle 23"/>
          <p:cNvSpPr/>
          <p:nvPr/>
        </p:nvSpPr>
        <p:spPr>
          <a:xfrm>
            <a:off x="9219895" y="2651760"/>
            <a:ext cx="2286000" cy="2926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19895" y="2670048"/>
            <a:ext cx="2286000" cy="256032"/>
          </a:xfrm>
          <a:prstGeom prst="rect">
            <a:avLst/>
          </a:prstGeom>
          <a:noFill/>
        </p:spPr>
        <p:txBody>
          <a:bodyPr wrap="square">
            <a:spAutoFit/>
          </a:bodyPr>
          <a:lstStyle/>
          <a:p>
            <a:pPr algn="ctr">
              <a:defRPr sz="950" b="1">
                <a:solidFill>
                  <a:srgbClr val="FFFFFF"/>
                </a:solidFill>
                <a:latin typeface="Calibri"/>
              </a:defRPr>
            </a:pPr>
            <a:r>
              <a:t>38% of Goal  |  9 / 24 target</a:t>
            </a:r>
          </a:p>
        </p:txBody>
      </p:sp>
      <p:sp>
        <p:nvSpPr>
          <p:cNvPr id="26" name="TextBox 25"/>
          <p:cNvSpPr txBox="1"/>
          <p:nvPr/>
        </p:nvSpPr>
        <p:spPr>
          <a:xfrm>
            <a:off x="530352" y="3255264"/>
            <a:ext cx="2596896" cy="201168"/>
          </a:xfrm>
          <a:prstGeom prst="rect">
            <a:avLst/>
          </a:prstGeom>
          <a:noFill/>
        </p:spPr>
        <p:txBody>
          <a:bodyPr wrap="square">
            <a:spAutoFit/>
          </a:bodyPr>
          <a:lstStyle/>
          <a:p>
            <a:pPr algn="ctr">
              <a:defRPr sz="900" b="1">
                <a:solidFill>
                  <a:srgbClr val="059669"/>
                </a:solidFill>
                <a:latin typeface="Calibri"/>
              </a:defRPr>
            </a:pPr>
            <a:r>
              <a:t>▲ $2.2M vs Apr pace</a:t>
            </a:r>
          </a:p>
        </p:txBody>
      </p:sp>
      <p:sp>
        <p:nvSpPr>
          <p:cNvPr id="27" name="TextBox 26"/>
          <p:cNvSpPr txBox="1"/>
          <p:nvPr/>
        </p:nvSpPr>
        <p:spPr>
          <a:xfrm>
            <a:off x="3375050" y="3255264"/>
            <a:ext cx="2596896" cy="201168"/>
          </a:xfrm>
          <a:prstGeom prst="rect">
            <a:avLst/>
          </a:prstGeom>
          <a:noFill/>
        </p:spPr>
        <p:txBody>
          <a:bodyPr wrap="square">
            <a:spAutoFit/>
          </a:bodyPr>
          <a:lstStyle/>
          <a:p>
            <a:pPr algn="ctr">
              <a:defRPr sz="900" b="1">
                <a:solidFill>
                  <a:srgbClr val="059669"/>
                </a:solidFill>
                <a:latin typeface="Calibri"/>
              </a:defRPr>
            </a:pPr>
            <a:r>
              <a:t>▲ 41pp vs Q1 avg (48%)</a:t>
            </a:r>
          </a:p>
        </p:txBody>
      </p:sp>
      <p:sp>
        <p:nvSpPr>
          <p:cNvPr id="28" name="TextBox 27"/>
          <p:cNvSpPr txBox="1"/>
          <p:nvPr/>
        </p:nvSpPr>
        <p:spPr>
          <a:xfrm>
            <a:off x="6219748" y="3255264"/>
            <a:ext cx="2596896" cy="201168"/>
          </a:xfrm>
          <a:prstGeom prst="rect">
            <a:avLst/>
          </a:prstGeom>
          <a:noFill/>
        </p:spPr>
        <p:txBody>
          <a:bodyPr wrap="square">
            <a:spAutoFit/>
          </a:bodyPr>
          <a:lstStyle/>
          <a:p>
            <a:pPr algn="ctr">
              <a:defRPr sz="900" b="1">
                <a:solidFill>
                  <a:srgbClr val="059669"/>
                </a:solidFill>
                <a:latin typeface="Calibri"/>
              </a:defRPr>
            </a:pPr>
            <a:r>
              <a:t>▲ 15289 vs Apr (17476)</a:t>
            </a:r>
          </a:p>
        </p:txBody>
      </p:sp>
      <p:sp>
        <p:nvSpPr>
          <p:cNvPr id="29" name="TextBox 28"/>
          <p:cNvSpPr txBox="1"/>
          <p:nvPr/>
        </p:nvSpPr>
        <p:spPr>
          <a:xfrm>
            <a:off x="9064447" y="3255264"/>
            <a:ext cx="2596896" cy="201168"/>
          </a:xfrm>
          <a:prstGeom prst="rect">
            <a:avLst/>
          </a:prstGeom>
          <a:noFill/>
        </p:spPr>
        <p:txBody>
          <a:bodyPr wrap="square">
            <a:spAutoFit/>
          </a:bodyPr>
          <a:lstStyle/>
          <a:p>
            <a:pPr algn="ctr">
              <a:defRPr sz="900" b="1">
                <a:solidFill>
                  <a:srgbClr val="059669"/>
                </a:solidFill>
                <a:latin typeface="Calibri"/>
              </a:defRPr>
            </a:pPr>
            <a:r>
              <a:t>▲ 5 vs Q1 final (4)</a:t>
            </a:r>
          </a:p>
        </p:txBody>
      </p:sp>
      <p:sp>
        <p:nvSpPr>
          <p:cNvPr id="30" name="Rectangle 29"/>
          <p:cNvSpPr/>
          <p:nvPr/>
        </p:nvSpPr>
        <p:spPr>
          <a:xfrm>
            <a:off x="457200" y="3493008"/>
            <a:ext cx="11277295" cy="50292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3493008"/>
            <a:ext cx="11277295" cy="18288"/>
          </a:xfrm>
          <a:prstGeom prst="rect">
            <a:avLst/>
          </a:prstGeom>
          <a:solidFill>
            <a:srgbClr val="DDD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5488" y="3547872"/>
            <a:ext cx="1005840" cy="402336"/>
          </a:xfrm>
          <a:prstGeom prst="rect">
            <a:avLst/>
          </a:prstGeom>
          <a:noFill/>
        </p:spPr>
        <p:txBody>
          <a:bodyPr wrap="square">
            <a:spAutoFit/>
          </a:bodyPr>
          <a:lstStyle/>
          <a:p>
            <a:pPr algn="ctr">
              <a:defRPr sz="850" b="1">
                <a:solidFill>
                  <a:srgbClr val="6D28D9"/>
                </a:solidFill>
                <a:latin typeface="Calibri"/>
              </a:defRPr>
            </a:pPr>
            <a:r>
              <a:t>Q2</a:t>
            </a:r>
            <a:br/>
            <a:r>
              <a:t>MIX</a:t>
            </a:r>
          </a:p>
        </p:txBody>
      </p:sp>
      <p:sp>
        <p:nvSpPr>
          <p:cNvPr id="33" name="Rectangle 32"/>
          <p:cNvSpPr/>
          <p:nvPr/>
        </p:nvSpPr>
        <p:spPr>
          <a:xfrm>
            <a:off x="1508760" y="3566160"/>
            <a:ext cx="18288" cy="356616"/>
          </a:xfrm>
          <a:prstGeom prst="rect">
            <a:avLst/>
          </a:prstGeom>
          <a:solidFill>
            <a:srgbClr val="C4B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 y="3529584"/>
            <a:ext cx="3408578" cy="256032"/>
          </a:xfrm>
          <a:prstGeom prst="rect">
            <a:avLst/>
          </a:prstGeom>
          <a:noFill/>
        </p:spPr>
        <p:txBody>
          <a:bodyPr wrap="square">
            <a:spAutoFit/>
          </a:bodyPr>
          <a:lstStyle/>
          <a:p>
            <a:pPr algn="ctr">
              <a:defRPr sz="1300" b="1">
                <a:solidFill>
                  <a:srgbClr val="111827"/>
                </a:solidFill>
                <a:latin typeface="Calibri"/>
              </a:defRPr>
            </a:pPr>
            <a:r>
              <a:t>$29.4M</a:t>
            </a:r>
          </a:p>
        </p:txBody>
      </p:sp>
      <p:sp>
        <p:nvSpPr>
          <p:cNvPr id="35" name="TextBox 34"/>
          <p:cNvSpPr txBox="1"/>
          <p:nvPr/>
        </p:nvSpPr>
        <p:spPr>
          <a:xfrm>
            <a:off x="1508760" y="3785615"/>
            <a:ext cx="3408578" cy="182880"/>
          </a:xfrm>
          <a:prstGeom prst="rect">
            <a:avLst/>
          </a:prstGeom>
          <a:noFill/>
        </p:spPr>
        <p:txBody>
          <a:bodyPr wrap="square">
            <a:spAutoFit/>
          </a:bodyPr>
          <a:lstStyle/>
          <a:p>
            <a:pPr algn="ctr">
              <a:defRPr sz="850" b="0">
                <a:solidFill>
                  <a:srgbClr val="6B7280"/>
                </a:solidFill>
                <a:latin typeface="Calibri"/>
              </a:defRPr>
            </a:pPr>
            <a:r>
              <a:t>New Business (71%)</a:t>
            </a:r>
          </a:p>
        </p:txBody>
      </p:sp>
      <p:sp>
        <p:nvSpPr>
          <p:cNvPr id="36" name="TextBox 35"/>
          <p:cNvSpPr txBox="1"/>
          <p:nvPr/>
        </p:nvSpPr>
        <p:spPr>
          <a:xfrm>
            <a:off x="4917338" y="3529584"/>
            <a:ext cx="3408578" cy="256032"/>
          </a:xfrm>
          <a:prstGeom prst="rect">
            <a:avLst/>
          </a:prstGeom>
          <a:noFill/>
        </p:spPr>
        <p:txBody>
          <a:bodyPr wrap="square">
            <a:spAutoFit/>
          </a:bodyPr>
          <a:lstStyle/>
          <a:p>
            <a:pPr algn="ctr">
              <a:defRPr sz="1300" b="1">
                <a:solidFill>
                  <a:srgbClr val="111827"/>
                </a:solidFill>
                <a:latin typeface="Calibri"/>
              </a:defRPr>
            </a:pPr>
            <a:r>
              <a:t>$8.8M</a:t>
            </a:r>
          </a:p>
        </p:txBody>
      </p:sp>
      <p:sp>
        <p:nvSpPr>
          <p:cNvPr id="37" name="TextBox 36"/>
          <p:cNvSpPr txBox="1"/>
          <p:nvPr/>
        </p:nvSpPr>
        <p:spPr>
          <a:xfrm>
            <a:off x="4917338" y="3785615"/>
            <a:ext cx="3408578" cy="182880"/>
          </a:xfrm>
          <a:prstGeom prst="rect">
            <a:avLst/>
          </a:prstGeom>
          <a:noFill/>
        </p:spPr>
        <p:txBody>
          <a:bodyPr wrap="square">
            <a:spAutoFit/>
          </a:bodyPr>
          <a:lstStyle/>
          <a:p>
            <a:pPr algn="ctr">
              <a:defRPr sz="850" b="0">
                <a:solidFill>
                  <a:srgbClr val="6B7280"/>
                </a:solidFill>
                <a:latin typeface="Calibri"/>
              </a:defRPr>
            </a:pPr>
            <a:r>
              <a:t>Renewals (21%)</a:t>
            </a:r>
          </a:p>
        </p:txBody>
      </p:sp>
      <p:sp>
        <p:nvSpPr>
          <p:cNvPr id="38" name="TextBox 37"/>
          <p:cNvSpPr txBox="1"/>
          <p:nvPr/>
        </p:nvSpPr>
        <p:spPr>
          <a:xfrm>
            <a:off x="8325916" y="3529584"/>
            <a:ext cx="3408578" cy="256032"/>
          </a:xfrm>
          <a:prstGeom prst="rect">
            <a:avLst/>
          </a:prstGeom>
          <a:noFill/>
        </p:spPr>
        <p:txBody>
          <a:bodyPr wrap="square">
            <a:spAutoFit/>
          </a:bodyPr>
          <a:lstStyle/>
          <a:p>
            <a:pPr algn="ctr">
              <a:defRPr sz="1300" b="1">
                <a:solidFill>
                  <a:srgbClr val="111827"/>
                </a:solidFill>
                <a:latin typeface="Calibri"/>
              </a:defRPr>
            </a:pPr>
            <a:r>
              <a:t>$3.0M</a:t>
            </a:r>
          </a:p>
        </p:txBody>
      </p:sp>
      <p:sp>
        <p:nvSpPr>
          <p:cNvPr id="39" name="TextBox 38"/>
          <p:cNvSpPr txBox="1"/>
          <p:nvPr/>
        </p:nvSpPr>
        <p:spPr>
          <a:xfrm>
            <a:off x="8325916" y="3785615"/>
            <a:ext cx="3408578" cy="182880"/>
          </a:xfrm>
          <a:prstGeom prst="rect">
            <a:avLst/>
          </a:prstGeom>
          <a:noFill/>
        </p:spPr>
        <p:txBody>
          <a:bodyPr wrap="square">
            <a:spAutoFit/>
          </a:bodyPr>
          <a:lstStyle/>
          <a:p>
            <a:pPr algn="ctr">
              <a:defRPr sz="850" b="0">
                <a:solidFill>
                  <a:srgbClr val="6B7280"/>
                </a:solidFill>
                <a:latin typeface="Calibri"/>
              </a:defRPr>
            </a:pPr>
            <a:r>
              <a:t>Endorsements (7%)</a:t>
            </a:r>
          </a:p>
        </p:txBody>
      </p:sp>
      <p:sp>
        <p:nvSpPr>
          <p:cNvPr id="40" name="Rectangle 39"/>
          <p:cNvSpPr/>
          <p:nvPr/>
        </p:nvSpPr>
        <p:spPr>
          <a:xfrm>
            <a:off x="457200" y="4069080"/>
            <a:ext cx="11277295" cy="548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4069080"/>
            <a:ext cx="1127729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5488" y="4142232"/>
            <a:ext cx="1005840" cy="402336"/>
          </a:xfrm>
          <a:prstGeom prst="rect">
            <a:avLst/>
          </a:prstGeom>
          <a:noFill/>
        </p:spPr>
        <p:txBody>
          <a:bodyPr wrap="square">
            <a:spAutoFit/>
          </a:bodyPr>
          <a:lstStyle/>
          <a:p>
            <a:pPr algn="ctr">
              <a:defRPr sz="850" b="1">
                <a:solidFill>
                  <a:srgbClr val="6B7280"/>
                </a:solidFill>
                <a:latin typeface="Calibri"/>
              </a:defRPr>
            </a:pPr>
            <a:r>
              <a:t>Q1</a:t>
            </a:r>
            <a:br/>
            <a:r>
              <a:t>FINAL</a:t>
            </a:r>
          </a:p>
        </p:txBody>
      </p:sp>
      <p:sp>
        <p:nvSpPr>
          <p:cNvPr id="43" name="Rectangle 42"/>
          <p:cNvSpPr/>
          <p:nvPr/>
        </p:nvSpPr>
        <p:spPr>
          <a:xfrm>
            <a:off x="1508760" y="4142232"/>
            <a:ext cx="18288" cy="402335"/>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105656"/>
            <a:ext cx="2743200" cy="274320"/>
          </a:xfrm>
          <a:prstGeom prst="rect">
            <a:avLst/>
          </a:prstGeom>
          <a:noFill/>
        </p:spPr>
        <p:txBody>
          <a:bodyPr wrap="square">
            <a:spAutoFit/>
          </a:bodyPr>
          <a:lstStyle/>
          <a:p>
            <a:pPr algn="ctr">
              <a:defRPr sz="1300" b="1">
                <a:solidFill>
                  <a:srgbClr val="111827"/>
                </a:solidFill>
                <a:latin typeface="Calibri"/>
              </a:defRPr>
            </a:pPr>
            <a:r>
              <a:t>$18.4M</a:t>
            </a:r>
          </a:p>
        </p:txBody>
      </p:sp>
      <p:sp>
        <p:nvSpPr>
          <p:cNvPr id="45" name="TextBox 44"/>
          <p:cNvSpPr txBox="1"/>
          <p:nvPr/>
        </p:nvSpPr>
        <p:spPr>
          <a:xfrm>
            <a:off x="457200" y="4379976"/>
            <a:ext cx="2743200" cy="182880"/>
          </a:xfrm>
          <a:prstGeom prst="rect">
            <a:avLst/>
          </a:prstGeom>
          <a:noFill/>
        </p:spPr>
        <p:txBody>
          <a:bodyPr wrap="square">
            <a:spAutoFit/>
          </a:bodyPr>
          <a:lstStyle/>
          <a:p>
            <a:pPr algn="ctr">
              <a:defRPr sz="850" b="0">
                <a:solidFill>
                  <a:srgbClr val="6B7280"/>
                </a:solidFill>
                <a:latin typeface="Calibri"/>
              </a:defRPr>
            </a:pPr>
            <a:r>
              <a:t>GWP</a:t>
            </a:r>
          </a:p>
        </p:txBody>
      </p:sp>
      <p:sp>
        <p:nvSpPr>
          <p:cNvPr id="46" name="TextBox 45"/>
          <p:cNvSpPr txBox="1"/>
          <p:nvPr/>
        </p:nvSpPr>
        <p:spPr>
          <a:xfrm>
            <a:off x="3301898" y="4105656"/>
            <a:ext cx="2743200" cy="274320"/>
          </a:xfrm>
          <a:prstGeom prst="rect">
            <a:avLst/>
          </a:prstGeom>
          <a:noFill/>
        </p:spPr>
        <p:txBody>
          <a:bodyPr wrap="square">
            <a:spAutoFit/>
          </a:bodyPr>
          <a:lstStyle/>
          <a:p>
            <a:pPr algn="ctr">
              <a:defRPr sz="1300" b="1">
                <a:solidFill>
                  <a:srgbClr val="111827"/>
                </a:solidFill>
                <a:latin typeface="Calibri"/>
              </a:defRPr>
            </a:pPr>
            <a:r>
              <a:t>48%</a:t>
            </a:r>
          </a:p>
        </p:txBody>
      </p:sp>
      <p:sp>
        <p:nvSpPr>
          <p:cNvPr id="47" name="TextBox 46"/>
          <p:cNvSpPr txBox="1"/>
          <p:nvPr/>
        </p:nvSpPr>
        <p:spPr>
          <a:xfrm>
            <a:off x="3301898" y="4379976"/>
            <a:ext cx="2743200" cy="182880"/>
          </a:xfrm>
          <a:prstGeom prst="rect">
            <a:avLst/>
          </a:prstGeom>
          <a:noFill/>
        </p:spPr>
        <p:txBody>
          <a:bodyPr wrap="square">
            <a:spAutoFit/>
          </a:bodyPr>
          <a:lstStyle/>
          <a:p>
            <a:pPr algn="ctr">
              <a:defRPr sz="850" b="0">
                <a:solidFill>
                  <a:srgbClr val="6B7280"/>
                </a:solidFill>
                <a:latin typeface="Calibri"/>
              </a:defRPr>
            </a:pPr>
            <a:r>
              <a:t>Activity</a:t>
            </a:r>
          </a:p>
        </p:txBody>
      </p:sp>
      <p:sp>
        <p:nvSpPr>
          <p:cNvPr id="48" name="TextBox 47"/>
          <p:cNvSpPr txBox="1"/>
          <p:nvPr/>
        </p:nvSpPr>
        <p:spPr>
          <a:xfrm>
            <a:off x="6146596" y="4105656"/>
            <a:ext cx="2743200" cy="274320"/>
          </a:xfrm>
          <a:prstGeom prst="rect">
            <a:avLst/>
          </a:prstGeom>
          <a:noFill/>
        </p:spPr>
        <p:txBody>
          <a:bodyPr wrap="square">
            <a:spAutoFit/>
          </a:bodyPr>
          <a:lstStyle/>
          <a:p>
            <a:pPr algn="ctr">
              <a:defRPr sz="1300" b="1">
                <a:solidFill>
                  <a:srgbClr val="111827"/>
                </a:solidFill>
                <a:latin typeface="Calibri"/>
              </a:defRPr>
            </a:pPr>
            <a:r>
              <a:t>45,722</a:t>
            </a:r>
          </a:p>
        </p:txBody>
      </p:sp>
      <p:sp>
        <p:nvSpPr>
          <p:cNvPr id="49" name="TextBox 48"/>
          <p:cNvSpPr txBox="1"/>
          <p:nvPr/>
        </p:nvSpPr>
        <p:spPr>
          <a:xfrm>
            <a:off x="6146596" y="4379976"/>
            <a:ext cx="2743200" cy="182880"/>
          </a:xfrm>
          <a:prstGeom prst="rect">
            <a:avLst/>
          </a:prstGeom>
          <a:noFill/>
        </p:spPr>
        <p:txBody>
          <a:bodyPr wrap="square">
            <a:spAutoFit/>
          </a:bodyPr>
          <a:lstStyle/>
          <a:p>
            <a:pPr algn="ctr">
              <a:defRPr sz="850" b="0">
                <a:solidFill>
                  <a:srgbClr val="6B7280"/>
                </a:solidFill>
                <a:latin typeface="Calibri"/>
              </a:defRPr>
            </a:pPr>
            <a:r>
              <a:t>Submissions</a:t>
            </a:r>
          </a:p>
        </p:txBody>
      </p:sp>
      <p:sp>
        <p:nvSpPr>
          <p:cNvPr id="50" name="TextBox 49"/>
          <p:cNvSpPr txBox="1"/>
          <p:nvPr/>
        </p:nvSpPr>
        <p:spPr>
          <a:xfrm>
            <a:off x="8991295" y="4105656"/>
            <a:ext cx="2743200" cy="274320"/>
          </a:xfrm>
          <a:prstGeom prst="rect">
            <a:avLst/>
          </a:prstGeom>
          <a:noFill/>
        </p:spPr>
        <p:txBody>
          <a:bodyPr wrap="square">
            <a:spAutoFit/>
          </a:bodyPr>
          <a:lstStyle/>
          <a:p>
            <a:pPr algn="ctr">
              <a:defRPr sz="1300" b="1">
                <a:solidFill>
                  <a:srgbClr val="111827"/>
                </a:solidFill>
                <a:latin typeface="Calibri"/>
              </a:defRPr>
            </a:pPr>
            <a:r>
              <a:t>4</a:t>
            </a:r>
          </a:p>
        </p:txBody>
      </p:sp>
      <p:sp>
        <p:nvSpPr>
          <p:cNvPr id="51" name="TextBox 50"/>
          <p:cNvSpPr txBox="1"/>
          <p:nvPr/>
        </p:nvSpPr>
        <p:spPr>
          <a:xfrm>
            <a:off x="8991295" y="4379976"/>
            <a:ext cx="2743200" cy="182880"/>
          </a:xfrm>
          <a:prstGeom prst="rect">
            <a:avLst/>
          </a:prstGeom>
          <a:noFill/>
        </p:spPr>
        <p:txBody>
          <a:bodyPr wrap="square">
            <a:spAutoFit/>
          </a:bodyPr>
          <a:lstStyle/>
          <a:p>
            <a:pPr algn="ctr">
              <a:defRPr sz="850" b="0">
                <a:solidFill>
                  <a:srgbClr val="6B7280"/>
                </a:solidFill>
                <a:latin typeface="Calibri"/>
              </a:defRPr>
            </a:pPr>
            <a:r>
              <a:t>Agencies Appointed</a:t>
            </a:r>
          </a:p>
        </p:txBody>
      </p:sp>
      <p:sp>
        <p:nvSpPr>
          <p:cNvPr id="52" name="Rectangle 51"/>
          <p:cNvSpPr/>
          <p:nvPr/>
        </p:nvSpPr>
        <p:spPr>
          <a:xfrm>
            <a:off x="182880" y="4727448"/>
            <a:ext cx="11795760" cy="4572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0040" y="4818888"/>
            <a:ext cx="11521440" cy="274320"/>
          </a:xfrm>
          <a:prstGeom prst="rect">
            <a:avLst/>
          </a:prstGeom>
          <a:noFill/>
        </p:spPr>
        <p:txBody>
          <a:bodyPr wrap="square">
            <a:spAutoFit/>
          </a:bodyPr>
          <a:lstStyle/>
          <a:p>
            <a:pPr algn="ctr">
              <a:defRPr sz="1100" b="1">
                <a:solidFill>
                  <a:srgbClr val="FFFFFF"/>
                </a:solidFill>
                <a:latin typeface="Calibri"/>
              </a:defRPr>
            </a:pPr>
            <a:r>
              <a:t>MTD (May):  $11.10M written  ·  $11.87M pace  ·  29/31 days elapsed</a:t>
            </a:r>
          </a:p>
        </p:txBody>
      </p:sp>
      <p:pic>
        <p:nvPicPr>
          <p:cNvPr id="54" name="Picture 53" descr="s1_team_trend.png"/>
          <p:cNvPicPr>
            <a:picLocks noChangeAspect="1"/>
          </p:cNvPicPr>
          <p:nvPr/>
        </p:nvPicPr>
        <p:blipFill>
          <a:blip r:embed="rId2"/>
          <a:stretch>
            <a:fillRect/>
          </a:stretch>
        </p:blipFill>
        <p:spPr>
          <a:xfrm>
            <a:off x="182880" y="5257800"/>
            <a:ext cx="11795760" cy="15087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BDM Performance Rankings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2026 YTD (Apr 1–May 29)  |  Green = on target  |  Amber = at risk  |  Red = behind  |  Goal: ≥40 acts/wk  |  Ranked by composite OKR score</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29, 2026</a:t>
            </a:r>
          </a:p>
        </p:txBody>
      </p:sp>
      <p:pic>
        <p:nvPicPr>
          <p:cNvPr id="6" name="Picture 5" descr="v8_matrix_bdm.png"/>
          <p:cNvPicPr>
            <a:picLocks noChangeAspect="1"/>
          </p:cNvPicPr>
          <p:nvPr/>
        </p:nvPicPr>
        <p:blipFill>
          <a:blip r:embed="rId2"/>
          <a:stretch>
            <a:fillRect/>
          </a:stretch>
        </p:blipFill>
        <p:spPr>
          <a:xfrm>
            <a:off x="91440" y="749808"/>
            <a:ext cx="11978640" cy="56692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BDA Performance Rankings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2026 YTD (Apr 1–May 29)  |  Green = on target  |  Amber = at risk  |  Red = behind  |  Goal: ≥50 acts/wk  |  Ranked by composite OKR score</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29, 2026</a:t>
            </a:r>
          </a:p>
        </p:txBody>
      </p:sp>
      <p:pic>
        <p:nvPicPr>
          <p:cNvPr id="6" name="Picture 5" descr="v8_matrix_bda.png"/>
          <p:cNvPicPr>
            <a:picLocks noChangeAspect="1"/>
          </p:cNvPicPr>
          <p:nvPr/>
        </p:nvPicPr>
        <p:blipFill>
          <a:blip r:embed="rId2"/>
          <a:stretch>
            <a:fillRect/>
          </a:stretch>
        </p:blipFill>
        <p:spPr>
          <a:xfrm>
            <a:off x="91440" y="749808"/>
            <a:ext cx="11978640" cy="5669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Activity Dashboard — Q2 2026  |  BDMs  |  Calls + Meetings</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YTD  |  Apr 1–May 29  |  BDMs Only  |  Goal: 40 acts/wk  |  Emails excluded</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29, 2026</a:t>
            </a:r>
          </a:p>
        </p:txBody>
      </p:sp>
      <p:sp>
        <p:nvSpPr>
          <p:cNvPr id="6" name="Rectangle 5"/>
          <p:cNvSpPr/>
          <p:nvPr/>
        </p:nvSpPr>
        <p:spPr>
          <a:xfrm>
            <a:off x="182880" y="804672"/>
            <a:ext cx="11430000" cy="27432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850392"/>
            <a:ext cx="1828800" cy="201168"/>
          </a:xfrm>
          <a:prstGeom prst="rect">
            <a:avLst/>
          </a:prstGeom>
          <a:noFill/>
        </p:spPr>
        <p:txBody>
          <a:bodyPr wrap="square">
            <a:spAutoFit/>
          </a:bodyPr>
          <a:lstStyle/>
          <a:p>
            <a:pPr algn="l">
              <a:defRPr sz="950" b="1">
                <a:solidFill>
                  <a:srgbClr val="FFFFFF"/>
                </a:solidFill>
                <a:latin typeface="Calibri"/>
              </a:defRPr>
            </a:pPr>
            <a:r>
              <a:t>Rep</a:t>
            </a:r>
          </a:p>
        </p:txBody>
      </p:sp>
      <p:sp>
        <p:nvSpPr>
          <p:cNvPr id="8" name="TextBox 7"/>
          <p:cNvSpPr txBox="1"/>
          <p:nvPr/>
        </p:nvSpPr>
        <p:spPr>
          <a:xfrm>
            <a:off x="2011680" y="850392"/>
            <a:ext cx="1097280" cy="201168"/>
          </a:xfrm>
          <a:prstGeom prst="rect">
            <a:avLst/>
          </a:prstGeom>
          <a:noFill/>
        </p:spPr>
        <p:txBody>
          <a:bodyPr wrap="square">
            <a:spAutoFit/>
          </a:bodyPr>
          <a:lstStyle/>
          <a:p>
            <a:pPr algn="ctr">
              <a:defRPr sz="900" b="1">
                <a:solidFill>
                  <a:srgbClr val="FFFFFF"/>
                </a:solidFill>
                <a:latin typeface="Calibri"/>
              </a:defRPr>
            </a:pPr>
            <a:r>
              <a:t>Apr 6-12</a:t>
            </a:r>
          </a:p>
        </p:txBody>
      </p:sp>
      <p:sp>
        <p:nvSpPr>
          <p:cNvPr id="9" name="TextBox 8"/>
          <p:cNvSpPr txBox="1"/>
          <p:nvPr/>
        </p:nvSpPr>
        <p:spPr>
          <a:xfrm>
            <a:off x="3108960" y="850392"/>
            <a:ext cx="1097280" cy="201168"/>
          </a:xfrm>
          <a:prstGeom prst="rect">
            <a:avLst/>
          </a:prstGeom>
          <a:noFill/>
        </p:spPr>
        <p:txBody>
          <a:bodyPr wrap="square">
            <a:spAutoFit/>
          </a:bodyPr>
          <a:lstStyle/>
          <a:p>
            <a:pPr algn="ctr">
              <a:defRPr sz="900" b="1">
                <a:solidFill>
                  <a:srgbClr val="FFFFFF"/>
                </a:solidFill>
                <a:latin typeface="Calibri"/>
              </a:defRPr>
            </a:pPr>
            <a:r>
              <a:t>Apr 13-19</a:t>
            </a:r>
          </a:p>
        </p:txBody>
      </p:sp>
      <p:sp>
        <p:nvSpPr>
          <p:cNvPr id="10" name="TextBox 9"/>
          <p:cNvSpPr txBox="1"/>
          <p:nvPr/>
        </p:nvSpPr>
        <p:spPr>
          <a:xfrm>
            <a:off x="4206240" y="850392"/>
            <a:ext cx="1097280" cy="201168"/>
          </a:xfrm>
          <a:prstGeom prst="rect">
            <a:avLst/>
          </a:prstGeom>
          <a:noFill/>
        </p:spPr>
        <p:txBody>
          <a:bodyPr wrap="square">
            <a:spAutoFit/>
          </a:bodyPr>
          <a:lstStyle/>
          <a:p>
            <a:pPr algn="ctr">
              <a:defRPr sz="900" b="1">
                <a:solidFill>
                  <a:srgbClr val="FFFFFF"/>
                </a:solidFill>
                <a:latin typeface="Calibri"/>
              </a:defRPr>
            </a:pPr>
            <a:r>
              <a:t>Apr 20-26</a:t>
            </a:r>
          </a:p>
        </p:txBody>
      </p:sp>
      <p:sp>
        <p:nvSpPr>
          <p:cNvPr id="11" name="TextBox 10"/>
          <p:cNvSpPr txBox="1"/>
          <p:nvPr/>
        </p:nvSpPr>
        <p:spPr>
          <a:xfrm>
            <a:off x="5303520" y="850392"/>
            <a:ext cx="1097280" cy="201168"/>
          </a:xfrm>
          <a:prstGeom prst="rect">
            <a:avLst/>
          </a:prstGeom>
          <a:noFill/>
        </p:spPr>
        <p:txBody>
          <a:bodyPr wrap="square">
            <a:spAutoFit/>
          </a:bodyPr>
          <a:lstStyle/>
          <a:p>
            <a:pPr algn="ctr">
              <a:defRPr sz="900" b="1">
                <a:solidFill>
                  <a:srgbClr val="FFFFFF"/>
                </a:solidFill>
                <a:latin typeface="Calibri"/>
              </a:defRPr>
            </a:pPr>
            <a:r>
              <a:t>Apr 27-May 3</a:t>
            </a:r>
          </a:p>
        </p:txBody>
      </p:sp>
      <p:sp>
        <p:nvSpPr>
          <p:cNvPr id="12" name="TextBox 11"/>
          <p:cNvSpPr txBox="1"/>
          <p:nvPr/>
        </p:nvSpPr>
        <p:spPr>
          <a:xfrm>
            <a:off x="6400800" y="850392"/>
            <a:ext cx="1097280" cy="201168"/>
          </a:xfrm>
          <a:prstGeom prst="rect">
            <a:avLst/>
          </a:prstGeom>
          <a:noFill/>
        </p:spPr>
        <p:txBody>
          <a:bodyPr wrap="square">
            <a:spAutoFit/>
          </a:bodyPr>
          <a:lstStyle/>
          <a:p>
            <a:pPr algn="ctr">
              <a:defRPr sz="900" b="1">
                <a:solidFill>
                  <a:srgbClr val="FFFFFF"/>
                </a:solidFill>
                <a:latin typeface="Calibri"/>
              </a:defRPr>
            </a:pPr>
            <a:r>
              <a:t>May 4-10</a:t>
            </a:r>
          </a:p>
        </p:txBody>
      </p:sp>
      <p:sp>
        <p:nvSpPr>
          <p:cNvPr id="13" name="TextBox 12"/>
          <p:cNvSpPr txBox="1"/>
          <p:nvPr/>
        </p:nvSpPr>
        <p:spPr>
          <a:xfrm>
            <a:off x="7498079" y="850392"/>
            <a:ext cx="1097280" cy="201168"/>
          </a:xfrm>
          <a:prstGeom prst="rect">
            <a:avLst/>
          </a:prstGeom>
          <a:noFill/>
        </p:spPr>
        <p:txBody>
          <a:bodyPr wrap="square">
            <a:spAutoFit/>
          </a:bodyPr>
          <a:lstStyle/>
          <a:p>
            <a:pPr algn="ctr">
              <a:defRPr sz="900" b="1">
                <a:solidFill>
                  <a:srgbClr val="FFFFFF"/>
                </a:solidFill>
                <a:latin typeface="Calibri"/>
              </a:defRPr>
            </a:pPr>
            <a:r>
              <a:t>May 11-17</a:t>
            </a:r>
          </a:p>
        </p:txBody>
      </p:sp>
      <p:sp>
        <p:nvSpPr>
          <p:cNvPr id="14" name="TextBox 13"/>
          <p:cNvSpPr txBox="1"/>
          <p:nvPr/>
        </p:nvSpPr>
        <p:spPr>
          <a:xfrm>
            <a:off x="8595359" y="850392"/>
            <a:ext cx="1097280" cy="201168"/>
          </a:xfrm>
          <a:prstGeom prst="rect">
            <a:avLst/>
          </a:prstGeom>
          <a:noFill/>
        </p:spPr>
        <p:txBody>
          <a:bodyPr wrap="square">
            <a:spAutoFit/>
          </a:bodyPr>
          <a:lstStyle/>
          <a:p>
            <a:pPr algn="ctr">
              <a:defRPr sz="900" b="1">
                <a:solidFill>
                  <a:srgbClr val="FFFFFF"/>
                </a:solidFill>
                <a:latin typeface="Calibri"/>
              </a:defRPr>
            </a:pPr>
            <a:r>
              <a:t>May 18-24</a:t>
            </a:r>
          </a:p>
        </p:txBody>
      </p:sp>
      <p:sp>
        <p:nvSpPr>
          <p:cNvPr id="15" name="TextBox 14"/>
          <p:cNvSpPr txBox="1"/>
          <p:nvPr/>
        </p:nvSpPr>
        <p:spPr>
          <a:xfrm>
            <a:off x="9692640" y="850392"/>
            <a:ext cx="1097280" cy="201168"/>
          </a:xfrm>
          <a:prstGeom prst="rect">
            <a:avLst/>
          </a:prstGeom>
          <a:noFill/>
        </p:spPr>
        <p:txBody>
          <a:bodyPr wrap="square">
            <a:spAutoFit/>
          </a:bodyPr>
          <a:lstStyle/>
          <a:p>
            <a:pPr algn="ctr">
              <a:defRPr sz="900" b="1">
                <a:solidFill>
                  <a:srgbClr val="FFFFFF"/>
                </a:solidFill>
                <a:latin typeface="Calibri"/>
              </a:defRPr>
            </a:pPr>
            <a:r>
              <a:t>May 25-29</a:t>
            </a:r>
          </a:p>
        </p:txBody>
      </p:sp>
      <p:sp>
        <p:nvSpPr>
          <p:cNvPr id="16" name="TextBox 15"/>
          <p:cNvSpPr txBox="1"/>
          <p:nvPr/>
        </p:nvSpPr>
        <p:spPr>
          <a:xfrm>
            <a:off x="10789920" y="850392"/>
            <a:ext cx="822960" cy="201168"/>
          </a:xfrm>
          <a:prstGeom prst="rect">
            <a:avLst/>
          </a:prstGeom>
          <a:noFill/>
        </p:spPr>
        <p:txBody>
          <a:bodyPr wrap="square">
            <a:spAutoFit/>
          </a:bodyPr>
          <a:lstStyle/>
          <a:p>
            <a:pPr algn="ctr">
              <a:defRPr sz="950" b="1">
                <a:solidFill>
                  <a:srgbClr val="FFFFFF"/>
                </a:solidFill>
                <a:latin typeface="Calibri"/>
              </a:defRPr>
            </a:pPr>
            <a:r>
              <a:t>Avg %</a:t>
            </a:r>
          </a:p>
        </p:txBody>
      </p:sp>
      <p:sp>
        <p:nvSpPr>
          <p:cNvPr id="17" name="TextBox 16"/>
          <p:cNvSpPr txBox="1"/>
          <p:nvPr/>
        </p:nvSpPr>
        <p:spPr>
          <a:xfrm>
            <a:off x="256032" y="1211580"/>
            <a:ext cx="1828800" cy="429768"/>
          </a:xfrm>
          <a:prstGeom prst="rect">
            <a:avLst/>
          </a:prstGeom>
          <a:noFill/>
        </p:spPr>
        <p:txBody>
          <a:bodyPr wrap="square">
            <a:spAutoFit/>
          </a:bodyPr>
          <a:lstStyle/>
          <a:p>
            <a:pPr algn="l">
              <a:defRPr sz="900" b="1">
                <a:solidFill>
                  <a:srgbClr val="111827"/>
                </a:solidFill>
                <a:latin typeface="Calibri"/>
              </a:defRPr>
            </a:pPr>
            <a:r>
              <a:t>Derek Janssen</a:t>
            </a:r>
          </a:p>
        </p:txBody>
      </p:sp>
      <p:sp>
        <p:nvSpPr>
          <p:cNvPr id="18" name="Rectangle 17"/>
          <p:cNvSpPr/>
          <p:nvPr/>
        </p:nvSpPr>
        <p:spPr>
          <a:xfrm>
            <a:off x="204825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11680" y="1211580"/>
            <a:ext cx="1097280" cy="411480"/>
          </a:xfrm>
          <a:prstGeom prst="rect">
            <a:avLst/>
          </a:prstGeom>
          <a:noFill/>
        </p:spPr>
        <p:txBody>
          <a:bodyPr wrap="square">
            <a:spAutoFit/>
          </a:bodyPr>
          <a:lstStyle/>
          <a:p>
            <a:pPr algn="ctr">
              <a:defRPr sz="1100" b="1">
                <a:solidFill>
                  <a:srgbClr val="FFFFFF"/>
                </a:solidFill>
                <a:latin typeface="Calibri"/>
              </a:defRPr>
            </a:pPr>
            <a:r>
              <a:t>89</a:t>
            </a:r>
          </a:p>
        </p:txBody>
      </p:sp>
      <p:sp>
        <p:nvSpPr>
          <p:cNvPr id="20" name="Rectangle 19"/>
          <p:cNvSpPr/>
          <p:nvPr/>
        </p:nvSpPr>
        <p:spPr>
          <a:xfrm>
            <a:off x="314553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8960" y="1211580"/>
            <a:ext cx="1097280" cy="411480"/>
          </a:xfrm>
          <a:prstGeom prst="rect">
            <a:avLst/>
          </a:prstGeom>
          <a:noFill/>
        </p:spPr>
        <p:txBody>
          <a:bodyPr wrap="square">
            <a:spAutoFit/>
          </a:bodyPr>
          <a:lstStyle/>
          <a:p>
            <a:pPr algn="ctr">
              <a:defRPr sz="1100" b="1">
                <a:solidFill>
                  <a:srgbClr val="FFFFFF"/>
                </a:solidFill>
                <a:latin typeface="Calibri"/>
              </a:defRPr>
            </a:pPr>
            <a:r>
              <a:t>58</a:t>
            </a:r>
          </a:p>
        </p:txBody>
      </p:sp>
      <p:sp>
        <p:nvSpPr>
          <p:cNvPr id="22" name="Rectangle 21"/>
          <p:cNvSpPr/>
          <p:nvPr/>
        </p:nvSpPr>
        <p:spPr>
          <a:xfrm>
            <a:off x="424281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06240" y="1211580"/>
            <a:ext cx="1097280" cy="411480"/>
          </a:xfrm>
          <a:prstGeom prst="rect">
            <a:avLst/>
          </a:prstGeom>
          <a:noFill/>
        </p:spPr>
        <p:txBody>
          <a:bodyPr wrap="square">
            <a:spAutoFit/>
          </a:bodyPr>
          <a:lstStyle/>
          <a:p>
            <a:pPr algn="ctr">
              <a:defRPr sz="1100" b="1">
                <a:solidFill>
                  <a:srgbClr val="FFFFFF"/>
                </a:solidFill>
                <a:latin typeface="Calibri"/>
              </a:defRPr>
            </a:pPr>
            <a:r>
              <a:t>67</a:t>
            </a:r>
          </a:p>
        </p:txBody>
      </p:sp>
      <p:sp>
        <p:nvSpPr>
          <p:cNvPr id="24" name="Rectangle 23"/>
          <p:cNvSpPr/>
          <p:nvPr/>
        </p:nvSpPr>
        <p:spPr>
          <a:xfrm>
            <a:off x="534009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0" y="1211580"/>
            <a:ext cx="1097280" cy="411480"/>
          </a:xfrm>
          <a:prstGeom prst="rect">
            <a:avLst/>
          </a:prstGeom>
          <a:noFill/>
        </p:spPr>
        <p:txBody>
          <a:bodyPr wrap="square">
            <a:spAutoFit/>
          </a:bodyPr>
          <a:lstStyle/>
          <a:p>
            <a:pPr algn="ctr">
              <a:defRPr sz="1100" b="1">
                <a:solidFill>
                  <a:srgbClr val="FFFFFF"/>
                </a:solidFill>
                <a:latin typeface="Calibri"/>
              </a:defRPr>
            </a:pPr>
            <a:r>
              <a:t>63</a:t>
            </a:r>
          </a:p>
        </p:txBody>
      </p:sp>
      <p:sp>
        <p:nvSpPr>
          <p:cNvPr id="26" name="Rectangle 25"/>
          <p:cNvSpPr/>
          <p:nvPr/>
        </p:nvSpPr>
        <p:spPr>
          <a:xfrm>
            <a:off x="643737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1211580"/>
            <a:ext cx="1097280" cy="411480"/>
          </a:xfrm>
          <a:prstGeom prst="rect">
            <a:avLst/>
          </a:prstGeom>
          <a:noFill/>
        </p:spPr>
        <p:txBody>
          <a:bodyPr wrap="square">
            <a:spAutoFit/>
          </a:bodyPr>
          <a:lstStyle/>
          <a:p>
            <a:pPr algn="ctr">
              <a:defRPr sz="1100" b="1">
                <a:solidFill>
                  <a:srgbClr val="FFFFFF"/>
                </a:solidFill>
                <a:latin typeface="Calibri"/>
              </a:defRPr>
            </a:pPr>
            <a:r>
              <a:t>43</a:t>
            </a:r>
          </a:p>
        </p:txBody>
      </p:sp>
      <p:sp>
        <p:nvSpPr>
          <p:cNvPr id="28" name="Rectangle 27"/>
          <p:cNvSpPr/>
          <p:nvPr/>
        </p:nvSpPr>
        <p:spPr>
          <a:xfrm>
            <a:off x="7534655"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79" y="1211580"/>
            <a:ext cx="1097280" cy="411480"/>
          </a:xfrm>
          <a:prstGeom prst="rect">
            <a:avLst/>
          </a:prstGeom>
          <a:noFill/>
        </p:spPr>
        <p:txBody>
          <a:bodyPr wrap="square">
            <a:spAutoFit/>
          </a:bodyPr>
          <a:lstStyle/>
          <a:p>
            <a:pPr algn="ctr">
              <a:defRPr sz="1100" b="1">
                <a:solidFill>
                  <a:srgbClr val="FFFFFF"/>
                </a:solidFill>
                <a:latin typeface="Calibri"/>
              </a:defRPr>
            </a:pPr>
            <a:r>
              <a:t>53</a:t>
            </a:r>
          </a:p>
        </p:txBody>
      </p:sp>
      <p:sp>
        <p:nvSpPr>
          <p:cNvPr id="30" name="Rectangle 29"/>
          <p:cNvSpPr/>
          <p:nvPr/>
        </p:nvSpPr>
        <p:spPr>
          <a:xfrm>
            <a:off x="8631935"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59" y="1211580"/>
            <a:ext cx="1097280" cy="411480"/>
          </a:xfrm>
          <a:prstGeom prst="rect">
            <a:avLst/>
          </a:prstGeom>
          <a:noFill/>
        </p:spPr>
        <p:txBody>
          <a:bodyPr wrap="square">
            <a:spAutoFit/>
          </a:bodyPr>
          <a:lstStyle/>
          <a:p>
            <a:pPr algn="ctr">
              <a:defRPr sz="1100" b="1">
                <a:solidFill>
                  <a:srgbClr val="FFFFFF"/>
                </a:solidFill>
                <a:latin typeface="Calibri"/>
              </a:defRPr>
            </a:pPr>
            <a:r>
              <a:t>48</a:t>
            </a:r>
          </a:p>
        </p:txBody>
      </p:sp>
      <p:sp>
        <p:nvSpPr>
          <p:cNvPr id="32" name="Rectangle 31"/>
          <p:cNvSpPr/>
          <p:nvPr/>
        </p:nvSpPr>
        <p:spPr>
          <a:xfrm>
            <a:off x="972921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92640" y="1211580"/>
            <a:ext cx="1097280" cy="411480"/>
          </a:xfrm>
          <a:prstGeom prst="rect">
            <a:avLst/>
          </a:prstGeom>
          <a:noFill/>
        </p:spPr>
        <p:txBody>
          <a:bodyPr wrap="square">
            <a:spAutoFit/>
          </a:bodyPr>
          <a:lstStyle/>
          <a:p>
            <a:pPr algn="ctr">
              <a:defRPr sz="1100" b="1">
                <a:solidFill>
                  <a:srgbClr val="FFFFFF"/>
                </a:solidFill>
                <a:latin typeface="Calibri"/>
              </a:defRPr>
            </a:pPr>
            <a:r>
              <a:t>41</a:t>
            </a:r>
          </a:p>
        </p:txBody>
      </p:sp>
      <p:sp>
        <p:nvSpPr>
          <p:cNvPr id="34" name="TextBox 33"/>
          <p:cNvSpPr txBox="1"/>
          <p:nvPr/>
        </p:nvSpPr>
        <p:spPr>
          <a:xfrm>
            <a:off x="10789920" y="1211580"/>
            <a:ext cx="822960" cy="429768"/>
          </a:xfrm>
          <a:prstGeom prst="rect">
            <a:avLst/>
          </a:prstGeom>
          <a:noFill/>
        </p:spPr>
        <p:txBody>
          <a:bodyPr wrap="square">
            <a:spAutoFit/>
          </a:bodyPr>
          <a:lstStyle/>
          <a:p>
            <a:pPr algn="ctr">
              <a:defRPr sz="1100" b="1">
                <a:solidFill>
                  <a:srgbClr val="059669"/>
                </a:solidFill>
                <a:latin typeface="Calibri"/>
              </a:defRPr>
            </a:pPr>
            <a:r>
              <a:t>150%</a:t>
            </a:r>
          </a:p>
        </p:txBody>
      </p:sp>
      <p:sp>
        <p:nvSpPr>
          <p:cNvPr id="35" name="Rectangle 34"/>
          <p:cNvSpPr/>
          <p:nvPr/>
        </p:nvSpPr>
        <p:spPr>
          <a:xfrm>
            <a:off x="182880" y="1581912"/>
            <a:ext cx="114300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6032" y="1714500"/>
            <a:ext cx="1828800" cy="429768"/>
          </a:xfrm>
          <a:prstGeom prst="rect">
            <a:avLst/>
          </a:prstGeom>
          <a:noFill/>
        </p:spPr>
        <p:txBody>
          <a:bodyPr wrap="square">
            <a:spAutoFit/>
          </a:bodyPr>
          <a:lstStyle/>
          <a:p>
            <a:pPr algn="l">
              <a:defRPr sz="900" b="1">
                <a:solidFill>
                  <a:srgbClr val="111827"/>
                </a:solidFill>
                <a:latin typeface="Calibri"/>
              </a:defRPr>
            </a:pPr>
            <a:r>
              <a:t>Ron Douglas</a:t>
            </a:r>
          </a:p>
        </p:txBody>
      </p:sp>
      <p:sp>
        <p:nvSpPr>
          <p:cNvPr id="37" name="Rectangle 36"/>
          <p:cNvSpPr/>
          <p:nvPr/>
        </p:nvSpPr>
        <p:spPr>
          <a:xfrm>
            <a:off x="2048256" y="163677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11680" y="1714500"/>
            <a:ext cx="1097280" cy="411480"/>
          </a:xfrm>
          <a:prstGeom prst="rect">
            <a:avLst/>
          </a:prstGeom>
          <a:noFill/>
        </p:spPr>
        <p:txBody>
          <a:bodyPr wrap="square">
            <a:spAutoFit/>
          </a:bodyPr>
          <a:lstStyle/>
          <a:p>
            <a:pPr algn="ctr">
              <a:defRPr sz="1100" b="1">
                <a:solidFill>
                  <a:srgbClr val="FFFFFF"/>
                </a:solidFill>
                <a:latin typeface="Calibri"/>
              </a:defRPr>
            </a:pPr>
            <a:r>
              <a:t>17</a:t>
            </a:r>
          </a:p>
        </p:txBody>
      </p:sp>
      <p:sp>
        <p:nvSpPr>
          <p:cNvPr id="39" name="Rectangle 38"/>
          <p:cNvSpPr/>
          <p:nvPr/>
        </p:nvSpPr>
        <p:spPr>
          <a:xfrm>
            <a:off x="3145536" y="163677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08960" y="1714500"/>
            <a:ext cx="1097280" cy="411480"/>
          </a:xfrm>
          <a:prstGeom prst="rect">
            <a:avLst/>
          </a:prstGeom>
          <a:noFill/>
        </p:spPr>
        <p:txBody>
          <a:bodyPr wrap="square">
            <a:spAutoFit/>
          </a:bodyPr>
          <a:lstStyle/>
          <a:p>
            <a:pPr algn="ctr">
              <a:defRPr sz="1100" b="1">
                <a:solidFill>
                  <a:srgbClr val="FFFFFF"/>
                </a:solidFill>
                <a:latin typeface="Calibri"/>
              </a:defRPr>
            </a:pPr>
            <a:r>
              <a:t>43</a:t>
            </a:r>
          </a:p>
        </p:txBody>
      </p:sp>
      <p:sp>
        <p:nvSpPr>
          <p:cNvPr id="41" name="Rectangle 40"/>
          <p:cNvSpPr/>
          <p:nvPr/>
        </p:nvSpPr>
        <p:spPr>
          <a:xfrm>
            <a:off x="4242816" y="163677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06240" y="1714500"/>
            <a:ext cx="1097280" cy="411480"/>
          </a:xfrm>
          <a:prstGeom prst="rect">
            <a:avLst/>
          </a:prstGeom>
          <a:noFill/>
        </p:spPr>
        <p:txBody>
          <a:bodyPr wrap="square">
            <a:spAutoFit/>
          </a:bodyPr>
          <a:lstStyle/>
          <a:p>
            <a:pPr algn="ctr">
              <a:defRPr sz="1100" b="1">
                <a:solidFill>
                  <a:srgbClr val="FFFFFF"/>
                </a:solidFill>
                <a:latin typeface="Calibri"/>
              </a:defRPr>
            </a:pPr>
            <a:r>
              <a:t>34</a:t>
            </a:r>
          </a:p>
        </p:txBody>
      </p:sp>
      <p:sp>
        <p:nvSpPr>
          <p:cNvPr id="43" name="Rectangle 42"/>
          <p:cNvSpPr/>
          <p:nvPr/>
        </p:nvSpPr>
        <p:spPr>
          <a:xfrm>
            <a:off x="5340096" y="163677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03520" y="1714500"/>
            <a:ext cx="1097280" cy="411480"/>
          </a:xfrm>
          <a:prstGeom prst="rect">
            <a:avLst/>
          </a:prstGeom>
          <a:noFill/>
        </p:spPr>
        <p:txBody>
          <a:bodyPr wrap="square">
            <a:spAutoFit/>
          </a:bodyPr>
          <a:lstStyle/>
          <a:p>
            <a:pPr algn="ctr">
              <a:defRPr sz="1100" b="1">
                <a:solidFill>
                  <a:srgbClr val="FFFFFF"/>
                </a:solidFill>
                <a:latin typeface="Calibri"/>
              </a:defRPr>
            </a:pPr>
            <a:r>
              <a:t>47</a:t>
            </a:r>
          </a:p>
        </p:txBody>
      </p:sp>
      <p:sp>
        <p:nvSpPr>
          <p:cNvPr id="45" name="Rectangle 44"/>
          <p:cNvSpPr/>
          <p:nvPr/>
        </p:nvSpPr>
        <p:spPr>
          <a:xfrm>
            <a:off x="6437376" y="163677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171450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47" name="Rectangle 46"/>
          <p:cNvSpPr/>
          <p:nvPr/>
        </p:nvSpPr>
        <p:spPr>
          <a:xfrm>
            <a:off x="7534655" y="163677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98079" y="1714500"/>
            <a:ext cx="1097280" cy="411480"/>
          </a:xfrm>
          <a:prstGeom prst="rect">
            <a:avLst/>
          </a:prstGeom>
          <a:noFill/>
        </p:spPr>
        <p:txBody>
          <a:bodyPr wrap="square">
            <a:spAutoFit/>
          </a:bodyPr>
          <a:lstStyle/>
          <a:p>
            <a:pPr algn="ctr">
              <a:defRPr sz="1100" b="1">
                <a:solidFill>
                  <a:srgbClr val="FFFFFF"/>
                </a:solidFill>
                <a:latin typeface="Calibri"/>
              </a:defRPr>
            </a:pPr>
            <a:r>
              <a:t>57</a:t>
            </a:r>
          </a:p>
        </p:txBody>
      </p:sp>
      <p:sp>
        <p:nvSpPr>
          <p:cNvPr id="49" name="Rectangle 48"/>
          <p:cNvSpPr/>
          <p:nvPr/>
        </p:nvSpPr>
        <p:spPr>
          <a:xfrm>
            <a:off x="8631935" y="163677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95359" y="1714500"/>
            <a:ext cx="1097280" cy="411480"/>
          </a:xfrm>
          <a:prstGeom prst="rect">
            <a:avLst/>
          </a:prstGeom>
          <a:noFill/>
        </p:spPr>
        <p:txBody>
          <a:bodyPr wrap="square">
            <a:spAutoFit/>
          </a:bodyPr>
          <a:lstStyle/>
          <a:p>
            <a:pPr algn="ctr">
              <a:defRPr sz="1100" b="1">
                <a:solidFill>
                  <a:srgbClr val="FFFFFF"/>
                </a:solidFill>
                <a:latin typeface="Calibri"/>
              </a:defRPr>
            </a:pPr>
            <a:r>
              <a:t>72</a:t>
            </a:r>
          </a:p>
        </p:txBody>
      </p:sp>
      <p:sp>
        <p:nvSpPr>
          <p:cNvPr id="51" name="Rectangle 50"/>
          <p:cNvSpPr/>
          <p:nvPr/>
        </p:nvSpPr>
        <p:spPr>
          <a:xfrm>
            <a:off x="9729216" y="163677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92640" y="1714500"/>
            <a:ext cx="1097280" cy="411480"/>
          </a:xfrm>
          <a:prstGeom prst="rect">
            <a:avLst/>
          </a:prstGeom>
          <a:noFill/>
        </p:spPr>
        <p:txBody>
          <a:bodyPr wrap="square">
            <a:spAutoFit/>
          </a:bodyPr>
          <a:lstStyle/>
          <a:p>
            <a:pPr algn="ctr">
              <a:defRPr sz="1100" b="1">
                <a:solidFill>
                  <a:srgbClr val="FFFFFF"/>
                </a:solidFill>
                <a:latin typeface="Calibri"/>
              </a:defRPr>
            </a:pPr>
            <a:r>
              <a:t>42</a:t>
            </a:r>
          </a:p>
        </p:txBody>
      </p:sp>
      <p:sp>
        <p:nvSpPr>
          <p:cNvPr id="53" name="TextBox 52"/>
          <p:cNvSpPr txBox="1"/>
          <p:nvPr/>
        </p:nvSpPr>
        <p:spPr>
          <a:xfrm>
            <a:off x="10789920" y="1714500"/>
            <a:ext cx="822960" cy="429768"/>
          </a:xfrm>
          <a:prstGeom prst="rect">
            <a:avLst/>
          </a:prstGeom>
          <a:noFill/>
        </p:spPr>
        <p:txBody>
          <a:bodyPr wrap="square">
            <a:spAutoFit/>
          </a:bodyPr>
          <a:lstStyle/>
          <a:p>
            <a:pPr algn="ctr">
              <a:defRPr sz="1100" b="1">
                <a:solidFill>
                  <a:srgbClr val="D97706"/>
                </a:solidFill>
                <a:latin typeface="Calibri"/>
              </a:defRPr>
            </a:pPr>
            <a:r>
              <a:t>96%</a:t>
            </a:r>
          </a:p>
        </p:txBody>
      </p:sp>
      <p:sp>
        <p:nvSpPr>
          <p:cNvPr id="54" name="TextBox 53"/>
          <p:cNvSpPr txBox="1"/>
          <p:nvPr/>
        </p:nvSpPr>
        <p:spPr>
          <a:xfrm>
            <a:off x="256032" y="2217420"/>
            <a:ext cx="1828800" cy="429768"/>
          </a:xfrm>
          <a:prstGeom prst="rect">
            <a:avLst/>
          </a:prstGeom>
          <a:noFill/>
        </p:spPr>
        <p:txBody>
          <a:bodyPr wrap="square">
            <a:spAutoFit/>
          </a:bodyPr>
          <a:lstStyle/>
          <a:p>
            <a:pPr algn="l">
              <a:defRPr sz="900" b="1">
                <a:solidFill>
                  <a:srgbClr val="111827"/>
                </a:solidFill>
                <a:latin typeface="Calibri"/>
              </a:defRPr>
            </a:pPr>
            <a:r>
              <a:t>Christopher Hayes</a:t>
            </a:r>
          </a:p>
        </p:txBody>
      </p:sp>
      <p:sp>
        <p:nvSpPr>
          <p:cNvPr id="55" name="Rectangle 54"/>
          <p:cNvSpPr/>
          <p:nvPr/>
        </p:nvSpPr>
        <p:spPr>
          <a:xfrm>
            <a:off x="2048256" y="213969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011680" y="2217420"/>
            <a:ext cx="1097280" cy="411480"/>
          </a:xfrm>
          <a:prstGeom prst="rect">
            <a:avLst/>
          </a:prstGeom>
          <a:noFill/>
        </p:spPr>
        <p:txBody>
          <a:bodyPr wrap="square">
            <a:spAutoFit/>
          </a:bodyPr>
          <a:lstStyle/>
          <a:p>
            <a:pPr algn="ctr">
              <a:defRPr sz="1100" b="1">
                <a:solidFill>
                  <a:srgbClr val="FFFFFF"/>
                </a:solidFill>
                <a:latin typeface="Calibri"/>
              </a:defRPr>
            </a:pPr>
            <a:r>
              <a:t>39</a:t>
            </a:r>
          </a:p>
        </p:txBody>
      </p:sp>
      <p:sp>
        <p:nvSpPr>
          <p:cNvPr id="57" name="Rectangle 56"/>
          <p:cNvSpPr/>
          <p:nvPr/>
        </p:nvSpPr>
        <p:spPr>
          <a:xfrm>
            <a:off x="3145536" y="213969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108960" y="2217420"/>
            <a:ext cx="1097280" cy="411480"/>
          </a:xfrm>
          <a:prstGeom prst="rect">
            <a:avLst/>
          </a:prstGeom>
          <a:noFill/>
        </p:spPr>
        <p:txBody>
          <a:bodyPr wrap="square">
            <a:spAutoFit/>
          </a:bodyPr>
          <a:lstStyle/>
          <a:p>
            <a:pPr algn="ctr">
              <a:defRPr sz="1100" b="1">
                <a:solidFill>
                  <a:srgbClr val="FFFFFF"/>
                </a:solidFill>
                <a:latin typeface="Calibri"/>
              </a:defRPr>
            </a:pPr>
            <a:r>
              <a:t>42</a:t>
            </a:r>
          </a:p>
        </p:txBody>
      </p:sp>
      <p:sp>
        <p:nvSpPr>
          <p:cNvPr id="59" name="Rectangle 58"/>
          <p:cNvSpPr/>
          <p:nvPr/>
        </p:nvSpPr>
        <p:spPr>
          <a:xfrm>
            <a:off x="4242816" y="213969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206240" y="2217420"/>
            <a:ext cx="1097280" cy="411480"/>
          </a:xfrm>
          <a:prstGeom prst="rect">
            <a:avLst/>
          </a:prstGeom>
          <a:noFill/>
        </p:spPr>
        <p:txBody>
          <a:bodyPr wrap="square">
            <a:spAutoFit/>
          </a:bodyPr>
          <a:lstStyle/>
          <a:p>
            <a:pPr algn="ctr">
              <a:defRPr sz="1100" b="1">
                <a:solidFill>
                  <a:srgbClr val="FFFFFF"/>
                </a:solidFill>
                <a:latin typeface="Calibri"/>
              </a:defRPr>
            </a:pPr>
            <a:r>
              <a:t>25</a:t>
            </a:r>
          </a:p>
        </p:txBody>
      </p:sp>
      <p:sp>
        <p:nvSpPr>
          <p:cNvPr id="61" name="Rectangle 60"/>
          <p:cNvSpPr/>
          <p:nvPr/>
        </p:nvSpPr>
        <p:spPr>
          <a:xfrm>
            <a:off x="5340096" y="213969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303520" y="2217420"/>
            <a:ext cx="1097280" cy="411480"/>
          </a:xfrm>
          <a:prstGeom prst="rect">
            <a:avLst/>
          </a:prstGeom>
          <a:noFill/>
        </p:spPr>
        <p:txBody>
          <a:bodyPr wrap="square">
            <a:spAutoFit/>
          </a:bodyPr>
          <a:lstStyle/>
          <a:p>
            <a:pPr algn="ctr">
              <a:defRPr sz="1100" b="1">
                <a:solidFill>
                  <a:srgbClr val="FFFFFF"/>
                </a:solidFill>
                <a:latin typeface="Calibri"/>
              </a:defRPr>
            </a:pPr>
            <a:r>
              <a:t>40</a:t>
            </a:r>
          </a:p>
        </p:txBody>
      </p:sp>
      <p:sp>
        <p:nvSpPr>
          <p:cNvPr id="63" name="Rectangle 62"/>
          <p:cNvSpPr/>
          <p:nvPr/>
        </p:nvSpPr>
        <p:spPr>
          <a:xfrm>
            <a:off x="6437376" y="213969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00800" y="2217420"/>
            <a:ext cx="1097280" cy="411480"/>
          </a:xfrm>
          <a:prstGeom prst="rect">
            <a:avLst/>
          </a:prstGeom>
          <a:noFill/>
        </p:spPr>
        <p:txBody>
          <a:bodyPr wrap="square">
            <a:spAutoFit/>
          </a:bodyPr>
          <a:lstStyle/>
          <a:p>
            <a:pPr algn="ctr">
              <a:defRPr sz="1100" b="1">
                <a:solidFill>
                  <a:srgbClr val="FFFFFF"/>
                </a:solidFill>
                <a:latin typeface="Calibri"/>
              </a:defRPr>
            </a:pPr>
            <a:r>
              <a:t>15</a:t>
            </a:r>
          </a:p>
        </p:txBody>
      </p:sp>
      <p:sp>
        <p:nvSpPr>
          <p:cNvPr id="65" name="Rectangle 64"/>
          <p:cNvSpPr/>
          <p:nvPr/>
        </p:nvSpPr>
        <p:spPr>
          <a:xfrm>
            <a:off x="7534655" y="213969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498079" y="2217420"/>
            <a:ext cx="1097280" cy="411480"/>
          </a:xfrm>
          <a:prstGeom prst="rect">
            <a:avLst/>
          </a:prstGeom>
          <a:noFill/>
        </p:spPr>
        <p:txBody>
          <a:bodyPr wrap="square">
            <a:spAutoFit/>
          </a:bodyPr>
          <a:lstStyle/>
          <a:p>
            <a:pPr algn="ctr">
              <a:defRPr sz="1100" b="1">
                <a:solidFill>
                  <a:srgbClr val="FFFFFF"/>
                </a:solidFill>
                <a:latin typeface="Calibri"/>
              </a:defRPr>
            </a:pPr>
            <a:r>
              <a:t>45</a:t>
            </a:r>
          </a:p>
        </p:txBody>
      </p:sp>
      <p:sp>
        <p:nvSpPr>
          <p:cNvPr id="67" name="Rectangle 66"/>
          <p:cNvSpPr/>
          <p:nvPr/>
        </p:nvSpPr>
        <p:spPr>
          <a:xfrm>
            <a:off x="8631935" y="213969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595359" y="2217420"/>
            <a:ext cx="1097280" cy="411480"/>
          </a:xfrm>
          <a:prstGeom prst="rect">
            <a:avLst/>
          </a:prstGeom>
          <a:noFill/>
        </p:spPr>
        <p:txBody>
          <a:bodyPr wrap="square">
            <a:spAutoFit/>
          </a:bodyPr>
          <a:lstStyle/>
          <a:p>
            <a:pPr algn="ctr">
              <a:defRPr sz="1100" b="1">
                <a:solidFill>
                  <a:srgbClr val="FFFFFF"/>
                </a:solidFill>
                <a:latin typeface="Calibri"/>
              </a:defRPr>
            </a:pPr>
            <a:r>
              <a:t>35</a:t>
            </a:r>
          </a:p>
        </p:txBody>
      </p:sp>
      <p:sp>
        <p:nvSpPr>
          <p:cNvPr id="69" name="Rectangle 68"/>
          <p:cNvSpPr/>
          <p:nvPr/>
        </p:nvSpPr>
        <p:spPr>
          <a:xfrm>
            <a:off x="9729216" y="213969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92640" y="2217420"/>
            <a:ext cx="1097280" cy="411480"/>
          </a:xfrm>
          <a:prstGeom prst="rect">
            <a:avLst/>
          </a:prstGeom>
          <a:noFill/>
        </p:spPr>
        <p:txBody>
          <a:bodyPr wrap="square">
            <a:spAutoFit/>
          </a:bodyPr>
          <a:lstStyle/>
          <a:p>
            <a:pPr algn="ctr">
              <a:defRPr sz="1100" b="1">
                <a:solidFill>
                  <a:srgbClr val="FFFFFF"/>
                </a:solidFill>
                <a:latin typeface="Calibri"/>
              </a:defRPr>
            </a:pPr>
            <a:r>
              <a:t>13</a:t>
            </a:r>
          </a:p>
        </p:txBody>
      </p:sp>
      <p:sp>
        <p:nvSpPr>
          <p:cNvPr id="71" name="TextBox 70"/>
          <p:cNvSpPr txBox="1"/>
          <p:nvPr/>
        </p:nvSpPr>
        <p:spPr>
          <a:xfrm>
            <a:off x="10789920" y="2217420"/>
            <a:ext cx="822960" cy="429768"/>
          </a:xfrm>
          <a:prstGeom prst="rect">
            <a:avLst/>
          </a:prstGeom>
          <a:noFill/>
        </p:spPr>
        <p:txBody>
          <a:bodyPr wrap="square">
            <a:spAutoFit/>
          </a:bodyPr>
          <a:lstStyle/>
          <a:p>
            <a:pPr algn="ctr">
              <a:defRPr sz="1100" b="1">
                <a:solidFill>
                  <a:srgbClr val="D97706"/>
                </a:solidFill>
                <a:latin typeface="Calibri"/>
              </a:defRPr>
            </a:pPr>
            <a:r>
              <a:t>86%</a:t>
            </a:r>
          </a:p>
        </p:txBody>
      </p:sp>
      <p:sp>
        <p:nvSpPr>
          <p:cNvPr id="72" name="Rectangle 71"/>
          <p:cNvSpPr/>
          <p:nvPr/>
        </p:nvSpPr>
        <p:spPr>
          <a:xfrm>
            <a:off x="182880" y="2587752"/>
            <a:ext cx="114300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56032" y="2720340"/>
            <a:ext cx="1828800" cy="429768"/>
          </a:xfrm>
          <a:prstGeom prst="rect">
            <a:avLst/>
          </a:prstGeom>
          <a:noFill/>
        </p:spPr>
        <p:txBody>
          <a:bodyPr wrap="square">
            <a:spAutoFit/>
          </a:bodyPr>
          <a:lstStyle/>
          <a:p>
            <a:pPr algn="l">
              <a:defRPr sz="900" b="1">
                <a:solidFill>
                  <a:srgbClr val="111827"/>
                </a:solidFill>
                <a:latin typeface="Calibri"/>
              </a:defRPr>
            </a:pPr>
            <a:r>
              <a:t>Derrick Leroy</a:t>
            </a:r>
          </a:p>
        </p:txBody>
      </p:sp>
      <p:sp>
        <p:nvSpPr>
          <p:cNvPr id="74" name="Rectangle 73"/>
          <p:cNvSpPr/>
          <p:nvPr/>
        </p:nvSpPr>
        <p:spPr>
          <a:xfrm>
            <a:off x="204825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011680" y="2720340"/>
            <a:ext cx="1097280" cy="411480"/>
          </a:xfrm>
          <a:prstGeom prst="rect">
            <a:avLst/>
          </a:prstGeom>
          <a:noFill/>
        </p:spPr>
        <p:txBody>
          <a:bodyPr wrap="square">
            <a:spAutoFit/>
          </a:bodyPr>
          <a:lstStyle/>
          <a:p>
            <a:pPr algn="ctr">
              <a:defRPr sz="1100" b="1">
                <a:solidFill>
                  <a:srgbClr val="FFFFFF"/>
                </a:solidFill>
                <a:latin typeface="Calibri"/>
              </a:defRPr>
            </a:pPr>
            <a:r>
              <a:t>50</a:t>
            </a:r>
          </a:p>
        </p:txBody>
      </p:sp>
      <p:sp>
        <p:nvSpPr>
          <p:cNvPr id="76" name="Rectangle 75"/>
          <p:cNvSpPr/>
          <p:nvPr/>
        </p:nvSpPr>
        <p:spPr>
          <a:xfrm>
            <a:off x="314553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108960" y="2720340"/>
            <a:ext cx="1097280" cy="411480"/>
          </a:xfrm>
          <a:prstGeom prst="rect">
            <a:avLst/>
          </a:prstGeom>
          <a:noFill/>
        </p:spPr>
        <p:txBody>
          <a:bodyPr wrap="square">
            <a:spAutoFit/>
          </a:bodyPr>
          <a:lstStyle/>
          <a:p>
            <a:pPr algn="ctr">
              <a:defRPr sz="1100" b="1">
                <a:solidFill>
                  <a:srgbClr val="FFFFFF"/>
                </a:solidFill>
                <a:latin typeface="Calibri"/>
              </a:defRPr>
            </a:pPr>
            <a:r>
              <a:t>48</a:t>
            </a:r>
          </a:p>
        </p:txBody>
      </p:sp>
      <p:sp>
        <p:nvSpPr>
          <p:cNvPr id="78" name="Rectangle 77"/>
          <p:cNvSpPr/>
          <p:nvPr/>
        </p:nvSpPr>
        <p:spPr>
          <a:xfrm>
            <a:off x="424281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06240" y="2720340"/>
            <a:ext cx="1097280" cy="411480"/>
          </a:xfrm>
          <a:prstGeom prst="rect">
            <a:avLst/>
          </a:prstGeom>
          <a:noFill/>
        </p:spPr>
        <p:txBody>
          <a:bodyPr wrap="square">
            <a:spAutoFit/>
          </a:bodyPr>
          <a:lstStyle/>
          <a:p>
            <a:pPr algn="ctr">
              <a:defRPr sz="1100" b="1">
                <a:solidFill>
                  <a:srgbClr val="FFFFFF"/>
                </a:solidFill>
                <a:latin typeface="Calibri"/>
              </a:defRPr>
            </a:pPr>
            <a:r>
              <a:t>64</a:t>
            </a:r>
          </a:p>
        </p:txBody>
      </p:sp>
      <p:sp>
        <p:nvSpPr>
          <p:cNvPr id="80" name="Rectangle 79"/>
          <p:cNvSpPr/>
          <p:nvPr/>
        </p:nvSpPr>
        <p:spPr>
          <a:xfrm>
            <a:off x="534009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303520" y="2720340"/>
            <a:ext cx="1097280" cy="411480"/>
          </a:xfrm>
          <a:prstGeom prst="rect">
            <a:avLst/>
          </a:prstGeom>
          <a:noFill/>
        </p:spPr>
        <p:txBody>
          <a:bodyPr wrap="square">
            <a:spAutoFit/>
          </a:bodyPr>
          <a:lstStyle/>
          <a:p>
            <a:pPr algn="ctr">
              <a:defRPr sz="1100" b="1">
                <a:solidFill>
                  <a:srgbClr val="FFFFFF"/>
                </a:solidFill>
                <a:latin typeface="Calibri"/>
              </a:defRPr>
            </a:pPr>
            <a:r>
              <a:t>51</a:t>
            </a:r>
          </a:p>
        </p:txBody>
      </p:sp>
      <p:sp>
        <p:nvSpPr>
          <p:cNvPr id="82" name="Rectangle 81"/>
          <p:cNvSpPr/>
          <p:nvPr/>
        </p:nvSpPr>
        <p:spPr>
          <a:xfrm>
            <a:off x="643737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400800" y="2720340"/>
            <a:ext cx="1097280" cy="411480"/>
          </a:xfrm>
          <a:prstGeom prst="rect">
            <a:avLst/>
          </a:prstGeom>
          <a:noFill/>
        </p:spPr>
        <p:txBody>
          <a:bodyPr wrap="square">
            <a:spAutoFit/>
          </a:bodyPr>
          <a:lstStyle/>
          <a:p>
            <a:pPr algn="ctr">
              <a:defRPr sz="1100" b="1">
                <a:solidFill>
                  <a:srgbClr val="FFFFFF"/>
                </a:solidFill>
                <a:latin typeface="Calibri"/>
              </a:defRPr>
            </a:pPr>
            <a:r>
              <a:t>54</a:t>
            </a:r>
          </a:p>
        </p:txBody>
      </p:sp>
      <p:sp>
        <p:nvSpPr>
          <p:cNvPr id="84" name="Rectangle 83"/>
          <p:cNvSpPr/>
          <p:nvPr/>
        </p:nvSpPr>
        <p:spPr>
          <a:xfrm>
            <a:off x="7534655"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498079" y="2720340"/>
            <a:ext cx="1097280" cy="411480"/>
          </a:xfrm>
          <a:prstGeom prst="rect">
            <a:avLst/>
          </a:prstGeom>
          <a:noFill/>
        </p:spPr>
        <p:txBody>
          <a:bodyPr wrap="square">
            <a:spAutoFit/>
          </a:bodyPr>
          <a:lstStyle/>
          <a:p>
            <a:pPr algn="ctr">
              <a:defRPr sz="1100" b="1">
                <a:solidFill>
                  <a:srgbClr val="FFFFFF"/>
                </a:solidFill>
                <a:latin typeface="Calibri"/>
              </a:defRPr>
            </a:pPr>
            <a:r>
              <a:t>60</a:t>
            </a:r>
          </a:p>
        </p:txBody>
      </p:sp>
      <p:sp>
        <p:nvSpPr>
          <p:cNvPr id="86" name="Rectangle 85"/>
          <p:cNvSpPr/>
          <p:nvPr/>
        </p:nvSpPr>
        <p:spPr>
          <a:xfrm>
            <a:off x="8631935"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595359" y="2720340"/>
            <a:ext cx="1097280" cy="411480"/>
          </a:xfrm>
          <a:prstGeom prst="rect">
            <a:avLst/>
          </a:prstGeom>
          <a:noFill/>
        </p:spPr>
        <p:txBody>
          <a:bodyPr wrap="square">
            <a:spAutoFit/>
          </a:bodyPr>
          <a:lstStyle/>
          <a:p>
            <a:pPr algn="ctr">
              <a:defRPr sz="1100" b="1">
                <a:solidFill>
                  <a:srgbClr val="FFFFFF"/>
                </a:solidFill>
                <a:latin typeface="Calibri"/>
              </a:defRPr>
            </a:pPr>
            <a:r>
              <a:t>42</a:t>
            </a:r>
          </a:p>
        </p:txBody>
      </p:sp>
      <p:sp>
        <p:nvSpPr>
          <p:cNvPr id="88" name="Rectangle 87"/>
          <p:cNvSpPr/>
          <p:nvPr/>
        </p:nvSpPr>
        <p:spPr>
          <a:xfrm>
            <a:off x="972921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692640" y="2720340"/>
            <a:ext cx="1097280" cy="411480"/>
          </a:xfrm>
          <a:prstGeom prst="rect">
            <a:avLst/>
          </a:prstGeom>
          <a:noFill/>
        </p:spPr>
        <p:txBody>
          <a:bodyPr wrap="square">
            <a:spAutoFit/>
          </a:bodyPr>
          <a:lstStyle/>
          <a:p>
            <a:pPr algn="ctr">
              <a:defRPr sz="1100" b="1">
                <a:solidFill>
                  <a:srgbClr val="FFFFFF"/>
                </a:solidFill>
                <a:latin typeface="Calibri"/>
              </a:defRPr>
            </a:pPr>
            <a:r>
              <a:t>55</a:t>
            </a:r>
          </a:p>
        </p:txBody>
      </p:sp>
      <p:sp>
        <p:nvSpPr>
          <p:cNvPr id="90" name="TextBox 89"/>
          <p:cNvSpPr txBox="1"/>
          <p:nvPr/>
        </p:nvSpPr>
        <p:spPr>
          <a:xfrm>
            <a:off x="10789920" y="2720340"/>
            <a:ext cx="822960" cy="429768"/>
          </a:xfrm>
          <a:prstGeom prst="rect">
            <a:avLst/>
          </a:prstGeom>
          <a:noFill/>
        </p:spPr>
        <p:txBody>
          <a:bodyPr wrap="square">
            <a:spAutoFit/>
          </a:bodyPr>
          <a:lstStyle/>
          <a:p>
            <a:pPr algn="ctr">
              <a:defRPr sz="1100" b="1">
                <a:solidFill>
                  <a:srgbClr val="059669"/>
                </a:solidFill>
                <a:latin typeface="Calibri"/>
              </a:defRPr>
            </a:pPr>
            <a:r>
              <a:t>132%</a:t>
            </a:r>
          </a:p>
        </p:txBody>
      </p:sp>
      <p:sp>
        <p:nvSpPr>
          <p:cNvPr id="91" name="TextBox 90"/>
          <p:cNvSpPr txBox="1"/>
          <p:nvPr/>
        </p:nvSpPr>
        <p:spPr>
          <a:xfrm>
            <a:off x="256032" y="3223260"/>
            <a:ext cx="1828800" cy="429768"/>
          </a:xfrm>
          <a:prstGeom prst="rect">
            <a:avLst/>
          </a:prstGeom>
          <a:noFill/>
        </p:spPr>
        <p:txBody>
          <a:bodyPr wrap="square">
            <a:spAutoFit/>
          </a:bodyPr>
          <a:lstStyle/>
          <a:p>
            <a:pPr algn="l">
              <a:defRPr sz="900" b="1">
                <a:solidFill>
                  <a:srgbClr val="111827"/>
                </a:solidFill>
                <a:latin typeface="Calibri"/>
              </a:defRPr>
            </a:pPr>
            <a:r>
              <a:t>Westy McLaughlin</a:t>
            </a:r>
          </a:p>
        </p:txBody>
      </p:sp>
      <p:sp>
        <p:nvSpPr>
          <p:cNvPr id="92" name="Rectangle 91"/>
          <p:cNvSpPr/>
          <p:nvPr/>
        </p:nvSpPr>
        <p:spPr>
          <a:xfrm>
            <a:off x="2048256" y="314553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011680" y="3223260"/>
            <a:ext cx="1097280" cy="411480"/>
          </a:xfrm>
          <a:prstGeom prst="rect">
            <a:avLst/>
          </a:prstGeom>
          <a:noFill/>
        </p:spPr>
        <p:txBody>
          <a:bodyPr wrap="square">
            <a:spAutoFit/>
          </a:bodyPr>
          <a:lstStyle/>
          <a:p>
            <a:pPr algn="ctr">
              <a:defRPr sz="1100" b="1">
                <a:solidFill>
                  <a:srgbClr val="FFFFFF"/>
                </a:solidFill>
                <a:latin typeface="Calibri"/>
              </a:defRPr>
            </a:pPr>
            <a:r>
              <a:t>46</a:t>
            </a:r>
          </a:p>
        </p:txBody>
      </p:sp>
      <p:sp>
        <p:nvSpPr>
          <p:cNvPr id="94" name="Rectangle 93"/>
          <p:cNvSpPr/>
          <p:nvPr/>
        </p:nvSpPr>
        <p:spPr>
          <a:xfrm>
            <a:off x="3145536"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108960" y="3223260"/>
            <a:ext cx="1097280" cy="411480"/>
          </a:xfrm>
          <a:prstGeom prst="rect">
            <a:avLst/>
          </a:prstGeom>
          <a:noFill/>
        </p:spPr>
        <p:txBody>
          <a:bodyPr wrap="square">
            <a:spAutoFit/>
          </a:bodyPr>
          <a:lstStyle/>
          <a:p>
            <a:pPr algn="ctr">
              <a:defRPr sz="1100" b="1">
                <a:solidFill>
                  <a:srgbClr val="FFFFFF"/>
                </a:solidFill>
                <a:latin typeface="Calibri"/>
              </a:defRPr>
            </a:pPr>
            <a:r>
              <a:t>29</a:t>
            </a:r>
          </a:p>
        </p:txBody>
      </p:sp>
      <p:sp>
        <p:nvSpPr>
          <p:cNvPr id="96" name="Rectangle 95"/>
          <p:cNvSpPr/>
          <p:nvPr/>
        </p:nvSpPr>
        <p:spPr>
          <a:xfrm>
            <a:off x="4242816"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206240" y="3223260"/>
            <a:ext cx="1097280" cy="411480"/>
          </a:xfrm>
          <a:prstGeom prst="rect">
            <a:avLst/>
          </a:prstGeom>
          <a:noFill/>
        </p:spPr>
        <p:txBody>
          <a:bodyPr wrap="square">
            <a:spAutoFit/>
          </a:bodyPr>
          <a:lstStyle/>
          <a:p>
            <a:pPr algn="ctr">
              <a:defRPr sz="1100" b="1">
                <a:solidFill>
                  <a:srgbClr val="FFFFFF"/>
                </a:solidFill>
                <a:latin typeface="Calibri"/>
              </a:defRPr>
            </a:pPr>
            <a:r>
              <a:t>28</a:t>
            </a:r>
          </a:p>
        </p:txBody>
      </p:sp>
      <p:sp>
        <p:nvSpPr>
          <p:cNvPr id="98" name="Rectangle 97"/>
          <p:cNvSpPr/>
          <p:nvPr/>
        </p:nvSpPr>
        <p:spPr>
          <a:xfrm>
            <a:off x="5340096" y="314553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303520" y="3223260"/>
            <a:ext cx="1097280" cy="411480"/>
          </a:xfrm>
          <a:prstGeom prst="rect">
            <a:avLst/>
          </a:prstGeom>
          <a:noFill/>
        </p:spPr>
        <p:txBody>
          <a:bodyPr wrap="square">
            <a:spAutoFit/>
          </a:bodyPr>
          <a:lstStyle/>
          <a:p>
            <a:pPr algn="ctr">
              <a:defRPr sz="1100" b="1">
                <a:solidFill>
                  <a:srgbClr val="FFFFFF"/>
                </a:solidFill>
                <a:latin typeface="Calibri"/>
              </a:defRPr>
            </a:pPr>
            <a:r>
              <a:t>39</a:t>
            </a:r>
          </a:p>
        </p:txBody>
      </p:sp>
      <p:sp>
        <p:nvSpPr>
          <p:cNvPr id="100" name="Rectangle 99"/>
          <p:cNvSpPr/>
          <p:nvPr/>
        </p:nvSpPr>
        <p:spPr>
          <a:xfrm>
            <a:off x="6437376"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400800" y="3223260"/>
            <a:ext cx="1097280" cy="411480"/>
          </a:xfrm>
          <a:prstGeom prst="rect">
            <a:avLst/>
          </a:prstGeom>
          <a:noFill/>
        </p:spPr>
        <p:txBody>
          <a:bodyPr wrap="square">
            <a:spAutoFit/>
          </a:bodyPr>
          <a:lstStyle/>
          <a:p>
            <a:pPr algn="ctr">
              <a:defRPr sz="1100" b="1">
                <a:solidFill>
                  <a:srgbClr val="FFFFFF"/>
                </a:solidFill>
                <a:latin typeface="Calibri"/>
              </a:defRPr>
            </a:pPr>
            <a:r>
              <a:t>25</a:t>
            </a:r>
          </a:p>
        </p:txBody>
      </p:sp>
      <p:sp>
        <p:nvSpPr>
          <p:cNvPr id="102" name="Rectangle 101"/>
          <p:cNvSpPr/>
          <p:nvPr/>
        </p:nvSpPr>
        <p:spPr>
          <a:xfrm>
            <a:off x="7534655" y="314553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498079" y="3223260"/>
            <a:ext cx="1097280" cy="411480"/>
          </a:xfrm>
          <a:prstGeom prst="rect">
            <a:avLst/>
          </a:prstGeom>
          <a:noFill/>
        </p:spPr>
        <p:txBody>
          <a:bodyPr wrap="square">
            <a:spAutoFit/>
          </a:bodyPr>
          <a:lstStyle/>
          <a:p>
            <a:pPr algn="ctr">
              <a:defRPr sz="1100" b="1">
                <a:solidFill>
                  <a:srgbClr val="FFFFFF"/>
                </a:solidFill>
                <a:latin typeface="Calibri"/>
              </a:defRPr>
            </a:pPr>
            <a:r>
              <a:t>45</a:t>
            </a:r>
          </a:p>
        </p:txBody>
      </p:sp>
      <p:sp>
        <p:nvSpPr>
          <p:cNvPr id="104" name="Rectangle 103"/>
          <p:cNvSpPr/>
          <p:nvPr/>
        </p:nvSpPr>
        <p:spPr>
          <a:xfrm>
            <a:off x="8631935" y="314553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595359" y="3223260"/>
            <a:ext cx="1097280" cy="411480"/>
          </a:xfrm>
          <a:prstGeom prst="rect">
            <a:avLst/>
          </a:prstGeom>
          <a:noFill/>
        </p:spPr>
        <p:txBody>
          <a:bodyPr wrap="square">
            <a:spAutoFit/>
          </a:bodyPr>
          <a:lstStyle/>
          <a:p>
            <a:pPr algn="ctr">
              <a:defRPr sz="1100" b="1">
                <a:solidFill>
                  <a:srgbClr val="FFFFFF"/>
                </a:solidFill>
                <a:latin typeface="Calibri"/>
              </a:defRPr>
            </a:pPr>
            <a:r>
              <a:t>35</a:t>
            </a:r>
          </a:p>
        </p:txBody>
      </p:sp>
      <p:sp>
        <p:nvSpPr>
          <p:cNvPr id="106" name="Rectangle 105"/>
          <p:cNvSpPr/>
          <p:nvPr/>
        </p:nvSpPr>
        <p:spPr>
          <a:xfrm>
            <a:off x="9729216"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692640" y="3223260"/>
            <a:ext cx="1097280" cy="411480"/>
          </a:xfrm>
          <a:prstGeom prst="rect">
            <a:avLst/>
          </a:prstGeom>
          <a:noFill/>
        </p:spPr>
        <p:txBody>
          <a:bodyPr wrap="square">
            <a:spAutoFit/>
          </a:bodyPr>
          <a:lstStyle/>
          <a:p>
            <a:pPr algn="ctr">
              <a:defRPr sz="1100" b="1">
                <a:solidFill>
                  <a:srgbClr val="FFFFFF"/>
                </a:solidFill>
                <a:latin typeface="Calibri"/>
              </a:defRPr>
            </a:pPr>
            <a:r>
              <a:t>27</a:t>
            </a:r>
          </a:p>
        </p:txBody>
      </p:sp>
      <p:sp>
        <p:nvSpPr>
          <p:cNvPr id="108" name="TextBox 107"/>
          <p:cNvSpPr txBox="1"/>
          <p:nvPr/>
        </p:nvSpPr>
        <p:spPr>
          <a:xfrm>
            <a:off x="10789920" y="3223260"/>
            <a:ext cx="822960" cy="429768"/>
          </a:xfrm>
          <a:prstGeom prst="rect">
            <a:avLst/>
          </a:prstGeom>
          <a:noFill/>
        </p:spPr>
        <p:txBody>
          <a:bodyPr wrap="square">
            <a:spAutoFit/>
          </a:bodyPr>
          <a:lstStyle/>
          <a:p>
            <a:pPr algn="ctr">
              <a:defRPr sz="1100" b="1">
                <a:solidFill>
                  <a:srgbClr val="D97706"/>
                </a:solidFill>
                <a:latin typeface="Calibri"/>
              </a:defRPr>
            </a:pPr>
            <a:r>
              <a:t>88%</a:t>
            </a:r>
          </a:p>
        </p:txBody>
      </p:sp>
      <p:sp>
        <p:nvSpPr>
          <p:cNvPr id="109" name="Rectangle 108"/>
          <p:cNvSpPr/>
          <p:nvPr/>
        </p:nvSpPr>
        <p:spPr>
          <a:xfrm>
            <a:off x="182880" y="3593591"/>
            <a:ext cx="1143000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56032" y="3726180"/>
            <a:ext cx="1828800" cy="429768"/>
          </a:xfrm>
          <a:prstGeom prst="rect">
            <a:avLst/>
          </a:prstGeom>
          <a:noFill/>
        </p:spPr>
        <p:txBody>
          <a:bodyPr wrap="square">
            <a:spAutoFit/>
          </a:bodyPr>
          <a:lstStyle/>
          <a:p>
            <a:pPr algn="l">
              <a:defRPr sz="900" b="1">
                <a:solidFill>
                  <a:srgbClr val="111827"/>
                </a:solidFill>
                <a:latin typeface="Calibri"/>
              </a:defRPr>
            </a:pPr>
            <a:r>
              <a:t>Alexis Berrysmith</a:t>
            </a:r>
          </a:p>
        </p:txBody>
      </p:sp>
      <p:sp>
        <p:nvSpPr>
          <p:cNvPr id="111" name="Rectangle 110"/>
          <p:cNvSpPr/>
          <p:nvPr/>
        </p:nvSpPr>
        <p:spPr>
          <a:xfrm>
            <a:off x="2048256" y="364845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011680" y="372618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113" name="Rectangle 112"/>
          <p:cNvSpPr/>
          <p:nvPr/>
        </p:nvSpPr>
        <p:spPr>
          <a:xfrm>
            <a:off x="3145536" y="364845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108960" y="372618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115" name="Rectangle 114"/>
          <p:cNvSpPr/>
          <p:nvPr/>
        </p:nvSpPr>
        <p:spPr>
          <a:xfrm>
            <a:off x="4242816" y="364845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206240" y="3726180"/>
            <a:ext cx="1097280" cy="411480"/>
          </a:xfrm>
          <a:prstGeom prst="rect">
            <a:avLst/>
          </a:prstGeom>
          <a:noFill/>
        </p:spPr>
        <p:txBody>
          <a:bodyPr wrap="square">
            <a:spAutoFit/>
          </a:bodyPr>
          <a:lstStyle/>
          <a:p>
            <a:pPr algn="ctr">
              <a:defRPr sz="1100" b="1">
                <a:solidFill>
                  <a:srgbClr val="FFFFFF"/>
                </a:solidFill>
                <a:latin typeface="Calibri"/>
              </a:defRPr>
            </a:pPr>
            <a:r>
              <a:t>4</a:t>
            </a:r>
          </a:p>
        </p:txBody>
      </p:sp>
      <p:sp>
        <p:nvSpPr>
          <p:cNvPr id="117" name="Rectangle 116"/>
          <p:cNvSpPr/>
          <p:nvPr/>
        </p:nvSpPr>
        <p:spPr>
          <a:xfrm>
            <a:off x="5340096" y="364845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303520" y="372618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119" name="Rectangle 118"/>
          <p:cNvSpPr/>
          <p:nvPr/>
        </p:nvSpPr>
        <p:spPr>
          <a:xfrm>
            <a:off x="6437376" y="364845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400800" y="3726180"/>
            <a:ext cx="1097280" cy="411480"/>
          </a:xfrm>
          <a:prstGeom prst="rect">
            <a:avLst/>
          </a:prstGeom>
          <a:noFill/>
        </p:spPr>
        <p:txBody>
          <a:bodyPr wrap="square">
            <a:spAutoFit/>
          </a:bodyPr>
          <a:lstStyle/>
          <a:p>
            <a:pPr algn="ctr">
              <a:defRPr sz="1100" b="1">
                <a:solidFill>
                  <a:srgbClr val="FFFFFF"/>
                </a:solidFill>
                <a:latin typeface="Calibri"/>
              </a:defRPr>
            </a:pPr>
            <a:r>
              <a:t>32</a:t>
            </a:r>
          </a:p>
        </p:txBody>
      </p:sp>
      <p:sp>
        <p:nvSpPr>
          <p:cNvPr id="121" name="Rectangle 120"/>
          <p:cNvSpPr/>
          <p:nvPr/>
        </p:nvSpPr>
        <p:spPr>
          <a:xfrm>
            <a:off x="7534655" y="36484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498079" y="3726180"/>
            <a:ext cx="1097280" cy="411480"/>
          </a:xfrm>
          <a:prstGeom prst="rect">
            <a:avLst/>
          </a:prstGeom>
          <a:noFill/>
        </p:spPr>
        <p:txBody>
          <a:bodyPr wrap="square">
            <a:spAutoFit/>
          </a:bodyPr>
          <a:lstStyle/>
          <a:p>
            <a:pPr algn="ctr">
              <a:defRPr sz="1100" b="1">
                <a:solidFill>
                  <a:srgbClr val="FFFFFF"/>
                </a:solidFill>
                <a:latin typeface="Calibri"/>
              </a:defRPr>
            </a:pPr>
            <a:r>
              <a:t>45</a:t>
            </a:r>
          </a:p>
        </p:txBody>
      </p:sp>
      <p:sp>
        <p:nvSpPr>
          <p:cNvPr id="123" name="Rectangle 122"/>
          <p:cNvSpPr/>
          <p:nvPr/>
        </p:nvSpPr>
        <p:spPr>
          <a:xfrm>
            <a:off x="8631935" y="36484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595359" y="3726180"/>
            <a:ext cx="1097280" cy="411480"/>
          </a:xfrm>
          <a:prstGeom prst="rect">
            <a:avLst/>
          </a:prstGeom>
          <a:noFill/>
        </p:spPr>
        <p:txBody>
          <a:bodyPr wrap="square">
            <a:spAutoFit/>
          </a:bodyPr>
          <a:lstStyle/>
          <a:p>
            <a:pPr algn="ctr">
              <a:defRPr sz="1100" b="1">
                <a:solidFill>
                  <a:srgbClr val="FFFFFF"/>
                </a:solidFill>
                <a:latin typeface="Calibri"/>
              </a:defRPr>
            </a:pPr>
            <a:r>
              <a:t>43</a:t>
            </a:r>
          </a:p>
        </p:txBody>
      </p:sp>
      <p:sp>
        <p:nvSpPr>
          <p:cNvPr id="125" name="Rectangle 124"/>
          <p:cNvSpPr/>
          <p:nvPr/>
        </p:nvSpPr>
        <p:spPr>
          <a:xfrm>
            <a:off x="9729216" y="364845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692640" y="3726180"/>
            <a:ext cx="1097280" cy="411480"/>
          </a:xfrm>
          <a:prstGeom prst="rect">
            <a:avLst/>
          </a:prstGeom>
          <a:noFill/>
        </p:spPr>
        <p:txBody>
          <a:bodyPr wrap="square">
            <a:spAutoFit/>
          </a:bodyPr>
          <a:lstStyle/>
          <a:p>
            <a:pPr algn="ctr">
              <a:defRPr sz="1100" b="1">
                <a:solidFill>
                  <a:srgbClr val="FFFFFF"/>
                </a:solidFill>
                <a:latin typeface="Calibri"/>
              </a:defRPr>
            </a:pPr>
            <a:r>
              <a:t>26</a:t>
            </a:r>
          </a:p>
        </p:txBody>
      </p:sp>
      <p:sp>
        <p:nvSpPr>
          <p:cNvPr id="127" name="TextBox 126"/>
          <p:cNvSpPr txBox="1"/>
          <p:nvPr/>
        </p:nvSpPr>
        <p:spPr>
          <a:xfrm>
            <a:off x="10789920" y="3726180"/>
            <a:ext cx="822960" cy="429768"/>
          </a:xfrm>
          <a:prstGeom prst="rect">
            <a:avLst/>
          </a:prstGeom>
          <a:noFill/>
        </p:spPr>
        <p:txBody>
          <a:bodyPr wrap="square">
            <a:spAutoFit/>
          </a:bodyPr>
          <a:lstStyle/>
          <a:p>
            <a:pPr algn="ctr">
              <a:defRPr sz="1100" b="1">
                <a:solidFill>
                  <a:srgbClr val="DC2626"/>
                </a:solidFill>
                <a:latin typeface="Calibri"/>
              </a:defRPr>
            </a:pPr>
            <a:r>
              <a:t>44%</a:t>
            </a:r>
          </a:p>
        </p:txBody>
      </p:sp>
      <p:sp>
        <p:nvSpPr>
          <p:cNvPr id="128" name="Rectangle 127"/>
          <p:cNvSpPr/>
          <p:nvPr/>
        </p:nvSpPr>
        <p:spPr>
          <a:xfrm>
            <a:off x="0" y="4279392"/>
            <a:ext cx="12191695"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82880" y="4352544"/>
            <a:ext cx="1371600" cy="201168"/>
          </a:xfrm>
          <a:prstGeom prst="rect">
            <a:avLst/>
          </a:prstGeom>
          <a:noFill/>
        </p:spPr>
        <p:txBody>
          <a:bodyPr wrap="square">
            <a:spAutoFit/>
          </a:bodyPr>
          <a:lstStyle/>
          <a:p>
            <a:pPr algn="l">
              <a:defRPr sz="850" b="1">
                <a:solidFill>
                  <a:srgbClr val="6B7280"/>
                </a:solidFill>
                <a:latin typeface="Calibri"/>
              </a:defRPr>
            </a:pPr>
            <a:r>
              <a:t>Rep</a:t>
            </a:r>
          </a:p>
        </p:txBody>
      </p:sp>
      <p:sp>
        <p:nvSpPr>
          <p:cNvPr id="130" name="TextBox 129"/>
          <p:cNvSpPr txBox="1"/>
          <p:nvPr/>
        </p:nvSpPr>
        <p:spPr>
          <a:xfrm>
            <a:off x="1554480" y="4352544"/>
            <a:ext cx="594360" cy="201168"/>
          </a:xfrm>
          <a:prstGeom prst="rect">
            <a:avLst/>
          </a:prstGeom>
          <a:noFill/>
        </p:spPr>
        <p:txBody>
          <a:bodyPr wrap="square">
            <a:spAutoFit/>
          </a:bodyPr>
          <a:lstStyle/>
          <a:p>
            <a:pPr algn="ctr">
              <a:defRPr sz="850" b="1">
                <a:solidFill>
                  <a:srgbClr val="6B7280"/>
                </a:solidFill>
                <a:latin typeface="Calibri"/>
              </a:defRPr>
            </a:pPr>
            <a:r>
              <a:t>Role</a:t>
            </a:r>
          </a:p>
        </p:txBody>
      </p:sp>
      <p:sp>
        <p:nvSpPr>
          <p:cNvPr id="131" name="TextBox 130"/>
          <p:cNvSpPr txBox="1"/>
          <p:nvPr/>
        </p:nvSpPr>
        <p:spPr>
          <a:xfrm>
            <a:off x="2148840" y="4352544"/>
            <a:ext cx="1188720" cy="201168"/>
          </a:xfrm>
          <a:prstGeom prst="rect">
            <a:avLst/>
          </a:prstGeom>
          <a:noFill/>
        </p:spPr>
        <p:txBody>
          <a:bodyPr wrap="square">
            <a:spAutoFit/>
          </a:bodyPr>
          <a:lstStyle/>
          <a:p>
            <a:pPr algn="ctr">
              <a:defRPr sz="850" b="1">
                <a:solidFill>
                  <a:srgbClr val="6B7280"/>
                </a:solidFill>
                <a:latin typeface="Calibri"/>
              </a:defRPr>
            </a:pPr>
            <a:r>
              <a:t>Calls</a:t>
            </a:r>
          </a:p>
        </p:txBody>
      </p:sp>
      <p:sp>
        <p:nvSpPr>
          <p:cNvPr id="132" name="TextBox 131"/>
          <p:cNvSpPr txBox="1"/>
          <p:nvPr/>
        </p:nvSpPr>
        <p:spPr>
          <a:xfrm>
            <a:off x="3337560" y="4352544"/>
            <a:ext cx="914400" cy="201168"/>
          </a:xfrm>
          <a:prstGeom prst="rect">
            <a:avLst/>
          </a:prstGeom>
          <a:noFill/>
        </p:spPr>
        <p:txBody>
          <a:bodyPr wrap="square">
            <a:spAutoFit/>
          </a:bodyPr>
          <a:lstStyle/>
          <a:p>
            <a:pPr algn="ctr">
              <a:defRPr sz="850" b="1">
                <a:solidFill>
                  <a:srgbClr val="6B7280"/>
                </a:solidFill>
                <a:latin typeface="Calibri"/>
              </a:defRPr>
            </a:pPr>
            <a:r>
              <a:t>Meetings</a:t>
            </a:r>
          </a:p>
        </p:txBody>
      </p:sp>
      <p:sp>
        <p:nvSpPr>
          <p:cNvPr id="133" name="TextBox 132"/>
          <p:cNvSpPr txBox="1"/>
          <p:nvPr/>
        </p:nvSpPr>
        <p:spPr>
          <a:xfrm>
            <a:off x="4251960" y="4352544"/>
            <a:ext cx="777240" cy="201168"/>
          </a:xfrm>
          <a:prstGeom prst="rect">
            <a:avLst/>
          </a:prstGeom>
          <a:noFill/>
        </p:spPr>
        <p:txBody>
          <a:bodyPr wrap="square">
            <a:spAutoFit/>
          </a:bodyPr>
          <a:lstStyle/>
          <a:p>
            <a:pPr algn="ctr">
              <a:defRPr sz="850" b="1">
                <a:solidFill>
                  <a:srgbClr val="6B7280"/>
                </a:solidFill>
                <a:latin typeface="Calibri"/>
              </a:defRPr>
            </a:pPr>
            <a:r>
              <a:t>Inbound</a:t>
            </a:r>
          </a:p>
        </p:txBody>
      </p:sp>
      <p:sp>
        <p:nvSpPr>
          <p:cNvPr id="134" name="TextBox 133"/>
          <p:cNvSpPr txBox="1"/>
          <p:nvPr/>
        </p:nvSpPr>
        <p:spPr>
          <a:xfrm>
            <a:off x="5029200" y="4352544"/>
            <a:ext cx="777240" cy="201168"/>
          </a:xfrm>
          <a:prstGeom prst="rect">
            <a:avLst/>
          </a:prstGeom>
          <a:noFill/>
        </p:spPr>
        <p:txBody>
          <a:bodyPr wrap="square">
            <a:spAutoFit/>
          </a:bodyPr>
          <a:lstStyle/>
          <a:p>
            <a:pPr algn="ctr">
              <a:defRPr sz="850" b="1">
                <a:solidFill>
                  <a:srgbClr val="6B7280"/>
                </a:solidFill>
                <a:latin typeface="Calibri"/>
              </a:defRPr>
            </a:pPr>
            <a:r>
              <a:t>Total</a:t>
            </a:r>
          </a:p>
        </p:txBody>
      </p:sp>
      <p:sp>
        <p:nvSpPr>
          <p:cNvPr id="135" name="TextBox 134"/>
          <p:cNvSpPr txBox="1"/>
          <p:nvPr/>
        </p:nvSpPr>
        <p:spPr>
          <a:xfrm>
            <a:off x="5806440" y="4352544"/>
            <a:ext cx="777240" cy="201168"/>
          </a:xfrm>
          <a:prstGeom prst="rect">
            <a:avLst/>
          </a:prstGeom>
          <a:noFill/>
        </p:spPr>
        <p:txBody>
          <a:bodyPr wrap="square">
            <a:spAutoFit/>
          </a:bodyPr>
          <a:lstStyle/>
          <a:p>
            <a:pPr algn="ctr">
              <a:defRPr sz="850" b="1">
                <a:solidFill>
                  <a:srgbClr val="6B7280"/>
                </a:solidFill>
                <a:latin typeface="Calibri"/>
              </a:defRPr>
            </a:pPr>
            <a:r>
              <a:t>Avg/Wk</a:t>
            </a:r>
          </a:p>
        </p:txBody>
      </p:sp>
      <p:sp>
        <p:nvSpPr>
          <p:cNvPr id="136" name="TextBox 135"/>
          <p:cNvSpPr txBox="1"/>
          <p:nvPr/>
        </p:nvSpPr>
        <p:spPr>
          <a:xfrm>
            <a:off x="6583679" y="4352544"/>
            <a:ext cx="914400" cy="201168"/>
          </a:xfrm>
          <a:prstGeom prst="rect">
            <a:avLst/>
          </a:prstGeom>
          <a:noFill/>
        </p:spPr>
        <p:txBody>
          <a:bodyPr wrap="square">
            <a:spAutoFit/>
          </a:bodyPr>
          <a:lstStyle/>
          <a:p>
            <a:pPr algn="ctr">
              <a:defRPr sz="850" b="1">
                <a:solidFill>
                  <a:srgbClr val="6B7280"/>
                </a:solidFill>
                <a:latin typeface="Calibri"/>
              </a:defRPr>
            </a:pPr>
            <a:r>
              <a:t>% to Goal</a:t>
            </a:r>
          </a:p>
        </p:txBody>
      </p:sp>
      <p:sp>
        <p:nvSpPr>
          <p:cNvPr id="137" name="TextBox 136"/>
          <p:cNvSpPr txBox="1"/>
          <p:nvPr/>
        </p:nvSpPr>
        <p:spPr>
          <a:xfrm>
            <a:off x="182880" y="4553712"/>
            <a:ext cx="1371600" cy="201168"/>
          </a:xfrm>
          <a:prstGeom prst="rect">
            <a:avLst/>
          </a:prstGeom>
          <a:noFill/>
        </p:spPr>
        <p:txBody>
          <a:bodyPr wrap="square">
            <a:spAutoFit/>
          </a:bodyPr>
          <a:lstStyle/>
          <a:p>
            <a:pPr algn="l">
              <a:defRPr sz="900" b="1">
                <a:solidFill>
                  <a:srgbClr val="111827"/>
                </a:solidFill>
                <a:latin typeface="Calibri"/>
              </a:defRPr>
            </a:pPr>
            <a:r>
              <a:t>Derek Janssen</a:t>
            </a:r>
          </a:p>
        </p:txBody>
      </p:sp>
      <p:sp>
        <p:nvSpPr>
          <p:cNvPr id="138" name="TextBox 137"/>
          <p:cNvSpPr txBox="1"/>
          <p:nvPr/>
        </p:nvSpPr>
        <p:spPr>
          <a:xfrm>
            <a:off x="1554480" y="4553712"/>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39" name="TextBox 138"/>
          <p:cNvSpPr txBox="1"/>
          <p:nvPr/>
        </p:nvSpPr>
        <p:spPr>
          <a:xfrm>
            <a:off x="2148840" y="4553712"/>
            <a:ext cx="1188720" cy="201168"/>
          </a:xfrm>
          <a:prstGeom prst="rect">
            <a:avLst/>
          </a:prstGeom>
          <a:noFill/>
        </p:spPr>
        <p:txBody>
          <a:bodyPr wrap="square">
            <a:spAutoFit/>
          </a:bodyPr>
          <a:lstStyle/>
          <a:p>
            <a:pPr algn="ctr">
              <a:defRPr sz="900" b="0">
                <a:solidFill>
                  <a:srgbClr val="111827"/>
                </a:solidFill>
                <a:latin typeface="Calibri"/>
              </a:defRPr>
            </a:pPr>
            <a:r>
              <a:t>470</a:t>
            </a:r>
          </a:p>
        </p:txBody>
      </p:sp>
      <p:sp>
        <p:nvSpPr>
          <p:cNvPr id="140" name="TextBox 139"/>
          <p:cNvSpPr txBox="1"/>
          <p:nvPr/>
        </p:nvSpPr>
        <p:spPr>
          <a:xfrm>
            <a:off x="3337560" y="4553712"/>
            <a:ext cx="914400" cy="201168"/>
          </a:xfrm>
          <a:prstGeom prst="rect">
            <a:avLst/>
          </a:prstGeom>
          <a:noFill/>
        </p:spPr>
        <p:txBody>
          <a:bodyPr wrap="square">
            <a:spAutoFit/>
          </a:bodyPr>
          <a:lstStyle/>
          <a:p>
            <a:pPr algn="ctr">
              <a:defRPr sz="900" b="0">
                <a:solidFill>
                  <a:srgbClr val="111827"/>
                </a:solidFill>
                <a:latin typeface="Calibri"/>
              </a:defRPr>
            </a:pPr>
            <a:r>
              <a:t>47</a:t>
            </a:r>
          </a:p>
        </p:txBody>
      </p:sp>
      <p:sp>
        <p:nvSpPr>
          <p:cNvPr id="141" name="TextBox 140"/>
          <p:cNvSpPr txBox="1"/>
          <p:nvPr/>
        </p:nvSpPr>
        <p:spPr>
          <a:xfrm>
            <a:off x="4251960" y="4553712"/>
            <a:ext cx="777240" cy="201168"/>
          </a:xfrm>
          <a:prstGeom prst="rect">
            <a:avLst/>
          </a:prstGeom>
          <a:noFill/>
        </p:spPr>
        <p:txBody>
          <a:bodyPr wrap="square">
            <a:spAutoFit/>
          </a:bodyPr>
          <a:lstStyle/>
          <a:p>
            <a:pPr algn="ctr">
              <a:defRPr sz="900" b="0">
                <a:solidFill>
                  <a:srgbClr val="6B7280"/>
                </a:solidFill>
                <a:latin typeface="Calibri"/>
              </a:defRPr>
            </a:pPr>
            <a:r>
              <a:t>98</a:t>
            </a:r>
          </a:p>
        </p:txBody>
      </p:sp>
      <p:sp>
        <p:nvSpPr>
          <p:cNvPr id="142" name="TextBox 141"/>
          <p:cNvSpPr txBox="1"/>
          <p:nvPr/>
        </p:nvSpPr>
        <p:spPr>
          <a:xfrm>
            <a:off x="5029200" y="4553712"/>
            <a:ext cx="777240" cy="201168"/>
          </a:xfrm>
          <a:prstGeom prst="rect">
            <a:avLst/>
          </a:prstGeom>
          <a:noFill/>
        </p:spPr>
        <p:txBody>
          <a:bodyPr wrap="square">
            <a:spAutoFit/>
          </a:bodyPr>
          <a:lstStyle/>
          <a:p>
            <a:pPr algn="ctr">
              <a:defRPr sz="900" b="0">
                <a:solidFill>
                  <a:srgbClr val="111827"/>
                </a:solidFill>
                <a:latin typeface="Calibri"/>
              </a:defRPr>
            </a:pPr>
            <a:r>
              <a:t>517</a:t>
            </a:r>
          </a:p>
        </p:txBody>
      </p:sp>
      <p:sp>
        <p:nvSpPr>
          <p:cNvPr id="143" name="TextBox 142"/>
          <p:cNvSpPr txBox="1"/>
          <p:nvPr/>
        </p:nvSpPr>
        <p:spPr>
          <a:xfrm>
            <a:off x="5806440" y="4553712"/>
            <a:ext cx="777240" cy="201168"/>
          </a:xfrm>
          <a:prstGeom prst="rect">
            <a:avLst/>
          </a:prstGeom>
          <a:noFill/>
        </p:spPr>
        <p:txBody>
          <a:bodyPr wrap="square">
            <a:spAutoFit/>
          </a:bodyPr>
          <a:lstStyle/>
          <a:p>
            <a:pPr algn="ctr">
              <a:defRPr sz="900" b="0">
                <a:solidFill>
                  <a:srgbClr val="111827"/>
                </a:solidFill>
                <a:latin typeface="Calibri"/>
              </a:defRPr>
            </a:pPr>
            <a:r>
              <a:t>60.1</a:t>
            </a:r>
          </a:p>
        </p:txBody>
      </p:sp>
      <p:sp>
        <p:nvSpPr>
          <p:cNvPr id="144" name="TextBox 143"/>
          <p:cNvSpPr txBox="1"/>
          <p:nvPr/>
        </p:nvSpPr>
        <p:spPr>
          <a:xfrm>
            <a:off x="6583679" y="4553712"/>
            <a:ext cx="914400" cy="201168"/>
          </a:xfrm>
          <a:prstGeom prst="rect">
            <a:avLst/>
          </a:prstGeom>
          <a:noFill/>
        </p:spPr>
        <p:txBody>
          <a:bodyPr wrap="square">
            <a:spAutoFit/>
          </a:bodyPr>
          <a:lstStyle/>
          <a:p>
            <a:pPr algn="ctr">
              <a:defRPr sz="900" b="0">
                <a:solidFill>
                  <a:srgbClr val="059669"/>
                </a:solidFill>
                <a:latin typeface="Calibri"/>
              </a:defRPr>
            </a:pPr>
            <a:r>
              <a:t>150%</a:t>
            </a:r>
          </a:p>
        </p:txBody>
      </p:sp>
      <p:sp>
        <p:nvSpPr>
          <p:cNvPr id="145" name="Rectangle 144"/>
          <p:cNvSpPr/>
          <p:nvPr/>
        </p:nvSpPr>
        <p:spPr>
          <a:xfrm>
            <a:off x="182880" y="4791456"/>
            <a:ext cx="731520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82880" y="4809744"/>
            <a:ext cx="1371600" cy="201168"/>
          </a:xfrm>
          <a:prstGeom prst="rect">
            <a:avLst/>
          </a:prstGeom>
          <a:noFill/>
        </p:spPr>
        <p:txBody>
          <a:bodyPr wrap="square">
            <a:spAutoFit/>
          </a:bodyPr>
          <a:lstStyle/>
          <a:p>
            <a:pPr algn="l">
              <a:defRPr sz="900" b="1">
                <a:solidFill>
                  <a:srgbClr val="111827"/>
                </a:solidFill>
                <a:latin typeface="Calibri"/>
              </a:defRPr>
            </a:pPr>
            <a:r>
              <a:t>Ron Douglas</a:t>
            </a:r>
          </a:p>
        </p:txBody>
      </p:sp>
      <p:sp>
        <p:nvSpPr>
          <p:cNvPr id="147" name="TextBox 146"/>
          <p:cNvSpPr txBox="1"/>
          <p:nvPr/>
        </p:nvSpPr>
        <p:spPr>
          <a:xfrm>
            <a:off x="1554480" y="4809744"/>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48" name="TextBox 147"/>
          <p:cNvSpPr txBox="1"/>
          <p:nvPr/>
        </p:nvSpPr>
        <p:spPr>
          <a:xfrm>
            <a:off x="2148840" y="4809744"/>
            <a:ext cx="1188720" cy="201168"/>
          </a:xfrm>
          <a:prstGeom prst="rect">
            <a:avLst/>
          </a:prstGeom>
          <a:noFill/>
        </p:spPr>
        <p:txBody>
          <a:bodyPr wrap="square">
            <a:spAutoFit/>
          </a:bodyPr>
          <a:lstStyle/>
          <a:p>
            <a:pPr algn="ctr">
              <a:defRPr sz="900" b="0">
                <a:solidFill>
                  <a:srgbClr val="111827"/>
                </a:solidFill>
                <a:latin typeface="Calibri"/>
              </a:defRPr>
            </a:pPr>
            <a:r>
              <a:t>290</a:t>
            </a:r>
          </a:p>
        </p:txBody>
      </p:sp>
      <p:sp>
        <p:nvSpPr>
          <p:cNvPr id="149" name="TextBox 148"/>
          <p:cNvSpPr txBox="1"/>
          <p:nvPr/>
        </p:nvSpPr>
        <p:spPr>
          <a:xfrm>
            <a:off x="3337560" y="4809744"/>
            <a:ext cx="914400" cy="201168"/>
          </a:xfrm>
          <a:prstGeom prst="rect">
            <a:avLst/>
          </a:prstGeom>
          <a:noFill/>
        </p:spPr>
        <p:txBody>
          <a:bodyPr wrap="square">
            <a:spAutoFit/>
          </a:bodyPr>
          <a:lstStyle/>
          <a:p>
            <a:pPr algn="ctr">
              <a:defRPr sz="900" b="0">
                <a:solidFill>
                  <a:srgbClr val="111827"/>
                </a:solidFill>
                <a:latin typeface="Calibri"/>
              </a:defRPr>
            </a:pPr>
            <a:r>
              <a:t>25</a:t>
            </a:r>
          </a:p>
        </p:txBody>
      </p:sp>
      <p:sp>
        <p:nvSpPr>
          <p:cNvPr id="150" name="TextBox 149"/>
          <p:cNvSpPr txBox="1"/>
          <p:nvPr/>
        </p:nvSpPr>
        <p:spPr>
          <a:xfrm>
            <a:off x="4251960" y="4809744"/>
            <a:ext cx="777240" cy="201168"/>
          </a:xfrm>
          <a:prstGeom prst="rect">
            <a:avLst/>
          </a:prstGeom>
          <a:noFill/>
        </p:spPr>
        <p:txBody>
          <a:bodyPr wrap="square">
            <a:spAutoFit/>
          </a:bodyPr>
          <a:lstStyle/>
          <a:p>
            <a:pPr algn="ctr">
              <a:defRPr sz="900" b="0">
                <a:solidFill>
                  <a:srgbClr val="6B7280"/>
                </a:solidFill>
                <a:latin typeface="Calibri"/>
              </a:defRPr>
            </a:pPr>
            <a:r>
              <a:t>87</a:t>
            </a:r>
          </a:p>
        </p:txBody>
      </p:sp>
      <p:sp>
        <p:nvSpPr>
          <p:cNvPr id="151" name="TextBox 150"/>
          <p:cNvSpPr txBox="1"/>
          <p:nvPr/>
        </p:nvSpPr>
        <p:spPr>
          <a:xfrm>
            <a:off x="5029200" y="4809744"/>
            <a:ext cx="777240" cy="201168"/>
          </a:xfrm>
          <a:prstGeom prst="rect">
            <a:avLst/>
          </a:prstGeom>
          <a:noFill/>
        </p:spPr>
        <p:txBody>
          <a:bodyPr wrap="square">
            <a:spAutoFit/>
          </a:bodyPr>
          <a:lstStyle/>
          <a:p>
            <a:pPr algn="ctr">
              <a:defRPr sz="900" b="0">
                <a:solidFill>
                  <a:srgbClr val="111827"/>
                </a:solidFill>
                <a:latin typeface="Calibri"/>
              </a:defRPr>
            </a:pPr>
            <a:r>
              <a:t>315</a:t>
            </a:r>
          </a:p>
        </p:txBody>
      </p:sp>
      <p:sp>
        <p:nvSpPr>
          <p:cNvPr id="152" name="TextBox 151"/>
          <p:cNvSpPr txBox="1"/>
          <p:nvPr/>
        </p:nvSpPr>
        <p:spPr>
          <a:xfrm>
            <a:off x="5806440" y="4809744"/>
            <a:ext cx="777240" cy="201168"/>
          </a:xfrm>
          <a:prstGeom prst="rect">
            <a:avLst/>
          </a:prstGeom>
          <a:noFill/>
        </p:spPr>
        <p:txBody>
          <a:bodyPr wrap="square">
            <a:spAutoFit/>
          </a:bodyPr>
          <a:lstStyle/>
          <a:p>
            <a:pPr algn="ctr">
              <a:defRPr sz="900" b="0">
                <a:solidFill>
                  <a:srgbClr val="111827"/>
                </a:solidFill>
                <a:latin typeface="Calibri"/>
              </a:defRPr>
            </a:pPr>
            <a:r>
              <a:t>38.6</a:t>
            </a:r>
          </a:p>
        </p:txBody>
      </p:sp>
      <p:sp>
        <p:nvSpPr>
          <p:cNvPr id="153" name="TextBox 152"/>
          <p:cNvSpPr txBox="1"/>
          <p:nvPr/>
        </p:nvSpPr>
        <p:spPr>
          <a:xfrm>
            <a:off x="6583679" y="4809744"/>
            <a:ext cx="914400" cy="201168"/>
          </a:xfrm>
          <a:prstGeom prst="rect">
            <a:avLst/>
          </a:prstGeom>
          <a:noFill/>
        </p:spPr>
        <p:txBody>
          <a:bodyPr wrap="square">
            <a:spAutoFit/>
          </a:bodyPr>
          <a:lstStyle/>
          <a:p>
            <a:pPr algn="ctr">
              <a:defRPr sz="900" b="0">
                <a:solidFill>
                  <a:srgbClr val="D97706"/>
                </a:solidFill>
                <a:latin typeface="Calibri"/>
              </a:defRPr>
            </a:pPr>
            <a:r>
              <a:t>96%</a:t>
            </a:r>
          </a:p>
        </p:txBody>
      </p:sp>
      <p:sp>
        <p:nvSpPr>
          <p:cNvPr id="154" name="TextBox 153"/>
          <p:cNvSpPr txBox="1"/>
          <p:nvPr/>
        </p:nvSpPr>
        <p:spPr>
          <a:xfrm>
            <a:off x="182880" y="5065776"/>
            <a:ext cx="1371600" cy="201168"/>
          </a:xfrm>
          <a:prstGeom prst="rect">
            <a:avLst/>
          </a:prstGeom>
          <a:noFill/>
        </p:spPr>
        <p:txBody>
          <a:bodyPr wrap="square">
            <a:spAutoFit/>
          </a:bodyPr>
          <a:lstStyle/>
          <a:p>
            <a:pPr algn="l">
              <a:defRPr sz="900" b="1">
                <a:solidFill>
                  <a:srgbClr val="111827"/>
                </a:solidFill>
                <a:latin typeface="Calibri"/>
              </a:defRPr>
            </a:pPr>
            <a:r>
              <a:t>Christopher Hayes</a:t>
            </a:r>
          </a:p>
        </p:txBody>
      </p:sp>
      <p:sp>
        <p:nvSpPr>
          <p:cNvPr id="155" name="TextBox 154"/>
          <p:cNvSpPr txBox="1"/>
          <p:nvPr/>
        </p:nvSpPr>
        <p:spPr>
          <a:xfrm>
            <a:off x="1554480" y="5065776"/>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56" name="TextBox 155"/>
          <p:cNvSpPr txBox="1"/>
          <p:nvPr/>
        </p:nvSpPr>
        <p:spPr>
          <a:xfrm>
            <a:off x="2148840" y="5065776"/>
            <a:ext cx="1188720" cy="201168"/>
          </a:xfrm>
          <a:prstGeom prst="rect">
            <a:avLst/>
          </a:prstGeom>
          <a:noFill/>
        </p:spPr>
        <p:txBody>
          <a:bodyPr wrap="square">
            <a:spAutoFit/>
          </a:bodyPr>
          <a:lstStyle/>
          <a:p>
            <a:pPr algn="ctr">
              <a:defRPr sz="900" b="0">
                <a:solidFill>
                  <a:srgbClr val="111827"/>
                </a:solidFill>
                <a:latin typeface="Calibri"/>
              </a:defRPr>
            </a:pPr>
            <a:r>
              <a:t>254</a:t>
            </a:r>
          </a:p>
        </p:txBody>
      </p:sp>
      <p:sp>
        <p:nvSpPr>
          <p:cNvPr id="157" name="TextBox 156"/>
          <p:cNvSpPr txBox="1"/>
          <p:nvPr/>
        </p:nvSpPr>
        <p:spPr>
          <a:xfrm>
            <a:off x="3337560" y="5065776"/>
            <a:ext cx="914400" cy="201168"/>
          </a:xfrm>
          <a:prstGeom prst="rect">
            <a:avLst/>
          </a:prstGeom>
          <a:noFill/>
        </p:spPr>
        <p:txBody>
          <a:bodyPr wrap="square">
            <a:spAutoFit/>
          </a:bodyPr>
          <a:lstStyle/>
          <a:p>
            <a:pPr algn="ctr">
              <a:defRPr sz="900" b="0">
                <a:solidFill>
                  <a:srgbClr val="111827"/>
                </a:solidFill>
                <a:latin typeface="Calibri"/>
              </a:defRPr>
            </a:pPr>
            <a:r>
              <a:t>13</a:t>
            </a:r>
          </a:p>
        </p:txBody>
      </p:sp>
      <p:sp>
        <p:nvSpPr>
          <p:cNvPr id="158" name="TextBox 157"/>
          <p:cNvSpPr txBox="1"/>
          <p:nvPr/>
        </p:nvSpPr>
        <p:spPr>
          <a:xfrm>
            <a:off x="4251960" y="5065776"/>
            <a:ext cx="777240" cy="201168"/>
          </a:xfrm>
          <a:prstGeom prst="rect">
            <a:avLst/>
          </a:prstGeom>
          <a:noFill/>
        </p:spPr>
        <p:txBody>
          <a:bodyPr wrap="square">
            <a:spAutoFit/>
          </a:bodyPr>
          <a:lstStyle/>
          <a:p>
            <a:pPr algn="ctr">
              <a:defRPr sz="900" b="0">
                <a:solidFill>
                  <a:srgbClr val="6B7280"/>
                </a:solidFill>
                <a:latin typeface="Calibri"/>
              </a:defRPr>
            </a:pPr>
            <a:r>
              <a:t>38</a:t>
            </a:r>
          </a:p>
        </p:txBody>
      </p:sp>
      <p:sp>
        <p:nvSpPr>
          <p:cNvPr id="159" name="TextBox 158"/>
          <p:cNvSpPr txBox="1"/>
          <p:nvPr/>
        </p:nvSpPr>
        <p:spPr>
          <a:xfrm>
            <a:off x="5029200" y="5065776"/>
            <a:ext cx="777240" cy="201168"/>
          </a:xfrm>
          <a:prstGeom prst="rect">
            <a:avLst/>
          </a:prstGeom>
          <a:noFill/>
        </p:spPr>
        <p:txBody>
          <a:bodyPr wrap="square">
            <a:spAutoFit/>
          </a:bodyPr>
          <a:lstStyle/>
          <a:p>
            <a:pPr algn="ctr">
              <a:defRPr sz="900" b="0">
                <a:solidFill>
                  <a:srgbClr val="111827"/>
                </a:solidFill>
                <a:latin typeface="Calibri"/>
              </a:defRPr>
            </a:pPr>
            <a:r>
              <a:t>267</a:t>
            </a:r>
          </a:p>
        </p:txBody>
      </p:sp>
      <p:sp>
        <p:nvSpPr>
          <p:cNvPr id="160" name="TextBox 159"/>
          <p:cNvSpPr txBox="1"/>
          <p:nvPr/>
        </p:nvSpPr>
        <p:spPr>
          <a:xfrm>
            <a:off x="5806440" y="5065776"/>
            <a:ext cx="777240" cy="201168"/>
          </a:xfrm>
          <a:prstGeom prst="rect">
            <a:avLst/>
          </a:prstGeom>
          <a:noFill/>
        </p:spPr>
        <p:txBody>
          <a:bodyPr wrap="square">
            <a:spAutoFit/>
          </a:bodyPr>
          <a:lstStyle/>
          <a:p>
            <a:pPr algn="ctr">
              <a:defRPr sz="900" b="0">
                <a:solidFill>
                  <a:srgbClr val="111827"/>
                </a:solidFill>
                <a:latin typeface="Calibri"/>
              </a:defRPr>
            </a:pPr>
            <a:r>
              <a:t>34.4</a:t>
            </a:r>
          </a:p>
        </p:txBody>
      </p:sp>
      <p:sp>
        <p:nvSpPr>
          <p:cNvPr id="161" name="TextBox 160"/>
          <p:cNvSpPr txBox="1"/>
          <p:nvPr/>
        </p:nvSpPr>
        <p:spPr>
          <a:xfrm>
            <a:off x="6583679" y="5065776"/>
            <a:ext cx="914400" cy="201168"/>
          </a:xfrm>
          <a:prstGeom prst="rect">
            <a:avLst/>
          </a:prstGeom>
          <a:noFill/>
        </p:spPr>
        <p:txBody>
          <a:bodyPr wrap="square">
            <a:spAutoFit/>
          </a:bodyPr>
          <a:lstStyle/>
          <a:p>
            <a:pPr algn="ctr">
              <a:defRPr sz="900" b="0">
                <a:solidFill>
                  <a:srgbClr val="D97706"/>
                </a:solidFill>
                <a:latin typeface="Calibri"/>
              </a:defRPr>
            </a:pPr>
            <a:r>
              <a:t>86%</a:t>
            </a:r>
          </a:p>
        </p:txBody>
      </p:sp>
      <p:sp>
        <p:nvSpPr>
          <p:cNvPr id="162" name="Rectangle 161"/>
          <p:cNvSpPr/>
          <p:nvPr/>
        </p:nvSpPr>
        <p:spPr>
          <a:xfrm>
            <a:off x="182880" y="5303520"/>
            <a:ext cx="731520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82880" y="5321808"/>
            <a:ext cx="1371600" cy="201168"/>
          </a:xfrm>
          <a:prstGeom prst="rect">
            <a:avLst/>
          </a:prstGeom>
          <a:noFill/>
        </p:spPr>
        <p:txBody>
          <a:bodyPr wrap="square">
            <a:spAutoFit/>
          </a:bodyPr>
          <a:lstStyle/>
          <a:p>
            <a:pPr algn="l">
              <a:defRPr sz="900" b="1">
                <a:solidFill>
                  <a:srgbClr val="111827"/>
                </a:solidFill>
                <a:latin typeface="Calibri"/>
              </a:defRPr>
            </a:pPr>
            <a:r>
              <a:t>Derrick Leroy</a:t>
            </a:r>
          </a:p>
        </p:txBody>
      </p:sp>
      <p:sp>
        <p:nvSpPr>
          <p:cNvPr id="164" name="TextBox 163"/>
          <p:cNvSpPr txBox="1"/>
          <p:nvPr/>
        </p:nvSpPr>
        <p:spPr>
          <a:xfrm>
            <a:off x="1554480" y="5321808"/>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65" name="TextBox 164"/>
          <p:cNvSpPr txBox="1"/>
          <p:nvPr/>
        </p:nvSpPr>
        <p:spPr>
          <a:xfrm>
            <a:off x="2148840" y="5321808"/>
            <a:ext cx="1188720" cy="201168"/>
          </a:xfrm>
          <a:prstGeom prst="rect">
            <a:avLst/>
          </a:prstGeom>
          <a:noFill/>
        </p:spPr>
        <p:txBody>
          <a:bodyPr wrap="square">
            <a:spAutoFit/>
          </a:bodyPr>
          <a:lstStyle/>
          <a:p>
            <a:pPr algn="ctr">
              <a:defRPr sz="900" b="0">
                <a:solidFill>
                  <a:srgbClr val="111827"/>
                </a:solidFill>
                <a:latin typeface="Calibri"/>
              </a:defRPr>
            </a:pPr>
            <a:r>
              <a:t>453</a:t>
            </a:r>
          </a:p>
        </p:txBody>
      </p:sp>
      <p:sp>
        <p:nvSpPr>
          <p:cNvPr id="166" name="TextBox 165"/>
          <p:cNvSpPr txBox="1"/>
          <p:nvPr/>
        </p:nvSpPr>
        <p:spPr>
          <a:xfrm>
            <a:off x="3337560" y="5321808"/>
            <a:ext cx="914400" cy="201168"/>
          </a:xfrm>
          <a:prstGeom prst="rect">
            <a:avLst/>
          </a:prstGeom>
          <a:noFill/>
        </p:spPr>
        <p:txBody>
          <a:bodyPr wrap="square">
            <a:spAutoFit/>
          </a:bodyPr>
          <a:lstStyle/>
          <a:p>
            <a:pPr algn="ctr">
              <a:defRPr sz="900" b="0">
                <a:solidFill>
                  <a:srgbClr val="111827"/>
                </a:solidFill>
                <a:latin typeface="Calibri"/>
              </a:defRPr>
            </a:pPr>
            <a:r>
              <a:t>20</a:t>
            </a:r>
          </a:p>
        </p:txBody>
      </p:sp>
      <p:sp>
        <p:nvSpPr>
          <p:cNvPr id="167" name="TextBox 166"/>
          <p:cNvSpPr txBox="1"/>
          <p:nvPr/>
        </p:nvSpPr>
        <p:spPr>
          <a:xfrm>
            <a:off x="4251960" y="5321808"/>
            <a:ext cx="777240" cy="201168"/>
          </a:xfrm>
          <a:prstGeom prst="rect">
            <a:avLst/>
          </a:prstGeom>
          <a:noFill/>
        </p:spPr>
        <p:txBody>
          <a:bodyPr wrap="square">
            <a:spAutoFit/>
          </a:bodyPr>
          <a:lstStyle/>
          <a:p>
            <a:pPr algn="ctr">
              <a:defRPr sz="900" b="0">
                <a:solidFill>
                  <a:srgbClr val="6B7280"/>
                </a:solidFill>
                <a:latin typeface="Calibri"/>
              </a:defRPr>
            </a:pPr>
            <a:r>
              <a:t>55</a:t>
            </a:r>
          </a:p>
        </p:txBody>
      </p:sp>
      <p:sp>
        <p:nvSpPr>
          <p:cNvPr id="168" name="TextBox 167"/>
          <p:cNvSpPr txBox="1"/>
          <p:nvPr/>
        </p:nvSpPr>
        <p:spPr>
          <a:xfrm>
            <a:off x="5029200" y="5321808"/>
            <a:ext cx="777240" cy="201168"/>
          </a:xfrm>
          <a:prstGeom prst="rect">
            <a:avLst/>
          </a:prstGeom>
          <a:noFill/>
        </p:spPr>
        <p:txBody>
          <a:bodyPr wrap="square">
            <a:spAutoFit/>
          </a:bodyPr>
          <a:lstStyle/>
          <a:p>
            <a:pPr algn="ctr">
              <a:defRPr sz="900" b="0">
                <a:solidFill>
                  <a:srgbClr val="111827"/>
                </a:solidFill>
                <a:latin typeface="Calibri"/>
              </a:defRPr>
            </a:pPr>
            <a:r>
              <a:t>473</a:t>
            </a:r>
          </a:p>
        </p:txBody>
      </p:sp>
      <p:sp>
        <p:nvSpPr>
          <p:cNvPr id="169" name="TextBox 168"/>
          <p:cNvSpPr txBox="1"/>
          <p:nvPr/>
        </p:nvSpPr>
        <p:spPr>
          <a:xfrm>
            <a:off x="5806440" y="5321808"/>
            <a:ext cx="777240" cy="201168"/>
          </a:xfrm>
          <a:prstGeom prst="rect">
            <a:avLst/>
          </a:prstGeom>
          <a:noFill/>
        </p:spPr>
        <p:txBody>
          <a:bodyPr wrap="square">
            <a:spAutoFit/>
          </a:bodyPr>
          <a:lstStyle/>
          <a:p>
            <a:pPr algn="ctr">
              <a:defRPr sz="900" b="0">
                <a:solidFill>
                  <a:srgbClr val="111827"/>
                </a:solidFill>
                <a:latin typeface="Calibri"/>
              </a:defRPr>
            </a:pPr>
            <a:r>
              <a:t>52.7</a:t>
            </a:r>
          </a:p>
        </p:txBody>
      </p:sp>
      <p:sp>
        <p:nvSpPr>
          <p:cNvPr id="170" name="TextBox 169"/>
          <p:cNvSpPr txBox="1"/>
          <p:nvPr/>
        </p:nvSpPr>
        <p:spPr>
          <a:xfrm>
            <a:off x="6583679" y="5321808"/>
            <a:ext cx="914400" cy="201168"/>
          </a:xfrm>
          <a:prstGeom prst="rect">
            <a:avLst/>
          </a:prstGeom>
          <a:noFill/>
        </p:spPr>
        <p:txBody>
          <a:bodyPr wrap="square">
            <a:spAutoFit/>
          </a:bodyPr>
          <a:lstStyle/>
          <a:p>
            <a:pPr algn="ctr">
              <a:defRPr sz="900" b="0">
                <a:solidFill>
                  <a:srgbClr val="059669"/>
                </a:solidFill>
                <a:latin typeface="Calibri"/>
              </a:defRPr>
            </a:pPr>
            <a:r>
              <a:t>132%</a:t>
            </a:r>
          </a:p>
        </p:txBody>
      </p:sp>
      <p:sp>
        <p:nvSpPr>
          <p:cNvPr id="171" name="TextBox 170"/>
          <p:cNvSpPr txBox="1"/>
          <p:nvPr/>
        </p:nvSpPr>
        <p:spPr>
          <a:xfrm>
            <a:off x="182880" y="5577840"/>
            <a:ext cx="1371600" cy="201168"/>
          </a:xfrm>
          <a:prstGeom prst="rect">
            <a:avLst/>
          </a:prstGeom>
          <a:noFill/>
        </p:spPr>
        <p:txBody>
          <a:bodyPr wrap="square">
            <a:spAutoFit/>
          </a:bodyPr>
          <a:lstStyle/>
          <a:p>
            <a:pPr algn="l">
              <a:defRPr sz="900" b="1">
                <a:solidFill>
                  <a:srgbClr val="111827"/>
                </a:solidFill>
                <a:latin typeface="Calibri"/>
              </a:defRPr>
            </a:pPr>
            <a:r>
              <a:t>Westy McLaughlin</a:t>
            </a:r>
          </a:p>
        </p:txBody>
      </p:sp>
      <p:sp>
        <p:nvSpPr>
          <p:cNvPr id="172" name="TextBox 171"/>
          <p:cNvSpPr txBox="1"/>
          <p:nvPr/>
        </p:nvSpPr>
        <p:spPr>
          <a:xfrm>
            <a:off x="1554480" y="5577840"/>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73" name="TextBox 172"/>
          <p:cNvSpPr txBox="1"/>
          <p:nvPr/>
        </p:nvSpPr>
        <p:spPr>
          <a:xfrm>
            <a:off x="2148840" y="5577840"/>
            <a:ext cx="1188720" cy="201168"/>
          </a:xfrm>
          <a:prstGeom prst="rect">
            <a:avLst/>
          </a:prstGeom>
          <a:noFill/>
        </p:spPr>
        <p:txBody>
          <a:bodyPr wrap="square">
            <a:spAutoFit/>
          </a:bodyPr>
          <a:lstStyle/>
          <a:p>
            <a:pPr algn="ctr">
              <a:defRPr sz="900" b="0">
                <a:solidFill>
                  <a:srgbClr val="111827"/>
                </a:solidFill>
                <a:latin typeface="Calibri"/>
              </a:defRPr>
            </a:pPr>
            <a:r>
              <a:t>270</a:t>
            </a:r>
          </a:p>
        </p:txBody>
      </p:sp>
      <p:sp>
        <p:nvSpPr>
          <p:cNvPr id="174" name="TextBox 173"/>
          <p:cNvSpPr txBox="1"/>
          <p:nvPr/>
        </p:nvSpPr>
        <p:spPr>
          <a:xfrm>
            <a:off x="3337560" y="5577840"/>
            <a:ext cx="914400" cy="201168"/>
          </a:xfrm>
          <a:prstGeom prst="rect">
            <a:avLst/>
          </a:prstGeom>
          <a:noFill/>
        </p:spPr>
        <p:txBody>
          <a:bodyPr wrap="square">
            <a:spAutoFit/>
          </a:bodyPr>
          <a:lstStyle/>
          <a:p>
            <a:pPr algn="ctr">
              <a:defRPr sz="900" b="0">
                <a:solidFill>
                  <a:srgbClr val="111827"/>
                </a:solidFill>
                <a:latin typeface="Calibri"/>
              </a:defRPr>
            </a:pPr>
            <a:r>
              <a:t>16</a:t>
            </a:r>
          </a:p>
        </p:txBody>
      </p:sp>
      <p:sp>
        <p:nvSpPr>
          <p:cNvPr id="175" name="TextBox 174"/>
          <p:cNvSpPr txBox="1"/>
          <p:nvPr/>
        </p:nvSpPr>
        <p:spPr>
          <a:xfrm>
            <a:off x="4251960" y="5577840"/>
            <a:ext cx="777240" cy="201168"/>
          </a:xfrm>
          <a:prstGeom prst="rect">
            <a:avLst/>
          </a:prstGeom>
          <a:noFill/>
        </p:spPr>
        <p:txBody>
          <a:bodyPr wrap="square">
            <a:spAutoFit/>
          </a:bodyPr>
          <a:lstStyle/>
          <a:p>
            <a:pPr algn="ctr">
              <a:defRPr sz="900" b="0">
                <a:solidFill>
                  <a:srgbClr val="6B7280"/>
                </a:solidFill>
                <a:latin typeface="Calibri"/>
              </a:defRPr>
            </a:pPr>
            <a:r>
              <a:t>51</a:t>
            </a:r>
          </a:p>
        </p:txBody>
      </p:sp>
      <p:sp>
        <p:nvSpPr>
          <p:cNvPr id="176" name="TextBox 175"/>
          <p:cNvSpPr txBox="1"/>
          <p:nvPr/>
        </p:nvSpPr>
        <p:spPr>
          <a:xfrm>
            <a:off x="5029200" y="5577840"/>
            <a:ext cx="777240" cy="201168"/>
          </a:xfrm>
          <a:prstGeom prst="rect">
            <a:avLst/>
          </a:prstGeom>
          <a:noFill/>
        </p:spPr>
        <p:txBody>
          <a:bodyPr wrap="square">
            <a:spAutoFit/>
          </a:bodyPr>
          <a:lstStyle/>
          <a:p>
            <a:pPr algn="ctr">
              <a:defRPr sz="900" b="0">
                <a:solidFill>
                  <a:srgbClr val="111827"/>
                </a:solidFill>
                <a:latin typeface="Calibri"/>
              </a:defRPr>
            </a:pPr>
            <a:r>
              <a:t>286</a:t>
            </a:r>
          </a:p>
        </p:txBody>
      </p:sp>
      <p:sp>
        <p:nvSpPr>
          <p:cNvPr id="177" name="TextBox 176"/>
          <p:cNvSpPr txBox="1"/>
          <p:nvPr/>
        </p:nvSpPr>
        <p:spPr>
          <a:xfrm>
            <a:off x="5806440" y="5577840"/>
            <a:ext cx="777240" cy="201168"/>
          </a:xfrm>
          <a:prstGeom prst="rect">
            <a:avLst/>
          </a:prstGeom>
          <a:noFill/>
        </p:spPr>
        <p:txBody>
          <a:bodyPr wrap="square">
            <a:spAutoFit/>
          </a:bodyPr>
          <a:lstStyle/>
          <a:p>
            <a:pPr algn="ctr">
              <a:defRPr sz="900" b="0">
                <a:solidFill>
                  <a:srgbClr val="111827"/>
                </a:solidFill>
                <a:latin typeface="Calibri"/>
              </a:defRPr>
            </a:pPr>
            <a:r>
              <a:t>35.3</a:t>
            </a:r>
          </a:p>
        </p:txBody>
      </p:sp>
      <p:sp>
        <p:nvSpPr>
          <p:cNvPr id="178" name="TextBox 177"/>
          <p:cNvSpPr txBox="1"/>
          <p:nvPr/>
        </p:nvSpPr>
        <p:spPr>
          <a:xfrm>
            <a:off x="6583679" y="5577840"/>
            <a:ext cx="914400" cy="201168"/>
          </a:xfrm>
          <a:prstGeom prst="rect">
            <a:avLst/>
          </a:prstGeom>
          <a:noFill/>
        </p:spPr>
        <p:txBody>
          <a:bodyPr wrap="square">
            <a:spAutoFit/>
          </a:bodyPr>
          <a:lstStyle/>
          <a:p>
            <a:pPr algn="ctr">
              <a:defRPr sz="900" b="0">
                <a:solidFill>
                  <a:srgbClr val="D97706"/>
                </a:solidFill>
                <a:latin typeface="Calibri"/>
              </a:defRPr>
            </a:pPr>
            <a:r>
              <a:t>88%</a:t>
            </a:r>
          </a:p>
        </p:txBody>
      </p:sp>
      <p:sp>
        <p:nvSpPr>
          <p:cNvPr id="179" name="Rectangle 178"/>
          <p:cNvSpPr/>
          <p:nvPr/>
        </p:nvSpPr>
        <p:spPr>
          <a:xfrm>
            <a:off x="182880" y="5815584"/>
            <a:ext cx="731520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182880" y="5833872"/>
            <a:ext cx="1371600" cy="201168"/>
          </a:xfrm>
          <a:prstGeom prst="rect">
            <a:avLst/>
          </a:prstGeom>
          <a:noFill/>
        </p:spPr>
        <p:txBody>
          <a:bodyPr wrap="square">
            <a:spAutoFit/>
          </a:bodyPr>
          <a:lstStyle/>
          <a:p>
            <a:pPr algn="l">
              <a:defRPr sz="900" b="1">
                <a:solidFill>
                  <a:srgbClr val="111827"/>
                </a:solidFill>
                <a:latin typeface="Calibri"/>
              </a:defRPr>
            </a:pPr>
            <a:r>
              <a:t>Alexis Berrysmith</a:t>
            </a:r>
          </a:p>
        </p:txBody>
      </p:sp>
      <p:sp>
        <p:nvSpPr>
          <p:cNvPr id="181" name="TextBox 180"/>
          <p:cNvSpPr txBox="1"/>
          <p:nvPr/>
        </p:nvSpPr>
        <p:spPr>
          <a:xfrm>
            <a:off x="1554480" y="5833872"/>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82" name="TextBox 181"/>
          <p:cNvSpPr txBox="1"/>
          <p:nvPr/>
        </p:nvSpPr>
        <p:spPr>
          <a:xfrm>
            <a:off x="2148840" y="5833872"/>
            <a:ext cx="1188720" cy="201168"/>
          </a:xfrm>
          <a:prstGeom prst="rect">
            <a:avLst/>
          </a:prstGeom>
          <a:noFill/>
        </p:spPr>
        <p:txBody>
          <a:bodyPr wrap="square">
            <a:spAutoFit/>
          </a:bodyPr>
          <a:lstStyle/>
          <a:p>
            <a:pPr algn="ctr">
              <a:defRPr sz="900" b="0">
                <a:solidFill>
                  <a:srgbClr val="111827"/>
                </a:solidFill>
                <a:latin typeface="Calibri"/>
              </a:defRPr>
            </a:pPr>
            <a:r>
              <a:t>133</a:t>
            </a:r>
          </a:p>
        </p:txBody>
      </p:sp>
      <p:sp>
        <p:nvSpPr>
          <p:cNvPr id="183" name="TextBox 182"/>
          <p:cNvSpPr txBox="1"/>
          <p:nvPr/>
        </p:nvSpPr>
        <p:spPr>
          <a:xfrm>
            <a:off x="3337560" y="5833872"/>
            <a:ext cx="914400" cy="201168"/>
          </a:xfrm>
          <a:prstGeom prst="rect">
            <a:avLst/>
          </a:prstGeom>
          <a:noFill/>
        </p:spPr>
        <p:txBody>
          <a:bodyPr wrap="square">
            <a:spAutoFit/>
          </a:bodyPr>
          <a:lstStyle/>
          <a:p>
            <a:pPr algn="ctr">
              <a:defRPr sz="900" b="0">
                <a:solidFill>
                  <a:srgbClr val="111827"/>
                </a:solidFill>
                <a:latin typeface="Calibri"/>
              </a:defRPr>
            </a:pPr>
            <a:r>
              <a:t>17</a:t>
            </a:r>
          </a:p>
        </p:txBody>
      </p:sp>
      <p:sp>
        <p:nvSpPr>
          <p:cNvPr id="184" name="TextBox 183"/>
          <p:cNvSpPr txBox="1"/>
          <p:nvPr/>
        </p:nvSpPr>
        <p:spPr>
          <a:xfrm>
            <a:off x="4251960" y="5833872"/>
            <a:ext cx="777240" cy="201168"/>
          </a:xfrm>
          <a:prstGeom prst="rect">
            <a:avLst/>
          </a:prstGeom>
          <a:noFill/>
        </p:spPr>
        <p:txBody>
          <a:bodyPr wrap="square">
            <a:spAutoFit/>
          </a:bodyPr>
          <a:lstStyle/>
          <a:p>
            <a:pPr algn="ctr">
              <a:defRPr sz="900" b="0">
                <a:solidFill>
                  <a:srgbClr val="6B7280"/>
                </a:solidFill>
                <a:latin typeface="Calibri"/>
              </a:defRPr>
            </a:pPr>
            <a:r>
              <a:t>15</a:t>
            </a:r>
          </a:p>
        </p:txBody>
      </p:sp>
      <p:sp>
        <p:nvSpPr>
          <p:cNvPr id="185" name="TextBox 184"/>
          <p:cNvSpPr txBox="1"/>
          <p:nvPr/>
        </p:nvSpPr>
        <p:spPr>
          <a:xfrm>
            <a:off x="5029200" y="5833872"/>
            <a:ext cx="777240" cy="201168"/>
          </a:xfrm>
          <a:prstGeom prst="rect">
            <a:avLst/>
          </a:prstGeom>
          <a:noFill/>
        </p:spPr>
        <p:txBody>
          <a:bodyPr wrap="square">
            <a:spAutoFit/>
          </a:bodyPr>
          <a:lstStyle/>
          <a:p>
            <a:pPr algn="ctr">
              <a:defRPr sz="900" b="0">
                <a:solidFill>
                  <a:srgbClr val="111827"/>
                </a:solidFill>
                <a:latin typeface="Calibri"/>
              </a:defRPr>
            </a:pPr>
            <a:r>
              <a:t>150</a:t>
            </a:r>
          </a:p>
        </p:txBody>
      </p:sp>
      <p:sp>
        <p:nvSpPr>
          <p:cNvPr id="186" name="TextBox 185"/>
          <p:cNvSpPr txBox="1"/>
          <p:nvPr/>
        </p:nvSpPr>
        <p:spPr>
          <a:xfrm>
            <a:off x="5806440" y="5833872"/>
            <a:ext cx="777240" cy="201168"/>
          </a:xfrm>
          <a:prstGeom prst="rect">
            <a:avLst/>
          </a:prstGeom>
          <a:noFill/>
        </p:spPr>
        <p:txBody>
          <a:bodyPr wrap="square">
            <a:spAutoFit/>
          </a:bodyPr>
          <a:lstStyle/>
          <a:p>
            <a:pPr algn="ctr">
              <a:defRPr sz="900" b="0">
                <a:solidFill>
                  <a:srgbClr val="111827"/>
                </a:solidFill>
                <a:latin typeface="Calibri"/>
              </a:defRPr>
            </a:pPr>
            <a:r>
              <a:t>17.7</a:t>
            </a:r>
          </a:p>
        </p:txBody>
      </p:sp>
      <p:sp>
        <p:nvSpPr>
          <p:cNvPr id="187" name="TextBox 186"/>
          <p:cNvSpPr txBox="1"/>
          <p:nvPr/>
        </p:nvSpPr>
        <p:spPr>
          <a:xfrm>
            <a:off x="6583679" y="5833872"/>
            <a:ext cx="914400" cy="201168"/>
          </a:xfrm>
          <a:prstGeom prst="rect">
            <a:avLst/>
          </a:prstGeom>
          <a:noFill/>
        </p:spPr>
        <p:txBody>
          <a:bodyPr wrap="square">
            <a:spAutoFit/>
          </a:bodyPr>
          <a:lstStyle/>
          <a:p>
            <a:pPr algn="ctr">
              <a:defRPr sz="900" b="0">
                <a:solidFill>
                  <a:srgbClr val="DC2626"/>
                </a:solidFill>
                <a:latin typeface="Calibri"/>
              </a:defRPr>
            </a:pPr>
            <a:r>
              <a:t>44%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Activity Dashboard — Q2 2026  |  BDAs  |  Calls + Meetings</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YTD  |  Apr 1–May 29  |  BDAs Only  |  Goal: 50 acts/wk  |  Emails excluded</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29, 2026</a:t>
            </a:r>
          </a:p>
        </p:txBody>
      </p:sp>
      <p:sp>
        <p:nvSpPr>
          <p:cNvPr id="6" name="Rectangle 5"/>
          <p:cNvSpPr/>
          <p:nvPr/>
        </p:nvSpPr>
        <p:spPr>
          <a:xfrm>
            <a:off x="182880" y="804672"/>
            <a:ext cx="11430000" cy="27432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850392"/>
            <a:ext cx="1828800" cy="201168"/>
          </a:xfrm>
          <a:prstGeom prst="rect">
            <a:avLst/>
          </a:prstGeom>
          <a:noFill/>
        </p:spPr>
        <p:txBody>
          <a:bodyPr wrap="square">
            <a:spAutoFit/>
          </a:bodyPr>
          <a:lstStyle/>
          <a:p>
            <a:pPr algn="l">
              <a:defRPr sz="950" b="1">
                <a:solidFill>
                  <a:srgbClr val="FFFFFF"/>
                </a:solidFill>
                <a:latin typeface="Calibri"/>
              </a:defRPr>
            </a:pPr>
            <a:r>
              <a:t>Rep</a:t>
            </a:r>
          </a:p>
        </p:txBody>
      </p:sp>
      <p:sp>
        <p:nvSpPr>
          <p:cNvPr id="8" name="TextBox 7"/>
          <p:cNvSpPr txBox="1"/>
          <p:nvPr/>
        </p:nvSpPr>
        <p:spPr>
          <a:xfrm>
            <a:off x="2011680" y="850392"/>
            <a:ext cx="1097280" cy="201168"/>
          </a:xfrm>
          <a:prstGeom prst="rect">
            <a:avLst/>
          </a:prstGeom>
          <a:noFill/>
        </p:spPr>
        <p:txBody>
          <a:bodyPr wrap="square">
            <a:spAutoFit/>
          </a:bodyPr>
          <a:lstStyle/>
          <a:p>
            <a:pPr algn="ctr">
              <a:defRPr sz="900" b="1">
                <a:solidFill>
                  <a:srgbClr val="FFFFFF"/>
                </a:solidFill>
                <a:latin typeface="Calibri"/>
              </a:defRPr>
            </a:pPr>
            <a:r>
              <a:t>Apr 6-12</a:t>
            </a:r>
          </a:p>
        </p:txBody>
      </p:sp>
      <p:sp>
        <p:nvSpPr>
          <p:cNvPr id="9" name="TextBox 8"/>
          <p:cNvSpPr txBox="1"/>
          <p:nvPr/>
        </p:nvSpPr>
        <p:spPr>
          <a:xfrm>
            <a:off x="3108960" y="850392"/>
            <a:ext cx="1097280" cy="201168"/>
          </a:xfrm>
          <a:prstGeom prst="rect">
            <a:avLst/>
          </a:prstGeom>
          <a:noFill/>
        </p:spPr>
        <p:txBody>
          <a:bodyPr wrap="square">
            <a:spAutoFit/>
          </a:bodyPr>
          <a:lstStyle/>
          <a:p>
            <a:pPr algn="ctr">
              <a:defRPr sz="900" b="1">
                <a:solidFill>
                  <a:srgbClr val="FFFFFF"/>
                </a:solidFill>
                <a:latin typeface="Calibri"/>
              </a:defRPr>
            </a:pPr>
            <a:r>
              <a:t>Apr 13-19</a:t>
            </a:r>
          </a:p>
        </p:txBody>
      </p:sp>
      <p:sp>
        <p:nvSpPr>
          <p:cNvPr id="10" name="TextBox 9"/>
          <p:cNvSpPr txBox="1"/>
          <p:nvPr/>
        </p:nvSpPr>
        <p:spPr>
          <a:xfrm>
            <a:off x="4206240" y="850392"/>
            <a:ext cx="1097280" cy="201168"/>
          </a:xfrm>
          <a:prstGeom prst="rect">
            <a:avLst/>
          </a:prstGeom>
          <a:noFill/>
        </p:spPr>
        <p:txBody>
          <a:bodyPr wrap="square">
            <a:spAutoFit/>
          </a:bodyPr>
          <a:lstStyle/>
          <a:p>
            <a:pPr algn="ctr">
              <a:defRPr sz="900" b="1">
                <a:solidFill>
                  <a:srgbClr val="FFFFFF"/>
                </a:solidFill>
                <a:latin typeface="Calibri"/>
              </a:defRPr>
            </a:pPr>
            <a:r>
              <a:t>Apr 20-26</a:t>
            </a:r>
          </a:p>
        </p:txBody>
      </p:sp>
      <p:sp>
        <p:nvSpPr>
          <p:cNvPr id="11" name="TextBox 10"/>
          <p:cNvSpPr txBox="1"/>
          <p:nvPr/>
        </p:nvSpPr>
        <p:spPr>
          <a:xfrm>
            <a:off x="5303520" y="850392"/>
            <a:ext cx="1097280" cy="201168"/>
          </a:xfrm>
          <a:prstGeom prst="rect">
            <a:avLst/>
          </a:prstGeom>
          <a:noFill/>
        </p:spPr>
        <p:txBody>
          <a:bodyPr wrap="square">
            <a:spAutoFit/>
          </a:bodyPr>
          <a:lstStyle/>
          <a:p>
            <a:pPr algn="ctr">
              <a:defRPr sz="900" b="1">
                <a:solidFill>
                  <a:srgbClr val="FFFFFF"/>
                </a:solidFill>
                <a:latin typeface="Calibri"/>
              </a:defRPr>
            </a:pPr>
            <a:r>
              <a:t>Apr 27-May 3</a:t>
            </a:r>
          </a:p>
        </p:txBody>
      </p:sp>
      <p:sp>
        <p:nvSpPr>
          <p:cNvPr id="12" name="TextBox 11"/>
          <p:cNvSpPr txBox="1"/>
          <p:nvPr/>
        </p:nvSpPr>
        <p:spPr>
          <a:xfrm>
            <a:off x="6400800" y="850392"/>
            <a:ext cx="1097280" cy="201168"/>
          </a:xfrm>
          <a:prstGeom prst="rect">
            <a:avLst/>
          </a:prstGeom>
          <a:noFill/>
        </p:spPr>
        <p:txBody>
          <a:bodyPr wrap="square">
            <a:spAutoFit/>
          </a:bodyPr>
          <a:lstStyle/>
          <a:p>
            <a:pPr algn="ctr">
              <a:defRPr sz="900" b="1">
                <a:solidFill>
                  <a:srgbClr val="FFFFFF"/>
                </a:solidFill>
                <a:latin typeface="Calibri"/>
              </a:defRPr>
            </a:pPr>
            <a:r>
              <a:t>May 4-10</a:t>
            </a:r>
          </a:p>
        </p:txBody>
      </p:sp>
      <p:sp>
        <p:nvSpPr>
          <p:cNvPr id="13" name="TextBox 12"/>
          <p:cNvSpPr txBox="1"/>
          <p:nvPr/>
        </p:nvSpPr>
        <p:spPr>
          <a:xfrm>
            <a:off x="7498079" y="850392"/>
            <a:ext cx="1097280" cy="201168"/>
          </a:xfrm>
          <a:prstGeom prst="rect">
            <a:avLst/>
          </a:prstGeom>
          <a:noFill/>
        </p:spPr>
        <p:txBody>
          <a:bodyPr wrap="square">
            <a:spAutoFit/>
          </a:bodyPr>
          <a:lstStyle/>
          <a:p>
            <a:pPr algn="ctr">
              <a:defRPr sz="900" b="1">
                <a:solidFill>
                  <a:srgbClr val="FFFFFF"/>
                </a:solidFill>
                <a:latin typeface="Calibri"/>
              </a:defRPr>
            </a:pPr>
            <a:r>
              <a:t>May 11-17</a:t>
            </a:r>
          </a:p>
        </p:txBody>
      </p:sp>
      <p:sp>
        <p:nvSpPr>
          <p:cNvPr id="14" name="TextBox 13"/>
          <p:cNvSpPr txBox="1"/>
          <p:nvPr/>
        </p:nvSpPr>
        <p:spPr>
          <a:xfrm>
            <a:off x="8595359" y="850392"/>
            <a:ext cx="1097280" cy="201168"/>
          </a:xfrm>
          <a:prstGeom prst="rect">
            <a:avLst/>
          </a:prstGeom>
          <a:noFill/>
        </p:spPr>
        <p:txBody>
          <a:bodyPr wrap="square">
            <a:spAutoFit/>
          </a:bodyPr>
          <a:lstStyle/>
          <a:p>
            <a:pPr algn="ctr">
              <a:defRPr sz="900" b="1">
                <a:solidFill>
                  <a:srgbClr val="FFFFFF"/>
                </a:solidFill>
                <a:latin typeface="Calibri"/>
              </a:defRPr>
            </a:pPr>
            <a:r>
              <a:t>May 18-24</a:t>
            </a:r>
          </a:p>
        </p:txBody>
      </p:sp>
      <p:sp>
        <p:nvSpPr>
          <p:cNvPr id="15" name="TextBox 14"/>
          <p:cNvSpPr txBox="1"/>
          <p:nvPr/>
        </p:nvSpPr>
        <p:spPr>
          <a:xfrm>
            <a:off x="9692640" y="850392"/>
            <a:ext cx="1097280" cy="201168"/>
          </a:xfrm>
          <a:prstGeom prst="rect">
            <a:avLst/>
          </a:prstGeom>
          <a:noFill/>
        </p:spPr>
        <p:txBody>
          <a:bodyPr wrap="square">
            <a:spAutoFit/>
          </a:bodyPr>
          <a:lstStyle/>
          <a:p>
            <a:pPr algn="ctr">
              <a:defRPr sz="900" b="1">
                <a:solidFill>
                  <a:srgbClr val="FFFFFF"/>
                </a:solidFill>
                <a:latin typeface="Calibri"/>
              </a:defRPr>
            </a:pPr>
            <a:r>
              <a:t>May 25-29</a:t>
            </a:r>
          </a:p>
        </p:txBody>
      </p:sp>
      <p:sp>
        <p:nvSpPr>
          <p:cNvPr id="16" name="TextBox 15"/>
          <p:cNvSpPr txBox="1"/>
          <p:nvPr/>
        </p:nvSpPr>
        <p:spPr>
          <a:xfrm>
            <a:off x="10789920" y="850392"/>
            <a:ext cx="822960" cy="201168"/>
          </a:xfrm>
          <a:prstGeom prst="rect">
            <a:avLst/>
          </a:prstGeom>
          <a:noFill/>
        </p:spPr>
        <p:txBody>
          <a:bodyPr wrap="square">
            <a:spAutoFit/>
          </a:bodyPr>
          <a:lstStyle/>
          <a:p>
            <a:pPr algn="ctr">
              <a:defRPr sz="950" b="1">
                <a:solidFill>
                  <a:srgbClr val="FFFFFF"/>
                </a:solidFill>
                <a:latin typeface="Calibri"/>
              </a:defRPr>
            </a:pPr>
            <a:r>
              <a:t>Avg %</a:t>
            </a:r>
          </a:p>
        </p:txBody>
      </p:sp>
      <p:sp>
        <p:nvSpPr>
          <p:cNvPr id="17" name="TextBox 16"/>
          <p:cNvSpPr txBox="1"/>
          <p:nvPr/>
        </p:nvSpPr>
        <p:spPr>
          <a:xfrm>
            <a:off x="256032" y="1234440"/>
            <a:ext cx="1828800" cy="475488"/>
          </a:xfrm>
          <a:prstGeom prst="rect">
            <a:avLst/>
          </a:prstGeom>
          <a:noFill/>
        </p:spPr>
        <p:txBody>
          <a:bodyPr wrap="square">
            <a:spAutoFit/>
          </a:bodyPr>
          <a:lstStyle/>
          <a:p>
            <a:pPr algn="l">
              <a:defRPr sz="900" b="1">
                <a:solidFill>
                  <a:srgbClr val="111827"/>
                </a:solidFill>
                <a:latin typeface="Calibri"/>
              </a:defRPr>
            </a:pPr>
            <a:r>
              <a:t>Cameron Brader</a:t>
            </a:r>
          </a:p>
        </p:txBody>
      </p:sp>
      <p:sp>
        <p:nvSpPr>
          <p:cNvPr id="18" name="Rectangle 17"/>
          <p:cNvSpPr/>
          <p:nvPr/>
        </p:nvSpPr>
        <p:spPr>
          <a:xfrm>
            <a:off x="2048256" y="113385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11680" y="1234440"/>
            <a:ext cx="1097280" cy="457200"/>
          </a:xfrm>
          <a:prstGeom prst="rect">
            <a:avLst/>
          </a:prstGeom>
          <a:noFill/>
        </p:spPr>
        <p:txBody>
          <a:bodyPr wrap="square">
            <a:spAutoFit/>
          </a:bodyPr>
          <a:lstStyle/>
          <a:p>
            <a:pPr algn="ctr">
              <a:defRPr sz="1100" b="1">
                <a:solidFill>
                  <a:srgbClr val="FFFFFF"/>
                </a:solidFill>
                <a:latin typeface="Calibri"/>
              </a:defRPr>
            </a:pPr>
            <a:r>
              <a:t>31</a:t>
            </a:r>
          </a:p>
        </p:txBody>
      </p:sp>
      <p:sp>
        <p:nvSpPr>
          <p:cNvPr id="20" name="Rectangle 19"/>
          <p:cNvSpPr/>
          <p:nvPr/>
        </p:nvSpPr>
        <p:spPr>
          <a:xfrm>
            <a:off x="3145536" y="113385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8960" y="1234440"/>
            <a:ext cx="1097280" cy="457200"/>
          </a:xfrm>
          <a:prstGeom prst="rect">
            <a:avLst/>
          </a:prstGeom>
          <a:noFill/>
        </p:spPr>
        <p:txBody>
          <a:bodyPr wrap="square">
            <a:spAutoFit/>
          </a:bodyPr>
          <a:lstStyle/>
          <a:p>
            <a:pPr algn="ctr">
              <a:defRPr sz="1100" b="1">
                <a:solidFill>
                  <a:srgbClr val="FFFFFF"/>
                </a:solidFill>
                <a:latin typeface="Calibri"/>
              </a:defRPr>
            </a:pPr>
            <a:r>
              <a:t>58</a:t>
            </a:r>
          </a:p>
        </p:txBody>
      </p:sp>
      <p:sp>
        <p:nvSpPr>
          <p:cNvPr id="22" name="Rectangle 21"/>
          <p:cNvSpPr/>
          <p:nvPr/>
        </p:nvSpPr>
        <p:spPr>
          <a:xfrm>
            <a:off x="4242816" y="113385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06240" y="1234440"/>
            <a:ext cx="1097280" cy="457200"/>
          </a:xfrm>
          <a:prstGeom prst="rect">
            <a:avLst/>
          </a:prstGeom>
          <a:noFill/>
        </p:spPr>
        <p:txBody>
          <a:bodyPr wrap="square">
            <a:spAutoFit/>
          </a:bodyPr>
          <a:lstStyle/>
          <a:p>
            <a:pPr algn="ctr">
              <a:defRPr sz="1100" b="1">
                <a:solidFill>
                  <a:srgbClr val="FFFFFF"/>
                </a:solidFill>
                <a:latin typeface="Calibri"/>
              </a:defRPr>
            </a:pPr>
            <a:r>
              <a:t>38</a:t>
            </a:r>
          </a:p>
        </p:txBody>
      </p:sp>
      <p:sp>
        <p:nvSpPr>
          <p:cNvPr id="24" name="Rectangle 23"/>
          <p:cNvSpPr/>
          <p:nvPr/>
        </p:nvSpPr>
        <p:spPr>
          <a:xfrm>
            <a:off x="5340096" y="113385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0" y="1234440"/>
            <a:ext cx="1097280" cy="457200"/>
          </a:xfrm>
          <a:prstGeom prst="rect">
            <a:avLst/>
          </a:prstGeom>
          <a:noFill/>
        </p:spPr>
        <p:txBody>
          <a:bodyPr wrap="square">
            <a:spAutoFit/>
          </a:bodyPr>
          <a:lstStyle/>
          <a:p>
            <a:pPr algn="ctr">
              <a:defRPr sz="1100" b="1">
                <a:solidFill>
                  <a:srgbClr val="FFFFFF"/>
                </a:solidFill>
                <a:latin typeface="Calibri"/>
              </a:defRPr>
            </a:pPr>
            <a:r>
              <a:t>57</a:t>
            </a:r>
          </a:p>
        </p:txBody>
      </p:sp>
      <p:sp>
        <p:nvSpPr>
          <p:cNvPr id="26" name="Rectangle 25"/>
          <p:cNvSpPr/>
          <p:nvPr/>
        </p:nvSpPr>
        <p:spPr>
          <a:xfrm>
            <a:off x="6437376" y="113385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1234440"/>
            <a:ext cx="1097280" cy="457200"/>
          </a:xfrm>
          <a:prstGeom prst="rect">
            <a:avLst/>
          </a:prstGeom>
          <a:noFill/>
        </p:spPr>
        <p:txBody>
          <a:bodyPr wrap="square">
            <a:spAutoFit/>
          </a:bodyPr>
          <a:lstStyle/>
          <a:p>
            <a:pPr algn="ctr">
              <a:defRPr sz="1100" b="1">
                <a:solidFill>
                  <a:srgbClr val="FFFFFF"/>
                </a:solidFill>
                <a:latin typeface="Calibri"/>
              </a:defRPr>
            </a:pPr>
            <a:r>
              <a:t>53</a:t>
            </a:r>
          </a:p>
        </p:txBody>
      </p:sp>
      <p:sp>
        <p:nvSpPr>
          <p:cNvPr id="28" name="Rectangle 27"/>
          <p:cNvSpPr/>
          <p:nvPr/>
        </p:nvSpPr>
        <p:spPr>
          <a:xfrm>
            <a:off x="7534655" y="113385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79" y="1234440"/>
            <a:ext cx="1097280" cy="457200"/>
          </a:xfrm>
          <a:prstGeom prst="rect">
            <a:avLst/>
          </a:prstGeom>
          <a:noFill/>
        </p:spPr>
        <p:txBody>
          <a:bodyPr wrap="square">
            <a:spAutoFit/>
          </a:bodyPr>
          <a:lstStyle/>
          <a:p>
            <a:pPr algn="ctr">
              <a:defRPr sz="1100" b="1">
                <a:solidFill>
                  <a:srgbClr val="FFFFFF"/>
                </a:solidFill>
                <a:latin typeface="Calibri"/>
              </a:defRPr>
            </a:pPr>
            <a:r>
              <a:t>48</a:t>
            </a:r>
          </a:p>
        </p:txBody>
      </p:sp>
      <p:sp>
        <p:nvSpPr>
          <p:cNvPr id="30" name="Rectangle 29"/>
          <p:cNvSpPr/>
          <p:nvPr/>
        </p:nvSpPr>
        <p:spPr>
          <a:xfrm>
            <a:off x="8631935" y="113385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59" y="1234440"/>
            <a:ext cx="1097280" cy="457200"/>
          </a:xfrm>
          <a:prstGeom prst="rect">
            <a:avLst/>
          </a:prstGeom>
          <a:noFill/>
        </p:spPr>
        <p:txBody>
          <a:bodyPr wrap="square">
            <a:spAutoFit/>
          </a:bodyPr>
          <a:lstStyle/>
          <a:p>
            <a:pPr algn="ctr">
              <a:defRPr sz="1100" b="1">
                <a:solidFill>
                  <a:srgbClr val="FFFFFF"/>
                </a:solidFill>
                <a:latin typeface="Calibri"/>
              </a:defRPr>
            </a:pPr>
            <a:r>
              <a:t>43</a:t>
            </a:r>
          </a:p>
        </p:txBody>
      </p:sp>
      <p:sp>
        <p:nvSpPr>
          <p:cNvPr id="32" name="Rectangle 31"/>
          <p:cNvSpPr/>
          <p:nvPr/>
        </p:nvSpPr>
        <p:spPr>
          <a:xfrm>
            <a:off x="9729216" y="113385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92640" y="1234440"/>
            <a:ext cx="1097280" cy="457200"/>
          </a:xfrm>
          <a:prstGeom prst="rect">
            <a:avLst/>
          </a:prstGeom>
          <a:noFill/>
        </p:spPr>
        <p:txBody>
          <a:bodyPr wrap="square">
            <a:spAutoFit/>
          </a:bodyPr>
          <a:lstStyle/>
          <a:p>
            <a:pPr algn="ctr">
              <a:defRPr sz="1100" b="1">
                <a:solidFill>
                  <a:srgbClr val="FFFFFF"/>
                </a:solidFill>
                <a:latin typeface="Calibri"/>
              </a:defRPr>
            </a:pPr>
            <a:r>
              <a:t>46</a:t>
            </a:r>
          </a:p>
        </p:txBody>
      </p:sp>
      <p:sp>
        <p:nvSpPr>
          <p:cNvPr id="34" name="TextBox 33"/>
          <p:cNvSpPr txBox="1"/>
          <p:nvPr/>
        </p:nvSpPr>
        <p:spPr>
          <a:xfrm>
            <a:off x="10789920" y="1234440"/>
            <a:ext cx="822960" cy="475488"/>
          </a:xfrm>
          <a:prstGeom prst="rect">
            <a:avLst/>
          </a:prstGeom>
          <a:noFill/>
        </p:spPr>
        <p:txBody>
          <a:bodyPr wrap="square">
            <a:spAutoFit/>
          </a:bodyPr>
          <a:lstStyle/>
          <a:p>
            <a:pPr algn="ctr">
              <a:defRPr sz="1100" b="1">
                <a:solidFill>
                  <a:srgbClr val="D97706"/>
                </a:solidFill>
                <a:latin typeface="Calibri"/>
              </a:defRPr>
            </a:pPr>
            <a:r>
              <a:t>94%</a:t>
            </a:r>
          </a:p>
        </p:txBody>
      </p:sp>
      <p:sp>
        <p:nvSpPr>
          <p:cNvPr id="35" name="Rectangle 34"/>
          <p:cNvSpPr/>
          <p:nvPr/>
        </p:nvSpPr>
        <p:spPr>
          <a:xfrm>
            <a:off x="182880" y="1627631"/>
            <a:ext cx="11430000" cy="54864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6032" y="1783079"/>
            <a:ext cx="1828800" cy="475488"/>
          </a:xfrm>
          <a:prstGeom prst="rect">
            <a:avLst/>
          </a:prstGeom>
          <a:noFill/>
        </p:spPr>
        <p:txBody>
          <a:bodyPr wrap="square">
            <a:spAutoFit/>
          </a:bodyPr>
          <a:lstStyle/>
          <a:p>
            <a:pPr algn="l">
              <a:defRPr sz="900" b="1">
                <a:solidFill>
                  <a:srgbClr val="111827"/>
                </a:solidFill>
                <a:latin typeface="Calibri"/>
              </a:defRPr>
            </a:pPr>
            <a:r>
              <a:t>Erika Cabrera</a:t>
            </a:r>
          </a:p>
        </p:txBody>
      </p:sp>
      <p:sp>
        <p:nvSpPr>
          <p:cNvPr id="37" name="Rectangle 36"/>
          <p:cNvSpPr/>
          <p:nvPr/>
        </p:nvSpPr>
        <p:spPr>
          <a:xfrm>
            <a:off x="2048256" y="168249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45536" y="168249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242816" y="168249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06240" y="1783079"/>
            <a:ext cx="1097280" cy="457200"/>
          </a:xfrm>
          <a:prstGeom prst="rect">
            <a:avLst/>
          </a:prstGeom>
          <a:noFill/>
        </p:spPr>
        <p:txBody>
          <a:bodyPr wrap="square">
            <a:spAutoFit/>
          </a:bodyPr>
          <a:lstStyle/>
          <a:p>
            <a:pPr algn="ctr">
              <a:defRPr sz="1100" b="1">
                <a:solidFill>
                  <a:srgbClr val="FFFFFF"/>
                </a:solidFill>
                <a:latin typeface="Calibri"/>
              </a:defRPr>
            </a:pPr>
            <a:r>
              <a:t>21</a:t>
            </a:r>
          </a:p>
        </p:txBody>
      </p:sp>
      <p:sp>
        <p:nvSpPr>
          <p:cNvPr id="41" name="Rectangle 40"/>
          <p:cNvSpPr/>
          <p:nvPr/>
        </p:nvSpPr>
        <p:spPr>
          <a:xfrm>
            <a:off x="5340096" y="1682495"/>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03520" y="1783079"/>
            <a:ext cx="1097280" cy="457200"/>
          </a:xfrm>
          <a:prstGeom prst="rect">
            <a:avLst/>
          </a:prstGeom>
          <a:noFill/>
        </p:spPr>
        <p:txBody>
          <a:bodyPr wrap="square">
            <a:spAutoFit/>
          </a:bodyPr>
          <a:lstStyle/>
          <a:p>
            <a:pPr algn="ctr">
              <a:defRPr sz="1100" b="1">
                <a:solidFill>
                  <a:srgbClr val="FFFFFF"/>
                </a:solidFill>
                <a:latin typeface="Calibri"/>
              </a:defRPr>
            </a:pPr>
            <a:r>
              <a:t>39</a:t>
            </a:r>
          </a:p>
        </p:txBody>
      </p:sp>
      <p:sp>
        <p:nvSpPr>
          <p:cNvPr id="43" name="Rectangle 42"/>
          <p:cNvSpPr/>
          <p:nvPr/>
        </p:nvSpPr>
        <p:spPr>
          <a:xfrm>
            <a:off x="6437376" y="168249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1783079"/>
            <a:ext cx="1097280" cy="457200"/>
          </a:xfrm>
          <a:prstGeom prst="rect">
            <a:avLst/>
          </a:prstGeom>
          <a:noFill/>
        </p:spPr>
        <p:txBody>
          <a:bodyPr wrap="square">
            <a:spAutoFit/>
          </a:bodyPr>
          <a:lstStyle/>
          <a:p>
            <a:pPr algn="ctr">
              <a:defRPr sz="1100" b="1">
                <a:solidFill>
                  <a:srgbClr val="FFFFFF"/>
                </a:solidFill>
                <a:latin typeface="Calibri"/>
              </a:defRPr>
            </a:pPr>
            <a:r>
              <a:t>14</a:t>
            </a:r>
          </a:p>
        </p:txBody>
      </p:sp>
      <p:sp>
        <p:nvSpPr>
          <p:cNvPr id="45" name="Rectangle 44"/>
          <p:cNvSpPr/>
          <p:nvPr/>
        </p:nvSpPr>
        <p:spPr>
          <a:xfrm>
            <a:off x="7534655" y="1682495"/>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98079" y="1783079"/>
            <a:ext cx="1097280" cy="457200"/>
          </a:xfrm>
          <a:prstGeom prst="rect">
            <a:avLst/>
          </a:prstGeom>
          <a:noFill/>
        </p:spPr>
        <p:txBody>
          <a:bodyPr wrap="square">
            <a:spAutoFit/>
          </a:bodyPr>
          <a:lstStyle/>
          <a:p>
            <a:pPr algn="ctr">
              <a:defRPr sz="1100" b="1">
                <a:solidFill>
                  <a:srgbClr val="FFFFFF"/>
                </a:solidFill>
                <a:latin typeface="Calibri"/>
              </a:defRPr>
            </a:pPr>
            <a:r>
              <a:t>57</a:t>
            </a:r>
          </a:p>
        </p:txBody>
      </p:sp>
      <p:sp>
        <p:nvSpPr>
          <p:cNvPr id="47" name="Rectangle 46"/>
          <p:cNvSpPr/>
          <p:nvPr/>
        </p:nvSpPr>
        <p:spPr>
          <a:xfrm>
            <a:off x="8631935" y="1682495"/>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95359" y="1783079"/>
            <a:ext cx="1097280" cy="457200"/>
          </a:xfrm>
          <a:prstGeom prst="rect">
            <a:avLst/>
          </a:prstGeom>
          <a:noFill/>
        </p:spPr>
        <p:txBody>
          <a:bodyPr wrap="square">
            <a:spAutoFit/>
          </a:bodyPr>
          <a:lstStyle/>
          <a:p>
            <a:pPr algn="ctr">
              <a:defRPr sz="1100" b="1">
                <a:solidFill>
                  <a:srgbClr val="FFFFFF"/>
                </a:solidFill>
                <a:latin typeface="Calibri"/>
              </a:defRPr>
            </a:pPr>
            <a:r>
              <a:t>54</a:t>
            </a:r>
          </a:p>
        </p:txBody>
      </p:sp>
      <p:sp>
        <p:nvSpPr>
          <p:cNvPr id="49" name="Rectangle 48"/>
          <p:cNvSpPr/>
          <p:nvPr/>
        </p:nvSpPr>
        <p:spPr>
          <a:xfrm>
            <a:off x="9729216" y="168249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92640" y="1783079"/>
            <a:ext cx="1097280" cy="457200"/>
          </a:xfrm>
          <a:prstGeom prst="rect">
            <a:avLst/>
          </a:prstGeom>
          <a:noFill/>
        </p:spPr>
        <p:txBody>
          <a:bodyPr wrap="square">
            <a:spAutoFit/>
          </a:bodyPr>
          <a:lstStyle/>
          <a:p>
            <a:pPr algn="ctr">
              <a:defRPr sz="1100" b="1">
                <a:solidFill>
                  <a:srgbClr val="FFFFFF"/>
                </a:solidFill>
                <a:latin typeface="Calibri"/>
              </a:defRPr>
            </a:pPr>
            <a:r>
              <a:t>30</a:t>
            </a:r>
          </a:p>
        </p:txBody>
      </p:sp>
      <p:sp>
        <p:nvSpPr>
          <p:cNvPr id="51" name="TextBox 50"/>
          <p:cNvSpPr txBox="1"/>
          <p:nvPr/>
        </p:nvSpPr>
        <p:spPr>
          <a:xfrm>
            <a:off x="10789920" y="1783079"/>
            <a:ext cx="822960" cy="475488"/>
          </a:xfrm>
          <a:prstGeom prst="rect">
            <a:avLst/>
          </a:prstGeom>
          <a:noFill/>
        </p:spPr>
        <p:txBody>
          <a:bodyPr wrap="square">
            <a:spAutoFit/>
          </a:bodyPr>
          <a:lstStyle/>
          <a:p>
            <a:pPr algn="ctr">
              <a:defRPr sz="1100" b="1">
                <a:solidFill>
                  <a:srgbClr val="DC2626"/>
                </a:solidFill>
                <a:latin typeface="Calibri"/>
              </a:defRPr>
            </a:pPr>
            <a:r>
              <a:t>72%</a:t>
            </a:r>
          </a:p>
        </p:txBody>
      </p:sp>
      <p:sp>
        <p:nvSpPr>
          <p:cNvPr id="52" name="TextBox 51"/>
          <p:cNvSpPr txBox="1"/>
          <p:nvPr/>
        </p:nvSpPr>
        <p:spPr>
          <a:xfrm>
            <a:off x="256032" y="2331720"/>
            <a:ext cx="1828800" cy="475488"/>
          </a:xfrm>
          <a:prstGeom prst="rect">
            <a:avLst/>
          </a:prstGeom>
          <a:noFill/>
        </p:spPr>
        <p:txBody>
          <a:bodyPr wrap="square">
            <a:spAutoFit/>
          </a:bodyPr>
          <a:lstStyle/>
          <a:p>
            <a:pPr algn="l">
              <a:defRPr sz="900" b="1">
                <a:solidFill>
                  <a:srgbClr val="111827"/>
                </a:solidFill>
                <a:latin typeface="Calibri"/>
              </a:defRPr>
            </a:pPr>
            <a:r>
              <a:t>Portia Lewis</a:t>
            </a:r>
          </a:p>
        </p:txBody>
      </p:sp>
      <p:sp>
        <p:nvSpPr>
          <p:cNvPr id="53" name="Rectangle 52"/>
          <p:cNvSpPr/>
          <p:nvPr/>
        </p:nvSpPr>
        <p:spPr>
          <a:xfrm>
            <a:off x="2048256" y="223113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145536" y="223113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242816" y="223113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206240" y="2331720"/>
            <a:ext cx="1097280" cy="457200"/>
          </a:xfrm>
          <a:prstGeom prst="rect">
            <a:avLst/>
          </a:prstGeom>
          <a:noFill/>
        </p:spPr>
        <p:txBody>
          <a:bodyPr wrap="square">
            <a:spAutoFit/>
          </a:bodyPr>
          <a:lstStyle/>
          <a:p>
            <a:pPr algn="ctr">
              <a:defRPr sz="1100" b="1">
                <a:solidFill>
                  <a:srgbClr val="FFFFFF"/>
                </a:solidFill>
                <a:latin typeface="Calibri"/>
              </a:defRPr>
            </a:pPr>
            <a:r>
              <a:t>33</a:t>
            </a:r>
          </a:p>
        </p:txBody>
      </p:sp>
      <p:sp>
        <p:nvSpPr>
          <p:cNvPr id="57" name="Rectangle 56"/>
          <p:cNvSpPr/>
          <p:nvPr/>
        </p:nvSpPr>
        <p:spPr>
          <a:xfrm>
            <a:off x="5340096" y="223113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03520" y="2331720"/>
            <a:ext cx="1097280" cy="457200"/>
          </a:xfrm>
          <a:prstGeom prst="rect">
            <a:avLst/>
          </a:prstGeom>
          <a:noFill/>
        </p:spPr>
        <p:txBody>
          <a:bodyPr wrap="square">
            <a:spAutoFit/>
          </a:bodyPr>
          <a:lstStyle/>
          <a:p>
            <a:pPr algn="ctr">
              <a:defRPr sz="1100" b="1">
                <a:solidFill>
                  <a:srgbClr val="FFFFFF"/>
                </a:solidFill>
                <a:latin typeface="Calibri"/>
              </a:defRPr>
            </a:pPr>
            <a:r>
              <a:t>34</a:t>
            </a:r>
          </a:p>
        </p:txBody>
      </p:sp>
      <p:sp>
        <p:nvSpPr>
          <p:cNvPr id="59" name="Rectangle 58"/>
          <p:cNvSpPr/>
          <p:nvPr/>
        </p:nvSpPr>
        <p:spPr>
          <a:xfrm>
            <a:off x="6437376" y="223113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00800" y="2331720"/>
            <a:ext cx="1097280" cy="457200"/>
          </a:xfrm>
          <a:prstGeom prst="rect">
            <a:avLst/>
          </a:prstGeom>
          <a:noFill/>
        </p:spPr>
        <p:txBody>
          <a:bodyPr wrap="square">
            <a:spAutoFit/>
          </a:bodyPr>
          <a:lstStyle/>
          <a:p>
            <a:pPr algn="ctr">
              <a:defRPr sz="1100" b="1">
                <a:solidFill>
                  <a:srgbClr val="FFFFFF"/>
                </a:solidFill>
                <a:latin typeface="Calibri"/>
              </a:defRPr>
            </a:pPr>
            <a:r>
              <a:t>53</a:t>
            </a:r>
          </a:p>
        </p:txBody>
      </p:sp>
      <p:sp>
        <p:nvSpPr>
          <p:cNvPr id="61" name="Rectangle 60"/>
          <p:cNvSpPr/>
          <p:nvPr/>
        </p:nvSpPr>
        <p:spPr>
          <a:xfrm>
            <a:off x="7534655" y="223113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98079" y="2331720"/>
            <a:ext cx="1097280" cy="457200"/>
          </a:xfrm>
          <a:prstGeom prst="rect">
            <a:avLst/>
          </a:prstGeom>
          <a:noFill/>
        </p:spPr>
        <p:txBody>
          <a:bodyPr wrap="square">
            <a:spAutoFit/>
          </a:bodyPr>
          <a:lstStyle/>
          <a:p>
            <a:pPr algn="ctr">
              <a:defRPr sz="1100" b="1">
                <a:solidFill>
                  <a:srgbClr val="FFFFFF"/>
                </a:solidFill>
                <a:latin typeface="Calibri"/>
              </a:defRPr>
            </a:pPr>
            <a:r>
              <a:t>42</a:t>
            </a:r>
          </a:p>
        </p:txBody>
      </p:sp>
      <p:sp>
        <p:nvSpPr>
          <p:cNvPr id="63" name="Rectangle 62"/>
          <p:cNvSpPr/>
          <p:nvPr/>
        </p:nvSpPr>
        <p:spPr>
          <a:xfrm>
            <a:off x="8631935" y="223113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595359" y="2331720"/>
            <a:ext cx="1097280" cy="457200"/>
          </a:xfrm>
          <a:prstGeom prst="rect">
            <a:avLst/>
          </a:prstGeom>
          <a:noFill/>
        </p:spPr>
        <p:txBody>
          <a:bodyPr wrap="square">
            <a:spAutoFit/>
          </a:bodyPr>
          <a:lstStyle/>
          <a:p>
            <a:pPr algn="ctr">
              <a:defRPr sz="1100" b="1">
                <a:solidFill>
                  <a:srgbClr val="FFFFFF"/>
                </a:solidFill>
                <a:latin typeface="Calibri"/>
              </a:defRPr>
            </a:pPr>
            <a:r>
              <a:t>43</a:t>
            </a:r>
          </a:p>
        </p:txBody>
      </p:sp>
      <p:sp>
        <p:nvSpPr>
          <p:cNvPr id="65" name="Rectangle 64"/>
          <p:cNvSpPr/>
          <p:nvPr/>
        </p:nvSpPr>
        <p:spPr>
          <a:xfrm>
            <a:off x="9729216" y="223113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692640" y="2331720"/>
            <a:ext cx="1097280" cy="457200"/>
          </a:xfrm>
          <a:prstGeom prst="rect">
            <a:avLst/>
          </a:prstGeom>
          <a:noFill/>
        </p:spPr>
        <p:txBody>
          <a:bodyPr wrap="square">
            <a:spAutoFit/>
          </a:bodyPr>
          <a:lstStyle/>
          <a:p>
            <a:pPr algn="ctr">
              <a:defRPr sz="1100" b="1">
                <a:solidFill>
                  <a:srgbClr val="FFFFFF"/>
                </a:solidFill>
                <a:latin typeface="Calibri"/>
              </a:defRPr>
            </a:pPr>
            <a:r>
              <a:t>35</a:t>
            </a:r>
          </a:p>
        </p:txBody>
      </p:sp>
      <p:sp>
        <p:nvSpPr>
          <p:cNvPr id="67" name="TextBox 66"/>
          <p:cNvSpPr txBox="1"/>
          <p:nvPr/>
        </p:nvSpPr>
        <p:spPr>
          <a:xfrm>
            <a:off x="10789920" y="2331720"/>
            <a:ext cx="822960" cy="475488"/>
          </a:xfrm>
          <a:prstGeom prst="rect">
            <a:avLst/>
          </a:prstGeom>
          <a:noFill/>
        </p:spPr>
        <p:txBody>
          <a:bodyPr wrap="square">
            <a:spAutoFit/>
          </a:bodyPr>
          <a:lstStyle/>
          <a:p>
            <a:pPr algn="ctr">
              <a:defRPr sz="1100" b="1">
                <a:solidFill>
                  <a:srgbClr val="D97706"/>
                </a:solidFill>
                <a:latin typeface="Calibri"/>
              </a:defRPr>
            </a:pPr>
            <a:r>
              <a:t>80%</a:t>
            </a:r>
          </a:p>
        </p:txBody>
      </p:sp>
      <p:sp>
        <p:nvSpPr>
          <p:cNvPr id="68" name="Rectangle 67"/>
          <p:cNvSpPr/>
          <p:nvPr/>
        </p:nvSpPr>
        <p:spPr>
          <a:xfrm>
            <a:off x="182880" y="2724911"/>
            <a:ext cx="11430000" cy="54864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56032" y="2880359"/>
            <a:ext cx="1828800" cy="475488"/>
          </a:xfrm>
          <a:prstGeom prst="rect">
            <a:avLst/>
          </a:prstGeom>
          <a:noFill/>
        </p:spPr>
        <p:txBody>
          <a:bodyPr wrap="square">
            <a:spAutoFit/>
          </a:bodyPr>
          <a:lstStyle/>
          <a:p>
            <a:pPr algn="l">
              <a:defRPr sz="900" b="1">
                <a:solidFill>
                  <a:srgbClr val="111827"/>
                </a:solidFill>
                <a:latin typeface="Calibri"/>
              </a:defRPr>
            </a:pPr>
            <a:r>
              <a:t>Taylor Sloan</a:t>
            </a:r>
          </a:p>
        </p:txBody>
      </p:sp>
      <p:sp>
        <p:nvSpPr>
          <p:cNvPr id="70" name="Rectangle 69"/>
          <p:cNvSpPr/>
          <p:nvPr/>
        </p:nvSpPr>
        <p:spPr>
          <a:xfrm>
            <a:off x="2048256" y="277977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3145536" y="277977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4242816" y="2779775"/>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206240" y="2880359"/>
            <a:ext cx="1097280" cy="457200"/>
          </a:xfrm>
          <a:prstGeom prst="rect">
            <a:avLst/>
          </a:prstGeom>
          <a:noFill/>
        </p:spPr>
        <p:txBody>
          <a:bodyPr wrap="square">
            <a:spAutoFit/>
          </a:bodyPr>
          <a:lstStyle/>
          <a:p>
            <a:pPr algn="ctr">
              <a:defRPr sz="1100" b="1">
                <a:solidFill>
                  <a:srgbClr val="FFFFFF"/>
                </a:solidFill>
                <a:latin typeface="Calibri"/>
              </a:defRPr>
            </a:pPr>
            <a:r>
              <a:t>48</a:t>
            </a:r>
          </a:p>
        </p:txBody>
      </p:sp>
      <p:sp>
        <p:nvSpPr>
          <p:cNvPr id="74" name="Rectangle 73"/>
          <p:cNvSpPr/>
          <p:nvPr/>
        </p:nvSpPr>
        <p:spPr>
          <a:xfrm>
            <a:off x="5340096" y="2779775"/>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303520" y="2880359"/>
            <a:ext cx="1097280" cy="457200"/>
          </a:xfrm>
          <a:prstGeom prst="rect">
            <a:avLst/>
          </a:prstGeom>
          <a:noFill/>
        </p:spPr>
        <p:txBody>
          <a:bodyPr wrap="square">
            <a:spAutoFit/>
          </a:bodyPr>
          <a:lstStyle/>
          <a:p>
            <a:pPr algn="ctr">
              <a:defRPr sz="1100" b="1">
                <a:solidFill>
                  <a:srgbClr val="FFFFFF"/>
                </a:solidFill>
                <a:latin typeface="Calibri"/>
              </a:defRPr>
            </a:pPr>
            <a:r>
              <a:t>58</a:t>
            </a:r>
          </a:p>
        </p:txBody>
      </p:sp>
      <p:sp>
        <p:nvSpPr>
          <p:cNvPr id="76" name="Rectangle 75"/>
          <p:cNvSpPr/>
          <p:nvPr/>
        </p:nvSpPr>
        <p:spPr>
          <a:xfrm>
            <a:off x="6437376" y="2779775"/>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400800" y="2880359"/>
            <a:ext cx="1097280" cy="457200"/>
          </a:xfrm>
          <a:prstGeom prst="rect">
            <a:avLst/>
          </a:prstGeom>
          <a:noFill/>
        </p:spPr>
        <p:txBody>
          <a:bodyPr wrap="square">
            <a:spAutoFit/>
          </a:bodyPr>
          <a:lstStyle/>
          <a:p>
            <a:pPr algn="ctr">
              <a:defRPr sz="1100" b="1">
                <a:solidFill>
                  <a:srgbClr val="FFFFFF"/>
                </a:solidFill>
                <a:latin typeface="Calibri"/>
              </a:defRPr>
            </a:pPr>
            <a:r>
              <a:t>54</a:t>
            </a:r>
          </a:p>
        </p:txBody>
      </p:sp>
      <p:sp>
        <p:nvSpPr>
          <p:cNvPr id="78" name="Rectangle 77"/>
          <p:cNvSpPr/>
          <p:nvPr/>
        </p:nvSpPr>
        <p:spPr>
          <a:xfrm>
            <a:off x="7534655" y="2779775"/>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498079" y="2880359"/>
            <a:ext cx="1097280" cy="457200"/>
          </a:xfrm>
          <a:prstGeom prst="rect">
            <a:avLst/>
          </a:prstGeom>
          <a:noFill/>
        </p:spPr>
        <p:txBody>
          <a:bodyPr wrap="square">
            <a:spAutoFit/>
          </a:bodyPr>
          <a:lstStyle/>
          <a:p>
            <a:pPr algn="ctr">
              <a:defRPr sz="1100" b="1">
                <a:solidFill>
                  <a:srgbClr val="FFFFFF"/>
                </a:solidFill>
                <a:latin typeface="Calibri"/>
              </a:defRPr>
            </a:pPr>
            <a:r>
              <a:t>43</a:t>
            </a:r>
          </a:p>
        </p:txBody>
      </p:sp>
      <p:sp>
        <p:nvSpPr>
          <p:cNvPr id="80" name="Rectangle 79"/>
          <p:cNvSpPr/>
          <p:nvPr/>
        </p:nvSpPr>
        <p:spPr>
          <a:xfrm>
            <a:off x="8631935" y="277977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595359" y="2880359"/>
            <a:ext cx="1097280" cy="457200"/>
          </a:xfrm>
          <a:prstGeom prst="rect">
            <a:avLst/>
          </a:prstGeom>
          <a:noFill/>
        </p:spPr>
        <p:txBody>
          <a:bodyPr wrap="square">
            <a:spAutoFit/>
          </a:bodyPr>
          <a:lstStyle/>
          <a:p>
            <a:pPr algn="ctr">
              <a:defRPr sz="1100" b="1">
                <a:solidFill>
                  <a:srgbClr val="FFFFFF"/>
                </a:solidFill>
                <a:latin typeface="Calibri"/>
              </a:defRPr>
            </a:pPr>
            <a:r>
              <a:t>31</a:t>
            </a:r>
          </a:p>
        </p:txBody>
      </p:sp>
      <p:sp>
        <p:nvSpPr>
          <p:cNvPr id="82" name="Rectangle 81"/>
          <p:cNvSpPr/>
          <p:nvPr/>
        </p:nvSpPr>
        <p:spPr>
          <a:xfrm>
            <a:off x="9729216" y="2779775"/>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692640" y="2880359"/>
            <a:ext cx="1097280" cy="457200"/>
          </a:xfrm>
          <a:prstGeom prst="rect">
            <a:avLst/>
          </a:prstGeom>
          <a:noFill/>
        </p:spPr>
        <p:txBody>
          <a:bodyPr wrap="square">
            <a:spAutoFit/>
          </a:bodyPr>
          <a:lstStyle/>
          <a:p>
            <a:pPr algn="ctr">
              <a:defRPr sz="1100" b="1">
                <a:solidFill>
                  <a:srgbClr val="FFFFFF"/>
                </a:solidFill>
                <a:latin typeface="Calibri"/>
              </a:defRPr>
            </a:pPr>
            <a:r>
              <a:t>39</a:t>
            </a:r>
          </a:p>
        </p:txBody>
      </p:sp>
      <p:sp>
        <p:nvSpPr>
          <p:cNvPr id="84" name="TextBox 83"/>
          <p:cNvSpPr txBox="1"/>
          <p:nvPr/>
        </p:nvSpPr>
        <p:spPr>
          <a:xfrm>
            <a:off x="10789920" y="2880359"/>
            <a:ext cx="822960" cy="475488"/>
          </a:xfrm>
          <a:prstGeom prst="rect">
            <a:avLst/>
          </a:prstGeom>
          <a:noFill/>
        </p:spPr>
        <p:txBody>
          <a:bodyPr wrap="square">
            <a:spAutoFit/>
          </a:bodyPr>
          <a:lstStyle/>
          <a:p>
            <a:pPr algn="ctr">
              <a:defRPr sz="1100" b="1">
                <a:solidFill>
                  <a:srgbClr val="D97706"/>
                </a:solidFill>
                <a:latin typeface="Calibri"/>
              </a:defRPr>
            </a:pPr>
            <a:r>
              <a:t>91%</a:t>
            </a:r>
          </a:p>
        </p:txBody>
      </p:sp>
      <p:sp>
        <p:nvSpPr>
          <p:cNvPr id="85" name="TextBox 84"/>
          <p:cNvSpPr txBox="1"/>
          <p:nvPr/>
        </p:nvSpPr>
        <p:spPr>
          <a:xfrm>
            <a:off x="256032" y="3429000"/>
            <a:ext cx="1828800" cy="475488"/>
          </a:xfrm>
          <a:prstGeom prst="rect">
            <a:avLst/>
          </a:prstGeom>
          <a:noFill/>
        </p:spPr>
        <p:txBody>
          <a:bodyPr wrap="square">
            <a:spAutoFit/>
          </a:bodyPr>
          <a:lstStyle/>
          <a:p>
            <a:pPr algn="l">
              <a:defRPr sz="900" b="1">
                <a:solidFill>
                  <a:srgbClr val="111827"/>
                </a:solidFill>
                <a:latin typeface="Calibri"/>
              </a:defRPr>
            </a:pPr>
            <a:r>
              <a:t>Kurt Butterfield</a:t>
            </a:r>
          </a:p>
        </p:txBody>
      </p:sp>
      <p:sp>
        <p:nvSpPr>
          <p:cNvPr id="86" name="Rectangle 85"/>
          <p:cNvSpPr/>
          <p:nvPr/>
        </p:nvSpPr>
        <p:spPr>
          <a:xfrm>
            <a:off x="2048256" y="332841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011680" y="3429000"/>
            <a:ext cx="1097280" cy="457200"/>
          </a:xfrm>
          <a:prstGeom prst="rect">
            <a:avLst/>
          </a:prstGeom>
          <a:noFill/>
        </p:spPr>
        <p:txBody>
          <a:bodyPr wrap="square">
            <a:spAutoFit/>
          </a:bodyPr>
          <a:lstStyle/>
          <a:p>
            <a:pPr algn="ctr">
              <a:defRPr sz="1100" b="1">
                <a:solidFill>
                  <a:srgbClr val="FFFFFF"/>
                </a:solidFill>
                <a:latin typeface="Calibri"/>
              </a:defRPr>
            </a:pPr>
            <a:r>
              <a:t>0</a:t>
            </a:r>
          </a:p>
        </p:txBody>
      </p:sp>
      <p:sp>
        <p:nvSpPr>
          <p:cNvPr id="88" name="Rectangle 87"/>
          <p:cNvSpPr/>
          <p:nvPr/>
        </p:nvSpPr>
        <p:spPr>
          <a:xfrm>
            <a:off x="3145536" y="332841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108960" y="3429000"/>
            <a:ext cx="1097280" cy="457200"/>
          </a:xfrm>
          <a:prstGeom prst="rect">
            <a:avLst/>
          </a:prstGeom>
          <a:noFill/>
        </p:spPr>
        <p:txBody>
          <a:bodyPr wrap="square">
            <a:spAutoFit/>
          </a:bodyPr>
          <a:lstStyle/>
          <a:p>
            <a:pPr algn="ctr">
              <a:defRPr sz="1100" b="1">
                <a:solidFill>
                  <a:srgbClr val="FFFFFF"/>
                </a:solidFill>
                <a:latin typeface="Calibri"/>
              </a:defRPr>
            </a:pPr>
            <a:r>
              <a:t>0</a:t>
            </a:r>
          </a:p>
        </p:txBody>
      </p:sp>
      <p:sp>
        <p:nvSpPr>
          <p:cNvPr id="90" name="Rectangle 89"/>
          <p:cNvSpPr/>
          <p:nvPr/>
        </p:nvSpPr>
        <p:spPr>
          <a:xfrm>
            <a:off x="4242816" y="332841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206240" y="3429000"/>
            <a:ext cx="1097280" cy="457200"/>
          </a:xfrm>
          <a:prstGeom prst="rect">
            <a:avLst/>
          </a:prstGeom>
          <a:noFill/>
        </p:spPr>
        <p:txBody>
          <a:bodyPr wrap="square">
            <a:spAutoFit/>
          </a:bodyPr>
          <a:lstStyle/>
          <a:p>
            <a:pPr algn="ctr">
              <a:defRPr sz="1100" b="1">
                <a:solidFill>
                  <a:srgbClr val="FFFFFF"/>
                </a:solidFill>
                <a:latin typeface="Calibri"/>
              </a:defRPr>
            </a:pPr>
            <a:r>
              <a:t>1</a:t>
            </a:r>
          </a:p>
        </p:txBody>
      </p:sp>
      <p:sp>
        <p:nvSpPr>
          <p:cNvPr id="92" name="Rectangle 91"/>
          <p:cNvSpPr/>
          <p:nvPr/>
        </p:nvSpPr>
        <p:spPr>
          <a:xfrm>
            <a:off x="5340096" y="332841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303520" y="3429000"/>
            <a:ext cx="1097280" cy="457200"/>
          </a:xfrm>
          <a:prstGeom prst="rect">
            <a:avLst/>
          </a:prstGeom>
          <a:noFill/>
        </p:spPr>
        <p:txBody>
          <a:bodyPr wrap="square">
            <a:spAutoFit/>
          </a:bodyPr>
          <a:lstStyle/>
          <a:p>
            <a:pPr algn="ctr">
              <a:defRPr sz="1100" b="1">
                <a:solidFill>
                  <a:srgbClr val="FFFFFF"/>
                </a:solidFill>
                <a:latin typeface="Calibri"/>
              </a:defRPr>
            </a:pPr>
            <a:r>
              <a:t>0</a:t>
            </a:r>
          </a:p>
        </p:txBody>
      </p:sp>
      <p:sp>
        <p:nvSpPr>
          <p:cNvPr id="94" name="Rectangle 93"/>
          <p:cNvSpPr/>
          <p:nvPr/>
        </p:nvSpPr>
        <p:spPr>
          <a:xfrm>
            <a:off x="6437376" y="332841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400800" y="3429000"/>
            <a:ext cx="1097280" cy="457200"/>
          </a:xfrm>
          <a:prstGeom prst="rect">
            <a:avLst/>
          </a:prstGeom>
          <a:noFill/>
        </p:spPr>
        <p:txBody>
          <a:bodyPr wrap="square">
            <a:spAutoFit/>
          </a:bodyPr>
          <a:lstStyle/>
          <a:p>
            <a:pPr algn="ctr">
              <a:defRPr sz="1100" b="1">
                <a:solidFill>
                  <a:srgbClr val="FFFFFF"/>
                </a:solidFill>
                <a:latin typeface="Calibri"/>
              </a:defRPr>
            </a:pPr>
            <a:r>
              <a:t>39</a:t>
            </a:r>
          </a:p>
        </p:txBody>
      </p:sp>
      <p:sp>
        <p:nvSpPr>
          <p:cNvPr id="96" name="Rectangle 95"/>
          <p:cNvSpPr/>
          <p:nvPr/>
        </p:nvSpPr>
        <p:spPr>
          <a:xfrm>
            <a:off x="7534655" y="332841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498079" y="3429000"/>
            <a:ext cx="1097280" cy="457200"/>
          </a:xfrm>
          <a:prstGeom prst="rect">
            <a:avLst/>
          </a:prstGeom>
          <a:noFill/>
        </p:spPr>
        <p:txBody>
          <a:bodyPr wrap="square">
            <a:spAutoFit/>
          </a:bodyPr>
          <a:lstStyle/>
          <a:p>
            <a:pPr algn="ctr">
              <a:defRPr sz="1100" b="1">
                <a:solidFill>
                  <a:srgbClr val="FFFFFF"/>
                </a:solidFill>
                <a:latin typeface="Calibri"/>
              </a:defRPr>
            </a:pPr>
            <a:r>
              <a:t>61</a:t>
            </a:r>
          </a:p>
        </p:txBody>
      </p:sp>
      <p:sp>
        <p:nvSpPr>
          <p:cNvPr id="98" name="Rectangle 97"/>
          <p:cNvSpPr/>
          <p:nvPr/>
        </p:nvSpPr>
        <p:spPr>
          <a:xfrm>
            <a:off x="8631935" y="332841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595359" y="3429000"/>
            <a:ext cx="1097280" cy="457200"/>
          </a:xfrm>
          <a:prstGeom prst="rect">
            <a:avLst/>
          </a:prstGeom>
          <a:noFill/>
        </p:spPr>
        <p:txBody>
          <a:bodyPr wrap="square">
            <a:spAutoFit/>
          </a:bodyPr>
          <a:lstStyle/>
          <a:p>
            <a:pPr algn="ctr">
              <a:defRPr sz="1100" b="1">
                <a:solidFill>
                  <a:srgbClr val="FFFFFF"/>
                </a:solidFill>
                <a:latin typeface="Calibri"/>
              </a:defRPr>
            </a:pPr>
            <a:r>
              <a:t>60</a:t>
            </a:r>
          </a:p>
        </p:txBody>
      </p:sp>
      <p:sp>
        <p:nvSpPr>
          <p:cNvPr id="100" name="Rectangle 99"/>
          <p:cNvSpPr/>
          <p:nvPr/>
        </p:nvSpPr>
        <p:spPr>
          <a:xfrm>
            <a:off x="9729216" y="332841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692640" y="3429000"/>
            <a:ext cx="1097280" cy="457200"/>
          </a:xfrm>
          <a:prstGeom prst="rect">
            <a:avLst/>
          </a:prstGeom>
          <a:noFill/>
        </p:spPr>
        <p:txBody>
          <a:bodyPr wrap="square">
            <a:spAutoFit/>
          </a:bodyPr>
          <a:lstStyle/>
          <a:p>
            <a:pPr algn="ctr">
              <a:defRPr sz="1100" b="1">
                <a:solidFill>
                  <a:srgbClr val="FFFFFF"/>
                </a:solidFill>
                <a:latin typeface="Calibri"/>
              </a:defRPr>
            </a:pPr>
            <a:r>
              <a:t>38</a:t>
            </a:r>
          </a:p>
        </p:txBody>
      </p:sp>
      <p:sp>
        <p:nvSpPr>
          <p:cNvPr id="102" name="TextBox 101"/>
          <p:cNvSpPr txBox="1"/>
          <p:nvPr/>
        </p:nvSpPr>
        <p:spPr>
          <a:xfrm>
            <a:off x="10789920" y="3429000"/>
            <a:ext cx="822960" cy="475488"/>
          </a:xfrm>
          <a:prstGeom prst="rect">
            <a:avLst/>
          </a:prstGeom>
          <a:noFill/>
        </p:spPr>
        <p:txBody>
          <a:bodyPr wrap="square">
            <a:spAutoFit/>
          </a:bodyPr>
          <a:lstStyle/>
          <a:p>
            <a:pPr algn="ctr">
              <a:defRPr sz="1100" b="1">
                <a:solidFill>
                  <a:srgbClr val="DC2626"/>
                </a:solidFill>
                <a:latin typeface="Calibri"/>
              </a:defRPr>
            </a:pPr>
            <a:r>
              <a:t>46%</a:t>
            </a:r>
          </a:p>
        </p:txBody>
      </p:sp>
      <p:sp>
        <p:nvSpPr>
          <p:cNvPr id="103" name="Rectangle 102"/>
          <p:cNvSpPr/>
          <p:nvPr/>
        </p:nvSpPr>
        <p:spPr>
          <a:xfrm>
            <a:off x="0" y="4005072"/>
            <a:ext cx="12191695"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82880" y="4078224"/>
            <a:ext cx="1371600" cy="201168"/>
          </a:xfrm>
          <a:prstGeom prst="rect">
            <a:avLst/>
          </a:prstGeom>
          <a:noFill/>
        </p:spPr>
        <p:txBody>
          <a:bodyPr wrap="square">
            <a:spAutoFit/>
          </a:bodyPr>
          <a:lstStyle/>
          <a:p>
            <a:pPr algn="l">
              <a:defRPr sz="850" b="1">
                <a:solidFill>
                  <a:srgbClr val="6B7280"/>
                </a:solidFill>
                <a:latin typeface="Calibri"/>
              </a:defRPr>
            </a:pPr>
            <a:r>
              <a:t>Rep</a:t>
            </a:r>
          </a:p>
        </p:txBody>
      </p:sp>
      <p:sp>
        <p:nvSpPr>
          <p:cNvPr id="105" name="TextBox 104"/>
          <p:cNvSpPr txBox="1"/>
          <p:nvPr/>
        </p:nvSpPr>
        <p:spPr>
          <a:xfrm>
            <a:off x="1554480" y="4078224"/>
            <a:ext cx="594360" cy="201168"/>
          </a:xfrm>
          <a:prstGeom prst="rect">
            <a:avLst/>
          </a:prstGeom>
          <a:noFill/>
        </p:spPr>
        <p:txBody>
          <a:bodyPr wrap="square">
            <a:spAutoFit/>
          </a:bodyPr>
          <a:lstStyle/>
          <a:p>
            <a:pPr algn="ctr">
              <a:defRPr sz="850" b="1">
                <a:solidFill>
                  <a:srgbClr val="6B7280"/>
                </a:solidFill>
                <a:latin typeface="Calibri"/>
              </a:defRPr>
            </a:pPr>
            <a:r>
              <a:t>Role</a:t>
            </a:r>
          </a:p>
        </p:txBody>
      </p:sp>
      <p:sp>
        <p:nvSpPr>
          <p:cNvPr id="106" name="TextBox 105"/>
          <p:cNvSpPr txBox="1"/>
          <p:nvPr/>
        </p:nvSpPr>
        <p:spPr>
          <a:xfrm>
            <a:off x="2148840" y="4078224"/>
            <a:ext cx="1188720" cy="201168"/>
          </a:xfrm>
          <a:prstGeom prst="rect">
            <a:avLst/>
          </a:prstGeom>
          <a:noFill/>
        </p:spPr>
        <p:txBody>
          <a:bodyPr wrap="square">
            <a:spAutoFit/>
          </a:bodyPr>
          <a:lstStyle/>
          <a:p>
            <a:pPr algn="ctr">
              <a:defRPr sz="850" b="1">
                <a:solidFill>
                  <a:srgbClr val="6B7280"/>
                </a:solidFill>
                <a:latin typeface="Calibri"/>
              </a:defRPr>
            </a:pPr>
            <a:r>
              <a:t>Calls</a:t>
            </a:r>
          </a:p>
        </p:txBody>
      </p:sp>
      <p:sp>
        <p:nvSpPr>
          <p:cNvPr id="107" name="TextBox 106"/>
          <p:cNvSpPr txBox="1"/>
          <p:nvPr/>
        </p:nvSpPr>
        <p:spPr>
          <a:xfrm>
            <a:off x="3337560" y="4078224"/>
            <a:ext cx="914400" cy="201168"/>
          </a:xfrm>
          <a:prstGeom prst="rect">
            <a:avLst/>
          </a:prstGeom>
          <a:noFill/>
        </p:spPr>
        <p:txBody>
          <a:bodyPr wrap="square">
            <a:spAutoFit/>
          </a:bodyPr>
          <a:lstStyle/>
          <a:p>
            <a:pPr algn="ctr">
              <a:defRPr sz="850" b="1">
                <a:solidFill>
                  <a:srgbClr val="6B7280"/>
                </a:solidFill>
                <a:latin typeface="Calibri"/>
              </a:defRPr>
            </a:pPr>
            <a:r>
              <a:t>Meetings</a:t>
            </a:r>
          </a:p>
        </p:txBody>
      </p:sp>
      <p:sp>
        <p:nvSpPr>
          <p:cNvPr id="108" name="TextBox 107"/>
          <p:cNvSpPr txBox="1"/>
          <p:nvPr/>
        </p:nvSpPr>
        <p:spPr>
          <a:xfrm>
            <a:off x="4251960" y="4078224"/>
            <a:ext cx="777240" cy="201168"/>
          </a:xfrm>
          <a:prstGeom prst="rect">
            <a:avLst/>
          </a:prstGeom>
          <a:noFill/>
        </p:spPr>
        <p:txBody>
          <a:bodyPr wrap="square">
            <a:spAutoFit/>
          </a:bodyPr>
          <a:lstStyle/>
          <a:p>
            <a:pPr algn="ctr">
              <a:defRPr sz="850" b="1">
                <a:solidFill>
                  <a:srgbClr val="6B7280"/>
                </a:solidFill>
                <a:latin typeface="Calibri"/>
              </a:defRPr>
            </a:pPr>
            <a:r>
              <a:t>Inbound</a:t>
            </a:r>
          </a:p>
        </p:txBody>
      </p:sp>
      <p:sp>
        <p:nvSpPr>
          <p:cNvPr id="109" name="TextBox 108"/>
          <p:cNvSpPr txBox="1"/>
          <p:nvPr/>
        </p:nvSpPr>
        <p:spPr>
          <a:xfrm>
            <a:off x="5029200" y="4078224"/>
            <a:ext cx="777240" cy="201168"/>
          </a:xfrm>
          <a:prstGeom prst="rect">
            <a:avLst/>
          </a:prstGeom>
          <a:noFill/>
        </p:spPr>
        <p:txBody>
          <a:bodyPr wrap="square">
            <a:spAutoFit/>
          </a:bodyPr>
          <a:lstStyle/>
          <a:p>
            <a:pPr algn="ctr">
              <a:defRPr sz="850" b="1">
                <a:solidFill>
                  <a:srgbClr val="6B7280"/>
                </a:solidFill>
                <a:latin typeface="Calibri"/>
              </a:defRPr>
            </a:pPr>
            <a:r>
              <a:t>Total</a:t>
            </a:r>
          </a:p>
        </p:txBody>
      </p:sp>
      <p:sp>
        <p:nvSpPr>
          <p:cNvPr id="110" name="TextBox 109"/>
          <p:cNvSpPr txBox="1"/>
          <p:nvPr/>
        </p:nvSpPr>
        <p:spPr>
          <a:xfrm>
            <a:off x="5806440" y="4078224"/>
            <a:ext cx="777240" cy="201168"/>
          </a:xfrm>
          <a:prstGeom prst="rect">
            <a:avLst/>
          </a:prstGeom>
          <a:noFill/>
        </p:spPr>
        <p:txBody>
          <a:bodyPr wrap="square">
            <a:spAutoFit/>
          </a:bodyPr>
          <a:lstStyle/>
          <a:p>
            <a:pPr algn="ctr">
              <a:defRPr sz="850" b="1">
                <a:solidFill>
                  <a:srgbClr val="6B7280"/>
                </a:solidFill>
                <a:latin typeface="Calibri"/>
              </a:defRPr>
            </a:pPr>
            <a:r>
              <a:t>Avg/Wk</a:t>
            </a:r>
          </a:p>
        </p:txBody>
      </p:sp>
      <p:sp>
        <p:nvSpPr>
          <p:cNvPr id="111" name="TextBox 110"/>
          <p:cNvSpPr txBox="1"/>
          <p:nvPr/>
        </p:nvSpPr>
        <p:spPr>
          <a:xfrm>
            <a:off x="6583679" y="4078224"/>
            <a:ext cx="914400" cy="201168"/>
          </a:xfrm>
          <a:prstGeom prst="rect">
            <a:avLst/>
          </a:prstGeom>
          <a:noFill/>
        </p:spPr>
        <p:txBody>
          <a:bodyPr wrap="square">
            <a:spAutoFit/>
          </a:bodyPr>
          <a:lstStyle/>
          <a:p>
            <a:pPr algn="ctr">
              <a:defRPr sz="850" b="1">
                <a:solidFill>
                  <a:srgbClr val="6B7280"/>
                </a:solidFill>
                <a:latin typeface="Calibri"/>
              </a:defRPr>
            </a:pPr>
            <a:r>
              <a:t>% to Goal</a:t>
            </a:r>
          </a:p>
        </p:txBody>
      </p:sp>
      <p:sp>
        <p:nvSpPr>
          <p:cNvPr id="112" name="TextBox 111"/>
          <p:cNvSpPr txBox="1"/>
          <p:nvPr/>
        </p:nvSpPr>
        <p:spPr>
          <a:xfrm>
            <a:off x="182880" y="4279392"/>
            <a:ext cx="1371600" cy="201168"/>
          </a:xfrm>
          <a:prstGeom prst="rect">
            <a:avLst/>
          </a:prstGeom>
          <a:noFill/>
        </p:spPr>
        <p:txBody>
          <a:bodyPr wrap="square">
            <a:spAutoFit/>
          </a:bodyPr>
          <a:lstStyle/>
          <a:p>
            <a:pPr algn="l">
              <a:defRPr sz="900" b="1">
                <a:solidFill>
                  <a:srgbClr val="111827"/>
                </a:solidFill>
                <a:latin typeface="Calibri"/>
              </a:defRPr>
            </a:pPr>
            <a:r>
              <a:t>Cameron Brader</a:t>
            </a:r>
          </a:p>
        </p:txBody>
      </p:sp>
      <p:sp>
        <p:nvSpPr>
          <p:cNvPr id="113" name="TextBox 112"/>
          <p:cNvSpPr txBox="1"/>
          <p:nvPr/>
        </p:nvSpPr>
        <p:spPr>
          <a:xfrm>
            <a:off x="1554480" y="4279392"/>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14" name="TextBox 113"/>
          <p:cNvSpPr txBox="1"/>
          <p:nvPr/>
        </p:nvSpPr>
        <p:spPr>
          <a:xfrm>
            <a:off x="2148840" y="4279392"/>
            <a:ext cx="1188720" cy="201168"/>
          </a:xfrm>
          <a:prstGeom prst="rect">
            <a:avLst/>
          </a:prstGeom>
          <a:noFill/>
        </p:spPr>
        <p:txBody>
          <a:bodyPr wrap="square">
            <a:spAutoFit/>
          </a:bodyPr>
          <a:lstStyle/>
          <a:p>
            <a:pPr algn="ctr">
              <a:defRPr sz="900" b="0">
                <a:solidFill>
                  <a:srgbClr val="111827"/>
                </a:solidFill>
                <a:latin typeface="Calibri"/>
              </a:defRPr>
            </a:pPr>
            <a:r>
              <a:t>396</a:t>
            </a:r>
          </a:p>
        </p:txBody>
      </p:sp>
      <p:sp>
        <p:nvSpPr>
          <p:cNvPr id="115" name="TextBox 114"/>
          <p:cNvSpPr txBox="1"/>
          <p:nvPr/>
        </p:nvSpPr>
        <p:spPr>
          <a:xfrm>
            <a:off x="3337560" y="4279392"/>
            <a:ext cx="914400" cy="201168"/>
          </a:xfrm>
          <a:prstGeom prst="rect">
            <a:avLst/>
          </a:prstGeom>
          <a:noFill/>
        </p:spPr>
        <p:txBody>
          <a:bodyPr wrap="square">
            <a:spAutoFit/>
          </a:bodyPr>
          <a:lstStyle/>
          <a:p>
            <a:pPr algn="ctr">
              <a:defRPr sz="900" b="0">
                <a:solidFill>
                  <a:srgbClr val="111827"/>
                </a:solidFill>
                <a:latin typeface="Calibri"/>
              </a:defRPr>
            </a:pPr>
            <a:r>
              <a:t>10</a:t>
            </a:r>
          </a:p>
        </p:txBody>
      </p:sp>
      <p:sp>
        <p:nvSpPr>
          <p:cNvPr id="116" name="TextBox 115"/>
          <p:cNvSpPr txBox="1"/>
          <p:nvPr/>
        </p:nvSpPr>
        <p:spPr>
          <a:xfrm>
            <a:off x="4251960" y="4279392"/>
            <a:ext cx="777240" cy="201168"/>
          </a:xfrm>
          <a:prstGeom prst="rect">
            <a:avLst/>
          </a:prstGeom>
          <a:noFill/>
        </p:spPr>
        <p:txBody>
          <a:bodyPr wrap="square">
            <a:spAutoFit/>
          </a:bodyPr>
          <a:lstStyle/>
          <a:p>
            <a:pPr algn="ctr">
              <a:defRPr sz="900" b="0">
                <a:solidFill>
                  <a:srgbClr val="6B7280"/>
                </a:solidFill>
                <a:latin typeface="Calibri"/>
              </a:defRPr>
            </a:pPr>
            <a:r>
              <a:t>40</a:t>
            </a:r>
          </a:p>
        </p:txBody>
      </p:sp>
      <p:sp>
        <p:nvSpPr>
          <p:cNvPr id="117" name="TextBox 116"/>
          <p:cNvSpPr txBox="1"/>
          <p:nvPr/>
        </p:nvSpPr>
        <p:spPr>
          <a:xfrm>
            <a:off x="5029200" y="4279392"/>
            <a:ext cx="777240" cy="201168"/>
          </a:xfrm>
          <a:prstGeom prst="rect">
            <a:avLst/>
          </a:prstGeom>
          <a:noFill/>
        </p:spPr>
        <p:txBody>
          <a:bodyPr wrap="square">
            <a:spAutoFit/>
          </a:bodyPr>
          <a:lstStyle/>
          <a:p>
            <a:pPr algn="ctr">
              <a:defRPr sz="900" b="0">
                <a:solidFill>
                  <a:srgbClr val="111827"/>
                </a:solidFill>
                <a:latin typeface="Calibri"/>
              </a:defRPr>
            </a:pPr>
            <a:r>
              <a:t>406</a:t>
            </a:r>
          </a:p>
        </p:txBody>
      </p:sp>
      <p:sp>
        <p:nvSpPr>
          <p:cNvPr id="118" name="TextBox 117"/>
          <p:cNvSpPr txBox="1"/>
          <p:nvPr/>
        </p:nvSpPr>
        <p:spPr>
          <a:xfrm>
            <a:off x="5806440" y="4279392"/>
            <a:ext cx="777240" cy="201168"/>
          </a:xfrm>
          <a:prstGeom prst="rect">
            <a:avLst/>
          </a:prstGeom>
          <a:noFill/>
        </p:spPr>
        <p:txBody>
          <a:bodyPr wrap="square">
            <a:spAutoFit/>
          </a:bodyPr>
          <a:lstStyle/>
          <a:p>
            <a:pPr algn="ctr">
              <a:defRPr sz="900" b="0">
                <a:solidFill>
                  <a:srgbClr val="111827"/>
                </a:solidFill>
                <a:latin typeface="Calibri"/>
              </a:defRPr>
            </a:pPr>
            <a:r>
              <a:t>46.9</a:t>
            </a:r>
          </a:p>
        </p:txBody>
      </p:sp>
      <p:sp>
        <p:nvSpPr>
          <p:cNvPr id="119" name="TextBox 118"/>
          <p:cNvSpPr txBox="1"/>
          <p:nvPr/>
        </p:nvSpPr>
        <p:spPr>
          <a:xfrm>
            <a:off x="6583679" y="4279392"/>
            <a:ext cx="914400" cy="201168"/>
          </a:xfrm>
          <a:prstGeom prst="rect">
            <a:avLst/>
          </a:prstGeom>
          <a:noFill/>
        </p:spPr>
        <p:txBody>
          <a:bodyPr wrap="square">
            <a:spAutoFit/>
          </a:bodyPr>
          <a:lstStyle/>
          <a:p>
            <a:pPr algn="ctr">
              <a:defRPr sz="900" b="0">
                <a:solidFill>
                  <a:srgbClr val="D97706"/>
                </a:solidFill>
                <a:latin typeface="Calibri"/>
              </a:defRPr>
            </a:pPr>
            <a:r>
              <a:t>94%</a:t>
            </a:r>
          </a:p>
        </p:txBody>
      </p:sp>
      <p:sp>
        <p:nvSpPr>
          <p:cNvPr id="120" name="Rectangle 119"/>
          <p:cNvSpPr/>
          <p:nvPr/>
        </p:nvSpPr>
        <p:spPr>
          <a:xfrm>
            <a:off x="182880" y="4517136"/>
            <a:ext cx="731520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82880" y="4535424"/>
            <a:ext cx="1371600" cy="201168"/>
          </a:xfrm>
          <a:prstGeom prst="rect">
            <a:avLst/>
          </a:prstGeom>
          <a:noFill/>
        </p:spPr>
        <p:txBody>
          <a:bodyPr wrap="square">
            <a:spAutoFit/>
          </a:bodyPr>
          <a:lstStyle/>
          <a:p>
            <a:pPr algn="l">
              <a:defRPr sz="900" b="1">
                <a:solidFill>
                  <a:srgbClr val="111827"/>
                </a:solidFill>
                <a:latin typeface="Calibri"/>
              </a:defRPr>
            </a:pPr>
            <a:r>
              <a:t>Erika Cabrera</a:t>
            </a:r>
          </a:p>
        </p:txBody>
      </p:sp>
      <p:sp>
        <p:nvSpPr>
          <p:cNvPr id="122" name="TextBox 121"/>
          <p:cNvSpPr txBox="1"/>
          <p:nvPr/>
        </p:nvSpPr>
        <p:spPr>
          <a:xfrm>
            <a:off x="1554480" y="4535424"/>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23" name="TextBox 122"/>
          <p:cNvSpPr txBox="1"/>
          <p:nvPr/>
        </p:nvSpPr>
        <p:spPr>
          <a:xfrm>
            <a:off x="2148840" y="4535424"/>
            <a:ext cx="1188720" cy="201168"/>
          </a:xfrm>
          <a:prstGeom prst="rect">
            <a:avLst/>
          </a:prstGeom>
          <a:noFill/>
        </p:spPr>
        <p:txBody>
          <a:bodyPr wrap="square">
            <a:spAutoFit/>
          </a:bodyPr>
          <a:lstStyle/>
          <a:p>
            <a:pPr algn="ctr">
              <a:defRPr sz="900" b="0">
                <a:solidFill>
                  <a:srgbClr val="111827"/>
                </a:solidFill>
                <a:latin typeface="Calibri"/>
              </a:defRPr>
            </a:pPr>
            <a:r>
              <a:t>203</a:t>
            </a:r>
          </a:p>
        </p:txBody>
      </p:sp>
      <p:sp>
        <p:nvSpPr>
          <p:cNvPr id="124" name="TextBox 123"/>
          <p:cNvSpPr txBox="1"/>
          <p:nvPr/>
        </p:nvSpPr>
        <p:spPr>
          <a:xfrm>
            <a:off x="3337560" y="4535424"/>
            <a:ext cx="914400" cy="201168"/>
          </a:xfrm>
          <a:prstGeom prst="rect">
            <a:avLst/>
          </a:prstGeom>
          <a:noFill/>
        </p:spPr>
        <p:txBody>
          <a:bodyPr wrap="square">
            <a:spAutoFit/>
          </a:bodyPr>
          <a:lstStyle/>
          <a:p>
            <a:pPr algn="ctr">
              <a:defRPr sz="900" b="0">
                <a:solidFill>
                  <a:srgbClr val="111827"/>
                </a:solidFill>
                <a:latin typeface="Calibri"/>
              </a:defRPr>
            </a:pPr>
            <a:r>
              <a:t>12</a:t>
            </a:r>
          </a:p>
        </p:txBody>
      </p:sp>
      <p:sp>
        <p:nvSpPr>
          <p:cNvPr id="125" name="TextBox 124"/>
          <p:cNvSpPr txBox="1"/>
          <p:nvPr/>
        </p:nvSpPr>
        <p:spPr>
          <a:xfrm>
            <a:off x="4251960" y="4535424"/>
            <a:ext cx="777240" cy="201168"/>
          </a:xfrm>
          <a:prstGeom prst="rect">
            <a:avLst/>
          </a:prstGeom>
          <a:noFill/>
        </p:spPr>
        <p:txBody>
          <a:bodyPr wrap="square">
            <a:spAutoFit/>
          </a:bodyPr>
          <a:lstStyle/>
          <a:p>
            <a:pPr algn="ctr">
              <a:defRPr sz="900" b="0">
                <a:solidFill>
                  <a:srgbClr val="6B7280"/>
                </a:solidFill>
                <a:latin typeface="Calibri"/>
              </a:defRPr>
            </a:pPr>
            <a:r>
              <a:t>15</a:t>
            </a:r>
          </a:p>
        </p:txBody>
      </p:sp>
      <p:sp>
        <p:nvSpPr>
          <p:cNvPr id="126" name="TextBox 125"/>
          <p:cNvSpPr txBox="1"/>
          <p:nvPr/>
        </p:nvSpPr>
        <p:spPr>
          <a:xfrm>
            <a:off x="5029200" y="4535424"/>
            <a:ext cx="777240" cy="201168"/>
          </a:xfrm>
          <a:prstGeom prst="rect">
            <a:avLst/>
          </a:prstGeom>
          <a:noFill/>
        </p:spPr>
        <p:txBody>
          <a:bodyPr wrap="square">
            <a:spAutoFit/>
          </a:bodyPr>
          <a:lstStyle/>
          <a:p>
            <a:pPr algn="ctr">
              <a:defRPr sz="900" b="0">
                <a:solidFill>
                  <a:srgbClr val="111827"/>
                </a:solidFill>
                <a:latin typeface="Calibri"/>
              </a:defRPr>
            </a:pPr>
            <a:r>
              <a:t>215</a:t>
            </a:r>
          </a:p>
        </p:txBody>
      </p:sp>
      <p:sp>
        <p:nvSpPr>
          <p:cNvPr id="127" name="TextBox 126"/>
          <p:cNvSpPr txBox="1"/>
          <p:nvPr/>
        </p:nvSpPr>
        <p:spPr>
          <a:xfrm>
            <a:off x="5806440" y="4535424"/>
            <a:ext cx="777240" cy="201168"/>
          </a:xfrm>
          <a:prstGeom prst="rect">
            <a:avLst/>
          </a:prstGeom>
          <a:noFill/>
        </p:spPr>
        <p:txBody>
          <a:bodyPr wrap="square">
            <a:spAutoFit/>
          </a:bodyPr>
          <a:lstStyle/>
          <a:p>
            <a:pPr algn="ctr">
              <a:defRPr sz="900" b="0">
                <a:solidFill>
                  <a:srgbClr val="111827"/>
                </a:solidFill>
                <a:latin typeface="Calibri"/>
              </a:defRPr>
            </a:pPr>
            <a:r>
              <a:t>35.8</a:t>
            </a:r>
          </a:p>
        </p:txBody>
      </p:sp>
      <p:sp>
        <p:nvSpPr>
          <p:cNvPr id="128" name="TextBox 127"/>
          <p:cNvSpPr txBox="1"/>
          <p:nvPr/>
        </p:nvSpPr>
        <p:spPr>
          <a:xfrm>
            <a:off x="6583679" y="4535424"/>
            <a:ext cx="914400" cy="201168"/>
          </a:xfrm>
          <a:prstGeom prst="rect">
            <a:avLst/>
          </a:prstGeom>
          <a:noFill/>
        </p:spPr>
        <p:txBody>
          <a:bodyPr wrap="square">
            <a:spAutoFit/>
          </a:bodyPr>
          <a:lstStyle/>
          <a:p>
            <a:pPr algn="ctr">
              <a:defRPr sz="900" b="0">
                <a:solidFill>
                  <a:srgbClr val="DC2626"/>
                </a:solidFill>
                <a:latin typeface="Calibri"/>
              </a:defRPr>
            </a:pPr>
            <a:r>
              <a:t>72%</a:t>
            </a:r>
          </a:p>
        </p:txBody>
      </p:sp>
      <p:sp>
        <p:nvSpPr>
          <p:cNvPr id="129" name="TextBox 128"/>
          <p:cNvSpPr txBox="1"/>
          <p:nvPr/>
        </p:nvSpPr>
        <p:spPr>
          <a:xfrm>
            <a:off x="182880" y="4791456"/>
            <a:ext cx="1371600" cy="201168"/>
          </a:xfrm>
          <a:prstGeom prst="rect">
            <a:avLst/>
          </a:prstGeom>
          <a:noFill/>
        </p:spPr>
        <p:txBody>
          <a:bodyPr wrap="square">
            <a:spAutoFit/>
          </a:bodyPr>
          <a:lstStyle/>
          <a:p>
            <a:pPr algn="l">
              <a:defRPr sz="900" b="1">
                <a:solidFill>
                  <a:srgbClr val="111827"/>
                </a:solidFill>
                <a:latin typeface="Calibri"/>
              </a:defRPr>
            </a:pPr>
            <a:r>
              <a:t>Portia Lewis</a:t>
            </a:r>
          </a:p>
        </p:txBody>
      </p:sp>
      <p:sp>
        <p:nvSpPr>
          <p:cNvPr id="130" name="TextBox 129"/>
          <p:cNvSpPr txBox="1"/>
          <p:nvPr/>
        </p:nvSpPr>
        <p:spPr>
          <a:xfrm>
            <a:off x="1554480" y="4791456"/>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31" name="TextBox 130"/>
          <p:cNvSpPr txBox="1"/>
          <p:nvPr/>
        </p:nvSpPr>
        <p:spPr>
          <a:xfrm>
            <a:off x="2148840" y="4791456"/>
            <a:ext cx="1188720" cy="201168"/>
          </a:xfrm>
          <a:prstGeom prst="rect">
            <a:avLst/>
          </a:prstGeom>
          <a:noFill/>
        </p:spPr>
        <p:txBody>
          <a:bodyPr wrap="square">
            <a:spAutoFit/>
          </a:bodyPr>
          <a:lstStyle/>
          <a:p>
            <a:pPr algn="ctr">
              <a:defRPr sz="900" b="0">
                <a:solidFill>
                  <a:srgbClr val="111827"/>
                </a:solidFill>
                <a:latin typeface="Calibri"/>
              </a:defRPr>
            </a:pPr>
            <a:r>
              <a:t>225</a:t>
            </a:r>
          </a:p>
        </p:txBody>
      </p:sp>
      <p:sp>
        <p:nvSpPr>
          <p:cNvPr id="132" name="TextBox 131"/>
          <p:cNvSpPr txBox="1"/>
          <p:nvPr/>
        </p:nvSpPr>
        <p:spPr>
          <a:xfrm>
            <a:off x="3337560" y="4791456"/>
            <a:ext cx="914400" cy="201168"/>
          </a:xfrm>
          <a:prstGeom prst="rect">
            <a:avLst/>
          </a:prstGeom>
          <a:noFill/>
        </p:spPr>
        <p:txBody>
          <a:bodyPr wrap="square">
            <a:spAutoFit/>
          </a:bodyPr>
          <a:lstStyle/>
          <a:p>
            <a:pPr algn="ctr">
              <a:defRPr sz="900" b="0">
                <a:solidFill>
                  <a:srgbClr val="111827"/>
                </a:solidFill>
                <a:latin typeface="Calibri"/>
              </a:defRPr>
            </a:pPr>
            <a:r>
              <a:t>15</a:t>
            </a:r>
          </a:p>
        </p:txBody>
      </p:sp>
      <p:sp>
        <p:nvSpPr>
          <p:cNvPr id="133" name="TextBox 132"/>
          <p:cNvSpPr txBox="1"/>
          <p:nvPr/>
        </p:nvSpPr>
        <p:spPr>
          <a:xfrm>
            <a:off x="4251960" y="4791456"/>
            <a:ext cx="777240" cy="201168"/>
          </a:xfrm>
          <a:prstGeom prst="rect">
            <a:avLst/>
          </a:prstGeom>
          <a:noFill/>
        </p:spPr>
        <p:txBody>
          <a:bodyPr wrap="square">
            <a:spAutoFit/>
          </a:bodyPr>
          <a:lstStyle/>
          <a:p>
            <a:pPr algn="ctr">
              <a:defRPr sz="900" b="0">
                <a:solidFill>
                  <a:srgbClr val="6B7280"/>
                </a:solidFill>
                <a:latin typeface="Calibri"/>
              </a:defRPr>
            </a:pPr>
            <a:r>
              <a:t>36</a:t>
            </a:r>
          </a:p>
        </p:txBody>
      </p:sp>
      <p:sp>
        <p:nvSpPr>
          <p:cNvPr id="134" name="TextBox 133"/>
          <p:cNvSpPr txBox="1"/>
          <p:nvPr/>
        </p:nvSpPr>
        <p:spPr>
          <a:xfrm>
            <a:off x="5029200" y="4791456"/>
            <a:ext cx="777240" cy="201168"/>
          </a:xfrm>
          <a:prstGeom prst="rect">
            <a:avLst/>
          </a:prstGeom>
          <a:noFill/>
        </p:spPr>
        <p:txBody>
          <a:bodyPr wrap="square">
            <a:spAutoFit/>
          </a:bodyPr>
          <a:lstStyle/>
          <a:p>
            <a:pPr algn="ctr">
              <a:defRPr sz="900" b="0">
                <a:solidFill>
                  <a:srgbClr val="111827"/>
                </a:solidFill>
                <a:latin typeface="Calibri"/>
              </a:defRPr>
            </a:pPr>
            <a:r>
              <a:t>240</a:t>
            </a:r>
          </a:p>
        </p:txBody>
      </p:sp>
      <p:sp>
        <p:nvSpPr>
          <p:cNvPr id="135" name="TextBox 134"/>
          <p:cNvSpPr txBox="1"/>
          <p:nvPr/>
        </p:nvSpPr>
        <p:spPr>
          <a:xfrm>
            <a:off x="5806440" y="4791456"/>
            <a:ext cx="777240" cy="201168"/>
          </a:xfrm>
          <a:prstGeom prst="rect">
            <a:avLst/>
          </a:prstGeom>
          <a:noFill/>
        </p:spPr>
        <p:txBody>
          <a:bodyPr wrap="square">
            <a:spAutoFit/>
          </a:bodyPr>
          <a:lstStyle/>
          <a:p>
            <a:pPr algn="ctr">
              <a:defRPr sz="900" b="0">
                <a:solidFill>
                  <a:srgbClr val="111827"/>
                </a:solidFill>
                <a:latin typeface="Calibri"/>
              </a:defRPr>
            </a:pPr>
            <a:r>
              <a:t>40.0</a:t>
            </a:r>
          </a:p>
        </p:txBody>
      </p:sp>
      <p:sp>
        <p:nvSpPr>
          <p:cNvPr id="136" name="TextBox 135"/>
          <p:cNvSpPr txBox="1"/>
          <p:nvPr/>
        </p:nvSpPr>
        <p:spPr>
          <a:xfrm>
            <a:off x="6583679" y="4791456"/>
            <a:ext cx="914400" cy="201168"/>
          </a:xfrm>
          <a:prstGeom prst="rect">
            <a:avLst/>
          </a:prstGeom>
          <a:noFill/>
        </p:spPr>
        <p:txBody>
          <a:bodyPr wrap="square">
            <a:spAutoFit/>
          </a:bodyPr>
          <a:lstStyle/>
          <a:p>
            <a:pPr algn="ctr">
              <a:defRPr sz="900" b="0">
                <a:solidFill>
                  <a:srgbClr val="D97706"/>
                </a:solidFill>
                <a:latin typeface="Calibri"/>
              </a:defRPr>
            </a:pPr>
            <a:r>
              <a:t>80%</a:t>
            </a:r>
          </a:p>
        </p:txBody>
      </p:sp>
      <p:sp>
        <p:nvSpPr>
          <p:cNvPr id="137" name="Rectangle 136"/>
          <p:cNvSpPr/>
          <p:nvPr/>
        </p:nvSpPr>
        <p:spPr>
          <a:xfrm>
            <a:off x="182880" y="5029200"/>
            <a:ext cx="731520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82880" y="5047488"/>
            <a:ext cx="1371600" cy="201168"/>
          </a:xfrm>
          <a:prstGeom prst="rect">
            <a:avLst/>
          </a:prstGeom>
          <a:noFill/>
        </p:spPr>
        <p:txBody>
          <a:bodyPr wrap="square">
            <a:spAutoFit/>
          </a:bodyPr>
          <a:lstStyle/>
          <a:p>
            <a:pPr algn="l">
              <a:defRPr sz="900" b="1">
                <a:solidFill>
                  <a:srgbClr val="111827"/>
                </a:solidFill>
                <a:latin typeface="Calibri"/>
              </a:defRPr>
            </a:pPr>
            <a:r>
              <a:t>Taylor Sloan</a:t>
            </a:r>
          </a:p>
        </p:txBody>
      </p:sp>
      <p:sp>
        <p:nvSpPr>
          <p:cNvPr id="139" name="TextBox 138"/>
          <p:cNvSpPr txBox="1"/>
          <p:nvPr/>
        </p:nvSpPr>
        <p:spPr>
          <a:xfrm>
            <a:off x="1554480" y="5047488"/>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40" name="TextBox 139"/>
          <p:cNvSpPr txBox="1"/>
          <p:nvPr/>
        </p:nvSpPr>
        <p:spPr>
          <a:xfrm>
            <a:off x="2148840" y="5047488"/>
            <a:ext cx="1188720" cy="201168"/>
          </a:xfrm>
          <a:prstGeom prst="rect">
            <a:avLst/>
          </a:prstGeom>
          <a:noFill/>
        </p:spPr>
        <p:txBody>
          <a:bodyPr wrap="square">
            <a:spAutoFit/>
          </a:bodyPr>
          <a:lstStyle/>
          <a:p>
            <a:pPr algn="ctr">
              <a:defRPr sz="900" b="0">
                <a:solidFill>
                  <a:srgbClr val="111827"/>
                </a:solidFill>
                <a:latin typeface="Calibri"/>
              </a:defRPr>
            </a:pPr>
            <a:r>
              <a:t>259</a:t>
            </a:r>
          </a:p>
        </p:txBody>
      </p:sp>
      <p:sp>
        <p:nvSpPr>
          <p:cNvPr id="141" name="TextBox 140"/>
          <p:cNvSpPr txBox="1"/>
          <p:nvPr/>
        </p:nvSpPr>
        <p:spPr>
          <a:xfrm>
            <a:off x="3337560" y="5047488"/>
            <a:ext cx="914400" cy="201168"/>
          </a:xfrm>
          <a:prstGeom prst="rect">
            <a:avLst/>
          </a:prstGeom>
          <a:noFill/>
        </p:spPr>
        <p:txBody>
          <a:bodyPr wrap="square">
            <a:spAutoFit/>
          </a:bodyPr>
          <a:lstStyle/>
          <a:p>
            <a:pPr algn="ctr">
              <a:defRPr sz="900" b="0">
                <a:solidFill>
                  <a:srgbClr val="111827"/>
                </a:solidFill>
                <a:latin typeface="Calibri"/>
              </a:defRPr>
            </a:pPr>
            <a:r>
              <a:t>14</a:t>
            </a:r>
          </a:p>
        </p:txBody>
      </p:sp>
      <p:sp>
        <p:nvSpPr>
          <p:cNvPr id="142" name="TextBox 141"/>
          <p:cNvSpPr txBox="1"/>
          <p:nvPr/>
        </p:nvSpPr>
        <p:spPr>
          <a:xfrm>
            <a:off x="4251960" y="5047488"/>
            <a:ext cx="777240" cy="201168"/>
          </a:xfrm>
          <a:prstGeom prst="rect">
            <a:avLst/>
          </a:prstGeom>
          <a:noFill/>
        </p:spPr>
        <p:txBody>
          <a:bodyPr wrap="square">
            <a:spAutoFit/>
          </a:bodyPr>
          <a:lstStyle/>
          <a:p>
            <a:pPr algn="ctr">
              <a:defRPr sz="900" b="0">
                <a:solidFill>
                  <a:srgbClr val="6B7280"/>
                </a:solidFill>
                <a:latin typeface="Calibri"/>
              </a:defRPr>
            </a:pPr>
            <a:r>
              <a:t>21</a:t>
            </a:r>
          </a:p>
        </p:txBody>
      </p:sp>
      <p:sp>
        <p:nvSpPr>
          <p:cNvPr id="143" name="TextBox 142"/>
          <p:cNvSpPr txBox="1"/>
          <p:nvPr/>
        </p:nvSpPr>
        <p:spPr>
          <a:xfrm>
            <a:off x="5029200" y="5047488"/>
            <a:ext cx="777240" cy="201168"/>
          </a:xfrm>
          <a:prstGeom prst="rect">
            <a:avLst/>
          </a:prstGeom>
          <a:noFill/>
        </p:spPr>
        <p:txBody>
          <a:bodyPr wrap="square">
            <a:spAutoFit/>
          </a:bodyPr>
          <a:lstStyle/>
          <a:p>
            <a:pPr algn="ctr">
              <a:defRPr sz="900" b="0">
                <a:solidFill>
                  <a:srgbClr val="111827"/>
                </a:solidFill>
                <a:latin typeface="Calibri"/>
              </a:defRPr>
            </a:pPr>
            <a:r>
              <a:t>273</a:t>
            </a:r>
          </a:p>
        </p:txBody>
      </p:sp>
      <p:sp>
        <p:nvSpPr>
          <p:cNvPr id="144" name="TextBox 143"/>
          <p:cNvSpPr txBox="1"/>
          <p:nvPr/>
        </p:nvSpPr>
        <p:spPr>
          <a:xfrm>
            <a:off x="5806440" y="5047488"/>
            <a:ext cx="777240" cy="201168"/>
          </a:xfrm>
          <a:prstGeom prst="rect">
            <a:avLst/>
          </a:prstGeom>
          <a:noFill/>
        </p:spPr>
        <p:txBody>
          <a:bodyPr wrap="square">
            <a:spAutoFit/>
          </a:bodyPr>
          <a:lstStyle/>
          <a:p>
            <a:pPr algn="ctr">
              <a:defRPr sz="900" b="0">
                <a:solidFill>
                  <a:srgbClr val="111827"/>
                </a:solidFill>
                <a:latin typeface="Calibri"/>
              </a:defRPr>
            </a:pPr>
            <a:r>
              <a:t>45.5</a:t>
            </a:r>
          </a:p>
        </p:txBody>
      </p:sp>
      <p:sp>
        <p:nvSpPr>
          <p:cNvPr id="145" name="TextBox 144"/>
          <p:cNvSpPr txBox="1"/>
          <p:nvPr/>
        </p:nvSpPr>
        <p:spPr>
          <a:xfrm>
            <a:off x="6583679" y="5047488"/>
            <a:ext cx="914400" cy="201168"/>
          </a:xfrm>
          <a:prstGeom prst="rect">
            <a:avLst/>
          </a:prstGeom>
          <a:noFill/>
        </p:spPr>
        <p:txBody>
          <a:bodyPr wrap="square">
            <a:spAutoFit/>
          </a:bodyPr>
          <a:lstStyle/>
          <a:p>
            <a:pPr algn="ctr">
              <a:defRPr sz="900" b="0">
                <a:solidFill>
                  <a:srgbClr val="D97706"/>
                </a:solidFill>
                <a:latin typeface="Calibri"/>
              </a:defRPr>
            </a:pPr>
            <a:r>
              <a:t>91%</a:t>
            </a:r>
          </a:p>
        </p:txBody>
      </p:sp>
      <p:sp>
        <p:nvSpPr>
          <p:cNvPr id="146" name="TextBox 145"/>
          <p:cNvSpPr txBox="1"/>
          <p:nvPr/>
        </p:nvSpPr>
        <p:spPr>
          <a:xfrm>
            <a:off x="182880" y="5303520"/>
            <a:ext cx="1371600" cy="201168"/>
          </a:xfrm>
          <a:prstGeom prst="rect">
            <a:avLst/>
          </a:prstGeom>
          <a:noFill/>
        </p:spPr>
        <p:txBody>
          <a:bodyPr wrap="square">
            <a:spAutoFit/>
          </a:bodyPr>
          <a:lstStyle/>
          <a:p>
            <a:pPr algn="l">
              <a:defRPr sz="900" b="1">
                <a:solidFill>
                  <a:srgbClr val="111827"/>
                </a:solidFill>
                <a:latin typeface="Calibri"/>
              </a:defRPr>
            </a:pPr>
            <a:r>
              <a:t>Kurt Butterfield</a:t>
            </a:r>
          </a:p>
        </p:txBody>
      </p:sp>
      <p:sp>
        <p:nvSpPr>
          <p:cNvPr id="147" name="TextBox 146"/>
          <p:cNvSpPr txBox="1"/>
          <p:nvPr/>
        </p:nvSpPr>
        <p:spPr>
          <a:xfrm>
            <a:off x="1554480" y="5303520"/>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48" name="TextBox 147"/>
          <p:cNvSpPr txBox="1"/>
          <p:nvPr/>
        </p:nvSpPr>
        <p:spPr>
          <a:xfrm>
            <a:off x="2148840" y="5303520"/>
            <a:ext cx="1188720" cy="201168"/>
          </a:xfrm>
          <a:prstGeom prst="rect">
            <a:avLst/>
          </a:prstGeom>
          <a:noFill/>
        </p:spPr>
        <p:txBody>
          <a:bodyPr wrap="square">
            <a:spAutoFit/>
          </a:bodyPr>
          <a:lstStyle/>
          <a:p>
            <a:pPr algn="ctr">
              <a:defRPr sz="900" b="0">
                <a:solidFill>
                  <a:srgbClr val="111827"/>
                </a:solidFill>
                <a:latin typeface="Calibri"/>
              </a:defRPr>
            </a:pPr>
            <a:r>
              <a:t>192</a:t>
            </a:r>
          </a:p>
        </p:txBody>
      </p:sp>
      <p:sp>
        <p:nvSpPr>
          <p:cNvPr id="149" name="TextBox 148"/>
          <p:cNvSpPr txBox="1"/>
          <p:nvPr/>
        </p:nvSpPr>
        <p:spPr>
          <a:xfrm>
            <a:off x="3337560" y="5303520"/>
            <a:ext cx="914400" cy="201168"/>
          </a:xfrm>
          <a:prstGeom prst="rect">
            <a:avLst/>
          </a:prstGeom>
          <a:noFill/>
        </p:spPr>
        <p:txBody>
          <a:bodyPr wrap="square">
            <a:spAutoFit/>
          </a:bodyPr>
          <a:lstStyle/>
          <a:p>
            <a:pPr algn="ctr">
              <a:defRPr sz="900" b="0">
                <a:solidFill>
                  <a:srgbClr val="111827"/>
                </a:solidFill>
                <a:latin typeface="Calibri"/>
              </a:defRPr>
            </a:pPr>
            <a:r>
              <a:t>7</a:t>
            </a:r>
          </a:p>
        </p:txBody>
      </p:sp>
      <p:sp>
        <p:nvSpPr>
          <p:cNvPr id="150" name="TextBox 149"/>
          <p:cNvSpPr txBox="1"/>
          <p:nvPr/>
        </p:nvSpPr>
        <p:spPr>
          <a:xfrm>
            <a:off x="4251960" y="5303520"/>
            <a:ext cx="777240" cy="201168"/>
          </a:xfrm>
          <a:prstGeom prst="rect">
            <a:avLst/>
          </a:prstGeom>
          <a:noFill/>
        </p:spPr>
        <p:txBody>
          <a:bodyPr wrap="square">
            <a:spAutoFit/>
          </a:bodyPr>
          <a:lstStyle/>
          <a:p>
            <a:pPr algn="ctr">
              <a:defRPr sz="900" b="0">
                <a:solidFill>
                  <a:srgbClr val="6B7280"/>
                </a:solidFill>
                <a:latin typeface="Calibri"/>
              </a:defRPr>
            </a:pPr>
            <a:r>
              <a:t>11</a:t>
            </a:r>
          </a:p>
        </p:txBody>
      </p:sp>
      <p:sp>
        <p:nvSpPr>
          <p:cNvPr id="151" name="TextBox 150"/>
          <p:cNvSpPr txBox="1"/>
          <p:nvPr/>
        </p:nvSpPr>
        <p:spPr>
          <a:xfrm>
            <a:off x="5029200" y="5303520"/>
            <a:ext cx="777240" cy="201168"/>
          </a:xfrm>
          <a:prstGeom prst="rect">
            <a:avLst/>
          </a:prstGeom>
          <a:noFill/>
        </p:spPr>
        <p:txBody>
          <a:bodyPr wrap="square">
            <a:spAutoFit/>
          </a:bodyPr>
          <a:lstStyle/>
          <a:p>
            <a:pPr algn="ctr">
              <a:defRPr sz="900" b="0">
                <a:solidFill>
                  <a:srgbClr val="111827"/>
                </a:solidFill>
                <a:latin typeface="Calibri"/>
              </a:defRPr>
            </a:pPr>
            <a:r>
              <a:t>199</a:t>
            </a:r>
          </a:p>
        </p:txBody>
      </p:sp>
      <p:sp>
        <p:nvSpPr>
          <p:cNvPr id="152" name="TextBox 151"/>
          <p:cNvSpPr txBox="1"/>
          <p:nvPr/>
        </p:nvSpPr>
        <p:spPr>
          <a:xfrm>
            <a:off x="5806440" y="5303520"/>
            <a:ext cx="777240" cy="201168"/>
          </a:xfrm>
          <a:prstGeom prst="rect">
            <a:avLst/>
          </a:prstGeom>
          <a:noFill/>
        </p:spPr>
        <p:txBody>
          <a:bodyPr wrap="square">
            <a:spAutoFit/>
          </a:bodyPr>
          <a:lstStyle/>
          <a:p>
            <a:pPr algn="ctr">
              <a:defRPr sz="900" b="0">
                <a:solidFill>
                  <a:srgbClr val="111827"/>
                </a:solidFill>
                <a:latin typeface="Calibri"/>
              </a:defRPr>
            </a:pPr>
            <a:r>
              <a:t>23.0</a:t>
            </a:r>
          </a:p>
        </p:txBody>
      </p:sp>
      <p:sp>
        <p:nvSpPr>
          <p:cNvPr id="153" name="TextBox 152"/>
          <p:cNvSpPr txBox="1"/>
          <p:nvPr/>
        </p:nvSpPr>
        <p:spPr>
          <a:xfrm>
            <a:off x="6583679" y="5303520"/>
            <a:ext cx="914400" cy="201168"/>
          </a:xfrm>
          <a:prstGeom prst="rect">
            <a:avLst/>
          </a:prstGeom>
          <a:noFill/>
        </p:spPr>
        <p:txBody>
          <a:bodyPr wrap="square">
            <a:spAutoFit/>
          </a:bodyPr>
          <a:lstStyle/>
          <a:p>
            <a:pPr algn="ctr">
              <a:defRPr sz="900" b="0">
                <a:solidFill>
                  <a:srgbClr val="DC2626"/>
                </a:solidFill>
                <a:latin typeface="Calibri"/>
              </a:defRPr>
            </a:pPr>
            <a:r>
              <a:t>46%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Account Health &amp; Agency Engagement  —  Retail Only</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BDMs + BDAs  |  Per-rep counts = each rep's full HubSpot book (assignment = Retail filter)  |  Unassigned row = HubSpot vertical=Retailer only</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29, 2026</a:t>
            </a:r>
          </a:p>
        </p:txBody>
      </p:sp>
      <p:sp>
        <p:nvSpPr>
          <p:cNvPr id="6" name="TextBox 5"/>
          <p:cNvSpPr txBox="1"/>
          <p:nvPr/>
        </p:nvSpPr>
        <p:spPr>
          <a:xfrm>
            <a:off x="182880" y="841248"/>
            <a:ext cx="1508760" cy="201168"/>
          </a:xfrm>
          <a:prstGeom prst="rect">
            <a:avLst/>
          </a:prstGeom>
          <a:noFill/>
        </p:spPr>
        <p:txBody>
          <a:bodyPr wrap="none">
            <a:spAutoFit/>
          </a:bodyPr>
          <a:lstStyle/>
          <a:p>
            <a:pPr algn="l">
              <a:defRPr sz="900" b="1">
                <a:solidFill>
                  <a:srgbClr val="6B7280"/>
                </a:solidFill>
                <a:latin typeface="Calibri"/>
              </a:defRPr>
            </a:pPr>
            <a:r>
              <a:t>Rep</a:t>
            </a:r>
          </a:p>
        </p:txBody>
      </p:sp>
      <p:sp>
        <p:nvSpPr>
          <p:cNvPr id="7" name="TextBox 6"/>
          <p:cNvSpPr txBox="1"/>
          <p:nvPr/>
        </p:nvSpPr>
        <p:spPr>
          <a:xfrm>
            <a:off x="1691639" y="841248"/>
            <a:ext cx="713232" cy="201168"/>
          </a:xfrm>
          <a:prstGeom prst="rect">
            <a:avLst/>
          </a:prstGeom>
          <a:noFill/>
        </p:spPr>
        <p:txBody>
          <a:bodyPr wrap="none">
            <a:spAutoFit/>
          </a:bodyPr>
          <a:lstStyle/>
          <a:p>
            <a:pPr algn="ctr">
              <a:defRPr sz="900" b="1">
                <a:solidFill>
                  <a:srgbClr val="6B7280"/>
                </a:solidFill>
                <a:latin typeface="Calibri"/>
              </a:defRPr>
            </a:pPr>
            <a:r>
              <a:t>Portfolio</a:t>
            </a:r>
          </a:p>
        </p:txBody>
      </p:sp>
      <p:sp>
        <p:nvSpPr>
          <p:cNvPr id="8" name="TextBox 7"/>
          <p:cNvSpPr txBox="1"/>
          <p:nvPr/>
        </p:nvSpPr>
        <p:spPr>
          <a:xfrm>
            <a:off x="2404872" y="841248"/>
            <a:ext cx="621792" cy="201168"/>
          </a:xfrm>
          <a:prstGeom prst="rect">
            <a:avLst/>
          </a:prstGeom>
          <a:noFill/>
        </p:spPr>
        <p:txBody>
          <a:bodyPr wrap="none">
            <a:spAutoFit/>
          </a:bodyPr>
          <a:lstStyle/>
          <a:p>
            <a:pPr algn="ctr">
              <a:defRPr sz="900" b="1">
                <a:solidFill>
                  <a:srgbClr val="6B7280"/>
                </a:solidFill>
                <a:latin typeface="Calibri"/>
              </a:defRPr>
            </a:pPr>
            <a:r>
              <a:t>Active</a:t>
            </a:r>
          </a:p>
        </p:txBody>
      </p:sp>
      <p:sp>
        <p:nvSpPr>
          <p:cNvPr id="9" name="TextBox 8"/>
          <p:cNvSpPr txBox="1"/>
          <p:nvPr/>
        </p:nvSpPr>
        <p:spPr>
          <a:xfrm>
            <a:off x="3026664" y="841248"/>
            <a:ext cx="713232" cy="201168"/>
          </a:xfrm>
          <a:prstGeom prst="rect">
            <a:avLst/>
          </a:prstGeom>
          <a:noFill/>
        </p:spPr>
        <p:txBody>
          <a:bodyPr wrap="none">
            <a:spAutoFit/>
          </a:bodyPr>
          <a:lstStyle/>
          <a:p>
            <a:pPr algn="ctr">
              <a:defRPr sz="900" b="1">
                <a:solidFill>
                  <a:srgbClr val="6B7280"/>
                </a:solidFill>
                <a:latin typeface="Calibri"/>
              </a:defRPr>
            </a:pPr>
            <a:r>
              <a:t>Dormant</a:t>
            </a:r>
          </a:p>
        </p:txBody>
      </p:sp>
      <p:sp>
        <p:nvSpPr>
          <p:cNvPr id="10" name="TextBox 9"/>
          <p:cNvSpPr txBox="1"/>
          <p:nvPr/>
        </p:nvSpPr>
        <p:spPr>
          <a:xfrm>
            <a:off x="3739896" y="841248"/>
            <a:ext cx="621792" cy="201168"/>
          </a:xfrm>
          <a:prstGeom prst="rect">
            <a:avLst/>
          </a:prstGeom>
          <a:noFill/>
        </p:spPr>
        <p:txBody>
          <a:bodyPr wrap="none">
            <a:spAutoFit/>
          </a:bodyPr>
          <a:lstStyle/>
          <a:p>
            <a:pPr algn="ctr">
              <a:defRPr sz="900" b="1">
                <a:solidFill>
                  <a:srgbClr val="6B7280"/>
                </a:solidFill>
                <a:latin typeface="Calibri"/>
              </a:defRPr>
            </a:pPr>
            <a:r>
              <a:t>Eng. %</a:t>
            </a:r>
          </a:p>
        </p:txBody>
      </p:sp>
      <p:sp>
        <p:nvSpPr>
          <p:cNvPr id="11" name="TextBox 10"/>
          <p:cNvSpPr txBox="1"/>
          <p:nvPr/>
        </p:nvSpPr>
        <p:spPr>
          <a:xfrm>
            <a:off x="4361688" y="841248"/>
            <a:ext cx="960120" cy="201168"/>
          </a:xfrm>
          <a:prstGeom prst="rect">
            <a:avLst/>
          </a:prstGeom>
          <a:noFill/>
        </p:spPr>
        <p:txBody>
          <a:bodyPr wrap="none">
            <a:spAutoFit/>
          </a:bodyPr>
          <a:lstStyle/>
          <a:p>
            <a:pPr algn="ctr">
              <a:defRPr sz="900" b="1">
                <a:solidFill>
                  <a:srgbClr val="6B7280"/>
                </a:solidFill>
                <a:latin typeface="Calibri"/>
              </a:defRPr>
            </a:pPr>
            <a:r>
              <a:t>Q1 GWP</a:t>
            </a:r>
          </a:p>
        </p:txBody>
      </p:sp>
      <p:sp>
        <p:nvSpPr>
          <p:cNvPr id="12" name="TextBox 11"/>
          <p:cNvSpPr txBox="1"/>
          <p:nvPr/>
        </p:nvSpPr>
        <p:spPr>
          <a:xfrm>
            <a:off x="5321807" y="841248"/>
            <a:ext cx="804672" cy="201168"/>
          </a:xfrm>
          <a:prstGeom prst="rect">
            <a:avLst/>
          </a:prstGeom>
          <a:noFill/>
        </p:spPr>
        <p:txBody>
          <a:bodyPr wrap="none">
            <a:spAutoFit/>
          </a:bodyPr>
          <a:lstStyle/>
          <a:p>
            <a:pPr algn="ctr">
              <a:defRPr sz="900" b="1">
                <a:solidFill>
                  <a:srgbClr val="6B7280"/>
                </a:solidFill>
                <a:latin typeface="Calibri"/>
              </a:defRPr>
            </a:pPr>
            <a:r>
              <a:t>Q2 Subs</a:t>
            </a:r>
          </a:p>
        </p:txBody>
      </p:sp>
      <p:sp>
        <p:nvSpPr>
          <p:cNvPr id="13" name="TextBox 12"/>
          <p:cNvSpPr txBox="1"/>
          <p:nvPr/>
        </p:nvSpPr>
        <p:spPr>
          <a:xfrm>
            <a:off x="6126479" y="841248"/>
            <a:ext cx="731520" cy="201168"/>
          </a:xfrm>
          <a:prstGeom prst="rect">
            <a:avLst/>
          </a:prstGeom>
          <a:noFill/>
        </p:spPr>
        <p:txBody>
          <a:bodyPr wrap="none">
            <a:spAutoFit/>
          </a:bodyPr>
          <a:lstStyle/>
          <a:p>
            <a:pPr algn="ctr">
              <a:defRPr sz="900" b="1">
                <a:solidFill>
                  <a:srgbClr val="6B7280"/>
                </a:solidFill>
                <a:latin typeface="Calibri"/>
              </a:defRPr>
            </a:pPr>
            <a:r>
              <a:t>Q2 Binds</a:t>
            </a:r>
          </a:p>
        </p:txBody>
      </p:sp>
      <p:sp>
        <p:nvSpPr>
          <p:cNvPr id="14" name="TextBox 13"/>
          <p:cNvSpPr txBox="1"/>
          <p:nvPr/>
        </p:nvSpPr>
        <p:spPr>
          <a:xfrm>
            <a:off x="6857999" y="841248"/>
            <a:ext cx="960120" cy="201168"/>
          </a:xfrm>
          <a:prstGeom prst="rect">
            <a:avLst/>
          </a:prstGeom>
          <a:noFill/>
        </p:spPr>
        <p:txBody>
          <a:bodyPr wrap="none">
            <a:spAutoFit/>
          </a:bodyPr>
          <a:lstStyle/>
          <a:p>
            <a:pPr algn="ctr">
              <a:defRPr sz="900" b="1">
                <a:solidFill>
                  <a:srgbClr val="6B7280"/>
                </a:solidFill>
                <a:latin typeface="Calibri"/>
              </a:defRPr>
            </a:pPr>
            <a:r>
              <a:t>Q2 GWP</a:t>
            </a:r>
          </a:p>
        </p:txBody>
      </p:sp>
      <p:sp>
        <p:nvSpPr>
          <p:cNvPr id="15" name="TextBox 14"/>
          <p:cNvSpPr txBox="1"/>
          <p:nvPr/>
        </p:nvSpPr>
        <p:spPr>
          <a:xfrm>
            <a:off x="7818119" y="841248"/>
            <a:ext cx="804672" cy="201168"/>
          </a:xfrm>
          <a:prstGeom prst="rect">
            <a:avLst/>
          </a:prstGeom>
          <a:noFill/>
        </p:spPr>
        <p:txBody>
          <a:bodyPr wrap="none">
            <a:spAutoFit/>
          </a:bodyPr>
          <a:lstStyle/>
          <a:p>
            <a:pPr algn="ctr">
              <a:defRPr sz="900" b="1">
                <a:solidFill>
                  <a:srgbClr val="6B7280"/>
                </a:solidFill>
                <a:latin typeface="Calibri"/>
              </a:defRPr>
            </a:pPr>
            <a:r>
              <a:t>Q2 Renew</a:t>
            </a:r>
          </a:p>
        </p:txBody>
      </p:sp>
      <p:sp>
        <p:nvSpPr>
          <p:cNvPr id="16" name="TextBox 15"/>
          <p:cNvSpPr txBox="1"/>
          <p:nvPr/>
        </p:nvSpPr>
        <p:spPr>
          <a:xfrm>
            <a:off x="8622792" y="841248"/>
            <a:ext cx="804672" cy="201168"/>
          </a:xfrm>
          <a:prstGeom prst="rect">
            <a:avLst/>
          </a:prstGeom>
          <a:noFill/>
        </p:spPr>
        <p:txBody>
          <a:bodyPr wrap="none">
            <a:spAutoFit/>
          </a:bodyPr>
          <a:lstStyle/>
          <a:p>
            <a:pPr algn="ctr">
              <a:defRPr sz="900" b="1">
                <a:solidFill>
                  <a:srgbClr val="6B7280"/>
                </a:solidFill>
                <a:latin typeface="Calibri"/>
              </a:defRPr>
            </a:pPr>
            <a:r>
              <a:t>Q2 Cancel</a:t>
            </a:r>
          </a:p>
        </p:txBody>
      </p:sp>
      <p:sp>
        <p:nvSpPr>
          <p:cNvPr id="17" name="Rectangle 16"/>
          <p:cNvSpPr/>
          <p:nvPr/>
        </p:nvSpPr>
        <p:spPr>
          <a:xfrm>
            <a:off x="182880" y="1042416"/>
            <a:ext cx="9244584"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2880" y="1115568"/>
            <a:ext cx="1508760" cy="201168"/>
          </a:xfrm>
          <a:prstGeom prst="rect">
            <a:avLst/>
          </a:prstGeom>
          <a:noFill/>
        </p:spPr>
        <p:txBody>
          <a:bodyPr wrap="none">
            <a:spAutoFit/>
          </a:bodyPr>
          <a:lstStyle/>
          <a:p>
            <a:pPr algn="l">
              <a:defRPr sz="950" b="1">
                <a:solidFill>
                  <a:srgbClr val="111827"/>
                </a:solidFill>
                <a:latin typeface="Calibri"/>
              </a:defRPr>
            </a:pPr>
            <a:r>
              <a:t>Derek Janssen</a:t>
            </a:r>
          </a:p>
        </p:txBody>
      </p:sp>
      <p:sp>
        <p:nvSpPr>
          <p:cNvPr id="19" name="TextBox 18"/>
          <p:cNvSpPr txBox="1"/>
          <p:nvPr/>
        </p:nvSpPr>
        <p:spPr>
          <a:xfrm>
            <a:off x="1691639" y="1115568"/>
            <a:ext cx="713232" cy="201168"/>
          </a:xfrm>
          <a:prstGeom prst="rect">
            <a:avLst/>
          </a:prstGeom>
          <a:noFill/>
        </p:spPr>
        <p:txBody>
          <a:bodyPr wrap="none">
            <a:spAutoFit/>
          </a:bodyPr>
          <a:lstStyle/>
          <a:p>
            <a:pPr algn="ctr">
              <a:defRPr sz="950" b="0">
                <a:solidFill>
                  <a:srgbClr val="6B7280"/>
                </a:solidFill>
                <a:latin typeface="Calibri"/>
              </a:defRPr>
            </a:pPr>
            <a:r>
              <a:t>53</a:t>
            </a:r>
          </a:p>
        </p:txBody>
      </p:sp>
      <p:sp>
        <p:nvSpPr>
          <p:cNvPr id="20" name="TextBox 19"/>
          <p:cNvSpPr txBox="1"/>
          <p:nvPr/>
        </p:nvSpPr>
        <p:spPr>
          <a:xfrm>
            <a:off x="2404872" y="1115568"/>
            <a:ext cx="621792" cy="201168"/>
          </a:xfrm>
          <a:prstGeom prst="rect">
            <a:avLst/>
          </a:prstGeom>
          <a:noFill/>
        </p:spPr>
        <p:txBody>
          <a:bodyPr wrap="none">
            <a:spAutoFit/>
          </a:bodyPr>
          <a:lstStyle/>
          <a:p>
            <a:pPr algn="ctr">
              <a:defRPr sz="950" b="0">
                <a:solidFill>
                  <a:srgbClr val="059669"/>
                </a:solidFill>
                <a:latin typeface="Calibri"/>
              </a:defRPr>
            </a:pPr>
            <a:r>
              <a:t>53</a:t>
            </a:r>
          </a:p>
        </p:txBody>
      </p:sp>
      <p:sp>
        <p:nvSpPr>
          <p:cNvPr id="21" name="TextBox 20"/>
          <p:cNvSpPr txBox="1"/>
          <p:nvPr/>
        </p:nvSpPr>
        <p:spPr>
          <a:xfrm>
            <a:off x="3026664" y="1115568"/>
            <a:ext cx="713232" cy="201168"/>
          </a:xfrm>
          <a:prstGeom prst="rect">
            <a:avLst/>
          </a:prstGeom>
          <a:noFill/>
        </p:spPr>
        <p:txBody>
          <a:bodyPr wrap="none">
            <a:spAutoFit/>
          </a:bodyPr>
          <a:lstStyle/>
          <a:p>
            <a:pPr algn="ctr">
              <a:defRPr sz="950" b="1">
                <a:solidFill>
                  <a:srgbClr val="D97706"/>
                </a:solidFill>
                <a:latin typeface="Calibri"/>
              </a:defRPr>
            </a:pPr>
            <a:r>
              <a:t>0</a:t>
            </a:r>
          </a:p>
        </p:txBody>
      </p:sp>
      <p:sp>
        <p:nvSpPr>
          <p:cNvPr id="22" name="TextBox 21"/>
          <p:cNvSpPr txBox="1"/>
          <p:nvPr/>
        </p:nvSpPr>
        <p:spPr>
          <a:xfrm>
            <a:off x="3739896" y="1115568"/>
            <a:ext cx="621792" cy="201168"/>
          </a:xfrm>
          <a:prstGeom prst="rect">
            <a:avLst/>
          </a:prstGeom>
          <a:noFill/>
        </p:spPr>
        <p:txBody>
          <a:bodyPr wrap="none">
            <a:spAutoFit/>
          </a:bodyPr>
          <a:lstStyle/>
          <a:p>
            <a:pPr algn="ctr">
              <a:defRPr sz="950" b="1">
                <a:solidFill>
                  <a:srgbClr val="059669"/>
                </a:solidFill>
                <a:latin typeface="Calibri"/>
              </a:defRPr>
            </a:pPr>
            <a:r>
              <a:t>100%</a:t>
            </a:r>
          </a:p>
        </p:txBody>
      </p:sp>
      <p:sp>
        <p:nvSpPr>
          <p:cNvPr id="23" name="TextBox 22"/>
          <p:cNvSpPr txBox="1"/>
          <p:nvPr/>
        </p:nvSpPr>
        <p:spPr>
          <a:xfrm>
            <a:off x="4361688" y="1115568"/>
            <a:ext cx="960120" cy="201168"/>
          </a:xfrm>
          <a:prstGeom prst="rect">
            <a:avLst/>
          </a:prstGeom>
          <a:noFill/>
        </p:spPr>
        <p:txBody>
          <a:bodyPr wrap="none">
            <a:spAutoFit/>
          </a:bodyPr>
          <a:lstStyle/>
          <a:p>
            <a:pPr algn="ctr">
              <a:defRPr sz="950" b="0">
                <a:solidFill>
                  <a:srgbClr val="6D28D9"/>
                </a:solidFill>
                <a:latin typeface="Calibri"/>
              </a:defRPr>
            </a:pPr>
            <a:r>
              <a:t>$19.0M</a:t>
            </a:r>
          </a:p>
        </p:txBody>
      </p:sp>
      <p:sp>
        <p:nvSpPr>
          <p:cNvPr id="24" name="TextBox 23"/>
          <p:cNvSpPr txBox="1"/>
          <p:nvPr/>
        </p:nvSpPr>
        <p:spPr>
          <a:xfrm>
            <a:off x="5321807" y="1115568"/>
            <a:ext cx="804672" cy="201168"/>
          </a:xfrm>
          <a:prstGeom prst="rect">
            <a:avLst/>
          </a:prstGeom>
          <a:noFill/>
        </p:spPr>
        <p:txBody>
          <a:bodyPr wrap="none">
            <a:spAutoFit/>
          </a:bodyPr>
          <a:lstStyle/>
          <a:p>
            <a:pPr algn="ctr">
              <a:defRPr sz="950" b="0">
                <a:solidFill>
                  <a:srgbClr val="111827"/>
                </a:solidFill>
                <a:latin typeface="Calibri"/>
              </a:defRPr>
            </a:pPr>
            <a:r>
              <a:t>7353</a:t>
            </a:r>
          </a:p>
        </p:txBody>
      </p:sp>
      <p:sp>
        <p:nvSpPr>
          <p:cNvPr id="25" name="TextBox 24"/>
          <p:cNvSpPr txBox="1"/>
          <p:nvPr/>
        </p:nvSpPr>
        <p:spPr>
          <a:xfrm>
            <a:off x="6126479" y="1115568"/>
            <a:ext cx="731520" cy="201168"/>
          </a:xfrm>
          <a:prstGeom prst="rect">
            <a:avLst/>
          </a:prstGeom>
          <a:noFill/>
        </p:spPr>
        <p:txBody>
          <a:bodyPr wrap="none">
            <a:spAutoFit/>
          </a:bodyPr>
          <a:lstStyle/>
          <a:p>
            <a:pPr algn="ctr">
              <a:defRPr sz="950" b="0">
                <a:solidFill>
                  <a:srgbClr val="111827"/>
                </a:solidFill>
                <a:latin typeface="Calibri"/>
              </a:defRPr>
            </a:pPr>
            <a:r>
              <a:t>525</a:t>
            </a:r>
          </a:p>
        </p:txBody>
      </p:sp>
      <p:sp>
        <p:nvSpPr>
          <p:cNvPr id="26" name="TextBox 25"/>
          <p:cNvSpPr txBox="1"/>
          <p:nvPr/>
        </p:nvSpPr>
        <p:spPr>
          <a:xfrm>
            <a:off x="6857999" y="1115568"/>
            <a:ext cx="960120" cy="201168"/>
          </a:xfrm>
          <a:prstGeom prst="rect">
            <a:avLst/>
          </a:prstGeom>
          <a:noFill/>
        </p:spPr>
        <p:txBody>
          <a:bodyPr wrap="none">
            <a:spAutoFit/>
          </a:bodyPr>
          <a:lstStyle/>
          <a:p>
            <a:pPr algn="ctr">
              <a:defRPr sz="950" b="0">
                <a:solidFill>
                  <a:srgbClr val="6D28D9"/>
                </a:solidFill>
                <a:latin typeface="Calibri"/>
              </a:defRPr>
            </a:pPr>
            <a:r>
              <a:t>$18.8M</a:t>
            </a:r>
          </a:p>
        </p:txBody>
      </p:sp>
      <p:sp>
        <p:nvSpPr>
          <p:cNvPr id="27" name="TextBox 26"/>
          <p:cNvSpPr txBox="1"/>
          <p:nvPr/>
        </p:nvSpPr>
        <p:spPr>
          <a:xfrm>
            <a:off x="7818119" y="1115568"/>
            <a:ext cx="804672" cy="201168"/>
          </a:xfrm>
          <a:prstGeom prst="rect">
            <a:avLst/>
          </a:prstGeom>
          <a:noFill/>
        </p:spPr>
        <p:txBody>
          <a:bodyPr wrap="none">
            <a:spAutoFit/>
          </a:bodyPr>
          <a:lstStyle/>
          <a:p>
            <a:pPr algn="ctr">
              <a:defRPr sz="950" b="0">
                <a:solidFill>
                  <a:srgbClr val="059669"/>
                </a:solidFill>
                <a:latin typeface="Calibri"/>
              </a:defRPr>
            </a:pPr>
            <a:r>
              <a:t>$4.6M</a:t>
            </a:r>
          </a:p>
        </p:txBody>
      </p:sp>
      <p:sp>
        <p:nvSpPr>
          <p:cNvPr id="28" name="TextBox 27"/>
          <p:cNvSpPr txBox="1"/>
          <p:nvPr/>
        </p:nvSpPr>
        <p:spPr>
          <a:xfrm>
            <a:off x="8622792" y="1115568"/>
            <a:ext cx="804672" cy="201168"/>
          </a:xfrm>
          <a:prstGeom prst="rect">
            <a:avLst/>
          </a:prstGeom>
          <a:noFill/>
        </p:spPr>
        <p:txBody>
          <a:bodyPr wrap="none">
            <a:spAutoFit/>
          </a:bodyPr>
          <a:lstStyle/>
          <a:p>
            <a:pPr algn="ctr">
              <a:defRPr sz="950" b="0">
                <a:solidFill>
                  <a:srgbClr val="DC2626"/>
                </a:solidFill>
                <a:latin typeface="Calibri"/>
              </a:defRPr>
            </a:pPr>
            <a:r>
              <a:t>$4.3M</a:t>
            </a:r>
          </a:p>
        </p:txBody>
      </p:sp>
      <p:sp>
        <p:nvSpPr>
          <p:cNvPr id="29" name="Rectangle 28"/>
          <p:cNvSpPr/>
          <p:nvPr/>
        </p:nvSpPr>
        <p:spPr>
          <a:xfrm>
            <a:off x="182880" y="1499616"/>
            <a:ext cx="9244584" cy="402336"/>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2880" y="1517904"/>
            <a:ext cx="1508760" cy="201168"/>
          </a:xfrm>
          <a:prstGeom prst="rect">
            <a:avLst/>
          </a:prstGeom>
          <a:noFill/>
        </p:spPr>
        <p:txBody>
          <a:bodyPr wrap="none">
            <a:spAutoFit/>
          </a:bodyPr>
          <a:lstStyle/>
          <a:p>
            <a:pPr algn="l">
              <a:defRPr sz="950" b="1">
                <a:solidFill>
                  <a:srgbClr val="111827"/>
                </a:solidFill>
                <a:latin typeface="Calibri"/>
              </a:defRPr>
            </a:pPr>
            <a:r>
              <a:t>Christopher Hayes</a:t>
            </a:r>
          </a:p>
        </p:txBody>
      </p:sp>
      <p:sp>
        <p:nvSpPr>
          <p:cNvPr id="31" name="TextBox 30"/>
          <p:cNvSpPr txBox="1"/>
          <p:nvPr/>
        </p:nvSpPr>
        <p:spPr>
          <a:xfrm>
            <a:off x="1691639" y="1517904"/>
            <a:ext cx="713232" cy="201168"/>
          </a:xfrm>
          <a:prstGeom prst="rect">
            <a:avLst/>
          </a:prstGeom>
          <a:noFill/>
        </p:spPr>
        <p:txBody>
          <a:bodyPr wrap="none">
            <a:spAutoFit/>
          </a:bodyPr>
          <a:lstStyle/>
          <a:p>
            <a:pPr algn="ctr">
              <a:defRPr sz="950" b="0">
                <a:solidFill>
                  <a:srgbClr val="6B7280"/>
                </a:solidFill>
                <a:latin typeface="Calibri"/>
              </a:defRPr>
            </a:pPr>
            <a:r>
              <a:t>45</a:t>
            </a:r>
          </a:p>
        </p:txBody>
      </p:sp>
      <p:sp>
        <p:nvSpPr>
          <p:cNvPr id="32" name="TextBox 31"/>
          <p:cNvSpPr txBox="1"/>
          <p:nvPr/>
        </p:nvSpPr>
        <p:spPr>
          <a:xfrm>
            <a:off x="2404872" y="1517904"/>
            <a:ext cx="621792" cy="201168"/>
          </a:xfrm>
          <a:prstGeom prst="rect">
            <a:avLst/>
          </a:prstGeom>
          <a:noFill/>
        </p:spPr>
        <p:txBody>
          <a:bodyPr wrap="none">
            <a:spAutoFit/>
          </a:bodyPr>
          <a:lstStyle/>
          <a:p>
            <a:pPr algn="ctr">
              <a:defRPr sz="950" b="0">
                <a:solidFill>
                  <a:srgbClr val="059669"/>
                </a:solidFill>
                <a:latin typeface="Calibri"/>
              </a:defRPr>
            </a:pPr>
            <a:r>
              <a:t>45</a:t>
            </a:r>
          </a:p>
        </p:txBody>
      </p:sp>
      <p:sp>
        <p:nvSpPr>
          <p:cNvPr id="33" name="TextBox 32"/>
          <p:cNvSpPr txBox="1"/>
          <p:nvPr/>
        </p:nvSpPr>
        <p:spPr>
          <a:xfrm>
            <a:off x="3026664" y="1517904"/>
            <a:ext cx="713232" cy="201168"/>
          </a:xfrm>
          <a:prstGeom prst="rect">
            <a:avLst/>
          </a:prstGeom>
          <a:noFill/>
        </p:spPr>
        <p:txBody>
          <a:bodyPr wrap="none">
            <a:spAutoFit/>
          </a:bodyPr>
          <a:lstStyle/>
          <a:p>
            <a:pPr algn="ctr">
              <a:defRPr sz="950" b="1">
                <a:solidFill>
                  <a:srgbClr val="D97706"/>
                </a:solidFill>
                <a:latin typeface="Calibri"/>
              </a:defRPr>
            </a:pPr>
            <a:r>
              <a:t>0</a:t>
            </a:r>
          </a:p>
        </p:txBody>
      </p:sp>
      <p:sp>
        <p:nvSpPr>
          <p:cNvPr id="34" name="TextBox 33"/>
          <p:cNvSpPr txBox="1"/>
          <p:nvPr/>
        </p:nvSpPr>
        <p:spPr>
          <a:xfrm>
            <a:off x="3739896" y="1517904"/>
            <a:ext cx="621792" cy="201168"/>
          </a:xfrm>
          <a:prstGeom prst="rect">
            <a:avLst/>
          </a:prstGeom>
          <a:noFill/>
        </p:spPr>
        <p:txBody>
          <a:bodyPr wrap="none">
            <a:spAutoFit/>
          </a:bodyPr>
          <a:lstStyle/>
          <a:p>
            <a:pPr algn="ctr">
              <a:defRPr sz="950" b="1">
                <a:solidFill>
                  <a:srgbClr val="059669"/>
                </a:solidFill>
                <a:latin typeface="Calibri"/>
              </a:defRPr>
            </a:pPr>
            <a:r>
              <a:t>100%</a:t>
            </a:r>
          </a:p>
        </p:txBody>
      </p:sp>
      <p:sp>
        <p:nvSpPr>
          <p:cNvPr id="35" name="TextBox 34"/>
          <p:cNvSpPr txBox="1"/>
          <p:nvPr/>
        </p:nvSpPr>
        <p:spPr>
          <a:xfrm>
            <a:off x="4361688" y="1517904"/>
            <a:ext cx="960120" cy="201168"/>
          </a:xfrm>
          <a:prstGeom prst="rect">
            <a:avLst/>
          </a:prstGeom>
          <a:noFill/>
        </p:spPr>
        <p:txBody>
          <a:bodyPr wrap="none">
            <a:spAutoFit/>
          </a:bodyPr>
          <a:lstStyle/>
          <a:p>
            <a:pPr algn="ctr">
              <a:defRPr sz="950" b="0">
                <a:solidFill>
                  <a:srgbClr val="6D28D9"/>
                </a:solidFill>
                <a:latin typeface="Calibri"/>
              </a:defRPr>
            </a:pPr>
            <a:r>
              <a:t>$11.7M</a:t>
            </a:r>
          </a:p>
        </p:txBody>
      </p:sp>
      <p:sp>
        <p:nvSpPr>
          <p:cNvPr id="36" name="TextBox 35"/>
          <p:cNvSpPr txBox="1"/>
          <p:nvPr/>
        </p:nvSpPr>
        <p:spPr>
          <a:xfrm>
            <a:off x="5321807" y="1517904"/>
            <a:ext cx="804672" cy="201168"/>
          </a:xfrm>
          <a:prstGeom prst="rect">
            <a:avLst/>
          </a:prstGeom>
          <a:noFill/>
        </p:spPr>
        <p:txBody>
          <a:bodyPr wrap="none">
            <a:spAutoFit/>
          </a:bodyPr>
          <a:lstStyle/>
          <a:p>
            <a:pPr algn="ctr">
              <a:defRPr sz="950" b="0">
                <a:solidFill>
                  <a:srgbClr val="111827"/>
                </a:solidFill>
                <a:latin typeface="Calibri"/>
              </a:defRPr>
            </a:pPr>
            <a:r>
              <a:t>3554</a:t>
            </a:r>
          </a:p>
        </p:txBody>
      </p:sp>
      <p:sp>
        <p:nvSpPr>
          <p:cNvPr id="37" name="TextBox 36"/>
          <p:cNvSpPr txBox="1"/>
          <p:nvPr/>
        </p:nvSpPr>
        <p:spPr>
          <a:xfrm>
            <a:off x="6126479" y="1517904"/>
            <a:ext cx="731520" cy="201168"/>
          </a:xfrm>
          <a:prstGeom prst="rect">
            <a:avLst/>
          </a:prstGeom>
          <a:noFill/>
        </p:spPr>
        <p:txBody>
          <a:bodyPr wrap="none">
            <a:spAutoFit/>
          </a:bodyPr>
          <a:lstStyle/>
          <a:p>
            <a:pPr algn="ctr">
              <a:defRPr sz="950" b="0">
                <a:solidFill>
                  <a:srgbClr val="111827"/>
                </a:solidFill>
                <a:latin typeface="Calibri"/>
              </a:defRPr>
            </a:pPr>
            <a:r>
              <a:t>355</a:t>
            </a:r>
          </a:p>
        </p:txBody>
      </p:sp>
      <p:sp>
        <p:nvSpPr>
          <p:cNvPr id="38" name="TextBox 37"/>
          <p:cNvSpPr txBox="1"/>
          <p:nvPr/>
        </p:nvSpPr>
        <p:spPr>
          <a:xfrm>
            <a:off x="6857999" y="1517904"/>
            <a:ext cx="960120" cy="201168"/>
          </a:xfrm>
          <a:prstGeom prst="rect">
            <a:avLst/>
          </a:prstGeom>
          <a:noFill/>
        </p:spPr>
        <p:txBody>
          <a:bodyPr wrap="none">
            <a:spAutoFit/>
          </a:bodyPr>
          <a:lstStyle/>
          <a:p>
            <a:pPr algn="ctr">
              <a:defRPr sz="950" b="0">
                <a:solidFill>
                  <a:srgbClr val="6D28D9"/>
                </a:solidFill>
                <a:latin typeface="Calibri"/>
              </a:defRPr>
            </a:pPr>
            <a:r>
              <a:t>$9.6M</a:t>
            </a:r>
          </a:p>
        </p:txBody>
      </p:sp>
      <p:sp>
        <p:nvSpPr>
          <p:cNvPr id="39" name="TextBox 38"/>
          <p:cNvSpPr txBox="1"/>
          <p:nvPr/>
        </p:nvSpPr>
        <p:spPr>
          <a:xfrm>
            <a:off x="7818119" y="1517904"/>
            <a:ext cx="804672" cy="201168"/>
          </a:xfrm>
          <a:prstGeom prst="rect">
            <a:avLst/>
          </a:prstGeom>
          <a:noFill/>
        </p:spPr>
        <p:txBody>
          <a:bodyPr wrap="none">
            <a:spAutoFit/>
          </a:bodyPr>
          <a:lstStyle/>
          <a:p>
            <a:pPr algn="ctr">
              <a:defRPr sz="950" b="0">
                <a:solidFill>
                  <a:srgbClr val="059669"/>
                </a:solidFill>
                <a:latin typeface="Calibri"/>
              </a:defRPr>
            </a:pPr>
            <a:r>
              <a:t>$1.4M</a:t>
            </a:r>
          </a:p>
        </p:txBody>
      </p:sp>
      <p:sp>
        <p:nvSpPr>
          <p:cNvPr id="40" name="TextBox 39"/>
          <p:cNvSpPr txBox="1"/>
          <p:nvPr/>
        </p:nvSpPr>
        <p:spPr>
          <a:xfrm>
            <a:off x="8622792" y="1517904"/>
            <a:ext cx="804672" cy="201168"/>
          </a:xfrm>
          <a:prstGeom prst="rect">
            <a:avLst/>
          </a:prstGeom>
          <a:noFill/>
        </p:spPr>
        <p:txBody>
          <a:bodyPr wrap="none">
            <a:spAutoFit/>
          </a:bodyPr>
          <a:lstStyle/>
          <a:p>
            <a:pPr algn="ctr">
              <a:defRPr sz="950" b="0">
                <a:solidFill>
                  <a:srgbClr val="DC2626"/>
                </a:solidFill>
                <a:latin typeface="Calibri"/>
              </a:defRPr>
            </a:pPr>
            <a:r>
              <a:t>$3.1M</a:t>
            </a:r>
          </a:p>
        </p:txBody>
      </p:sp>
      <p:sp>
        <p:nvSpPr>
          <p:cNvPr id="41" name="TextBox 40"/>
          <p:cNvSpPr txBox="1"/>
          <p:nvPr/>
        </p:nvSpPr>
        <p:spPr>
          <a:xfrm>
            <a:off x="182880" y="1920240"/>
            <a:ext cx="1508760" cy="201168"/>
          </a:xfrm>
          <a:prstGeom prst="rect">
            <a:avLst/>
          </a:prstGeom>
          <a:noFill/>
        </p:spPr>
        <p:txBody>
          <a:bodyPr wrap="none">
            <a:spAutoFit/>
          </a:bodyPr>
          <a:lstStyle/>
          <a:p>
            <a:pPr algn="l">
              <a:defRPr sz="950" b="1">
                <a:solidFill>
                  <a:srgbClr val="111827"/>
                </a:solidFill>
                <a:latin typeface="Calibri"/>
              </a:defRPr>
            </a:pPr>
            <a:r>
              <a:t>Ron Douglas</a:t>
            </a:r>
          </a:p>
        </p:txBody>
      </p:sp>
      <p:sp>
        <p:nvSpPr>
          <p:cNvPr id="42" name="TextBox 41"/>
          <p:cNvSpPr txBox="1"/>
          <p:nvPr/>
        </p:nvSpPr>
        <p:spPr>
          <a:xfrm>
            <a:off x="1691639" y="1920240"/>
            <a:ext cx="713232" cy="201168"/>
          </a:xfrm>
          <a:prstGeom prst="rect">
            <a:avLst/>
          </a:prstGeom>
          <a:noFill/>
        </p:spPr>
        <p:txBody>
          <a:bodyPr wrap="none">
            <a:spAutoFit/>
          </a:bodyPr>
          <a:lstStyle/>
          <a:p>
            <a:pPr algn="ctr">
              <a:defRPr sz="950" b="0">
                <a:solidFill>
                  <a:srgbClr val="6B7280"/>
                </a:solidFill>
                <a:latin typeface="Calibri"/>
              </a:defRPr>
            </a:pPr>
            <a:r>
              <a:t>34</a:t>
            </a:r>
          </a:p>
        </p:txBody>
      </p:sp>
      <p:sp>
        <p:nvSpPr>
          <p:cNvPr id="43" name="TextBox 42"/>
          <p:cNvSpPr txBox="1"/>
          <p:nvPr/>
        </p:nvSpPr>
        <p:spPr>
          <a:xfrm>
            <a:off x="2404872" y="1920240"/>
            <a:ext cx="621792" cy="201168"/>
          </a:xfrm>
          <a:prstGeom prst="rect">
            <a:avLst/>
          </a:prstGeom>
          <a:noFill/>
        </p:spPr>
        <p:txBody>
          <a:bodyPr wrap="none">
            <a:spAutoFit/>
          </a:bodyPr>
          <a:lstStyle/>
          <a:p>
            <a:pPr algn="ctr">
              <a:defRPr sz="950" b="0">
                <a:solidFill>
                  <a:srgbClr val="059669"/>
                </a:solidFill>
                <a:latin typeface="Calibri"/>
              </a:defRPr>
            </a:pPr>
            <a:r>
              <a:t>34</a:t>
            </a:r>
          </a:p>
        </p:txBody>
      </p:sp>
      <p:sp>
        <p:nvSpPr>
          <p:cNvPr id="44" name="TextBox 43"/>
          <p:cNvSpPr txBox="1"/>
          <p:nvPr/>
        </p:nvSpPr>
        <p:spPr>
          <a:xfrm>
            <a:off x="3026664" y="1920240"/>
            <a:ext cx="713232" cy="201168"/>
          </a:xfrm>
          <a:prstGeom prst="rect">
            <a:avLst/>
          </a:prstGeom>
          <a:noFill/>
        </p:spPr>
        <p:txBody>
          <a:bodyPr wrap="none">
            <a:spAutoFit/>
          </a:bodyPr>
          <a:lstStyle/>
          <a:p>
            <a:pPr algn="ctr">
              <a:defRPr sz="950" b="1">
                <a:solidFill>
                  <a:srgbClr val="D97706"/>
                </a:solidFill>
                <a:latin typeface="Calibri"/>
              </a:defRPr>
            </a:pPr>
            <a:r>
              <a:t>0</a:t>
            </a:r>
          </a:p>
        </p:txBody>
      </p:sp>
      <p:sp>
        <p:nvSpPr>
          <p:cNvPr id="45" name="TextBox 44"/>
          <p:cNvSpPr txBox="1"/>
          <p:nvPr/>
        </p:nvSpPr>
        <p:spPr>
          <a:xfrm>
            <a:off x="3739896" y="1920240"/>
            <a:ext cx="621792" cy="201168"/>
          </a:xfrm>
          <a:prstGeom prst="rect">
            <a:avLst/>
          </a:prstGeom>
          <a:noFill/>
        </p:spPr>
        <p:txBody>
          <a:bodyPr wrap="none">
            <a:spAutoFit/>
          </a:bodyPr>
          <a:lstStyle/>
          <a:p>
            <a:pPr algn="ctr">
              <a:defRPr sz="950" b="1">
                <a:solidFill>
                  <a:srgbClr val="059669"/>
                </a:solidFill>
                <a:latin typeface="Calibri"/>
              </a:defRPr>
            </a:pPr>
            <a:r>
              <a:t>100%</a:t>
            </a:r>
          </a:p>
        </p:txBody>
      </p:sp>
      <p:sp>
        <p:nvSpPr>
          <p:cNvPr id="46" name="TextBox 45"/>
          <p:cNvSpPr txBox="1"/>
          <p:nvPr/>
        </p:nvSpPr>
        <p:spPr>
          <a:xfrm>
            <a:off x="4361688" y="1920240"/>
            <a:ext cx="960120" cy="201168"/>
          </a:xfrm>
          <a:prstGeom prst="rect">
            <a:avLst/>
          </a:prstGeom>
          <a:noFill/>
        </p:spPr>
        <p:txBody>
          <a:bodyPr wrap="none">
            <a:spAutoFit/>
          </a:bodyPr>
          <a:lstStyle/>
          <a:p>
            <a:pPr algn="ctr">
              <a:defRPr sz="950" b="0">
                <a:solidFill>
                  <a:srgbClr val="6D28D9"/>
                </a:solidFill>
                <a:latin typeface="Calibri"/>
              </a:defRPr>
            </a:pPr>
            <a:r>
              <a:t>$9.7M</a:t>
            </a:r>
          </a:p>
        </p:txBody>
      </p:sp>
      <p:sp>
        <p:nvSpPr>
          <p:cNvPr id="47" name="TextBox 46"/>
          <p:cNvSpPr txBox="1"/>
          <p:nvPr/>
        </p:nvSpPr>
        <p:spPr>
          <a:xfrm>
            <a:off x="5321807" y="1920240"/>
            <a:ext cx="804672" cy="201168"/>
          </a:xfrm>
          <a:prstGeom prst="rect">
            <a:avLst/>
          </a:prstGeom>
          <a:noFill/>
        </p:spPr>
        <p:txBody>
          <a:bodyPr wrap="none">
            <a:spAutoFit/>
          </a:bodyPr>
          <a:lstStyle/>
          <a:p>
            <a:pPr algn="ctr">
              <a:defRPr sz="950" b="0">
                <a:solidFill>
                  <a:srgbClr val="111827"/>
                </a:solidFill>
                <a:latin typeface="Calibri"/>
              </a:defRPr>
            </a:pPr>
            <a:r>
              <a:t>5726</a:t>
            </a:r>
          </a:p>
        </p:txBody>
      </p:sp>
      <p:sp>
        <p:nvSpPr>
          <p:cNvPr id="48" name="TextBox 47"/>
          <p:cNvSpPr txBox="1"/>
          <p:nvPr/>
        </p:nvSpPr>
        <p:spPr>
          <a:xfrm>
            <a:off x="6126479" y="1920240"/>
            <a:ext cx="731520" cy="201168"/>
          </a:xfrm>
          <a:prstGeom prst="rect">
            <a:avLst/>
          </a:prstGeom>
          <a:noFill/>
        </p:spPr>
        <p:txBody>
          <a:bodyPr wrap="none">
            <a:spAutoFit/>
          </a:bodyPr>
          <a:lstStyle/>
          <a:p>
            <a:pPr algn="ctr">
              <a:defRPr sz="950" b="0">
                <a:solidFill>
                  <a:srgbClr val="111827"/>
                </a:solidFill>
                <a:latin typeface="Calibri"/>
              </a:defRPr>
            </a:pPr>
            <a:r>
              <a:t>322</a:t>
            </a:r>
          </a:p>
        </p:txBody>
      </p:sp>
      <p:sp>
        <p:nvSpPr>
          <p:cNvPr id="49" name="TextBox 48"/>
          <p:cNvSpPr txBox="1"/>
          <p:nvPr/>
        </p:nvSpPr>
        <p:spPr>
          <a:xfrm>
            <a:off x="6857999" y="1920240"/>
            <a:ext cx="960120" cy="201168"/>
          </a:xfrm>
          <a:prstGeom prst="rect">
            <a:avLst/>
          </a:prstGeom>
          <a:noFill/>
        </p:spPr>
        <p:txBody>
          <a:bodyPr wrap="none">
            <a:spAutoFit/>
          </a:bodyPr>
          <a:lstStyle/>
          <a:p>
            <a:pPr algn="ctr">
              <a:defRPr sz="950" b="0">
                <a:solidFill>
                  <a:srgbClr val="6D28D9"/>
                </a:solidFill>
                <a:latin typeface="Calibri"/>
              </a:defRPr>
            </a:pPr>
            <a:r>
              <a:t>$9.4M</a:t>
            </a:r>
          </a:p>
        </p:txBody>
      </p:sp>
      <p:sp>
        <p:nvSpPr>
          <p:cNvPr id="50" name="TextBox 49"/>
          <p:cNvSpPr txBox="1"/>
          <p:nvPr/>
        </p:nvSpPr>
        <p:spPr>
          <a:xfrm>
            <a:off x="7818119" y="1920240"/>
            <a:ext cx="804672" cy="201168"/>
          </a:xfrm>
          <a:prstGeom prst="rect">
            <a:avLst/>
          </a:prstGeom>
          <a:noFill/>
        </p:spPr>
        <p:txBody>
          <a:bodyPr wrap="none">
            <a:spAutoFit/>
          </a:bodyPr>
          <a:lstStyle/>
          <a:p>
            <a:pPr algn="ctr">
              <a:defRPr sz="950" b="0">
                <a:solidFill>
                  <a:srgbClr val="059669"/>
                </a:solidFill>
                <a:latin typeface="Calibri"/>
              </a:defRPr>
            </a:pPr>
            <a:r>
              <a:t>$1.4M</a:t>
            </a:r>
          </a:p>
        </p:txBody>
      </p:sp>
      <p:sp>
        <p:nvSpPr>
          <p:cNvPr id="51" name="TextBox 50"/>
          <p:cNvSpPr txBox="1"/>
          <p:nvPr/>
        </p:nvSpPr>
        <p:spPr>
          <a:xfrm>
            <a:off x="8622792" y="1920240"/>
            <a:ext cx="804672" cy="201168"/>
          </a:xfrm>
          <a:prstGeom prst="rect">
            <a:avLst/>
          </a:prstGeom>
          <a:noFill/>
        </p:spPr>
        <p:txBody>
          <a:bodyPr wrap="none">
            <a:spAutoFit/>
          </a:bodyPr>
          <a:lstStyle/>
          <a:p>
            <a:pPr algn="ctr">
              <a:defRPr sz="950" b="0">
                <a:solidFill>
                  <a:srgbClr val="DC2626"/>
                </a:solidFill>
                <a:latin typeface="Calibri"/>
              </a:defRPr>
            </a:pPr>
            <a:r>
              <a:t>$3.8M</a:t>
            </a:r>
          </a:p>
        </p:txBody>
      </p:sp>
      <p:sp>
        <p:nvSpPr>
          <p:cNvPr id="52" name="Rectangle 51"/>
          <p:cNvSpPr/>
          <p:nvPr/>
        </p:nvSpPr>
        <p:spPr>
          <a:xfrm>
            <a:off x="182880" y="2304288"/>
            <a:ext cx="9244584" cy="402336"/>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82880" y="2322576"/>
            <a:ext cx="1508760" cy="201168"/>
          </a:xfrm>
          <a:prstGeom prst="rect">
            <a:avLst/>
          </a:prstGeom>
          <a:noFill/>
        </p:spPr>
        <p:txBody>
          <a:bodyPr wrap="none">
            <a:spAutoFit/>
          </a:bodyPr>
          <a:lstStyle/>
          <a:p>
            <a:pPr algn="l">
              <a:defRPr sz="950" b="1">
                <a:solidFill>
                  <a:srgbClr val="111827"/>
                </a:solidFill>
                <a:latin typeface="Calibri"/>
              </a:defRPr>
            </a:pPr>
            <a:r>
              <a:t>Derrick Leroy</a:t>
            </a:r>
          </a:p>
        </p:txBody>
      </p:sp>
      <p:sp>
        <p:nvSpPr>
          <p:cNvPr id="54" name="TextBox 53"/>
          <p:cNvSpPr txBox="1"/>
          <p:nvPr/>
        </p:nvSpPr>
        <p:spPr>
          <a:xfrm>
            <a:off x="1691639" y="2322576"/>
            <a:ext cx="713232" cy="201168"/>
          </a:xfrm>
          <a:prstGeom prst="rect">
            <a:avLst/>
          </a:prstGeom>
          <a:noFill/>
        </p:spPr>
        <p:txBody>
          <a:bodyPr wrap="none">
            <a:spAutoFit/>
          </a:bodyPr>
          <a:lstStyle/>
          <a:p>
            <a:pPr algn="ctr">
              <a:defRPr sz="950" b="0">
                <a:solidFill>
                  <a:srgbClr val="6B7280"/>
                </a:solidFill>
                <a:latin typeface="Calibri"/>
              </a:defRPr>
            </a:pPr>
            <a:r>
              <a:t>28</a:t>
            </a:r>
          </a:p>
        </p:txBody>
      </p:sp>
      <p:sp>
        <p:nvSpPr>
          <p:cNvPr id="55" name="TextBox 54"/>
          <p:cNvSpPr txBox="1"/>
          <p:nvPr/>
        </p:nvSpPr>
        <p:spPr>
          <a:xfrm>
            <a:off x="2404872" y="2322576"/>
            <a:ext cx="621792" cy="201168"/>
          </a:xfrm>
          <a:prstGeom prst="rect">
            <a:avLst/>
          </a:prstGeom>
          <a:noFill/>
        </p:spPr>
        <p:txBody>
          <a:bodyPr wrap="none">
            <a:spAutoFit/>
          </a:bodyPr>
          <a:lstStyle/>
          <a:p>
            <a:pPr algn="ctr">
              <a:defRPr sz="950" b="0">
                <a:solidFill>
                  <a:srgbClr val="059669"/>
                </a:solidFill>
                <a:latin typeface="Calibri"/>
              </a:defRPr>
            </a:pPr>
            <a:r>
              <a:t>27</a:t>
            </a:r>
          </a:p>
        </p:txBody>
      </p:sp>
      <p:sp>
        <p:nvSpPr>
          <p:cNvPr id="56" name="TextBox 55"/>
          <p:cNvSpPr txBox="1"/>
          <p:nvPr/>
        </p:nvSpPr>
        <p:spPr>
          <a:xfrm>
            <a:off x="3026664" y="2322576"/>
            <a:ext cx="713232" cy="201168"/>
          </a:xfrm>
          <a:prstGeom prst="rect">
            <a:avLst/>
          </a:prstGeom>
          <a:noFill/>
        </p:spPr>
        <p:txBody>
          <a:bodyPr wrap="none">
            <a:spAutoFit/>
          </a:bodyPr>
          <a:lstStyle/>
          <a:p>
            <a:pPr algn="ctr">
              <a:defRPr sz="950" b="1">
                <a:solidFill>
                  <a:srgbClr val="D97706"/>
                </a:solidFill>
                <a:latin typeface="Calibri"/>
              </a:defRPr>
            </a:pPr>
            <a:r>
              <a:t>1</a:t>
            </a:r>
          </a:p>
        </p:txBody>
      </p:sp>
      <p:sp>
        <p:nvSpPr>
          <p:cNvPr id="57" name="TextBox 56"/>
          <p:cNvSpPr txBox="1"/>
          <p:nvPr/>
        </p:nvSpPr>
        <p:spPr>
          <a:xfrm>
            <a:off x="3739896" y="2322576"/>
            <a:ext cx="621792" cy="201168"/>
          </a:xfrm>
          <a:prstGeom prst="rect">
            <a:avLst/>
          </a:prstGeom>
          <a:noFill/>
        </p:spPr>
        <p:txBody>
          <a:bodyPr wrap="none">
            <a:spAutoFit/>
          </a:bodyPr>
          <a:lstStyle/>
          <a:p>
            <a:pPr algn="ctr">
              <a:defRPr sz="950" b="1">
                <a:solidFill>
                  <a:srgbClr val="D97706"/>
                </a:solidFill>
                <a:latin typeface="Calibri"/>
              </a:defRPr>
            </a:pPr>
            <a:r>
              <a:t>96%</a:t>
            </a:r>
          </a:p>
        </p:txBody>
      </p:sp>
      <p:sp>
        <p:nvSpPr>
          <p:cNvPr id="58" name="TextBox 57"/>
          <p:cNvSpPr txBox="1"/>
          <p:nvPr/>
        </p:nvSpPr>
        <p:spPr>
          <a:xfrm>
            <a:off x="4361688" y="2322576"/>
            <a:ext cx="960120" cy="201168"/>
          </a:xfrm>
          <a:prstGeom prst="rect">
            <a:avLst/>
          </a:prstGeom>
          <a:noFill/>
        </p:spPr>
        <p:txBody>
          <a:bodyPr wrap="none">
            <a:spAutoFit/>
          </a:bodyPr>
          <a:lstStyle/>
          <a:p>
            <a:pPr algn="ctr">
              <a:defRPr sz="950" b="0">
                <a:solidFill>
                  <a:srgbClr val="6D28D9"/>
                </a:solidFill>
                <a:latin typeface="Calibri"/>
              </a:defRPr>
            </a:pPr>
            <a:r>
              <a:t>$7.6M</a:t>
            </a:r>
          </a:p>
        </p:txBody>
      </p:sp>
      <p:sp>
        <p:nvSpPr>
          <p:cNvPr id="59" name="TextBox 58"/>
          <p:cNvSpPr txBox="1"/>
          <p:nvPr/>
        </p:nvSpPr>
        <p:spPr>
          <a:xfrm>
            <a:off x="5321807" y="2322576"/>
            <a:ext cx="804672" cy="201168"/>
          </a:xfrm>
          <a:prstGeom prst="rect">
            <a:avLst/>
          </a:prstGeom>
          <a:noFill/>
        </p:spPr>
        <p:txBody>
          <a:bodyPr wrap="none">
            <a:spAutoFit/>
          </a:bodyPr>
          <a:lstStyle/>
          <a:p>
            <a:pPr algn="ctr">
              <a:defRPr sz="950" b="0">
                <a:solidFill>
                  <a:srgbClr val="111827"/>
                </a:solidFill>
                <a:latin typeface="Calibri"/>
              </a:defRPr>
            </a:pPr>
            <a:r>
              <a:t>3506</a:t>
            </a:r>
          </a:p>
        </p:txBody>
      </p:sp>
      <p:sp>
        <p:nvSpPr>
          <p:cNvPr id="60" name="TextBox 59"/>
          <p:cNvSpPr txBox="1"/>
          <p:nvPr/>
        </p:nvSpPr>
        <p:spPr>
          <a:xfrm>
            <a:off x="6126479" y="2322576"/>
            <a:ext cx="731520" cy="201168"/>
          </a:xfrm>
          <a:prstGeom prst="rect">
            <a:avLst/>
          </a:prstGeom>
          <a:noFill/>
        </p:spPr>
        <p:txBody>
          <a:bodyPr wrap="none">
            <a:spAutoFit/>
          </a:bodyPr>
          <a:lstStyle/>
          <a:p>
            <a:pPr algn="ctr">
              <a:defRPr sz="950" b="0">
                <a:solidFill>
                  <a:srgbClr val="111827"/>
                </a:solidFill>
                <a:latin typeface="Calibri"/>
              </a:defRPr>
            </a:pPr>
            <a:r>
              <a:t>270</a:t>
            </a:r>
          </a:p>
        </p:txBody>
      </p:sp>
      <p:sp>
        <p:nvSpPr>
          <p:cNvPr id="61" name="TextBox 60"/>
          <p:cNvSpPr txBox="1"/>
          <p:nvPr/>
        </p:nvSpPr>
        <p:spPr>
          <a:xfrm>
            <a:off x="6857999" y="2322576"/>
            <a:ext cx="960120" cy="201168"/>
          </a:xfrm>
          <a:prstGeom prst="rect">
            <a:avLst/>
          </a:prstGeom>
          <a:noFill/>
        </p:spPr>
        <p:txBody>
          <a:bodyPr wrap="none">
            <a:spAutoFit/>
          </a:bodyPr>
          <a:lstStyle/>
          <a:p>
            <a:pPr algn="ctr">
              <a:defRPr sz="950" b="0">
                <a:solidFill>
                  <a:srgbClr val="6D28D9"/>
                </a:solidFill>
                <a:latin typeface="Calibri"/>
              </a:defRPr>
            </a:pPr>
            <a:r>
              <a:t>$6.4M</a:t>
            </a:r>
          </a:p>
        </p:txBody>
      </p:sp>
      <p:sp>
        <p:nvSpPr>
          <p:cNvPr id="62" name="TextBox 61"/>
          <p:cNvSpPr txBox="1"/>
          <p:nvPr/>
        </p:nvSpPr>
        <p:spPr>
          <a:xfrm>
            <a:off x="7818119" y="2322576"/>
            <a:ext cx="804672" cy="201168"/>
          </a:xfrm>
          <a:prstGeom prst="rect">
            <a:avLst/>
          </a:prstGeom>
          <a:noFill/>
        </p:spPr>
        <p:txBody>
          <a:bodyPr wrap="none">
            <a:spAutoFit/>
          </a:bodyPr>
          <a:lstStyle/>
          <a:p>
            <a:pPr algn="ctr">
              <a:defRPr sz="950" b="0">
                <a:solidFill>
                  <a:srgbClr val="059669"/>
                </a:solidFill>
                <a:latin typeface="Calibri"/>
              </a:defRPr>
            </a:pPr>
            <a:r>
              <a:t>$778K</a:t>
            </a:r>
          </a:p>
        </p:txBody>
      </p:sp>
      <p:sp>
        <p:nvSpPr>
          <p:cNvPr id="63" name="TextBox 62"/>
          <p:cNvSpPr txBox="1"/>
          <p:nvPr/>
        </p:nvSpPr>
        <p:spPr>
          <a:xfrm>
            <a:off x="8622792" y="2322576"/>
            <a:ext cx="804672" cy="201168"/>
          </a:xfrm>
          <a:prstGeom prst="rect">
            <a:avLst/>
          </a:prstGeom>
          <a:noFill/>
        </p:spPr>
        <p:txBody>
          <a:bodyPr wrap="none">
            <a:spAutoFit/>
          </a:bodyPr>
          <a:lstStyle/>
          <a:p>
            <a:pPr algn="ctr">
              <a:defRPr sz="950" b="0">
                <a:solidFill>
                  <a:srgbClr val="DC2626"/>
                </a:solidFill>
                <a:latin typeface="Calibri"/>
              </a:defRPr>
            </a:pPr>
            <a:r>
              <a:t>$2.0M</a:t>
            </a:r>
          </a:p>
        </p:txBody>
      </p:sp>
      <p:sp>
        <p:nvSpPr>
          <p:cNvPr id="64" name="TextBox 63"/>
          <p:cNvSpPr txBox="1"/>
          <p:nvPr/>
        </p:nvSpPr>
        <p:spPr>
          <a:xfrm>
            <a:off x="182880" y="2724912"/>
            <a:ext cx="1508760" cy="201168"/>
          </a:xfrm>
          <a:prstGeom prst="rect">
            <a:avLst/>
          </a:prstGeom>
          <a:noFill/>
        </p:spPr>
        <p:txBody>
          <a:bodyPr wrap="none">
            <a:spAutoFit/>
          </a:bodyPr>
          <a:lstStyle/>
          <a:p>
            <a:pPr algn="l">
              <a:defRPr sz="950" b="1">
                <a:solidFill>
                  <a:srgbClr val="111827"/>
                </a:solidFill>
                <a:latin typeface="Calibri"/>
              </a:defRPr>
            </a:pPr>
            <a:r>
              <a:t>Alexis Berrysmith</a:t>
            </a:r>
          </a:p>
        </p:txBody>
      </p:sp>
      <p:sp>
        <p:nvSpPr>
          <p:cNvPr id="65" name="TextBox 64"/>
          <p:cNvSpPr txBox="1"/>
          <p:nvPr/>
        </p:nvSpPr>
        <p:spPr>
          <a:xfrm>
            <a:off x="1691639" y="2724912"/>
            <a:ext cx="713232" cy="201168"/>
          </a:xfrm>
          <a:prstGeom prst="rect">
            <a:avLst/>
          </a:prstGeom>
          <a:noFill/>
        </p:spPr>
        <p:txBody>
          <a:bodyPr wrap="none">
            <a:spAutoFit/>
          </a:bodyPr>
          <a:lstStyle/>
          <a:p>
            <a:pPr algn="ctr">
              <a:defRPr sz="950" b="0">
                <a:solidFill>
                  <a:srgbClr val="6B7280"/>
                </a:solidFill>
                <a:latin typeface="Calibri"/>
              </a:defRPr>
            </a:pPr>
            <a:r>
              <a:t>22</a:t>
            </a:r>
          </a:p>
        </p:txBody>
      </p:sp>
      <p:sp>
        <p:nvSpPr>
          <p:cNvPr id="66" name="TextBox 65"/>
          <p:cNvSpPr txBox="1"/>
          <p:nvPr/>
        </p:nvSpPr>
        <p:spPr>
          <a:xfrm>
            <a:off x="2404872" y="2724912"/>
            <a:ext cx="621792" cy="201168"/>
          </a:xfrm>
          <a:prstGeom prst="rect">
            <a:avLst/>
          </a:prstGeom>
          <a:noFill/>
        </p:spPr>
        <p:txBody>
          <a:bodyPr wrap="none">
            <a:spAutoFit/>
          </a:bodyPr>
          <a:lstStyle/>
          <a:p>
            <a:pPr algn="ctr">
              <a:defRPr sz="950" b="0">
                <a:solidFill>
                  <a:srgbClr val="059669"/>
                </a:solidFill>
                <a:latin typeface="Calibri"/>
              </a:defRPr>
            </a:pPr>
            <a:r>
              <a:t>22</a:t>
            </a:r>
          </a:p>
        </p:txBody>
      </p:sp>
      <p:sp>
        <p:nvSpPr>
          <p:cNvPr id="67" name="TextBox 66"/>
          <p:cNvSpPr txBox="1"/>
          <p:nvPr/>
        </p:nvSpPr>
        <p:spPr>
          <a:xfrm>
            <a:off x="3026664" y="2724912"/>
            <a:ext cx="713232" cy="201168"/>
          </a:xfrm>
          <a:prstGeom prst="rect">
            <a:avLst/>
          </a:prstGeom>
          <a:noFill/>
        </p:spPr>
        <p:txBody>
          <a:bodyPr wrap="none">
            <a:spAutoFit/>
          </a:bodyPr>
          <a:lstStyle/>
          <a:p>
            <a:pPr algn="ctr">
              <a:defRPr sz="950" b="1">
                <a:solidFill>
                  <a:srgbClr val="D97706"/>
                </a:solidFill>
                <a:latin typeface="Calibri"/>
              </a:defRPr>
            </a:pPr>
            <a:r>
              <a:t>0</a:t>
            </a:r>
          </a:p>
        </p:txBody>
      </p:sp>
      <p:sp>
        <p:nvSpPr>
          <p:cNvPr id="68" name="TextBox 67"/>
          <p:cNvSpPr txBox="1"/>
          <p:nvPr/>
        </p:nvSpPr>
        <p:spPr>
          <a:xfrm>
            <a:off x="3739896" y="2724912"/>
            <a:ext cx="621792" cy="201168"/>
          </a:xfrm>
          <a:prstGeom prst="rect">
            <a:avLst/>
          </a:prstGeom>
          <a:noFill/>
        </p:spPr>
        <p:txBody>
          <a:bodyPr wrap="none">
            <a:spAutoFit/>
          </a:bodyPr>
          <a:lstStyle/>
          <a:p>
            <a:pPr algn="ctr">
              <a:defRPr sz="950" b="1">
                <a:solidFill>
                  <a:srgbClr val="059669"/>
                </a:solidFill>
                <a:latin typeface="Calibri"/>
              </a:defRPr>
            </a:pPr>
            <a:r>
              <a:t>100%</a:t>
            </a:r>
          </a:p>
        </p:txBody>
      </p:sp>
      <p:sp>
        <p:nvSpPr>
          <p:cNvPr id="69" name="TextBox 68"/>
          <p:cNvSpPr txBox="1"/>
          <p:nvPr/>
        </p:nvSpPr>
        <p:spPr>
          <a:xfrm>
            <a:off x="4361688" y="2724912"/>
            <a:ext cx="960120" cy="201168"/>
          </a:xfrm>
          <a:prstGeom prst="rect">
            <a:avLst/>
          </a:prstGeom>
          <a:noFill/>
        </p:spPr>
        <p:txBody>
          <a:bodyPr wrap="none">
            <a:spAutoFit/>
          </a:bodyPr>
          <a:lstStyle/>
          <a:p>
            <a:pPr algn="ctr">
              <a:defRPr sz="950" b="0">
                <a:solidFill>
                  <a:srgbClr val="6D28D9"/>
                </a:solidFill>
                <a:latin typeface="Calibri"/>
              </a:defRPr>
            </a:pPr>
            <a:r>
              <a:t>$5.8M</a:t>
            </a:r>
          </a:p>
        </p:txBody>
      </p:sp>
      <p:sp>
        <p:nvSpPr>
          <p:cNvPr id="70" name="TextBox 69"/>
          <p:cNvSpPr txBox="1"/>
          <p:nvPr/>
        </p:nvSpPr>
        <p:spPr>
          <a:xfrm>
            <a:off x="5321807" y="2724912"/>
            <a:ext cx="804672" cy="201168"/>
          </a:xfrm>
          <a:prstGeom prst="rect">
            <a:avLst/>
          </a:prstGeom>
          <a:noFill/>
        </p:spPr>
        <p:txBody>
          <a:bodyPr wrap="none">
            <a:spAutoFit/>
          </a:bodyPr>
          <a:lstStyle/>
          <a:p>
            <a:pPr algn="ctr">
              <a:defRPr sz="950" b="0">
                <a:solidFill>
                  <a:srgbClr val="111827"/>
                </a:solidFill>
                <a:latin typeface="Calibri"/>
              </a:defRPr>
            </a:pPr>
            <a:r>
              <a:t>1926</a:t>
            </a:r>
          </a:p>
        </p:txBody>
      </p:sp>
      <p:sp>
        <p:nvSpPr>
          <p:cNvPr id="71" name="TextBox 70"/>
          <p:cNvSpPr txBox="1"/>
          <p:nvPr/>
        </p:nvSpPr>
        <p:spPr>
          <a:xfrm>
            <a:off x="6126479" y="2724912"/>
            <a:ext cx="731520" cy="201168"/>
          </a:xfrm>
          <a:prstGeom prst="rect">
            <a:avLst/>
          </a:prstGeom>
          <a:noFill/>
        </p:spPr>
        <p:txBody>
          <a:bodyPr wrap="none">
            <a:spAutoFit/>
          </a:bodyPr>
          <a:lstStyle/>
          <a:p>
            <a:pPr algn="ctr">
              <a:defRPr sz="950" b="0">
                <a:solidFill>
                  <a:srgbClr val="111827"/>
                </a:solidFill>
                <a:latin typeface="Calibri"/>
              </a:defRPr>
            </a:pPr>
            <a:r>
              <a:t>126</a:t>
            </a:r>
          </a:p>
        </p:txBody>
      </p:sp>
      <p:sp>
        <p:nvSpPr>
          <p:cNvPr id="72" name="TextBox 71"/>
          <p:cNvSpPr txBox="1"/>
          <p:nvPr/>
        </p:nvSpPr>
        <p:spPr>
          <a:xfrm>
            <a:off x="6857999" y="2724912"/>
            <a:ext cx="960120" cy="201168"/>
          </a:xfrm>
          <a:prstGeom prst="rect">
            <a:avLst/>
          </a:prstGeom>
          <a:noFill/>
        </p:spPr>
        <p:txBody>
          <a:bodyPr wrap="none">
            <a:spAutoFit/>
          </a:bodyPr>
          <a:lstStyle/>
          <a:p>
            <a:pPr algn="ctr">
              <a:defRPr sz="950" b="0">
                <a:solidFill>
                  <a:srgbClr val="6D28D9"/>
                </a:solidFill>
                <a:latin typeface="Calibri"/>
              </a:defRPr>
            </a:pPr>
            <a:r>
              <a:t>$3.9M</a:t>
            </a:r>
          </a:p>
        </p:txBody>
      </p:sp>
      <p:sp>
        <p:nvSpPr>
          <p:cNvPr id="73" name="TextBox 72"/>
          <p:cNvSpPr txBox="1"/>
          <p:nvPr/>
        </p:nvSpPr>
        <p:spPr>
          <a:xfrm>
            <a:off x="7818119" y="2724912"/>
            <a:ext cx="804672" cy="201168"/>
          </a:xfrm>
          <a:prstGeom prst="rect">
            <a:avLst/>
          </a:prstGeom>
          <a:noFill/>
        </p:spPr>
        <p:txBody>
          <a:bodyPr wrap="none">
            <a:spAutoFit/>
          </a:bodyPr>
          <a:lstStyle/>
          <a:p>
            <a:pPr algn="ctr">
              <a:defRPr sz="950" b="0">
                <a:solidFill>
                  <a:srgbClr val="059669"/>
                </a:solidFill>
                <a:latin typeface="Calibri"/>
              </a:defRPr>
            </a:pPr>
            <a:r>
              <a:t>$126K</a:t>
            </a:r>
          </a:p>
        </p:txBody>
      </p:sp>
      <p:sp>
        <p:nvSpPr>
          <p:cNvPr id="74" name="TextBox 73"/>
          <p:cNvSpPr txBox="1"/>
          <p:nvPr/>
        </p:nvSpPr>
        <p:spPr>
          <a:xfrm>
            <a:off x="8622792" y="2724912"/>
            <a:ext cx="804672" cy="201168"/>
          </a:xfrm>
          <a:prstGeom prst="rect">
            <a:avLst/>
          </a:prstGeom>
          <a:noFill/>
        </p:spPr>
        <p:txBody>
          <a:bodyPr wrap="none">
            <a:spAutoFit/>
          </a:bodyPr>
          <a:lstStyle/>
          <a:p>
            <a:pPr algn="ctr">
              <a:defRPr sz="950" b="0">
                <a:solidFill>
                  <a:srgbClr val="DC2626"/>
                </a:solidFill>
                <a:latin typeface="Calibri"/>
              </a:defRPr>
            </a:pPr>
            <a:r>
              <a:t>$1.6M</a:t>
            </a:r>
          </a:p>
        </p:txBody>
      </p:sp>
      <p:sp>
        <p:nvSpPr>
          <p:cNvPr id="75" name="Rectangle 74"/>
          <p:cNvSpPr/>
          <p:nvPr/>
        </p:nvSpPr>
        <p:spPr>
          <a:xfrm>
            <a:off x="182880" y="3200400"/>
            <a:ext cx="9244584" cy="201168"/>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74320" y="3227832"/>
            <a:ext cx="9061704" cy="146304"/>
          </a:xfrm>
          <a:prstGeom prst="rect">
            <a:avLst/>
          </a:prstGeom>
          <a:noFill/>
        </p:spPr>
        <p:txBody>
          <a:bodyPr wrap="square">
            <a:spAutoFit/>
          </a:bodyPr>
          <a:lstStyle/>
          <a:p>
            <a:pPr algn="l">
              <a:defRPr sz="850" b="1">
                <a:solidFill>
                  <a:srgbClr val="FFFFFF"/>
                </a:solidFill>
                <a:latin typeface="Calibri"/>
              </a:defRPr>
            </a:pPr>
            <a:r>
              <a:t>BDAs — Business Development Associates  (goal: ≥70% portfolio active)</a:t>
            </a:r>
          </a:p>
        </p:txBody>
      </p:sp>
      <p:sp>
        <p:nvSpPr>
          <p:cNvPr id="77" name="Rectangle 76"/>
          <p:cNvSpPr/>
          <p:nvPr/>
        </p:nvSpPr>
        <p:spPr>
          <a:xfrm>
            <a:off x="182880" y="3401568"/>
            <a:ext cx="9244584" cy="384048"/>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82880" y="3419856"/>
            <a:ext cx="1508760" cy="201168"/>
          </a:xfrm>
          <a:prstGeom prst="rect">
            <a:avLst/>
          </a:prstGeom>
          <a:noFill/>
        </p:spPr>
        <p:txBody>
          <a:bodyPr wrap="none">
            <a:spAutoFit/>
          </a:bodyPr>
          <a:lstStyle/>
          <a:p>
            <a:pPr algn="l">
              <a:defRPr sz="950" b="1">
                <a:solidFill>
                  <a:srgbClr val="111827"/>
                </a:solidFill>
                <a:latin typeface="Calibri"/>
              </a:defRPr>
            </a:pPr>
            <a:r>
              <a:t>Kurt Butterfield</a:t>
            </a:r>
          </a:p>
        </p:txBody>
      </p:sp>
      <p:sp>
        <p:nvSpPr>
          <p:cNvPr id="79" name="TextBox 78"/>
          <p:cNvSpPr txBox="1"/>
          <p:nvPr/>
        </p:nvSpPr>
        <p:spPr>
          <a:xfrm>
            <a:off x="1691639" y="3419856"/>
            <a:ext cx="713232" cy="201168"/>
          </a:xfrm>
          <a:prstGeom prst="rect">
            <a:avLst/>
          </a:prstGeom>
          <a:noFill/>
        </p:spPr>
        <p:txBody>
          <a:bodyPr wrap="none">
            <a:spAutoFit/>
          </a:bodyPr>
          <a:lstStyle/>
          <a:p>
            <a:pPr algn="ctr">
              <a:defRPr sz="950" b="0">
                <a:solidFill>
                  <a:srgbClr val="6B7280"/>
                </a:solidFill>
                <a:latin typeface="Calibri"/>
              </a:defRPr>
            </a:pPr>
            <a:r>
              <a:t>45</a:t>
            </a:r>
          </a:p>
        </p:txBody>
      </p:sp>
      <p:sp>
        <p:nvSpPr>
          <p:cNvPr id="80" name="TextBox 79"/>
          <p:cNvSpPr txBox="1"/>
          <p:nvPr/>
        </p:nvSpPr>
        <p:spPr>
          <a:xfrm>
            <a:off x="2404872" y="3419856"/>
            <a:ext cx="621792" cy="201168"/>
          </a:xfrm>
          <a:prstGeom prst="rect">
            <a:avLst/>
          </a:prstGeom>
          <a:noFill/>
        </p:spPr>
        <p:txBody>
          <a:bodyPr wrap="none">
            <a:spAutoFit/>
          </a:bodyPr>
          <a:lstStyle/>
          <a:p>
            <a:pPr algn="ctr">
              <a:defRPr sz="950" b="0">
                <a:solidFill>
                  <a:srgbClr val="059669"/>
                </a:solidFill>
                <a:latin typeface="Calibri"/>
              </a:defRPr>
            </a:pPr>
            <a:r>
              <a:t>42</a:t>
            </a:r>
          </a:p>
        </p:txBody>
      </p:sp>
      <p:sp>
        <p:nvSpPr>
          <p:cNvPr id="81" name="TextBox 80"/>
          <p:cNvSpPr txBox="1"/>
          <p:nvPr/>
        </p:nvSpPr>
        <p:spPr>
          <a:xfrm>
            <a:off x="3026664" y="3419856"/>
            <a:ext cx="713232" cy="201168"/>
          </a:xfrm>
          <a:prstGeom prst="rect">
            <a:avLst/>
          </a:prstGeom>
          <a:noFill/>
        </p:spPr>
        <p:txBody>
          <a:bodyPr wrap="none">
            <a:spAutoFit/>
          </a:bodyPr>
          <a:lstStyle/>
          <a:p>
            <a:pPr algn="ctr">
              <a:defRPr sz="950" b="1">
                <a:solidFill>
                  <a:srgbClr val="D97706"/>
                </a:solidFill>
                <a:latin typeface="Calibri"/>
              </a:defRPr>
            </a:pPr>
            <a:r>
              <a:t>3</a:t>
            </a:r>
          </a:p>
        </p:txBody>
      </p:sp>
      <p:sp>
        <p:nvSpPr>
          <p:cNvPr id="82" name="TextBox 81"/>
          <p:cNvSpPr txBox="1"/>
          <p:nvPr/>
        </p:nvSpPr>
        <p:spPr>
          <a:xfrm>
            <a:off x="3739896" y="3419856"/>
            <a:ext cx="621792" cy="201168"/>
          </a:xfrm>
          <a:prstGeom prst="rect">
            <a:avLst/>
          </a:prstGeom>
          <a:noFill/>
        </p:spPr>
        <p:txBody>
          <a:bodyPr wrap="none">
            <a:spAutoFit/>
          </a:bodyPr>
          <a:lstStyle/>
          <a:p>
            <a:pPr algn="ctr">
              <a:defRPr sz="950" b="1">
                <a:solidFill>
                  <a:srgbClr val="D97706"/>
                </a:solidFill>
                <a:latin typeface="Calibri"/>
              </a:defRPr>
            </a:pPr>
            <a:r>
              <a:t>93%</a:t>
            </a:r>
          </a:p>
        </p:txBody>
      </p:sp>
      <p:sp>
        <p:nvSpPr>
          <p:cNvPr id="83" name="TextBox 82"/>
          <p:cNvSpPr txBox="1"/>
          <p:nvPr/>
        </p:nvSpPr>
        <p:spPr>
          <a:xfrm>
            <a:off x="4361688" y="3419856"/>
            <a:ext cx="960120" cy="201168"/>
          </a:xfrm>
          <a:prstGeom prst="rect">
            <a:avLst/>
          </a:prstGeom>
          <a:noFill/>
        </p:spPr>
        <p:txBody>
          <a:bodyPr wrap="none">
            <a:spAutoFit/>
          </a:bodyPr>
          <a:lstStyle/>
          <a:p>
            <a:pPr algn="ctr">
              <a:defRPr sz="950" b="0">
                <a:solidFill>
                  <a:srgbClr val="065F46"/>
                </a:solidFill>
                <a:latin typeface="Calibri"/>
              </a:defRPr>
            </a:pPr>
            <a:r>
              <a:t>$2.9M</a:t>
            </a:r>
          </a:p>
        </p:txBody>
      </p:sp>
      <p:sp>
        <p:nvSpPr>
          <p:cNvPr id="84" name="TextBox 83"/>
          <p:cNvSpPr txBox="1"/>
          <p:nvPr/>
        </p:nvSpPr>
        <p:spPr>
          <a:xfrm>
            <a:off x="5321807" y="3419856"/>
            <a:ext cx="804672" cy="201168"/>
          </a:xfrm>
          <a:prstGeom prst="rect">
            <a:avLst/>
          </a:prstGeom>
          <a:noFill/>
        </p:spPr>
        <p:txBody>
          <a:bodyPr wrap="none">
            <a:spAutoFit/>
          </a:bodyPr>
          <a:lstStyle/>
          <a:p>
            <a:pPr algn="ctr">
              <a:defRPr sz="950" b="0">
                <a:solidFill>
                  <a:srgbClr val="111827"/>
                </a:solidFill>
                <a:latin typeface="Calibri"/>
              </a:defRPr>
            </a:pPr>
            <a:r>
              <a:t>4263</a:t>
            </a:r>
          </a:p>
        </p:txBody>
      </p:sp>
      <p:sp>
        <p:nvSpPr>
          <p:cNvPr id="85" name="TextBox 84"/>
          <p:cNvSpPr txBox="1"/>
          <p:nvPr/>
        </p:nvSpPr>
        <p:spPr>
          <a:xfrm>
            <a:off x="6126479" y="3419856"/>
            <a:ext cx="731520" cy="201168"/>
          </a:xfrm>
          <a:prstGeom prst="rect">
            <a:avLst/>
          </a:prstGeom>
          <a:noFill/>
        </p:spPr>
        <p:txBody>
          <a:bodyPr wrap="none">
            <a:spAutoFit/>
          </a:bodyPr>
          <a:lstStyle/>
          <a:p>
            <a:pPr algn="ctr">
              <a:defRPr sz="950" b="0">
                <a:solidFill>
                  <a:srgbClr val="111827"/>
                </a:solidFill>
                <a:latin typeface="Calibri"/>
              </a:defRPr>
            </a:pPr>
            <a:r>
              <a:t>109</a:t>
            </a:r>
          </a:p>
        </p:txBody>
      </p:sp>
      <p:sp>
        <p:nvSpPr>
          <p:cNvPr id="86" name="TextBox 85"/>
          <p:cNvSpPr txBox="1"/>
          <p:nvPr/>
        </p:nvSpPr>
        <p:spPr>
          <a:xfrm>
            <a:off x="6857999" y="3419856"/>
            <a:ext cx="960120" cy="201168"/>
          </a:xfrm>
          <a:prstGeom prst="rect">
            <a:avLst/>
          </a:prstGeom>
          <a:noFill/>
        </p:spPr>
        <p:txBody>
          <a:bodyPr wrap="none">
            <a:spAutoFit/>
          </a:bodyPr>
          <a:lstStyle/>
          <a:p>
            <a:pPr algn="ctr">
              <a:defRPr sz="950" b="0">
                <a:solidFill>
                  <a:srgbClr val="065F46"/>
                </a:solidFill>
                <a:latin typeface="Calibri"/>
              </a:defRPr>
            </a:pPr>
            <a:r>
              <a:t>$2.6M</a:t>
            </a:r>
          </a:p>
        </p:txBody>
      </p:sp>
      <p:sp>
        <p:nvSpPr>
          <p:cNvPr id="87" name="TextBox 86"/>
          <p:cNvSpPr txBox="1"/>
          <p:nvPr/>
        </p:nvSpPr>
        <p:spPr>
          <a:xfrm>
            <a:off x="7818119" y="3419856"/>
            <a:ext cx="804672" cy="201168"/>
          </a:xfrm>
          <a:prstGeom prst="rect">
            <a:avLst/>
          </a:prstGeom>
          <a:noFill/>
        </p:spPr>
        <p:txBody>
          <a:bodyPr wrap="none">
            <a:spAutoFit/>
          </a:bodyPr>
          <a:lstStyle/>
          <a:p>
            <a:pPr algn="ctr">
              <a:defRPr sz="950" b="0">
                <a:solidFill>
                  <a:srgbClr val="059669"/>
                </a:solidFill>
                <a:latin typeface="Calibri"/>
              </a:defRPr>
            </a:pPr>
            <a:r>
              <a:t>$105K</a:t>
            </a:r>
          </a:p>
        </p:txBody>
      </p:sp>
      <p:sp>
        <p:nvSpPr>
          <p:cNvPr id="88" name="TextBox 87"/>
          <p:cNvSpPr txBox="1"/>
          <p:nvPr/>
        </p:nvSpPr>
        <p:spPr>
          <a:xfrm>
            <a:off x="8622792" y="3419856"/>
            <a:ext cx="804672" cy="201168"/>
          </a:xfrm>
          <a:prstGeom prst="rect">
            <a:avLst/>
          </a:prstGeom>
          <a:noFill/>
        </p:spPr>
        <p:txBody>
          <a:bodyPr wrap="none">
            <a:spAutoFit/>
          </a:bodyPr>
          <a:lstStyle/>
          <a:p>
            <a:pPr algn="ctr">
              <a:defRPr sz="950" b="0">
                <a:solidFill>
                  <a:srgbClr val="DC2626"/>
                </a:solidFill>
                <a:latin typeface="Calibri"/>
              </a:defRPr>
            </a:pPr>
            <a:r>
              <a:t>$835K</a:t>
            </a:r>
          </a:p>
        </p:txBody>
      </p:sp>
      <p:sp>
        <p:nvSpPr>
          <p:cNvPr id="89" name="TextBox 88"/>
          <p:cNvSpPr txBox="1"/>
          <p:nvPr/>
        </p:nvSpPr>
        <p:spPr>
          <a:xfrm>
            <a:off x="182880" y="3803904"/>
            <a:ext cx="1508760" cy="201168"/>
          </a:xfrm>
          <a:prstGeom prst="rect">
            <a:avLst/>
          </a:prstGeom>
          <a:noFill/>
        </p:spPr>
        <p:txBody>
          <a:bodyPr wrap="none">
            <a:spAutoFit/>
          </a:bodyPr>
          <a:lstStyle/>
          <a:p>
            <a:pPr algn="l">
              <a:defRPr sz="950" b="1">
                <a:solidFill>
                  <a:srgbClr val="111827"/>
                </a:solidFill>
                <a:latin typeface="Calibri"/>
              </a:defRPr>
            </a:pPr>
            <a:r>
              <a:t>Erika Cabrera</a:t>
            </a:r>
          </a:p>
        </p:txBody>
      </p:sp>
      <p:sp>
        <p:nvSpPr>
          <p:cNvPr id="90" name="TextBox 89"/>
          <p:cNvSpPr txBox="1"/>
          <p:nvPr/>
        </p:nvSpPr>
        <p:spPr>
          <a:xfrm>
            <a:off x="1691639" y="3803904"/>
            <a:ext cx="713232" cy="201168"/>
          </a:xfrm>
          <a:prstGeom prst="rect">
            <a:avLst/>
          </a:prstGeom>
          <a:noFill/>
        </p:spPr>
        <p:txBody>
          <a:bodyPr wrap="none">
            <a:spAutoFit/>
          </a:bodyPr>
          <a:lstStyle/>
          <a:p>
            <a:pPr algn="ctr">
              <a:defRPr sz="950" b="0">
                <a:solidFill>
                  <a:srgbClr val="6B7280"/>
                </a:solidFill>
                <a:latin typeface="Calibri"/>
              </a:defRPr>
            </a:pPr>
            <a:r>
              <a:t>45</a:t>
            </a:r>
          </a:p>
        </p:txBody>
      </p:sp>
      <p:sp>
        <p:nvSpPr>
          <p:cNvPr id="91" name="TextBox 90"/>
          <p:cNvSpPr txBox="1"/>
          <p:nvPr/>
        </p:nvSpPr>
        <p:spPr>
          <a:xfrm>
            <a:off x="2404872" y="3803904"/>
            <a:ext cx="621792" cy="201168"/>
          </a:xfrm>
          <a:prstGeom prst="rect">
            <a:avLst/>
          </a:prstGeom>
          <a:noFill/>
        </p:spPr>
        <p:txBody>
          <a:bodyPr wrap="none">
            <a:spAutoFit/>
          </a:bodyPr>
          <a:lstStyle/>
          <a:p>
            <a:pPr algn="ctr">
              <a:defRPr sz="950" b="0">
                <a:solidFill>
                  <a:srgbClr val="059669"/>
                </a:solidFill>
                <a:latin typeface="Calibri"/>
              </a:defRPr>
            </a:pPr>
            <a:r>
              <a:t>42</a:t>
            </a:r>
          </a:p>
        </p:txBody>
      </p:sp>
      <p:sp>
        <p:nvSpPr>
          <p:cNvPr id="92" name="TextBox 91"/>
          <p:cNvSpPr txBox="1"/>
          <p:nvPr/>
        </p:nvSpPr>
        <p:spPr>
          <a:xfrm>
            <a:off x="3026664" y="3803904"/>
            <a:ext cx="713232" cy="201168"/>
          </a:xfrm>
          <a:prstGeom prst="rect">
            <a:avLst/>
          </a:prstGeom>
          <a:noFill/>
        </p:spPr>
        <p:txBody>
          <a:bodyPr wrap="none">
            <a:spAutoFit/>
          </a:bodyPr>
          <a:lstStyle/>
          <a:p>
            <a:pPr algn="ctr">
              <a:defRPr sz="950" b="1">
                <a:solidFill>
                  <a:srgbClr val="D97706"/>
                </a:solidFill>
                <a:latin typeface="Calibri"/>
              </a:defRPr>
            </a:pPr>
            <a:r>
              <a:t>3</a:t>
            </a:r>
          </a:p>
        </p:txBody>
      </p:sp>
      <p:sp>
        <p:nvSpPr>
          <p:cNvPr id="93" name="TextBox 92"/>
          <p:cNvSpPr txBox="1"/>
          <p:nvPr/>
        </p:nvSpPr>
        <p:spPr>
          <a:xfrm>
            <a:off x="3739896" y="3803904"/>
            <a:ext cx="621792" cy="201168"/>
          </a:xfrm>
          <a:prstGeom prst="rect">
            <a:avLst/>
          </a:prstGeom>
          <a:noFill/>
        </p:spPr>
        <p:txBody>
          <a:bodyPr wrap="none">
            <a:spAutoFit/>
          </a:bodyPr>
          <a:lstStyle/>
          <a:p>
            <a:pPr algn="ctr">
              <a:defRPr sz="950" b="1">
                <a:solidFill>
                  <a:srgbClr val="D97706"/>
                </a:solidFill>
                <a:latin typeface="Calibri"/>
              </a:defRPr>
            </a:pPr>
            <a:r>
              <a:t>93%</a:t>
            </a:r>
          </a:p>
        </p:txBody>
      </p:sp>
      <p:sp>
        <p:nvSpPr>
          <p:cNvPr id="94" name="TextBox 93"/>
          <p:cNvSpPr txBox="1"/>
          <p:nvPr/>
        </p:nvSpPr>
        <p:spPr>
          <a:xfrm>
            <a:off x="4361688" y="3803904"/>
            <a:ext cx="960120" cy="201168"/>
          </a:xfrm>
          <a:prstGeom prst="rect">
            <a:avLst/>
          </a:prstGeom>
          <a:noFill/>
        </p:spPr>
        <p:txBody>
          <a:bodyPr wrap="none">
            <a:spAutoFit/>
          </a:bodyPr>
          <a:lstStyle/>
          <a:p>
            <a:pPr algn="ctr">
              <a:defRPr sz="950" b="0">
                <a:solidFill>
                  <a:srgbClr val="065F46"/>
                </a:solidFill>
                <a:latin typeface="Calibri"/>
              </a:defRPr>
            </a:pPr>
            <a:r>
              <a:t>$890K</a:t>
            </a:r>
          </a:p>
        </p:txBody>
      </p:sp>
      <p:sp>
        <p:nvSpPr>
          <p:cNvPr id="95" name="TextBox 94"/>
          <p:cNvSpPr txBox="1"/>
          <p:nvPr/>
        </p:nvSpPr>
        <p:spPr>
          <a:xfrm>
            <a:off x="5321807" y="3803904"/>
            <a:ext cx="804672" cy="201168"/>
          </a:xfrm>
          <a:prstGeom prst="rect">
            <a:avLst/>
          </a:prstGeom>
          <a:noFill/>
        </p:spPr>
        <p:txBody>
          <a:bodyPr wrap="none">
            <a:spAutoFit/>
          </a:bodyPr>
          <a:lstStyle/>
          <a:p>
            <a:pPr algn="ctr">
              <a:defRPr sz="950" b="0">
                <a:solidFill>
                  <a:srgbClr val="111827"/>
                </a:solidFill>
                <a:latin typeface="Calibri"/>
              </a:defRPr>
            </a:pPr>
            <a:r>
              <a:t>2920</a:t>
            </a:r>
          </a:p>
        </p:txBody>
      </p:sp>
      <p:sp>
        <p:nvSpPr>
          <p:cNvPr id="96" name="TextBox 95"/>
          <p:cNvSpPr txBox="1"/>
          <p:nvPr/>
        </p:nvSpPr>
        <p:spPr>
          <a:xfrm>
            <a:off x="6126479" y="3803904"/>
            <a:ext cx="731520" cy="201168"/>
          </a:xfrm>
          <a:prstGeom prst="rect">
            <a:avLst/>
          </a:prstGeom>
          <a:noFill/>
        </p:spPr>
        <p:txBody>
          <a:bodyPr wrap="none">
            <a:spAutoFit/>
          </a:bodyPr>
          <a:lstStyle/>
          <a:p>
            <a:pPr algn="ctr">
              <a:defRPr sz="950" b="0">
                <a:solidFill>
                  <a:srgbClr val="111827"/>
                </a:solidFill>
                <a:latin typeface="Calibri"/>
              </a:defRPr>
            </a:pPr>
            <a:r>
              <a:t>52</a:t>
            </a:r>
          </a:p>
        </p:txBody>
      </p:sp>
      <p:sp>
        <p:nvSpPr>
          <p:cNvPr id="97" name="TextBox 96"/>
          <p:cNvSpPr txBox="1"/>
          <p:nvPr/>
        </p:nvSpPr>
        <p:spPr>
          <a:xfrm>
            <a:off x="6857999" y="3803904"/>
            <a:ext cx="960120" cy="201168"/>
          </a:xfrm>
          <a:prstGeom prst="rect">
            <a:avLst/>
          </a:prstGeom>
          <a:noFill/>
        </p:spPr>
        <p:txBody>
          <a:bodyPr wrap="none">
            <a:spAutoFit/>
          </a:bodyPr>
          <a:lstStyle/>
          <a:p>
            <a:pPr algn="ctr">
              <a:defRPr sz="950" b="0">
                <a:solidFill>
                  <a:srgbClr val="065F46"/>
                </a:solidFill>
                <a:latin typeface="Calibri"/>
              </a:defRPr>
            </a:pPr>
            <a:r>
              <a:t>$1.3M</a:t>
            </a:r>
          </a:p>
        </p:txBody>
      </p:sp>
      <p:sp>
        <p:nvSpPr>
          <p:cNvPr id="98" name="TextBox 97"/>
          <p:cNvSpPr txBox="1"/>
          <p:nvPr/>
        </p:nvSpPr>
        <p:spPr>
          <a:xfrm>
            <a:off x="7818119" y="3803904"/>
            <a:ext cx="804672" cy="201168"/>
          </a:xfrm>
          <a:prstGeom prst="rect">
            <a:avLst/>
          </a:prstGeom>
          <a:noFill/>
        </p:spPr>
        <p:txBody>
          <a:bodyPr wrap="none">
            <a:spAutoFit/>
          </a:bodyPr>
          <a:lstStyle/>
          <a:p>
            <a:pPr algn="ctr">
              <a:defRPr sz="950" b="0">
                <a:solidFill>
                  <a:srgbClr val="059669"/>
                </a:solidFill>
                <a:latin typeface="Calibri"/>
              </a:defRPr>
            </a:pPr>
            <a:r>
              <a:t>$3K</a:t>
            </a:r>
          </a:p>
        </p:txBody>
      </p:sp>
      <p:sp>
        <p:nvSpPr>
          <p:cNvPr id="99" name="TextBox 98"/>
          <p:cNvSpPr txBox="1"/>
          <p:nvPr/>
        </p:nvSpPr>
        <p:spPr>
          <a:xfrm>
            <a:off x="8622792" y="3803904"/>
            <a:ext cx="804672" cy="201168"/>
          </a:xfrm>
          <a:prstGeom prst="rect">
            <a:avLst/>
          </a:prstGeom>
          <a:noFill/>
        </p:spPr>
        <p:txBody>
          <a:bodyPr wrap="none">
            <a:spAutoFit/>
          </a:bodyPr>
          <a:lstStyle/>
          <a:p>
            <a:pPr algn="ctr">
              <a:defRPr sz="950" b="0">
                <a:solidFill>
                  <a:srgbClr val="DC2626"/>
                </a:solidFill>
                <a:latin typeface="Calibri"/>
              </a:defRPr>
            </a:pPr>
            <a:r>
              <a:t>$273K</a:t>
            </a:r>
          </a:p>
        </p:txBody>
      </p:sp>
      <p:sp>
        <p:nvSpPr>
          <p:cNvPr id="100" name="Rectangle 99"/>
          <p:cNvSpPr/>
          <p:nvPr/>
        </p:nvSpPr>
        <p:spPr>
          <a:xfrm>
            <a:off x="182880" y="4169664"/>
            <a:ext cx="9244584" cy="384048"/>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82880" y="4187952"/>
            <a:ext cx="1508760" cy="201168"/>
          </a:xfrm>
          <a:prstGeom prst="rect">
            <a:avLst/>
          </a:prstGeom>
          <a:noFill/>
        </p:spPr>
        <p:txBody>
          <a:bodyPr wrap="none">
            <a:spAutoFit/>
          </a:bodyPr>
          <a:lstStyle/>
          <a:p>
            <a:pPr algn="l">
              <a:defRPr sz="950" b="1">
                <a:solidFill>
                  <a:srgbClr val="111827"/>
                </a:solidFill>
                <a:latin typeface="Calibri"/>
              </a:defRPr>
            </a:pPr>
            <a:r>
              <a:t>Portia Lewis</a:t>
            </a:r>
          </a:p>
        </p:txBody>
      </p:sp>
      <p:sp>
        <p:nvSpPr>
          <p:cNvPr id="102" name="TextBox 101"/>
          <p:cNvSpPr txBox="1"/>
          <p:nvPr/>
        </p:nvSpPr>
        <p:spPr>
          <a:xfrm>
            <a:off x="1691639" y="4187952"/>
            <a:ext cx="713232" cy="201168"/>
          </a:xfrm>
          <a:prstGeom prst="rect">
            <a:avLst/>
          </a:prstGeom>
          <a:noFill/>
        </p:spPr>
        <p:txBody>
          <a:bodyPr wrap="none">
            <a:spAutoFit/>
          </a:bodyPr>
          <a:lstStyle/>
          <a:p>
            <a:pPr algn="ctr">
              <a:defRPr sz="950" b="0">
                <a:solidFill>
                  <a:srgbClr val="6B7280"/>
                </a:solidFill>
                <a:latin typeface="Calibri"/>
              </a:defRPr>
            </a:pPr>
            <a:r>
              <a:t>53</a:t>
            </a:r>
          </a:p>
        </p:txBody>
      </p:sp>
      <p:sp>
        <p:nvSpPr>
          <p:cNvPr id="103" name="TextBox 102"/>
          <p:cNvSpPr txBox="1"/>
          <p:nvPr/>
        </p:nvSpPr>
        <p:spPr>
          <a:xfrm>
            <a:off x="2404872" y="4187952"/>
            <a:ext cx="621792" cy="201168"/>
          </a:xfrm>
          <a:prstGeom prst="rect">
            <a:avLst/>
          </a:prstGeom>
          <a:noFill/>
        </p:spPr>
        <p:txBody>
          <a:bodyPr wrap="none">
            <a:spAutoFit/>
          </a:bodyPr>
          <a:lstStyle/>
          <a:p>
            <a:pPr algn="ctr">
              <a:defRPr sz="950" b="0">
                <a:solidFill>
                  <a:srgbClr val="059669"/>
                </a:solidFill>
                <a:latin typeface="Calibri"/>
              </a:defRPr>
            </a:pPr>
            <a:r>
              <a:t>47</a:t>
            </a:r>
          </a:p>
        </p:txBody>
      </p:sp>
      <p:sp>
        <p:nvSpPr>
          <p:cNvPr id="104" name="TextBox 103"/>
          <p:cNvSpPr txBox="1"/>
          <p:nvPr/>
        </p:nvSpPr>
        <p:spPr>
          <a:xfrm>
            <a:off x="3026664" y="4187952"/>
            <a:ext cx="713232" cy="201168"/>
          </a:xfrm>
          <a:prstGeom prst="rect">
            <a:avLst/>
          </a:prstGeom>
          <a:noFill/>
        </p:spPr>
        <p:txBody>
          <a:bodyPr wrap="none">
            <a:spAutoFit/>
          </a:bodyPr>
          <a:lstStyle/>
          <a:p>
            <a:pPr algn="ctr">
              <a:defRPr sz="950" b="1">
                <a:solidFill>
                  <a:srgbClr val="DC2626"/>
                </a:solidFill>
                <a:latin typeface="Calibri"/>
              </a:defRPr>
            </a:pPr>
            <a:r>
              <a:t>6</a:t>
            </a:r>
          </a:p>
        </p:txBody>
      </p:sp>
      <p:sp>
        <p:nvSpPr>
          <p:cNvPr id="105" name="TextBox 104"/>
          <p:cNvSpPr txBox="1"/>
          <p:nvPr/>
        </p:nvSpPr>
        <p:spPr>
          <a:xfrm>
            <a:off x="3739896" y="4187952"/>
            <a:ext cx="621792" cy="201168"/>
          </a:xfrm>
          <a:prstGeom prst="rect">
            <a:avLst/>
          </a:prstGeom>
          <a:noFill/>
        </p:spPr>
        <p:txBody>
          <a:bodyPr wrap="none">
            <a:spAutoFit/>
          </a:bodyPr>
          <a:lstStyle/>
          <a:p>
            <a:pPr algn="ctr">
              <a:defRPr sz="950" b="1">
                <a:solidFill>
                  <a:srgbClr val="D97706"/>
                </a:solidFill>
                <a:latin typeface="Calibri"/>
              </a:defRPr>
            </a:pPr>
            <a:r>
              <a:t>89%</a:t>
            </a:r>
          </a:p>
        </p:txBody>
      </p:sp>
      <p:sp>
        <p:nvSpPr>
          <p:cNvPr id="106" name="TextBox 105"/>
          <p:cNvSpPr txBox="1"/>
          <p:nvPr/>
        </p:nvSpPr>
        <p:spPr>
          <a:xfrm>
            <a:off x="4361688" y="4187952"/>
            <a:ext cx="960120" cy="201168"/>
          </a:xfrm>
          <a:prstGeom prst="rect">
            <a:avLst/>
          </a:prstGeom>
          <a:noFill/>
        </p:spPr>
        <p:txBody>
          <a:bodyPr wrap="none">
            <a:spAutoFit/>
          </a:bodyPr>
          <a:lstStyle/>
          <a:p>
            <a:pPr algn="ctr">
              <a:defRPr sz="950" b="0">
                <a:solidFill>
                  <a:srgbClr val="065F46"/>
                </a:solidFill>
                <a:latin typeface="Calibri"/>
              </a:defRPr>
            </a:pPr>
            <a:r>
              <a:t>$1.1M</a:t>
            </a:r>
          </a:p>
        </p:txBody>
      </p:sp>
      <p:sp>
        <p:nvSpPr>
          <p:cNvPr id="107" name="TextBox 106"/>
          <p:cNvSpPr txBox="1"/>
          <p:nvPr/>
        </p:nvSpPr>
        <p:spPr>
          <a:xfrm>
            <a:off x="5321807" y="4187952"/>
            <a:ext cx="804672" cy="201168"/>
          </a:xfrm>
          <a:prstGeom prst="rect">
            <a:avLst/>
          </a:prstGeom>
          <a:noFill/>
        </p:spPr>
        <p:txBody>
          <a:bodyPr wrap="none">
            <a:spAutoFit/>
          </a:bodyPr>
          <a:lstStyle/>
          <a:p>
            <a:pPr algn="ctr">
              <a:defRPr sz="950" b="0">
                <a:solidFill>
                  <a:srgbClr val="111827"/>
                </a:solidFill>
                <a:latin typeface="Calibri"/>
              </a:defRPr>
            </a:pPr>
            <a:r>
              <a:t>1689</a:t>
            </a:r>
          </a:p>
        </p:txBody>
      </p:sp>
      <p:sp>
        <p:nvSpPr>
          <p:cNvPr id="108" name="TextBox 107"/>
          <p:cNvSpPr txBox="1"/>
          <p:nvPr/>
        </p:nvSpPr>
        <p:spPr>
          <a:xfrm>
            <a:off x="6126479" y="4187952"/>
            <a:ext cx="731520" cy="201168"/>
          </a:xfrm>
          <a:prstGeom prst="rect">
            <a:avLst/>
          </a:prstGeom>
          <a:noFill/>
        </p:spPr>
        <p:txBody>
          <a:bodyPr wrap="none">
            <a:spAutoFit/>
          </a:bodyPr>
          <a:lstStyle/>
          <a:p>
            <a:pPr algn="ctr">
              <a:defRPr sz="950" b="0">
                <a:solidFill>
                  <a:srgbClr val="111827"/>
                </a:solidFill>
                <a:latin typeface="Calibri"/>
              </a:defRPr>
            </a:pPr>
            <a:r>
              <a:t>32</a:t>
            </a:r>
          </a:p>
        </p:txBody>
      </p:sp>
      <p:sp>
        <p:nvSpPr>
          <p:cNvPr id="109" name="TextBox 108"/>
          <p:cNvSpPr txBox="1"/>
          <p:nvPr/>
        </p:nvSpPr>
        <p:spPr>
          <a:xfrm>
            <a:off x="6857999" y="4187952"/>
            <a:ext cx="960120" cy="201168"/>
          </a:xfrm>
          <a:prstGeom prst="rect">
            <a:avLst/>
          </a:prstGeom>
          <a:noFill/>
        </p:spPr>
        <p:txBody>
          <a:bodyPr wrap="none">
            <a:spAutoFit/>
          </a:bodyPr>
          <a:lstStyle/>
          <a:p>
            <a:pPr algn="ctr">
              <a:defRPr sz="950" b="0">
                <a:solidFill>
                  <a:srgbClr val="065F46"/>
                </a:solidFill>
                <a:latin typeface="Calibri"/>
              </a:defRPr>
            </a:pPr>
            <a:r>
              <a:t>$1.1M</a:t>
            </a:r>
          </a:p>
        </p:txBody>
      </p:sp>
      <p:sp>
        <p:nvSpPr>
          <p:cNvPr id="110" name="TextBox 109"/>
          <p:cNvSpPr txBox="1"/>
          <p:nvPr/>
        </p:nvSpPr>
        <p:spPr>
          <a:xfrm>
            <a:off x="7818119" y="4187952"/>
            <a:ext cx="804672" cy="201168"/>
          </a:xfrm>
          <a:prstGeom prst="rect">
            <a:avLst/>
          </a:prstGeom>
          <a:noFill/>
        </p:spPr>
        <p:txBody>
          <a:bodyPr wrap="none">
            <a:spAutoFit/>
          </a:bodyPr>
          <a:lstStyle/>
          <a:p>
            <a:pPr algn="ctr">
              <a:defRPr sz="950" b="0">
                <a:solidFill>
                  <a:srgbClr val="059669"/>
                </a:solidFill>
                <a:latin typeface="Calibri"/>
              </a:defRPr>
            </a:pPr>
            <a:r>
              <a:t>$38K</a:t>
            </a:r>
          </a:p>
        </p:txBody>
      </p:sp>
      <p:sp>
        <p:nvSpPr>
          <p:cNvPr id="111" name="TextBox 110"/>
          <p:cNvSpPr txBox="1"/>
          <p:nvPr/>
        </p:nvSpPr>
        <p:spPr>
          <a:xfrm>
            <a:off x="8622792" y="4187952"/>
            <a:ext cx="804672" cy="201168"/>
          </a:xfrm>
          <a:prstGeom prst="rect">
            <a:avLst/>
          </a:prstGeom>
          <a:noFill/>
        </p:spPr>
        <p:txBody>
          <a:bodyPr wrap="none">
            <a:spAutoFit/>
          </a:bodyPr>
          <a:lstStyle/>
          <a:p>
            <a:pPr algn="ctr">
              <a:defRPr sz="950" b="0">
                <a:solidFill>
                  <a:srgbClr val="DC2626"/>
                </a:solidFill>
                <a:latin typeface="Calibri"/>
              </a:defRPr>
            </a:pPr>
            <a:r>
              <a:t>$351K</a:t>
            </a:r>
          </a:p>
        </p:txBody>
      </p:sp>
      <p:sp>
        <p:nvSpPr>
          <p:cNvPr id="112" name="TextBox 111"/>
          <p:cNvSpPr txBox="1"/>
          <p:nvPr/>
        </p:nvSpPr>
        <p:spPr>
          <a:xfrm>
            <a:off x="182880" y="4572000"/>
            <a:ext cx="1508760" cy="201168"/>
          </a:xfrm>
          <a:prstGeom prst="rect">
            <a:avLst/>
          </a:prstGeom>
          <a:noFill/>
        </p:spPr>
        <p:txBody>
          <a:bodyPr wrap="none">
            <a:spAutoFit/>
          </a:bodyPr>
          <a:lstStyle/>
          <a:p>
            <a:pPr algn="l">
              <a:defRPr sz="950" b="1">
                <a:solidFill>
                  <a:srgbClr val="111827"/>
                </a:solidFill>
                <a:latin typeface="Calibri"/>
              </a:defRPr>
            </a:pPr>
            <a:r>
              <a:t>Cameron Brader</a:t>
            </a:r>
          </a:p>
        </p:txBody>
      </p:sp>
      <p:sp>
        <p:nvSpPr>
          <p:cNvPr id="113" name="TextBox 112"/>
          <p:cNvSpPr txBox="1"/>
          <p:nvPr/>
        </p:nvSpPr>
        <p:spPr>
          <a:xfrm>
            <a:off x="1691639" y="4572000"/>
            <a:ext cx="713232" cy="201168"/>
          </a:xfrm>
          <a:prstGeom prst="rect">
            <a:avLst/>
          </a:prstGeom>
          <a:noFill/>
        </p:spPr>
        <p:txBody>
          <a:bodyPr wrap="none">
            <a:spAutoFit/>
          </a:bodyPr>
          <a:lstStyle/>
          <a:p>
            <a:pPr algn="ctr">
              <a:defRPr sz="950" b="0">
                <a:solidFill>
                  <a:srgbClr val="6B7280"/>
                </a:solidFill>
                <a:latin typeface="Calibri"/>
              </a:defRPr>
            </a:pPr>
            <a:r>
              <a:t>50</a:t>
            </a:r>
          </a:p>
        </p:txBody>
      </p:sp>
      <p:sp>
        <p:nvSpPr>
          <p:cNvPr id="114" name="TextBox 113"/>
          <p:cNvSpPr txBox="1"/>
          <p:nvPr/>
        </p:nvSpPr>
        <p:spPr>
          <a:xfrm>
            <a:off x="2404872" y="4572000"/>
            <a:ext cx="621792" cy="201168"/>
          </a:xfrm>
          <a:prstGeom prst="rect">
            <a:avLst/>
          </a:prstGeom>
          <a:noFill/>
        </p:spPr>
        <p:txBody>
          <a:bodyPr wrap="none">
            <a:spAutoFit/>
          </a:bodyPr>
          <a:lstStyle/>
          <a:p>
            <a:pPr algn="ctr">
              <a:defRPr sz="950" b="0">
                <a:solidFill>
                  <a:srgbClr val="059669"/>
                </a:solidFill>
                <a:latin typeface="Calibri"/>
              </a:defRPr>
            </a:pPr>
            <a:r>
              <a:t>49</a:t>
            </a:r>
          </a:p>
        </p:txBody>
      </p:sp>
      <p:sp>
        <p:nvSpPr>
          <p:cNvPr id="115" name="TextBox 114"/>
          <p:cNvSpPr txBox="1"/>
          <p:nvPr/>
        </p:nvSpPr>
        <p:spPr>
          <a:xfrm>
            <a:off x="3026664" y="4572000"/>
            <a:ext cx="713232" cy="201168"/>
          </a:xfrm>
          <a:prstGeom prst="rect">
            <a:avLst/>
          </a:prstGeom>
          <a:noFill/>
        </p:spPr>
        <p:txBody>
          <a:bodyPr wrap="none">
            <a:spAutoFit/>
          </a:bodyPr>
          <a:lstStyle/>
          <a:p>
            <a:pPr algn="ctr">
              <a:defRPr sz="950" b="1">
                <a:solidFill>
                  <a:srgbClr val="D97706"/>
                </a:solidFill>
                <a:latin typeface="Calibri"/>
              </a:defRPr>
            </a:pPr>
            <a:r>
              <a:t>1</a:t>
            </a:r>
          </a:p>
        </p:txBody>
      </p:sp>
      <p:sp>
        <p:nvSpPr>
          <p:cNvPr id="116" name="TextBox 115"/>
          <p:cNvSpPr txBox="1"/>
          <p:nvPr/>
        </p:nvSpPr>
        <p:spPr>
          <a:xfrm>
            <a:off x="3739896" y="4572000"/>
            <a:ext cx="621792" cy="201168"/>
          </a:xfrm>
          <a:prstGeom prst="rect">
            <a:avLst/>
          </a:prstGeom>
          <a:noFill/>
        </p:spPr>
        <p:txBody>
          <a:bodyPr wrap="none">
            <a:spAutoFit/>
          </a:bodyPr>
          <a:lstStyle/>
          <a:p>
            <a:pPr algn="ctr">
              <a:defRPr sz="950" b="1">
                <a:solidFill>
                  <a:srgbClr val="D97706"/>
                </a:solidFill>
                <a:latin typeface="Calibri"/>
              </a:defRPr>
            </a:pPr>
            <a:r>
              <a:t>98%</a:t>
            </a:r>
          </a:p>
        </p:txBody>
      </p:sp>
      <p:sp>
        <p:nvSpPr>
          <p:cNvPr id="117" name="TextBox 116"/>
          <p:cNvSpPr txBox="1"/>
          <p:nvPr/>
        </p:nvSpPr>
        <p:spPr>
          <a:xfrm>
            <a:off x="4361688" y="4572000"/>
            <a:ext cx="960120" cy="201168"/>
          </a:xfrm>
          <a:prstGeom prst="rect">
            <a:avLst/>
          </a:prstGeom>
          <a:noFill/>
        </p:spPr>
        <p:txBody>
          <a:bodyPr wrap="none">
            <a:spAutoFit/>
          </a:bodyPr>
          <a:lstStyle/>
          <a:p>
            <a:pPr algn="ctr">
              <a:defRPr sz="950" b="0">
                <a:solidFill>
                  <a:srgbClr val="065F46"/>
                </a:solidFill>
                <a:latin typeface="Calibri"/>
              </a:defRPr>
            </a:pPr>
            <a:r>
              <a:t>$994K</a:t>
            </a:r>
          </a:p>
        </p:txBody>
      </p:sp>
      <p:sp>
        <p:nvSpPr>
          <p:cNvPr id="118" name="TextBox 117"/>
          <p:cNvSpPr txBox="1"/>
          <p:nvPr/>
        </p:nvSpPr>
        <p:spPr>
          <a:xfrm>
            <a:off x="5321807" y="4572000"/>
            <a:ext cx="804672" cy="201168"/>
          </a:xfrm>
          <a:prstGeom prst="rect">
            <a:avLst/>
          </a:prstGeom>
          <a:noFill/>
        </p:spPr>
        <p:txBody>
          <a:bodyPr wrap="none">
            <a:spAutoFit/>
          </a:bodyPr>
          <a:lstStyle/>
          <a:p>
            <a:pPr algn="ctr">
              <a:defRPr sz="950" b="0">
                <a:solidFill>
                  <a:srgbClr val="111827"/>
                </a:solidFill>
                <a:latin typeface="Calibri"/>
              </a:defRPr>
            </a:pPr>
            <a:r>
              <a:t>961</a:t>
            </a:r>
          </a:p>
        </p:txBody>
      </p:sp>
      <p:sp>
        <p:nvSpPr>
          <p:cNvPr id="119" name="TextBox 118"/>
          <p:cNvSpPr txBox="1"/>
          <p:nvPr/>
        </p:nvSpPr>
        <p:spPr>
          <a:xfrm>
            <a:off x="6126479" y="4572000"/>
            <a:ext cx="731520" cy="201168"/>
          </a:xfrm>
          <a:prstGeom prst="rect">
            <a:avLst/>
          </a:prstGeom>
          <a:noFill/>
        </p:spPr>
        <p:txBody>
          <a:bodyPr wrap="none">
            <a:spAutoFit/>
          </a:bodyPr>
          <a:lstStyle/>
          <a:p>
            <a:pPr algn="ctr">
              <a:defRPr sz="950" b="0">
                <a:solidFill>
                  <a:srgbClr val="111827"/>
                </a:solidFill>
                <a:latin typeface="Calibri"/>
              </a:defRPr>
            </a:pPr>
            <a:r>
              <a:t>51</a:t>
            </a:r>
          </a:p>
        </p:txBody>
      </p:sp>
      <p:sp>
        <p:nvSpPr>
          <p:cNvPr id="120" name="TextBox 119"/>
          <p:cNvSpPr txBox="1"/>
          <p:nvPr/>
        </p:nvSpPr>
        <p:spPr>
          <a:xfrm>
            <a:off x="6857999" y="4572000"/>
            <a:ext cx="960120" cy="201168"/>
          </a:xfrm>
          <a:prstGeom prst="rect">
            <a:avLst/>
          </a:prstGeom>
          <a:noFill/>
        </p:spPr>
        <p:txBody>
          <a:bodyPr wrap="none">
            <a:spAutoFit/>
          </a:bodyPr>
          <a:lstStyle/>
          <a:p>
            <a:pPr algn="ctr">
              <a:defRPr sz="950" b="0">
                <a:solidFill>
                  <a:srgbClr val="065F46"/>
                </a:solidFill>
                <a:latin typeface="Calibri"/>
              </a:defRPr>
            </a:pPr>
            <a:r>
              <a:t>$964K</a:t>
            </a:r>
          </a:p>
        </p:txBody>
      </p:sp>
      <p:sp>
        <p:nvSpPr>
          <p:cNvPr id="121" name="TextBox 120"/>
          <p:cNvSpPr txBox="1"/>
          <p:nvPr/>
        </p:nvSpPr>
        <p:spPr>
          <a:xfrm>
            <a:off x="7818119" y="4572000"/>
            <a:ext cx="804672" cy="201168"/>
          </a:xfrm>
          <a:prstGeom prst="rect">
            <a:avLst/>
          </a:prstGeom>
          <a:noFill/>
        </p:spPr>
        <p:txBody>
          <a:bodyPr wrap="none">
            <a:spAutoFit/>
          </a:bodyPr>
          <a:lstStyle/>
          <a:p>
            <a:pPr algn="ctr">
              <a:defRPr sz="950" b="0">
                <a:solidFill>
                  <a:srgbClr val="059669"/>
                </a:solidFill>
                <a:latin typeface="Calibri"/>
              </a:defRPr>
            </a:pPr>
            <a:r>
              <a:t>$316K</a:t>
            </a:r>
          </a:p>
        </p:txBody>
      </p:sp>
      <p:sp>
        <p:nvSpPr>
          <p:cNvPr id="122" name="TextBox 121"/>
          <p:cNvSpPr txBox="1"/>
          <p:nvPr/>
        </p:nvSpPr>
        <p:spPr>
          <a:xfrm>
            <a:off x="8622792" y="4572000"/>
            <a:ext cx="804672" cy="201168"/>
          </a:xfrm>
          <a:prstGeom prst="rect">
            <a:avLst/>
          </a:prstGeom>
          <a:noFill/>
        </p:spPr>
        <p:txBody>
          <a:bodyPr wrap="none">
            <a:spAutoFit/>
          </a:bodyPr>
          <a:lstStyle/>
          <a:p>
            <a:pPr algn="ctr">
              <a:defRPr sz="950" b="0">
                <a:solidFill>
                  <a:srgbClr val="DC2626"/>
                </a:solidFill>
                <a:latin typeface="Calibri"/>
              </a:defRPr>
            </a:pPr>
            <a:r>
              <a:t>$114K</a:t>
            </a:r>
          </a:p>
        </p:txBody>
      </p:sp>
      <p:sp>
        <p:nvSpPr>
          <p:cNvPr id="123" name="Rectangle 122"/>
          <p:cNvSpPr/>
          <p:nvPr/>
        </p:nvSpPr>
        <p:spPr>
          <a:xfrm>
            <a:off x="182880" y="4937760"/>
            <a:ext cx="9244584" cy="384048"/>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82880" y="4956048"/>
            <a:ext cx="1508760" cy="201168"/>
          </a:xfrm>
          <a:prstGeom prst="rect">
            <a:avLst/>
          </a:prstGeom>
          <a:noFill/>
        </p:spPr>
        <p:txBody>
          <a:bodyPr wrap="none">
            <a:spAutoFit/>
          </a:bodyPr>
          <a:lstStyle/>
          <a:p>
            <a:pPr algn="l">
              <a:defRPr sz="950" b="1">
                <a:solidFill>
                  <a:srgbClr val="111827"/>
                </a:solidFill>
                <a:latin typeface="Calibri"/>
              </a:defRPr>
            </a:pPr>
            <a:r>
              <a:t>Taylor Sloan</a:t>
            </a:r>
          </a:p>
        </p:txBody>
      </p:sp>
      <p:sp>
        <p:nvSpPr>
          <p:cNvPr id="125" name="TextBox 124"/>
          <p:cNvSpPr txBox="1"/>
          <p:nvPr/>
        </p:nvSpPr>
        <p:spPr>
          <a:xfrm>
            <a:off x="1691639" y="4956048"/>
            <a:ext cx="713232" cy="201168"/>
          </a:xfrm>
          <a:prstGeom prst="rect">
            <a:avLst/>
          </a:prstGeom>
          <a:noFill/>
        </p:spPr>
        <p:txBody>
          <a:bodyPr wrap="none">
            <a:spAutoFit/>
          </a:bodyPr>
          <a:lstStyle/>
          <a:p>
            <a:pPr algn="ctr">
              <a:defRPr sz="950" b="0">
                <a:solidFill>
                  <a:srgbClr val="6B7280"/>
                </a:solidFill>
                <a:latin typeface="Calibri"/>
              </a:defRPr>
            </a:pPr>
            <a:r>
              <a:t>27</a:t>
            </a:r>
          </a:p>
        </p:txBody>
      </p:sp>
      <p:sp>
        <p:nvSpPr>
          <p:cNvPr id="126" name="TextBox 125"/>
          <p:cNvSpPr txBox="1"/>
          <p:nvPr/>
        </p:nvSpPr>
        <p:spPr>
          <a:xfrm>
            <a:off x="2404872" y="4956048"/>
            <a:ext cx="621792" cy="201168"/>
          </a:xfrm>
          <a:prstGeom prst="rect">
            <a:avLst/>
          </a:prstGeom>
          <a:noFill/>
        </p:spPr>
        <p:txBody>
          <a:bodyPr wrap="none">
            <a:spAutoFit/>
          </a:bodyPr>
          <a:lstStyle/>
          <a:p>
            <a:pPr algn="ctr">
              <a:defRPr sz="950" b="0">
                <a:solidFill>
                  <a:srgbClr val="059669"/>
                </a:solidFill>
                <a:latin typeface="Calibri"/>
              </a:defRPr>
            </a:pPr>
            <a:r>
              <a:t>27</a:t>
            </a:r>
          </a:p>
        </p:txBody>
      </p:sp>
      <p:sp>
        <p:nvSpPr>
          <p:cNvPr id="127" name="TextBox 126"/>
          <p:cNvSpPr txBox="1"/>
          <p:nvPr/>
        </p:nvSpPr>
        <p:spPr>
          <a:xfrm>
            <a:off x="3026664" y="4956048"/>
            <a:ext cx="713232" cy="201168"/>
          </a:xfrm>
          <a:prstGeom prst="rect">
            <a:avLst/>
          </a:prstGeom>
          <a:noFill/>
        </p:spPr>
        <p:txBody>
          <a:bodyPr wrap="none">
            <a:spAutoFit/>
          </a:bodyPr>
          <a:lstStyle/>
          <a:p>
            <a:pPr algn="ctr">
              <a:defRPr sz="950" b="1">
                <a:solidFill>
                  <a:srgbClr val="D97706"/>
                </a:solidFill>
                <a:latin typeface="Calibri"/>
              </a:defRPr>
            </a:pPr>
            <a:r>
              <a:t>0</a:t>
            </a:r>
          </a:p>
        </p:txBody>
      </p:sp>
      <p:sp>
        <p:nvSpPr>
          <p:cNvPr id="128" name="TextBox 127"/>
          <p:cNvSpPr txBox="1"/>
          <p:nvPr/>
        </p:nvSpPr>
        <p:spPr>
          <a:xfrm>
            <a:off x="3739896" y="4956048"/>
            <a:ext cx="621792" cy="201168"/>
          </a:xfrm>
          <a:prstGeom prst="rect">
            <a:avLst/>
          </a:prstGeom>
          <a:noFill/>
        </p:spPr>
        <p:txBody>
          <a:bodyPr wrap="none">
            <a:spAutoFit/>
          </a:bodyPr>
          <a:lstStyle/>
          <a:p>
            <a:pPr algn="ctr">
              <a:defRPr sz="950" b="1">
                <a:solidFill>
                  <a:srgbClr val="059669"/>
                </a:solidFill>
                <a:latin typeface="Calibri"/>
              </a:defRPr>
            </a:pPr>
            <a:r>
              <a:t>100%</a:t>
            </a:r>
          </a:p>
        </p:txBody>
      </p:sp>
      <p:sp>
        <p:nvSpPr>
          <p:cNvPr id="129" name="TextBox 128"/>
          <p:cNvSpPr txBox="1"/>
          <p:nvPr/>
        </p:nvSpPr>
        <p:spPr>
          <a:xfrm>
            <a:off x="4361688" y="4956048"/>
            <a:ext cx="960120" cy="201168"/>
          </a:xfrm>
          <a:prstGeom prst="rect">
            <a:avLst/>
          </a:prstGeom>
          <a:noFill/>
        </p:spPr>
        <p:txBody>
          <a:bodyPr wrap="none">
            <a:spAutoFit/>
          </a:bodyPr>
          <a:lstStyle/>
          <a:p>
            <a:pPr algn="ctr">
              <a:defRPr sz="950" b="0">
                <a:solidFill>
                  <a:srgbClr val="065F46"/>
                </a:solidFill>
                <a:latin typeface="Calibri"/>
              </a:defRPr>
            </a:pPr>
            <a:r>
              <a:t>$728K</a:t>
            </a:r>
          </a:p>
        </p:txBody>
      </p:sp>
      <p:sp>
        <p:nvSpPr>
          <p:cNvPr id="130" name="TextBox 129"/>
          <p:cNvSpPr txBox="1"/>
          <p:nvPr/>
        </p:nvSpPr>
        <p:spPr>
          <a:xfrm>
            <a:off x="5321807" y="4956048"/>
            <a:ext cx="804672" cy="201168"/>
          </a:xfrm>
          <a:prstGeom prst="rect">
            <a:avLst/>
          </a:prstGeom>
          <a:noFill/>
        </p:spPr>
        <p:txBody>
          <a:bodyPr wrap="none">
            <a:spAutoFit/>
          </a:bodyPr>
          <a:lstStyle/>
          <a:p>
            <a:pPr algn="ctr">
              <a:defRPr sz="950" b="0">
                <a:solidFill>
                  <a:srgbClr val="111827"/>
                </a:solidFill>
                <a:latin typeface="Calibri"/>
              </a:defRPr>
            </a:pPr>
            <a:r>
              <a:t>638</a:t>
            </a:r>
          </a:p>
        </p:txBody>
      </p:sp>
      <p:sp>
        <p:nvSpPr>
          <p:cNvPr id="131" name="TextBox 130"/>
          <p:cNvSpPr txBox="1"/>
          <p:nvPr/>
        </p:nvSpPr>
        <p:spPr>
          <a:xfrm>
            <a:off x="6126479" y="4956048"/>
            <a:ext cx="731520" cy="201168"/>
          </a:xfrm>
          <a:prstGeom prst="rect">
            <a:avLst/>
          </a:prstGeom>
          <a:noFill/>
        </p:spPr>
        <p:txBody>
          <a:bodyPr wrap="none">
            <a:spAutoFit/>
          </a:bodyPr>
          <a:lstStyle/>
          <a:p>
            <a:pPr algn="ctr">
              <a:defRPr sz="950" b="0">
                <a:solidFill>
                  <a:srgbClr val="111827"/>
                </a:solidFill>
                <a:latin typeface="Calibri"/>
              </a:defRPr>
            </a:pPr>
            <a:r>
              <a:t>26</a:t>
            </a:r>
          </a:p>
        </p:txBody>
      </p:sp>
      <p:sp>
        <p:nvSpPr>
          <p:cNvPr id="132" name="TextBox 131"/>
          <p:cNvSpPr txBox="1"/>
          <p:nvPr/>
        </p:nvSpPr>
        <p:spPr>
          <a:xfrm>
            <a:off x="6857999" y="4956048"/>
            <a:ext cx="960120" cy="201168"/>
          </a:xfrm>
          <a:prstGeom prst="rect">
            <a:avLst/>
          </a:prstGeom>
          <a:noFill/>
        </p:spPr>
        <p:txBody>
          <a:bodyPr wrap="none">
            <a:spAutoFit/>
          </a:bodyPr>
          <a:lstStyle/>
          <a:p>
            <a:pPr algn="ctr">
              <a:defRPr sz="950" b="0">
                <a:solidFill>
                  <a:srgbClr val="065F46"/>
                </a:solidFill>
                <a:latin typeface="Calibri"/>
              </a:defRPr>
            </a:pPr>
            <a:r>
              <a:t>$895K</a:t>
            </a:r>
          </a:p>
        </p:txBody>
      </p:sp>
      <p:sp>
        <p:nvSpPr>
          <p:cNvPr id="133" name="TextBox 132"/>
          <p:cNvSpPr txBox="1"/>
          <p:nvPr/>
        </p:nvSpPr>
        <p:spPr>
          <a:xfrm>
            <a:off x="7818119" y="4956048"/>
            <a:ext cx="804672" cy="201168"/>
          </a:xfrm>
          <a:prstGeom prst="rect">
            <a:avLst/>
          </a:prstGeom>
          <a:noFill/>
        </p:spPr>
        <p:txBody>
          <a:bodyPr wrap="none">
            <a:spAutoFit/>
          </a:bodyPr>
          <a:lstStyle/>
          <a:p>
            <a:pPr algn="ctr">
              <a:defRPr sz="950" b="0">
                <a:solidFill>
                  <a:srgbClr val="059669"/>
                </a:solidFill>
                <a:latin typeface="Calibri"/>
              </a:defRPr>
            </a:pPr>
            <a:r>
              <a:t>$61K</a:t>
            </a:r>
          </a:p>
        </p:txBody>
      </p:sp>
      <p:sp>
        <p:nvSpPr>
          <p:cNvPr id="134" name="TextBox 133"/>
          <p:cNvSpPr txBox="1"/>
          <p:nvPr/>
        </p:nvSpPr>
        <p:spPr>
          <a:xfrm>
            <a:off x="8622792" y="4956048"/>
            <a:ext cx="804672" cy="201168"/>
          </a:xfrm>
          <a:prstGeom prst="rect">
            <a:avLst/>
          </a:prstGeom>
          <a:noFill/>
        </p:spPr>
        <p:txBody>
          <a:bodyPr wrap="none">
            <a:spAutoFit/>
          </a:bodyPr>
          <a:lstStyle/>
          <a:p>
            <a:pPr algn="ctr">
              <a:defRPr sz="950" b="0">
                <a:solidFill>
                  <a:srgbClr val="DC2626"/>
                </a:solidFill>
                <a:latin typeface="Calibri"/>
              </a:defRPr>
            </a:pPr>
            <a:r>
              <a:t>$316K</a:t>
            </a:r>
          </a:p>
        </p:txBody>
      </p:sp>
      <p:sp>
        <p:nvSpPr>
          <p:cNvPr id="135" name="Rectangle 134"/>
          <p:cNvSpPr/>
          <p:nvPr/>
        </p:nvSpPr>
        <p:spPr>
          <a:xfrm>
            <a:off x="182880" y="5394959"/>
            <a:ext cx="9244584" cy="219456"/>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74320" y="5431536"/>
            <a:ext cx="8970263" cy="164592"/>
          </a:xfrm>
          <a:prstGeom prst="rect">
            <a:avLst/>
          </a:prstGeom>
          <a:noFill/>
        </p:spPr>
        <p:txBody>
          <a:bodyPr wrap="none">
            <a:spAutoFit/>
          </a:bodyPr>
          <a:lstStyle/>
          <a:p>
            <a:pPr algn="l">
              <a:defRPr sz="850" b="1">
                <a:solidFill>
                  <a:srgbClr val="FFFFFF"/>
                </a:solidFill>
                <a:latin typeface="Calibri"/>
              </a:defRPr>
            </a:pPr>
            <a:r>
              <a:t>Unassigned Retail Agencies — Retail-vertical agencies that submitted but are not yet assigned to a rep</a:t>
            </a:r>
          </a:p>
        </p:txBody>
      </p:sp>
      <p:sp>
        <p:nvSpPr>
          <p:cNvPr id="137" name="Rectangle 136"/>
          <p:cNvSpPr/>
          <p:nvPr/>
        </p:nvSpPr>
        <p:spPr>
          <a:xfrm>
            <a:off x="182880" y="5614416"/>
            <a:ext cx="9244584" cy="34747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82880" y="5632703"/>
            <a:ext cx="1508760" cy="274320"/>
          </a:xfrm>
          <a:prstGeom prst="rect">
            <a:avLst/>
          </a:prstGeom>
          <a:noFill/>
        </p:spPr>
        <p:txBody>
          <a:bodyPr wrap="square">
            <a:spAutoFit/>
          </a:bodyPr>
          <a:lstStyle/>
          <a:p>
            <a:pPr algn="l">
              <a:defRPr sz="950" b="1">
                <a:solidFill>
                  <a:srgbClr val="111827"/>
                </a:solidFill>
                <a:latin typeface="Calibri"/>
              </a:defRPr>
            </a:pPr>
            <a:r>
              <a:t>Unassigned</a:t>
            </a:r>
          </a:p>
        </p:txBody>
      </p:sp>
      <p:sp>
        <p:nvSpPr>
          <p:cNvPr id="139" name="TextBox 138"/>
          <p:cNvSpPr txBox="1"/>
          <p:nvPr/>
        </p:nvSpPr>
        <p:spPr>
          <a:xfrm>
            <a:off x="1691639" y="5632703"/>
            <a:ext cx="713232" cy="274320"/>
          </a:xfrm>
          <a:prstGeom prst="rect">
            <a:avLst/>
          </a:prstGeom>
          <a:noFill/>
        </p:spPr>
        <p:txBody>
          <a:bodyPr wrap="square">
            <a:spAutoFit/>
          </a:bodyPr>
          <a:lstStyle/>
          <a:p>
            <a:pPr algn="ctr">
              <a:defRPr sz="950" b="0">
                <a:solidFill>
                  <a:srgbClr val="6B7280"/>
                </a:solidFill>
                <a:latin typeface="Calibri"/>
              </a:defRPr>
            </a:pPr>
            <a:r>
              <a:t>217</a:t>
            </a:r>
          </a:p>
        </p:txBody>
      </p:sp>
      <p:sp>
        <p:nvSpPr>
          <p:cNvPr id="140" name="TextBox 139"/>
          <p:cNvSpPr txBox="1"/>
          <p:nvPr/>
        </p:nvSpPr>
        <p:spPr>
          <a:xfrm>
            <a:off x="2404872" y="5632703"/>
            <a:ext cx="621792" cy="274320"/>
          </a:xfrm>
          <a:prstGeom prst="rect">
            <a:avLst/>
          </a:prstGeom>
          <a:noFill/>
        </p:spPr>
        <p:txBody>
          <a:bodyPr wrap="square">
            <a:spAutoFit/>
          </a:bodyPr>
          <a:lstStyle/>
          <a:p>
            <a:pPr algn="ctr">
              <a:defRPr sz="950" b="0">
                <a:solidFill>
                  <a:srgbClr val="059669"/>
                </a:solidFill>
                <a:latin typeface="Calibri"/>
              </a:defRPr>
            </a:pPr>
            <a:r>
              <a:t>217</a:t>
            </a:r>
          </a:p>
        </p:txBody>
      </p:sp>
      <p:sp>
        <p:nvSpPr>
          <p:cNvPr id="141" name="TextBox 140"/>
          <p:cNvSpPr txBox="1"/>
          <p:nvPr/>
        </p:nvSpPr>
        <p:spPr>
          <a:xfrm>
            <a:off x="3026664" y="5632703"/>
            <a:ext cx="713232" cy="274320"/>
          </a:xfrm>
          <a:prstGeom prst="rect">
            <a:avLst/>
          </a:prstGeom>
          <a:noFill/>
        </p:spPr>
        <p:txBody>
          <a:bodyPr wrap="square">
            <a:spAutoFit/>
          </a:bodyPr>
          <a:lstStyle/>
          <a:p>
            <a:pPr algn="ctr">
              <a:defRPr sz="950" b="0">
                <a:solidFill>
                  <a:srgbClr val="6B7280"/>
                </a:solidFill>
                <a:latin typeface="Calibri"/>
              </a:defRPr>
            </a:pPr>
            <a:r>
              <a:t>—</a:t>
            </a:r>
          </a:p>
        </p:txBody>
      </p:sp>
      <p:sp>
        <p:nvSpPr>
          <p:cNvPr id="142" name="TextBox 141"/>
          <p:cNvSpPr txBox="1"/>
          <p:nvPr/>
        </p:nvSpPr>
        <p:spPr>
          <a:xfrm>
            <a:off x="3739896" y="5632703"/>
            <a:ext cx="621792" cy="274320"/>
          </a:xfrm>
          <a:prstGeom prst="rect">
            <a:avLst/>
          </a:prstGeom>
          <a:noFill/>
        </p:spPr>
        <p:txBody>
          <a:bodyPr wrap="square">
            <a:spAutoFit/>
          </a:bodyPr>
          <a:lstStyle/>
          <a:p>
            <a:pPr algn="ctr">
              <a:defRPr sz="950" b="0">
                <a:solidFill>
                  <a:srgbClr val="6B7280"/>
                </a:solidFill>
                <a:latin typeface="Calibri"/>
              </a:defRPr>
            </a:pPr>
            <a:r>
              <a:t>—</a:t>
            </a:r>
          </a:p>
        </p:txBody>
      </p:sp>
      <p:sp>
        <p:nvSpPr>
          <p:cNvPr id="143" name="TextBox 142"/>
          <p:cNvSpPr txBox="1"/>
          <p:nvPr/>
        </p:nvSpPr>
        <p:spPr>
          <a:xfrm>
            <a:off x="4361688" y="5632703"/>
            <a:ext cx="960120" cy="274320"/>
          </a:xfrm>
          <a:prstGeom prst="rect">
            <a:avLst/>
          </a:prstGeom>
          <a:noFill/>
        </p:spPr>
        <p:txBody>
          <a:bodyPr wrap="square">
            <a:spAutoFit/>
          </a:bodyPr>
          <a:lstStyle/>
          <a:p>
            <a:pPr algn="ctr">
              <a:defRPr sz="950" b="0">
                <a:solidFill>
                  <a:srgbClr val="6D28D9"/>
                </a:solidFill>
                <a:latin typeface="Calibri"/>
              </a:defRPr>
            </a:pPr>
            <a:r>
              <a:t>$11.7M</a:t>
            </a:r>
          </a:p>
        </p:txBody>
      </p:sp>
      <p:sp>
        <p:nvSpPr>
          <p:cNvPr id="144" name="TextBox 143"/>
          <p:cNvSpPr txBox="1"/>
          <p:nvPr/>
        </p:nvSpPr>
        <p:spPr>
          <a:xfrm>
            <a:off x="5321807" y="5632703"/>
            <a:ext cx="804672" cy="274320"/>
          </a:xfrm>
          <a:prstGeom prst="rect">
            <a:avLst/>
          </a:prstGeom>
          <a:noFill/>
        </p:spPr>
        <p:txBody>
          <a:bodyPr wrap="square">
            <a:spAutoFit/>
          </a:bodyPr>
          <a:lstStyle/>
          <a:p>
            <a:pPr algn="ctr">
              <a:defRPr sz="950" b="0">
                <a:solidFill>
                  <a:srgbClr val="111827"/>
                </a:solidFill>
                <a:latin typeface="Calibri"/>
              </a:defRPr>
            </a:pPr>
            <a:r>
              <a:t>7971</a:t>
            </a:r>
          </a:p>
        </p:txBody>
      </p:sp>
      <p:sp>
        <p:nvSpPr>
          <p:cNvPr id="145" name="TextBox 144"/>
          <p:cNvSpPr txBox="1"/>
          <p:nvPr/>
        </p:nvSpPr>
        <p:spPr>
          <a:xfrm>
            <a:off x="6126479" y="5632703"/>
            <a:ext cx="731520" cy="274320"/>
          </a:xfrm>
          <a:prstGeom prst="rect">
            <a:avLst/>
          </a:prstGeom>
          <a:noFill/>
        </p:spPr>
        <p:txBody>
          <a:bodyPr wrap="square">
            <a:spAutoFit/>
          </a:bodyPr>
          <a:lstStyle/>
          <a:p>
            <a:pPr algn="ctr">
              <a:defRPr sz="950" b="0">
                <a:solidFill>
                  <a:srgbClr val="111827"/>
                </a:solidFill>
                <a:latin typeface="Calibri"/>
              </a:defRPr>
            </a:pPr>
            <a:r>
              <a:t>310</a:t>
            </a:r>
          </a:p>
        </p:txBody>
      </p:sp>
      <p:sp>
        <p:nvSpPr>
          <p:cNvPr id="146" name="TextBox 145"/>
          <p:cNvSpPr txBox="1"/>
          <p:nvPr/>
        </p:nvSpPr>
        <p:spPr>
          <a:xfrm>
            <a:off x="6857999" y="5632703"/>
            <a:ext cx="960120" cy="274320"/>
          </a:xfrm>
          <a:prstGeom prst="rect">
            <a:avLst/>
          </a:prstGeom>
          <a:noFill/>
        </p:spPr>
        <p:txBody>
          <a:bodyPr wrap="square">
            <a:spAutoFit/>
          </a:bodyPr>
          <a:lstStyle/>
          <a:p>
            <a:pPr algn="ctr">
              <a:defRPr sz="950" b="0">
                <a:solidFill>
                  <a:srgbClr val="6D28D9"/>
                </a:solidFill>
                <a:latin typeface="Calibri"/>
              </a:defRPr>
            </a:pPr>
            <a:r>
              <a:t>$8.6M</a:t>
            </a:r>
          </a:p>
        </p:txBody>
      </p:sp>
      <p:sp>
        <p:nvSpPr>
          <p:cNvPr id="147" name="TextBox 146"/>
          <p:cNvSpPr txBox="1"/>
          <p:nvPr/>
        </p:nvSpPr>
        <p:spPr>
          <a:xfrm>
            <a:off x="7818119" y="5632703"/>
            <a:ext cx="804672" cy="274320"/>
          </a:xfrm>
          <a:prstGeom prst="rect">
            <a:avLst/>
          </a:prstGeom>
          <a:noFill/>
        </p:spPr>
        <p:txBody>
          <a:bodyPr wrap="square">
            <a:spAutoFit/>
          </a:bodyPr>
          <a:lstStyle/>
          <a:p>
            <a:pPr algn="ctr">
              <a:defRPr sz="950" b="0">
                <a:solidFill>
                  <a:srgbClr val="059669"/>
                </a:solidFill>
                <a:latin typeface="Calibri"/>
              </a:defRPr>
            </a:pPr>
            <a:r>
              <a:t>$1.6M</a:t>
            </a:r>
          </a:p>
        </p:txBody>
      </p:sp>
      <p:sp>
        <p:nvSpPr>
          <p:cNvPr id="148" name="TextBox 147"/>
          <p:cNvSpPr txBox="1"/>
          <p:nvPr/>
        </p:nvSpPr>
        <p:spPr>
          <a:xfrm>
            <a:off x="8622792" y="5632703"/>
            <a:ext cx="804672" cy="274320"/>
          </a:xfrm>
          <a:prstGeom prst="rect">
            <a:avLst/>
          </a:prstGeom>
          <a:noFill/>
        </p:spPr>
        <p:txBody>
          <a:bodyPr wrap="square">
            <a:spAutoFit/>
          </a:bodyPr>
          <a:lstStyle/>
          <a:p>
            <a:pPr algn="ctr">
              <a:defRPr sz="950" b="0">
                <a:solidFill>
                  <a:srgbClr val="DC2626"/>
                </a:solidFill>
                <a:latin typeface="Calibri"/>
              </a:defRPr>
            </a:pPr>
            <a:r>
              <a:t>$2.9M</a:t>
            </a:r>
          </a:p>
        </p:txBody>
      </p:sp>
      <p:sp>
        <p:nvSpPr>
          <p:cNvPr id="149" name="Rectangle 148"/>
          <p:cNvSpPr/>
          <p:nvPr/>
        </p:nvSpPr>
        <p:spPr>
          <a:xfrm>
            <a:off x="182880" y="6016751"/>
            <a:ext cx="3044952" cy="36576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82880" y="6016751"/>
            <a:ext cx="64008"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292608" y="6062471"/>
            <a:ext cx="594360" cy="146304"/>
          </a:xfrm>
          <a:prstGeom prst="rect">
            <a:avLst/>
          </a:prstGeom>
          <a:noFill/>
        </p:spPr>
        <p:txBody>
          <a:bodyPr wrap="none">
            <a:spAutoFit/>
          </a:bodyPr>
          <a:lstStyle/>
          <a:p>
            <a:pPr algn="l">
              <a:defRPr sz="900" b="1">
                <a:solidFill>
                  <a:srgbClr val="6D28D9"/>
                </a:solidFill>
                <a:latin typeface="Calibri"/>
              </a:defRPr>
            </a:pPr>
            <a:r>
              <a:t>BDMs</a:t>
            </a:r>
          </a:p>
        </p:txBody>
      </p:sp>
      <p:sp>
        <p:nvSpPr>
          <p:cNvPr id="152" name="TextBox 151"/>
          <p:cNvSpPr txBox="1"/>
          <p:nvPr/>
        </p:nvSpPr>
        <p:spPr>
          <a:xfrm>
            <a:off x="292608" y="6217919"/>
            <a:ext cx="2880360" cy="146304"/>
          </a:xfrm>
          <a:prstGeom prst="rect">
            <a:avLst/>
          </a:prstGeom>
          <a:noFill/>
        </p:spPr>
        <p:txBody>
          <a:bodyPr wrap="none">
            <a:spAutoFit/>
          </a:bodyPr>
          <a:lstStyle/>
          <a:p>
            <a:pPr algn="l">
              <a:defRPr sz="850" b="0">
                <a:solidFill>
                  <a:srgbClr val="FFFFFF"/>
                </a:solidFill>
                <a:latin typeface="Calibri"/>
              </a:defRPr>
            </a:pPr>
            <a:r>
              <a:t>182 portfolio  ·  181 active  ·  1 dormant</a:t>
            </a:r>
          </a:p>
        </p:txBody>
      </p:sp>
      <p:sp>
        <p:nvSpPr>
          <p:cNvPr id="153" name="Rectangle 152"/>
          <p:cNvSpPr/>
          <p:nvPr/>
        </p:nvSpPr>
        <p:spPr>
          <a:xfrm>
            <a:off x="3282696" y="6016751"/>
            <a:ext cx="3044952" cy="36576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3282696" y="6016751"/>
            <a:ext cx="64008" cy="365760"/>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3392424" y="6062471"/>
            <a:ext cx="594360" cy="146304"/>
          </a:xfrm>
          <a:prstGeom prst="rect">
            <a:avLst/>
          </a:prstGeom>
          <a:noFill/>
        </p:spPr>
        <p:txBody>
          <a:bodyPr wrap="none">
            <a:spAutoFit/>
          </a:bodyPr>
          <a:lstStyle/>
          <a:p>
            <a:pPr algn="l">
              <a:defRPr sz="900" b="1">
                <a:solidFill>
                  <a:srgbClr val="065F46"/>
                </a:solidFill>
                <a:latin typeface="Calibri"/>
              </a:defRPr>
            </a:pPr>
            <a:r>
              <a:t>BDAs</a:t>
            </a:r>
          </a:p>
        </p:txBody>
      </p:sp>
      <p:sp>
        <p:nvSpPr>
          <p:cNvPr id="156" name="TextBox 155"/>
          <p:cNvSpPr txBox="1"/>
          <p:nvPr/>
        </p:nvSpPr>
        <p:spPr>
          <a:xfrm>
            <a:off x="3392424" y="6217919"/>
            <a:ext cx="2880360" cy="146304"/>
          </a:xfrm>
          <a:prstGeom prst="rect">
            <a:avLst/>
          </a:prstGeom>
          <a:noFill/>
        </p:spPr>
        <p:txBody>
          <a:bodyPr wrap="none">
            <a:spAutoFit/>
          </a:bodyPr>
          <a:lstStyle/>
          <a:p>
            <a:pPr algn="l">
              <a:defRPr sz="850" b="0">
                <a:solidFill>
                  <a:srgbClr val="FFFFFF"/>
                </a:solidFill>
                <a:latin typeface="Calibri"/>
              </a:defRPr>
            </a:pPr>
            <a:r>
              <a:t>220 portfolio  ·  207 active  ·  13 dormant</a:t>
            </a:r>
          </a:p>
        </p:txBody>
      </p:sp>
      <p:sp>
        <p:nvSpPr>
          <p:cNvPr id="157" name="Rectangle 156"/>
          <p:cNvSpPr/>
          <p:nvPr/>
        </p:nvSpPr>
        <p:spPr>
          <a:xfrm>
            <a:off x="6382512" y="6016751"/>
            <a:ext cx="3044952" cy="36576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6382512" y="6016751"/>
            <a:ext cx="64008" cy="365760"/>
          </a:xfrm>
          <a:prstGeom prst="rect">
            <a:avLst/>
          </a:prstGeom>
          <a:solidFill>
            <a:srgbClr val="A0A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492240" y="6062471"/>
            <a:ext cx="594360" cy="146304"/>
          </a:xfrm>
          <a:prstGeom prst="rect">
            <a:avLst/>
          </a:prstGeom>
          <a:noFill/>
        </p:spPr>
        <p:txBody>
          <a:bodyPr wrap="none">
            <a:spAutoFit/>
          </a:bodyPr>
          <a:lstStyle/>
          <a:p>
            <a:pPr algn="l">
              <a:defRPr sz="900" b="1">
                <a:solidFill>
                  <a:srgbClr val="A0AEC0"/>
                </a:solidFill>
                <a:latin typeface="Calibri"/>
              </a:defRPr>
            </a:pPr>
            <a:r>
              <a:t>TEAM</a:t>
            </a:r>
          </a:p>
        </p:txBody>
      </p:sp>
      <p:sp>
        <p:nvSpPr>
          <p:cNvPr id="160" name="TextBox 159"/>
          <p:cNvSpPr txBox="1"/>
          <p:nvPr/>
        </p:nvSpPr>
        <p:spPr>
          <a:xfrm>
            <a:off x="6492240" y="6217919"/>
            <a:ext cx="2880360" cy="146304"/>
          </a:xfrm>
          <a:prstGeom prst="rect">
            <a:avLst/>
          </a:prstGeom>
          <a:noFill/>
        </p:spPr>
        <p:txBody>
          <a:bodyPr wrap="none">
            <a:spAutoFit/>
          </a:bodyPr>
          <a:lstStyle/>
          <a:p>
            <a:pPr algn="l">
              <a:defRPr sz="850" b="0">
                <a:solidFill>
                  <a:srgbClr val="FFFFFF"/>
                </a:solidFill>
                <a:latin typeface="Calibri"/>
              </a:defRPr>
            </a:pPr>
            <a:r>
              <a:t>402 portfolio  ·  388 active  ·  97% engaged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Dormant Agencies  |  Detail by Rep  —  Retail Only</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Retail-vertical agencies in each rep's HubSpot portfolio with zero 2026 submissions  |  Refreshed 2026-05-29</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29, 2026</a:t>
            </a:r>
          </a:p>
        </p:txBody>
      </p:sp>
      <p:sp>
        <p:nvSpPr>
          <p:cNvPr id="6" name="TextBox 5"/>
          <p:cNvSpPr txBox="1"/>
          <p:nvPr/>
        </p:nvSpPr>
        <p:spPr>
          <a:xfrm>
            <a:off x="274320" y="868680"/>
            <a:ext cx="5623560" cy="274320"/>
          </a:xfrm>
          <a:prstGeom prst="rect">
            <a:avLst/>
          </a:prstGeom>
          <a:noFill/>
        </p:spPr>
        <p:txBody>
          <a:bodyPr wrap="none">
            <a:spAutoFit/>
          </a:bodyPr>
          <a:lstStyle/>
          <a:p>
            <a:pPr algn="l">
              <a:defRPr sz="1300" b="1">
                <a:solidFill>
                  <a:srgbClr val="4C1D95"/>
                </a:solidFill>
                <a:latin typeface="Georgia"/>
              </a:defRPr>
            </a:pPr>
            <a:r>
              <a:t>BDMs  (1 reps with dormant agencies)</a:t>
            </a:r>
          </a:p>
        </p:txBody>
      </p:sp>
      <p:sp>
        <p:nvSpPr>
          <p:cNvPr id="7" name="TextBox 6"/>
          <p:cNvSpPr txBox="1"/>
          <p:nvPr/>
        </p:nvSpPr>
        <p:spPr>
          <a:xfrm>
            <a:off x="6263640" y="868680"/>
            <a:ext cx="5623560" cy="274320"/>
          </a:xfrm>
          <a:prstGeom prst="rect">
            <a:avLst/>
          </a:prstGeom>
          <a:noFill/>
        </p:spPr>
        <p:txBody>
          <a:bodyPr wrap="none">
            <a:spAutoFit/>
          </a:bodyPr>
          <a:lstStyle/>
          <a:p>
            <a:pPr algn="l">
              <a:defRPr sz="1300" b="1">
                <a:solidFill>
                  <a:srgbClr val="4C1D95"/>
                </a:solidFill>
                <a:latin typeface="Georgia"/>
              </a:defRPr>
            </a:pPr>
            <a:r>
              <a:t>BDAs  (4 reps with dormant agencies)</a:t>
            </a:r>
          </a:p>
        </p:txBody>
      </p:sp>
      <p:sp>
        <p:nvSpPr>
          <p:cNvPr id="8" name="Rectangle 7"/>
          <p:cNvSpPr/>
          <p:nvPr/>
        </p:nvSpPr>
        <p:spPr>
          <a:xfrm>
            <a:off x="274320" y="1280160"/>
            <a:ext cx="5623560" cy="6766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280160"/>
            <a:ext cx="54864" cy="67665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3" y="1316736"/>
            <a:ext cx="4251960" cy="219456"/>
          </a:xfrm>
          <a:prstGeom prst="rect">
            <a:avLst/>
          </a:prstGeom>
          <a:noFill/>
        </p:spPr>
        <p:txBody>
          <a:bodyPr wrap="none">
            <a:spAutoFit/>
          </a:bodyPr>
          <a:lstStyle/>
          <a:p>
            <a:pPr algn="l">
              <a:defRPr sz="1100" b="1">
                <a:solidFill>
                  <a:srgbClr val="111827"/>
                </a:solidFill>
                <a:latin typeface="Calibri"/>
              </a:defRPr>
            </a:pPr>
            <a:r>
              <a:t>Derrick Leroy</a:t>
            </a:r>
          </a:p>
        </p:txBody>
      </p:sp>
      <p:sp>
        <p:nvSpPr>
          <p:cNvPr id="11" name="TextBox 10"/>
          <p:cNvSpPr txBox="1"/>
          <p:nvPr/>
        </p:nvSpPr>
        <p:spPr>
          <a:xfrm>
            <a:off x="4663440" y="1335024"/>
            <a:ext cx="1097280" cy="201168"/>
          </a:xfrm>
          <a:prstGeom prst="rect">
            <a:avLst/>
          </a:prstGeom>
          <a:noFill/>
        </p:spPr>
        <p:txBody>
          <a:bodyPr wrap="none">
            <a:spAutoFit/>
          </a:bodyPr>
          <a:lstStyle/>
          <a:p>
            <a:pPr algn="r">
              <a:defRPr sz="900" b="1">
                <a:solidFill>
                  <a:srgbClr val="D97706"/>
                </a:solidFill>
                <a:latin typeface="Calibri"/>
              </a:defRPr>
            </a:pPr>
            <a:r>
              <a:t>1 dormant</a:t>
            </a:r>
          </a:p>
        </p:txBody>
      </p:sp>
      <p:sp>
        <p:nvSpPr>
          <p:cNvPr id="12" name="TextBox 11"/>
          <p:cNvSpPr txBox="1"/>
          <p:nvPr/>
        </p:nvSpPr>
        <p:spPr>
          <a:xfrm>
            <a:off x="420623" y="1517904"/>
            <a:ext cx="5349240" cy="146304"/>
          </a:xfrm>
          <a:prstGeom prst="rect">
            <a:avLst/>
          </a:prstGeom>
          <a:noFill/>
        </p:spPr>
        <p:txBody>
          <a:bodyPr wrap="none">
            <a:spAutoFit/>
          </a:bodyPr>
          <a:lstStyle/>
          <a:p>
            <a:pPr algn="l">
              <a:defRPr sz="900" b="0">
                <a:solidFill>
                  <a:srgbClr val="6B7280"/>
                </a:solidFill>
                <a:latin typeface="Calibri"/>
              </a:defRPr>
            </a:pPr>
            <a:r>
              <a:t>1 of 28 agencies dormant</a:t>
            </a:r>
          </a:p>
        </p:txBody>
      </p:sp>
      <p:sp>
        <p:nvSpPr>
          <p:cNvPr id="13" name="TextBox 12"/>
          <p:cNvSpPr txBox="1"/>
          <p:nvPr/>
        </p:nvSpPr>
        <p:spPr>
          <a:xfrm>
            <a:off x="457200" y="1682495"/>
            <a:ext cx="91440" cy="164592"/>
          </a:xfrm>
          <a:prstGeom prst="rect">
            <a:avLst/>
          </a:prstGeom>
          <a:noFill/>
        </p:spPr>
        <p:txBody>
          <a:bodyPr wrap="none">
            <a:spAutoFit/>
          </a:bodyPr>
          <a:lstStyle/>
          <a:p>
            <a:pPr algn="l">
              <a:defRPr sz="900" b="1">
                <a:solidFill>
                  <a:srgbClr val="D97706"/>
                </a:solidFill>
                <a:latin typeface="Calibri"/>
              </a:defRPr>
            </a:pPr>
            <a:r>
              <a:t>•</a:t>
            </a:r>
          </a:p>
        </p:txBody>
      </p:sp>
      <p:sp>
        <p:nvSpPr>
          <p:cNvPr id="14" name="TextBox 13"/>
          <p:cNvSpPr txBox="1"/>
          <p:nvPr/>
        </p:nvSpPr>
        <p:spPr>
          <a:xfrm>
            <a:off x="585216" y="1664207"/>
            <a:ext cx="5221224" cy="182880"/>
          </a:xfrm>
          <a:prstGeom prst="rect">
            <a:avLst/>
          </a:prstGeom>
          <a:noFill/>
        </p:spPr>
        <p:txBody>
          <a:bodyPr wrap="none">
            <a:spAutoFit/>
          </a:bodyPr>
          <a:lstStyle/>
          <a:p>
            <a:pPr algn="l">
              <a:defRPr sz="1000" b="0">
                <a:solidFill>
                  <a:srgbClr val="374151"/>
                </a:solidFill>
                <a:latin typeface="Calibri"/>
              </a:defRPr>
            </a:pPr>
            <a:r>
              <a:t>Eagles Insurnace Agency Llc</a:t>
            </a:r>
          </a:p>
        </p:txBody>
      </p:sp>
      <p:sp>
        <p:nvSpPr>
          <p:cNvPr id="15" name="Rectangle 14"/>
          <p:cNvSpPr/>
          <p:nvPr/>
        </p:nvSpPr>
        <p:spPr>
          <a:xfrm>
            <a:off x="6263640" y="1280160"/>
            <a:ext cx="5623560" cy="6766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280160"/>
            <a:ext cx="54864" cy="67665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1316736"/>
            <a:ext cx="4251960" cy="219456"/>
          </a:xfrm>
          <a:prstGeom prst="rect">
            <a:avLst/>
          </a:prstGeom>
          <a:noFill/>
        </p:spPr>
        <p:txBody>
          <a:bodyPr wrap="none">
            <a:spAutoFit/>
          </a:bodyPr>
          <a:lstStyle/>
          <a:p>
            <a:pPr algn="l">
              <a:defRPr sz="1100" b="1">
                <a:solidFill>
                  <a:srgbClr val="111827"/>
                </a:solidFill>
                <a:latin typeface="Calibri"/>
              </a:defRPr>
            </a:pPr>
            <a:r>
              <a:t>Cameron Brader</a:t>
            </a:r>
          </a:p>
        </p:txBody>
      </p:sp>
      <p:sp>
        <p:nvSpPr>
          <p:cNvPr id="18" name="TextBox 17"/>
          <p:cNvSpPr txBox="1"/>
          <p:nvPr/>
        </p:nvSpPr>
        <p:spPr>
          <a:xfrm>
            <a:off x="10652760" y="1335024"/>
            <a:ext cx="1097280" cy="201168"/>
          </a:xfrm>
          <a:prstGeom prst="rect">
            <a:avLst/>
          </a:prstGeom>
          <a:noFill/>
        </p:spPr>
        <p:txBody>
          <a:bodyPr wrap="none">
            <a:spAutoFit/>
          </a:bodyPr>
          <a:lstStyle/>
          <a:p>
            <a:pPr algn="r">
              <a:defRPr sz="900" b="1">
                <a:solidFill>
                  <a:srgbClr val="D97706"/>
                </a:solidFill>
                <a:latin typeface="Calibri"/>
              </a:defRPr>
            </a:pPr>
            <a:r>
              <a:t>1 dormant</a:t>
            </a:r>
          </a:p>
        </p:txBody>
      </p:sp>
      <p:sp>
        <p:nvSpPr>
          <p:cNvPr id="19" name="TextBox 18"/>
          <p:cNvSpPr txBox="1"/>
          <p:nvPr/>
        </p:nvSpPr>
        <p:spPr>
          <a:xfrm>
            <a:off x="6409944" y="1517904"/>
            <a:ext cx="5349240" cy="146304"/>
          </a:xfrm>
          <a:prstGeom prst="rect">
            <a:avLst/>
          </a:prstGeom>
          <a:noFill/>
        </p:spPr>
        <p:txBody>
          <a:bodyPr wrap="none">
            <a:spAutoFit/>
          </a:bodyPr>
          <a:lstStyle/>
          <a:p>
            <a:pPr algn="l">
              <a:defRPr sz="900" b="0">
                <a:solidFill>
                  <a:srgbClr val="6B7280"/>
                </a:solidFill>
                <a:latin typeface="Calibri"/>
              </a:defRPr>
            </a:pPr>
            <a:r>
              <a:t>1 of 50 agencies dormant</a:t>
            </a:r>
          </a:p>
        </p:txBody>
      </p:sp>
      <p:sp>
        <p:nvSpPr>
          <p:cNvPr id="20" name="TextBox 19"/>
          <p:cNvSpPr txBox="1"/>
          <p:nvPr/>
        </p:nvSpPr>
        <p:spPr>
          <a:xfrm>
            <a:off x="6446520" y="1682495"/>
            <a:ext cx="91440" cy="164592"/>
          </a:xfrm>
          <a:prstGeom prst="rect">
            <a:avLst/>
          </a:prstGeom>
          <a:noFill/>
        </p:spPr>
        <p:txBody>
          <a:bodyPr wrap="none">
            <a:spAutoFit/>
          </a:bodyPr>
          <a:lstStyle/>
          <a:p>
            <a:pPr algn="l">
              <a:defRPr sz="900" b="1">
                <a:solidFill>
                  <a:srgbClr val="D97706"/>
                </a:solidFill>
                <a:latin typeface="Calibri"/>
              </a:defRPr>
            </a:pPr>
            <a:r>
              <a:t>•</a:t>
            </a:r>
          </a:p>
        </p:txBody>
      </p:sp>
      <p:sp>
        <p:nvSpPr>
          <p:cNvPr id="21" name="TextBox 20"/>
          <p:cNvSpPr txBox="1"/>
          <p:nvPr/>
        </p:nvSpPr>
        <p:spPr>
          <a:xfrm>
            <a:off x="6574536" y="1664207"/>
            <a:ext cx="5221224" cy="182880"/>
          </a:xfrm>
          <a:prstGeom prst="rect">
            <a:avLst/>
          </a:prstGeom>
          <a:noFill/>
        </p:spPr>
        <p:txBody>
          <a:bodyPr wrap="none">
            <a:spAutoFit/>
          </a:bodyPr>
          <a:lstStyle/>
          <a:p>
            <a:pPr algn="l">
              <a:defRPr sz="1000" b="0">
                <a:solidFill>
                  <a:srgbClr val="374151"/>
                </a:solidFill>
                <a:latin typeface="Calibri"/>
              </a:defRPr>
            </a:pPr>
            <a:r>
              <a:t>Trinity Ins Services Llc</a:t>
            </a:r>
          </a:p>
        </p:txBody>
      </p:sp>
      <p:sp>
        <p:nvSpPr>
          <p:cNvPr id="22" name="Rectangle 21"/>
          <p:cNvSpPr/>
          <p:nvPr/>
        </p:nvSpPr>
        <p:spPr>
          <a:xfrm>
            <a:off x="6263640" y="2048255"/>
            <a:ext cx="5623560" cy="1014984"/>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2048255"/>
            <a:ext cx="54864" cy="101498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9944" y="2084831"/>
            <a:ext cx="4251960" cy="219456"/>
          </a:xfrm>
          <a:prstGeom prst="rect">
            <a:avLst/>
          </a:prstGeom>
          <a:noFill/>
        </p:spPr>
        <p:txBody>
          <a:bodyPr wrap="none">
            <a:spAutoFit/>
          </a:bodyPr>
          <a:lstStyle/>
          <a:p>
            <a:pPr algn="l">
              <a:defRPr sz="1100" b="1">
                <a:solidFill>
                  <a:srgbClr val="111827"/>
                </a:solidFill>
                <a:latin typeface="Calibri"/>
              </a:defRPr>
            </a:pPr>
            <a:r>
              <a:t>Erika Cabrera</a:t>
            </a:r>
          </a:p>
        </p:txBody>
      </p:sp>
      <p:sp>
        <p:nvSpPr>
          <p:cNvPr id="25" name="TextBox 24"/>
          <p:cNvSpPr txBox="1"/>
          <p:nvPr/>
        </p:nvSpPr>
        <p:spPr>
          <a:xfrm>
            <a:off x="10652760" y="2103120"/>
            <a:ext cx="1097280" cy="201168"/>
          </a:xfrm>
          <a:prstGeom prst="rect">
            <a:avLst/>
          </a:prstGeom>
          <a:noFill/>
        </p:spPr>
        <p:txBody>
          <a:bodyPr wrap="none">
            <a:spAutoFit/>
          </a:bodyPr>
          <a:lstStyle/>
          <a:p>
            <a:pPr algn="r">
              <a:defRPr sz="900" b="1">
                <a:solidFill>
                  <a:srgbClr val="EA580C"/>
                </a:solidFill>
                <a:latin typeface="Calibri"/>
              </a:defRPr>
            </a:pPr>
            <a:r>
              <a:t>3 dormant</a:t>
            </a:r>
          </a:p>
        </p:txBody>
      </p:sp>
      <p:sp>
        <p:nvSpPr>
          <p:cNvPr id="26" name="TextBox 25"/>
          <p:cNvSpPr txBox="1"/>
          <p:nvPr/>
        </p:nvSpPr>
        <p:spPr>
          <a:xfrm>
            <a:off x="6409944" y="2286000"/>
            <a:ext cx="5349240" cy="146304"/>
          </a:xfrm>
          <a:prstGeom prst="rect">
            <a:avLst/>
          </a:prstGeom>
          <a:noFill/>
        </p:spPr>
        <p:txBody>
          <a:bodyPr wrap="none">
            <a:spAutoFit/>
          </a:bodyPr>
          <a:lstStyle/>
          <a:p>
            <a:pPr algn="l">
              <a:defRPr sz="900" b="0">
                <a:solidFill>
                  <a:srgbClr val="6B7280"/>
                </a:solidFill>
                <a:latin typeface="Calibri"/>
              </a:defRPr>
            </a:pPr>
            <a:r>
              <a:t>3 of 45 agencies dormant</a:t>
            </a:r>
          </a:p>
        </p:txBody>
      </p:sp>
      <p:sp>
        <p:nvSpPr>
          <p:cNvPr id="27" name="TextBox 26"/>
          <p:cNvSpPr txBox="1"/>
          <p:nvPr/>
        </p:nvSpPr>
        <p:spPr>
          <a:xfrm>
            <a:off x="6446520" y="2450591"/>
            <a:ext cx="91440" cy="164592"/>
          </a:xfrm>
          <a:prstGeom prst="rect">
            <a:avLst/>
          </a:prstGeom>
          <a:noFill/>
        </p:spPr>
        <p:txBody>
          <a:bodyPr wrap="none">
            <a:spAutoFit/>
          </a:bodyPr>
          <a:lstStyle/>
          <a:p>
            <a:pPr algn="l">
              <a:defRPr sz="900" b="1">
                <a:solidFill>
                  <a:srgbClr val="EA580C"/>
                </a:solidFill>
                <a:latin typeface="Calibri"/>
              </a:defRPr>
            </a:pPr>
            <a:r>
              <a:t>•</a:t>
            </a:r>
          </a:p>
        </p:txBody>
      </p:sp>
      <p:sp>
        <p:nvSpPr>
          <p:cNvPr id="28" name="TextBox 27"/>
          <p:cNvSpPr txBox="1"/>
          <p:nvPr/>
        </p:nvSpPr>
        <p:spPr>
          <a:xfrm>
            <a:off x="6574536" y="2432303"/>
            <a:ext cx="5221224" cy="182880"/>
          </a:xfrm>
          <a:prstGeom prst="rect">
            <a:avLst/>
          </a:prstGeom>
          <a:noFill/>
        </p:spPr>
        <p:txBody>
          <a:bodyPr wrap="none">
            <a:spAutoFit/>
          </a:bodyPr>
          <a:lstStyle/>
          <a:p>
            <a:pPr algn="l">
              <a:defRPr sz="1000" b="0">
                <a:solidFill>
                  <a:srgbClr val="374151"/>
                </a:solidFill>
                <a:latin typeface="Calibri"/>
              </a:defRPr>
            </a:pPr>
            <a:r>
              <a:t>J.c.a. Consultant, Inc.</a:t>
            </a:r>
          </a:p>
        </p:txBody>
      </p:sp>
      <p:sp>
        <p:nvSpPr>
          <p:cNvPr id="29" name="TextBox 28"/>
          <p:cNvSpPr txBox="1"/>
          <p:nvPr/>
        </p:nvSpPr>
        <p:spPr>
          <a:xfrm>
            <a:off x="6446520" y="2624327"/>
            <a:ext cx="91440" cy="164592"/>
          </a:xfrm>
          <a:prstGeom prst="rect">
            <a:avLst/>
          </a:prstGeom>
          <a:noFill/>
        </p:spPr>
        <p:txBody>
          <a:bodyPr wrap="none">
            <a:spAutoFit/>
          </a:bodyPr>
          <a:lstStyle/>
          <a:p>
            <a:pPr algn="l">
              <a:defRPr sz="900" b="1">
                <a:solidFill>
                  <a:srgbClr val="EA580C"/>
                </a:solidFill>
                <a:latin typeface="Calibri"/>
              </a:defRPr>
            </a:pPr>
            <a:r>
              <a:t>•</a:t>
            </a:r>
          </a:p>
        </p:txBody>
      </p:sp>
      <p:sp>
        <p:nvSpPr>
          <p:cNvPr id="30" name="TextBox 29"/>
          <p:cNvSpPr txBox="1"/>
          <p:nvPr/>
        </p:nvSpPr>
        <p:spPr>
          <a:xfrm>
            <a:off x="6574536" y="2606039"/>
            <a:ext cx="5221224" cy="182880"/>
          </a:xfrm>
          <a:prstGeom prst="rect">
            <a:avLst/>
          </a:prstGeom>
          <a:noFill/>
        </p:spPr>
        <p:txBody>
          <a:bodyPr wrap="none">
            <a:spAutoFit/>
          </a:bodyPr>
          <a:lstStyle/>
          <a:p>
            <a:pPr algn="l">
              <a:defRPr sz="1000" b="0">
                <a:solidFill>
                  <a:srgbClr val="374151"/>
                </a:solidFill>
                <a:latin typeface="Calibri"/>
              </a:defRPr>
            </a:pPr>
            <a:r>
              <a:t>Simplex Group</a:t>
            </a:r>
          </a:p>
        </p:txBody>
      </p:sp>
      <p:sp>
        <p:nvSpPr>
          <p:cNvPr id="31" name="TextBox 30"/>
          <p:cNvSpPr txBox="1"/>
          <p:nvPr/>
        </p:nvSpPr>
        <p:spPr>
          <a:xfrm>
            <a:off x="6446520" y="2798063"/>
            <a:ext cx="91440" cy="164592"/>
          </a:xfrm>
          <a:prstGeom prst="rect">
            <a:avLst/>
          </a:prstGeom>
          <a:noFill/>
        </p:spPr>
        <p:txBody>
          <a:bodyPr wrap="none">
            <a:spAutoFit/>
          </a:bodyPr>
          <a:lstStyle/>
          <a:p>
            <a:pPr algn="l">
              <a:defRPr sz="900" b="1">
                <a:solidFill>
                  <a:srgbClr val="EA580C"/>
                </a:solidFill>
                <a:latin typeface="Calibri"/>
              </a:defRPr>
            </a:pPr>
            <a:r>
              <a:t>•</a:t>
            </a:r>
          </a:p>
        </p:txBody>
      </p:sp>
      <p:sp>
        <p:nvSpPr>
          <p:cNvPr id="32" name="TextBox 31"/>
          <p:cNvSpPr txBox="1"/>
          <p:nvPr/>
        </p:nvSpPr>
        <p:spPr>
          <a:xfrm>
            <a:off x="6574536" y="2779775"/>
            <a:ext cx="5221224" cy="182880"/>
          </a:xfrm>
          <a:prstGeom prst="rect">
            <a:avLst/>
          </a:prstGeom>
          <a:noFill/>
        </p:spPr>
        <p:txBody>
          <a:bodyPr wrap="none">
            <a:spAutoFit/>
          </a:bodyPr>
          <a:lstStyle/>
          <a:p>
            <a:pPr algn="l">
              <a:defRPr sz="1000" b="0">
                <a:solidFill>
                  <a:srgbClr val="374151"/>
                </a:solidFill>
                <a:latin typeface="Calibri"/>
              </a:defRPr>
            </a:pPr>
            <a:r>
              <a:t>True Coverage Insurance Agency, Llc</a:t>
            </a:r>
          </a:p>
        </p:txBody>
      </p:sp>
      <p:sp>
        <p:nvSpPr>
          <p:cNvPr id="33" name="Rectangle 32"/>
          <p:cNvSpPr/>
          <p:nvPr/>
        </p:nvSpPr>
        <p:spPr>
          <a:xfrm>
            <a:off x="6263640" y="3154680"/>
            <a:ext cx="5623560" cy="1536192"/>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63640" y="3154680"/>
            <a:ext cx="54864" cy="1536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9944" y="3191256"/>
            <a:ext cx="4251960" cy="219456"/>
          </a:xfrm>
          <a:prstGeom prst="rect">
            <a:avLst/>
          </a:prstGeom>
          <a:noFill/>
        </p:spPr>
        <p:txBody>
          <a:bodyPr wrap="none">
            <a:spAutoFit/>
          </a:bodyPr>
          <a:lstStyle/>
          <a:p>
            <a:pPr algn="l">
              <a:defRPr sz="1100" b="1">
                <a:solidFill>
                  <a:srgbClr val="111827"/>
                </a:solidFill>
                <a:latin typeface="Calibri"/>
              </a:defRPr>
            </a:pPr>
            <a:r>
              <a:t>Portia Lewis</a:t>
            </a:r>
          </a:p>
        </p:txBody>
      </p:sp>
      <p:sp>
        <p:nvSpPr>
          <p:cNvPr id="36" name="TextBox 35"/>
          <p:cNvSpPr txBox="1"/>
          <p:nvPr/>
        </p:nvSpPr>
        <p:spPr>
          <a:xfrm>
            <a:off x="10652760" y="3209544"/>
            <a:ext cx="1097280" cy="201168"/>
          </a:xfrm>
          <a:prstGeom prst="rect">
            <a:avLst/>
          </a:prstGeom>
          <a:noFill/>
        </p:spPr>
        <p:txBody>
          <a:bodyPr wrap="none">
            <a:spAutoFit/>
          </a:bodyPr>
          <a:lstStyle/>
          <a:p>
            <a:pPr algn="r">
              <a:defRPr sz="900" b="1">
                <a:solidFill>
                  <a:srgbClr val="DC2626"/>
                </a:solidFill>
                <a:latin typeface="Calibri"/>
              </a:defRPr>
            </a:pPr>
            <a:r>
              <a:t>6 dormant</a:t>
            </a:r>
          </a:p>
        </p:txBody>
      </p:sp>
      <p:sp>
        <p:nvSpPr>
          <p:cNvPr id="37" name="TextBox 36"/>
          <p:cNvSpPr txBox="1"/>
          <p:nvPr/>
        </p:nvSpPr>
        <p:spPr>
          <a:xfrm>
            <a:off x="6409944" y="3392424"/>
            <a:ext cx="5349240" cy="146304"/>
          </a:xfrm>
          <a:prstGeom prst="rect">
            <a:avLst/>
          </a:prstGeom>
          <a:noFill/>
        </p:spPr>
        <p:txBody>
          <a:bodyPr wrap="none">
            <a:spAutoFit/>
          </a:bodyPr>
          <a:lstStyle/>
          <a:p>
            <a:pPr algn="l">
              <a:defRPr sz="900" b="0">
                <a:solidFill>
                  <a:srgbClr val="6B7280"/>
                </a:solidFill>
                <a:latin typeface="Calibri"/>
              </a:defRPr>
            </a:pPr>
            <a:r>
              <a:t>6 of 53 agencies dormant</a:t>
            </a:r>
          </a:p>
        </p:txBody>
      </p:sp>
      <p:sp>
        <p:nvSpPr>
          <p:cNvPr id="38" name="TextBox 37"/>
          <p:cNvSpPr txBox="1"/>
          <p:nvPr/>
        </p:nvSpPr>
        <p:spPr>
          <a:xfrm>
            <a:off x="6446520" y="3557016"/>
            <a:ext cx="91440" cy="164592"/>
          </a:xfrm>
          <a:prstGeom prst="rect">
            <a:avLst/>
          </a:prstGeom>
          <a:noFill/>
        </p:spPr>
        <p:txBody>
          <a:bodyPr wrap="none">
            <a:spAutoFit/>
          </a:bodyPr>
          <a:lstStyle/>
          <a:p>
            <a:pPr algn="l">
              <a:defRPr sz="900" b="1">
                <a:solidFill>
                  <a:srgbClr val="DC2626"/>
                </a:solidFill>
                <a:latin typeface="Calibri"/>
              </a:defRPr>
            </a:pPr>
            <a:r>
              <a:t>•</a:t>
            </a:r>
          </a:p>
        </p:txBody>
      </p:sp>
      <p:sp>
        <p:nvSpPr>
          <p:cNvPr id="39" name="TextBox 38"/>
          <p:cNvSpPr txBox="1"/>
          <p:nvPr/>
        </p:nvSpPr>
        <p:spPr>
          <a:xfrm>
            <a:off x="6574536" y="3538728"/>
            <a:ext cx="5221224" cy="182880"/>
          </a:xfrm>
          <a:prstGeom prst="rect">
            <a:avLst/>
          </a:prstGeom>
          <a:noFill/>
        </p:spPr>
        <p:txBody>
          <a:bodyPr wrap="none">
            <a:spAutoFit/>
          </a:bodyPr>
          <a:lstStyle/>
          <a:p>
            <a:pPr algn="l">
              <a:defRPr sz="1000" b="0">
                <a:solidFill>
                  <a:srgbClr val="374151"/>
                </a:solidFill>
                <a:latin typeface="Calibri"/>
              </a:defRPr>
            </a:pPr>
            <a:r>
              <a:t>Allstars Insurance Partners, Inc</a:t>
            </a:r>
          </a:p>
        </p:txBody>
      </p:sp>
      <p:sp>
        <p:nvSpPr>
          <p:cNvPr id="40" name="TextBox 39"/>
          <p:cNvSpPr txBox="1"/>
          <p:nvPr/>
        </p:nvSpPr>
        <p:spPr>
          <a:xfrm>
            <a:off x="6446520" y="3730752"/>
            <a:ext cx="91440" cy="164592"/>
          </a:xfrm>
          <a:prstGeom prst="rect">
            <a:avLst/>
          </a:prstGeom>
          <a:noFill/>
        </p:spPr>
        <p:txBody>
          <a:bodyPr wrap="none">
            <a:spAutoFit/>
          </a:bodyPr>
          <a:lstStyle/>
          <a:p>
            <a:pPr algn="l">
              <a:defRPr sz="900" b="1">
                <a:solidFill>
                  <a:srgbClr val="DC2626"/>
                </a:solidFill>
                <a:latin typeface="Calibri"/>
              </a:defRPr>
            </a:pPr>
            <a:r>
              <a:t>•</a:t>
            </a:r>
          </a:p>
        </p:txBody>
      </p:sp>
      <p:sp>
        <p:nvSpPr>
          <p:cNvPr id="41" name="TextBox 40"/>
          <p:cNvSpPr txBox="1"/>
          <p:nvPr/>
        </p:nvSpPr>
        <p:spPr>
          <a:xfrm>
            <a:off x="6574536" y="3712464"/>
            <a:ext cx="5221224" cy="182880"/>
          </a:xfrm>
          <a:prstGeom prst="rect">
            <a:avLst/>
          </a:prstGeom>
          <a:noFill/>
        </p:spPr>
        <p:txBody>
          <a:bodyPr wrap="none">
            <a:spAutoFit/>
          </a:bodyPr>
          <a:lstStyle/>
          <a:p>
            <a:pPr algn="l">
              <a:defRPr sz="1000" b="0">
                <a:solidFill>
                  <a:srgbClr val="374151"/>
                </a:solidFill>
                <a:latin typeface="Calibri"/>
              </a:defRPr>
            </a:pPr>
            <a:r>
              <a:t>Assured Insurance Consultants, LLC</a:t>
            </a:r>
          </a:p>
        </p:txBody>
      </p:sp>
      <p:sp>
        <p:nvSpPr>
          <p:cNvPr id="42" name="TextBox 41"/>
          <p:cNvSpPr txBox="1"/>
          <p:nvPr/>
        </p:nvSpPr>
        <p:spPr>
          <a:xfrm>
            <a:off x="6446520" y="3904488"/>
            <a:ext cx="91440" cy="164592"/>
          </a:xfrm>
          <a:prstGeom prst="rect">
            <a:avLst/>
          </a:prstGeom>
          <a:noFill/>
        </p:spPr>
        <p:txBody>
          <a:bodyPr wrap="none">
            <a:spAutoFit/>
          </a:bodyPr>
          <a:lstStyle/>
          <a:p>
            <a:pPr algn="l">
              <a:defRPr sz="900" b="1">
                <a:solidFill>
                  <a:srgbClr val="DC2626"/>
                </a:solidFill>
                <a:latin typeface="Calibri"/>
              </a:defRPr>
            </a:pPr>
            <a:r>
              <a:t>•</a:t>
            </a:r>
          </a:p>
        </p:txBody>
      </p:sp>
      <p:sp>
        <p:nvSpPr>
          <p:cNvPr id="43" name="TextBox 42"/>
          <p:cNvSpPr txBox="1"/>
          <p:nvPr/>
        </p:nvSpPr>
        <p:spPr>
          <a:xfrm>
            <a:off x="6574536" y="3886200"/>
            <a:ext cx="5221224" cy="182880"/>
          </a:xfrm>
          <a:prstGeom prst="rect">
            <a:avLst/>
          </a:prstGeom>
          <a:noFill/>
        </p:spPr>
        <p:txBody>
          <a:bodyPr wrap="none">
            <a:spAutoFit/>
          </a:bodyPr>
          <a:lstStyle/>
          <a:p>
            <a:pPr algn="l">
              <a:defRPr sz="1000" b="0">
                <a:solidFill>
                  <a:srgbClr val="374151"/>
                </a:solidFill>
                <a:latin typeface="Calibri"/>
              </a:defRPr>
            </a:pPr>
            <a:r>
              <a:t>Clark Farley Insurance Agency - A Relation Company</a:t>
            </a:r>
          </a:p>
        </p:txBody>
      </p:sp>
      <p:sp>
        <p:nvSpPr>
          <p:cNvPr id="44" name="TextBox 43"/>
          <p:cNvSpPr txBox="1"/>
          <p:nvPr/>
        </p:nvSpPr>
        <p:spPr>
          <a:xfrm>
            <a:off x="6446520" y="4078224"/>
            <a:ext cx="91440" cy="164592"/>
          </a:xfrm>
          <a:prstGeom prst="rect">
            <a:avLst/>
          </a:prstGeom>
          <a:noFill/>
        </p:spPr>
        <p:txBody>
          <a:bodyPr wrap="none">
            <a:spAutoFit/>
          </a:bodyPr>
          <a:lstStyle/>
          <a:p>
            <a:pPr algn="l">
              <a:defRPr sz="900" b="1">
                <a:solidFill>
                  <a:srgbClr val="DC2626"/>
                </a:solidFill>
                <a:latin typeface="Calibri"/>
              </a:defRPr>
            </a:pPr>
            <a:r>
              <a:t>•</a:t>
            </a:r>
          </a:p>
        </p:txBody>
      </p:sp>
      <p:sp>
        <p:nvSpPr>
          <p:cNvPr id="45" name="TextBox 44"/>
          <p:cNvSpPr txBox="1"/>
          <p:nvPr/>
        </p:nvSpPr>
        <p:spPr>
          <a:xfrm>
            <a:off x="6574536" y="4059936"/>
            <a:ext cx="5221224" cy="182880"/>
          </a:xfrm>
          <a:prstGeom prst="rect">
            <a:avLst/>
          </a:prstGeom>
          <a:noFill/>
        </p:spPr>
        <p:txBody>
          <a:bodyPr wrap="none">
            <a:spAutoFit/>
          </a:bodyPr>
          <a:lstStyle/>
          <a:p>
            <a:pPr algn="l">
              <a:defRPr sz="1000" b="0">
                <a:solidFill>
                  <a:srgbClr val="374151"/>
                </a:solidFill>
                <a:latin typeface="Calibri"/>
              </a:defRPr>
            </a:pPr>
            <a:r>
              <a:t>Lake Marion Agency LLC</a:t>
            </a:r>
          </a:p>
        </p:txBody>
      </p:sp>
      <p:sp>
        <p:nvSpPr>
          <p:cNvPr id="46" name="TextBox 45"/>
          <p:cNvSpPr txBox="1"/>
          <p:nvPr/>
        </p:nvSpPr>
        <p:spPr>
          <a:xfrm>
            <a:off x="6446520" y="4251960"/>
            <a:ext cx="91440" cy="164592"/>
          </a:xfrm>
          <a:prstGeom prst="rect">
            <a:avLst/>
          </a:prstGeom>
          <a:noFill/>
        </p:spPr>
        <p:txBody>
          <a:bodyPr wrap="none">
            <a:spAutoFit/>
          </a:bodyPr>
          <a:lstStyle/>
          <a:p>
            <a:pPr algn="l">
              <a:defRPr sz="900" b="1">
                <a:solidFill>
                  <a:srgbClr val="DC2626"/>
                </a:solidFill>
                <a:latin typeface="Calibri"/>
              </a:defRPr>
            </a:pPr>
            <a:r>
              <a:t>•</a:t>
            </a:r>
          </a:p>
        </p:txBody>
      </p:sp>
      <p:sp>
        <p:nvSpPr>
          <p:cNvPr id="47" name="TextBox 46"/>
          <p:cNvSpPr txBox="1"/>
          <p:nvPr/>
        </p:nvSpPr>
        <p:spPr>
          <a:xfrm>
            <a:off x="6574536" y="4233672"/>
            <a:ext cx="5221224" cy="182880"/>
          </a:xfrm>
          <a:prstGeom prst="rect">
            <a:avLst/>
          </a:prstGeom>
          <a:noFill/>
        </p:spPr>
        <p:txBody>
          <a:bodyPr wrap="none">
            <a:spAutoFit/>
          </a:bodyPr>
          <a:lstStyle/>
          <a:p>
            <a:pPr algn="l">
              <a:defRPr sz="1000" b="0">
                <a:solidFill>
                  <a:srgbClr val="374151"/>
                </a:solidFill>
                <a:latin typeface="Calibri"/>
              </a:defRPr>
            </a:pPr>
            <a:r>
              <a:t>Paramount Trucking Specialist Llc</a:t>
            </a:r>
          </a:p>
        </p:txBody>
      </p:sp>
      <p:sp>
        <p:nvSpPr>
          <p:cNvPr id="48" name="TextBox 47"/>
          <p:cNvSpPr txBox="1"/>
          <p:nvPr/>
        </p:nvSpPr>
        <p:spPr>
          <a:xfrm>
            <a:off x="6446520" y="4425696"/>
            <a:ext cx="91440" cy="164592"/>
          </a:xfrm>
          <a:prstGeom prst="rect">
            <a:avLst/>
          </a:prstGeom>
          <a:noFill/>
        </p:spPr>
        <p:txBody>
          <a:bodyPr wrap="none">
            <a:spAutoFit/>
          </a:bodyPr>
          <a:lstStyle/>
          <a:p>
            <a:pPr algn="l">
              <a:defRPr sz="900" b="1">
                <a:solidFill>
                  <a:srgbClr val="DC2626"/>
                </a:solidFill>
                <a:latin typeface="Calibri"/>
              </a:defRPr>
            </a:pPr>
            <a:r>
              <a:t>•</a:t>
            </a:r>
          </a:p>
        </p:txBody>
      </p:sp>
      <p:sp>
        <p:nvSpPr>
          <p:cNvPr id="49" name="TextBox 48"/>
          <p:cNvSpPr txBox="1"/>
          <p:nvPr/>
        </p:nvSpPr>
        <p:spPr>
          <a:xfrm>
            <a:off x="6574536" y="4407408"/>
            <a:ext cx="5221224" cy="182880"/>
          </a:xfrm>
          <a:prstGeom prst="rect">
            <a:avLst/>
          </a:prstGeom>
          <a:noFill/>
        </p:spPr>
        <p:txBody>
          <a:bodyPr wrap="none">
            <a:spAutoFit/>
          </a:bodyPr>
          <a:lstStyle/>
          <a:p>
            <a:pPr algn="l">
              <a:defRPr sz="1000" b="0">
                <a:solidFill>
                  <a:srgbClr val="374151"/>
                </a:solidFill>
                <a:latin typeface="Calibri"/>
              </a:defRPr>
            </a:pPr>
            <a:r>
              <a:t>Patrick Phillips Insurance Agency,</a:t>
            </a:r>
          </a:p>
        </p:txBody>
      </p:sp>
      <p:sp>
        <p:nvSpPr>
          <p:cNvPr id="50" name="Rectangle 49"/>
          <p:cNvSpPr/>
          <p:nvPr/>
        </p:nvSpPr>
        <p:spPr>
          <a:xfrm>
            <a:off x="6263640" y="4782312"/>
            <a:ext cx="5623560" cy="1014984"/>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63640" y="4782312"/>
            <a:ext cx="54864" cy="101498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9944" y="4818888"/>
            <a:ext cx="4251960" cy="219456"/>
          </a:xfrm>
          <a:prstGeom prst="rect">
            <a:avLst/>
          </a:prstGeom>
          <a:noFill/>
        </p:spPr>
        <p:txBody>
          <a:bodyPr wrap="none">
            <a:spAutoFit/>
          </a:bodyPr>
          <a:lstStyle/>
          <a:p>
            <a:pPr algn="l">
              <a:defRPr sz="1100" b="1">
                <a:solidFill>
                  <a:srgbClr val="111827"/>
                </a:solidFill>
                <a:latin typeface="Calibri"/>
              </a:defRPr>
            </a:pPr>
            <a:r>
              <a:t>Kurt Butterfield</a:t>
            </a:r>
          </a:p>
        </p:txBody>
      </p:sp>
      <p:sp>
        <p:nvSpPr>
          <p:cNvPr id="53" name="TextBox 52"/>
          <p:cNvSpPr txBox="1"/>
          <p:nvPr/>
        </p:nvSpPr>
        <p:spPr>
          <a:xfrm>
            <a:off x="10652760" y="4837176"/>
            <a:ext cx="1097280" cy="201168"/>
          </a:xfrm>
          <a:prstGeom prst="rect">
            <a:avLst/>
          </a:prstGeom>
          <a:noFill/>
        </p:spPr>
        <p:txBody>
          <a:bodyPr wrap="none">
            <a:spAutoFit/>
          </a:bodyPr>
          <a:lstStyle/>
          <a:p>
            <a:pPr algn="r">
              <a:defRPr sz="900" b="1">
                <a:solidFill>
                  <a:srgbClr val="EA580C"/>
                </a:solidFill>
                <a:latin typeface="Calibri"/>
              </a:defRPr>
            </a:pPr>
            <a:r>
              <a:t>3 dormant</a:t>
            </a:r>
          </a:p>
        </p:txBody>
      </p:sp>
      <p:sp>
        <p:nvSpPr>
          <p:cNvPr id="54" name="TextBox 53"/>
          <p:cNvSpPr txBox="1"/>
          <p:nvPr/>
        </p:nvSpPr>
        <p:spPr>
          <a:xfrm>
            <a:off x="6409944" y="5020056"/>
            <a:ext cx="5349240" cy="146304"/>
          </a:xfrm>
          <a:prstGeom prst="rect">
            <a:avLst/>
          </a:prstGeom>
          <a:noFill/>
        </p:spPr>
        <p:txBody>
          <a:bodyPr wrap="none">
            <a:spAutoFit/>
          </a:bodyPr>
          <a:lstStyle/>
          <a:p>
            <a:pPr algn="l">
              <a:defRPr sz="900" b="0">
                <a:solidFill>
                  <a:srgbClr val="6B7280"/>
                </a:solidFill>
                <a:latin typeface="Calibri"/>
              </a:defRPr>
            </a:pPr>
            <a:r>
              <a:t>3 of 45 agencies dormant</a:t>
            </a:r>
          </a:p>
        </p:txBody>
      </p:sp>
      <p:sp>
        <p:nvSpPr>
          <p:cNvPr id="55" name="TextBox 54"/>
          <p:cNvSpPr txBox="1"/>
          <p:nvPr/>
        </p:nvSpPr>
        <p:spPr>
          <a:xfrm>
            <a:off x="6446520" y="5184648"/>
            <a:ext cx="91440" cy="164592"/>
          </a:xfrm>
          <a:prstGeom prst="rect">
            <a:avLst/>
          </a:prstGeom>
          <a:noFill/>
        </p:spPr>
        <p:txBody>
          <a:bodyPr wrap="none">
            <a:spAutoFit/>
          </a:bodyPr>
          <a:lstStyle/>
          <a:p>
            <a:pPr algn="l">
              <a:defRPr sz="900" b="1">
                <a:solidFill>
                  <a:srgbClr val="EA580C"/>
                </a:solidFill>
                <a:latin typeface="Calibri"/>
              </a:defRPr>
            </a:pPr>
            <a:r>
              <a:t>•</a:t>
            </a:r>
          </a:p>
        </p:txBody>
      </p:sp>
      <p:sp>
        <p:nvSpPr>
          <p:cNvPr id="56" name="TextBox 55"/>
          <p:cNvSpPr txBox="1"/>
          <p:nvPr/>
        </p:nvSpPr>
        <p:spPr>
          <a:xfrm>
            <a:off x="6574536" y="5166360"/>
            <a:ext cx="5221224" cy="182880"/>
          </a:xfrm>
          <a:prstGeom prst="rect">
            <a:avLst/>
          </a:prstGeom>
          <a:noFill/>
        </p:spPr>
        <p:txBody>
          <a:bodyPr wrap="none">
            <a:spAutoFit/>
          </a:bodyPr>
          <a:lstStyle/>
          <a:p>
            <a:pPr algn="l">
              <a:defRPr sz="1000" b="0">
                <a:solidFill>
                  <a:srgbClr val="374151"/>
                </a:solidFill>
                <a:latin typeface="Calibri"/>
              </a:defRPr>
            </a:pPr>
            <a:r>
              <a:t>Eagles Insurnace Agency Llc</a:t>
            </a:r>
          </a:p>
        </p:txBody>
      </p:sp>
      <p:sp>
        <p:nvSpPr>
          <p:cNvPr id="57" name="TextBox 56"/>
          <p:cNvSpPr txBox="1"/>
          <p:nvPr/>
        </p:nvSpPr>
        <p:spPr>
          <a:xfrm>
            <a:off x="6446520" y="5358384"/>
            <a:ext cx="91440" cy="164592"/>
          </a:xfrm>
          <a:prstGeom prst="rect">
            <a:avLst/>
          </a:prstGeom>
          <a:noFill/>
        </p:spPr>
        <p:txBody>
          <a:bodyPr wrap="none">
            <a:spAutoFit/>
          </a:bodyPr>
          <a:lstStyle/>
          <a:p>
            <a:pPr algn="l">
              <a:defRPr sz="900" b="1">
                <a:solidFill>
                  <a:srgbClr val="EA580C"/>
                </a:solidFill>
                <a:latin typeface="Calibri"/>
              </a:defRPr>
            </a:pPr>
            <a:r>
              <a:t>•</a:t>
            </a:r>
          </a:p>
        </p:txBody>
      </p:sp>
      <p:sp>
        <p:nvSpPr>
          <p:cNvPr id="58" name="TextBox 57"/>
          <p:cNvSpPr txBox="1"/>
          <p:nvPr/>
        </p:nvSpPr>
        <p:spPr>
          <a:xfrm>
            <a:off x="6574536" y="5340096"/>
            <a:ext cx="5221224" cy="182880"/>
          </a:xfrm>
          <a:prstGeom prst="rect">
            <a:avLst/>
          </a:prstGeom>
          <a:noFill/>
        </p:spPr>
        <p:txBody>
          <a:bodyPr wrap="none">
            <a:spAutoFit/>
          </a:bodyPr>
          <a:lstStyle/>
          <a:p>
            <a:pPr algn="l">
              <a:defRPr sz="1000" b="0">
                <a:solidFill>
                  <a:srgbClr val="374151"/>
                </a:solidFill>
                <a:latin typeface="Calibri"/>
              </a:defRPr>
            </a:pPr>
            <a:r>
              <a:t>Laredo Commercial Insurance Agency, Inc.</a:t>
            </a:r>
          </a:p>
        </p:txBody>
      </p:sp>
      <p:sp>
        <p:nvSpPr>
          <p:cNvPr id="59" name="TextBox 58"/>
          <p:cNvSpPr txBox="1"/>
          <p:nvPr/>
        </p:nvSpPr>
        <p:spPr>
          <a:xfrm>
            <a:off x="6446520" y="5532120"/>
            <a:ext cx="91440" cy="164592"/>
          </a:xfrm>
          <a:prstGeom prst="rect">
            <a:avLst/>
          </a:prstGeom>
          <a:noFill/>
        </p:spPr>
        <p:txBody>
          <a:bodyPr wrap="none">
            <a:spAutoFit/>
          </a:bodyPr>
          <a:lstStyle/>
          <a:p>
            <a:pPr algn="l">
              <a:defRPr sz="900" b="1">
                <a:solidFill>
                  <a:srgbClr val="EA580C"/>
                </a:solidFill>
                <a:latin typeface="Calibri"/>
              </a:defRPr>
            </a:pPr>
            <a:r>
              <a:t>•</a:t>
            </a:r>
          </a:p>
        </p:txBody>
      </p:sp>
      <p:sp>
        <p:nvSpPr>
          <p:cNvPr id="60" name="TextBox 59"/>
          <p:cNvSpPr txBox="1"/>
          <p:nvPr/>
        </p:nvSpPr>
        <p:spPr>
          <a:xfrm>
            <a:off x="6574536" y="5513832"/>
            <a:ext cx="5221224" cy="182880"/>
          </a:xfrm>
          <a:prstGeom prst="rect">
            <a:avLst/>
          </a:prstGeom>
          <a:noFill/>
        </p:spPr>
        <p:txBody>
          <a:bodyPr wrap="none">
            <a:spAutoFit/>
          </a:bodyPr>
          <a:lstStyle/>
          <a:p>
            <a:pPr algn="l">
              <a:defRPr sz="1000" b="0">
                <a:solidFill>
                  <a:srgbClr val="374151"/>
                </a:solidFill>
                <a:latin typeface="Calibri"/>
              </a:defRPr>
            </a:pPr>
            <a:r>
              <a:t>Meadors Adams And Lee</a:t>
            </a:r>
          </a:p>
        </p:txBody>
      </p:sp>
      <p:sp>
        <p:nvSpPr>
          <p:cNvPr id="61" name="TextBox 60"/>
          <p:cNvSpPr txBox="1"/>
          <p:nvPr/>
        </p:nvSpPr>
        <p:spPr>
          <a:xfrm>
            <a:off x="274320" y="6537960"/>
            <a:ext cx="11887200" cy="201168"/>
          </a:xfrm>
          <a:prstGeom prst="rect">
            <a:avLst/>
          </a:prstGeom>
          <a:noFill/>
        </p:spPr>
        <p:txBody>
          <a:bodyPr wrap="none">
            <a:spAutoFit/>
          </a:bodyPr>
          <a:lstStyle/>
          <a:p>
            <a:pPr algn="l">
              <a:defRPr sz="950" b="0">
                <a:solidFill>
                  <a:srgbClr val="6B7280"/>
                </a:solidFill>
                <a:latin typeface="Calibri"/>
              </a:defRPr>
            </a:pPr>
            <a:r>
              <a:t>+ 5 reps with 100% active portfolios are not shown (zero dormant agencies).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New Producing Agencies  |  Q2 YTD</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BDMs Only  |  All Activated-Won NNA deals shown w/ status tag + close date  ·  OKR4 count = APPOINTED only  ·  Goal: 4 per BDM/quarter</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29, 2026</a:t>
            </a:r>
          </a:p>
        </p:txBody>
      </p:sp>
      <p:pic>
        <p:nvPicPr>
          <p:cNvPr id="6" name="Picture 5" descr="v8_okr4_agencies.png"/>
          <p:cNvPicPr>
            <a:picLocks noChangeAspect="1"/>
          </p:cNvPicPr>
          <p:nvPr/>
        </p:nvPicPr>
        <p:blipFill>
          <a:blip r:embed="rId2"/>
          <a:stretch>
            <a:fillRect/>
          </a:stretch>
        </p:blipFill>
        <p:spPr>
          <a:xfrm>
            <a:off x="91440" y="749808"/>
            <a:ext cx="11978640" cy="58521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Team Wins — Top 20 Agencies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Ranked by Q2 GWP (left) and Q2 Submissions (right)  ·  Mint-shaded row = new vs last week’s deck  ·  Apr 1–May 29</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29, 2026</a:t>
            </a:r>
          </a:p>
        </p:txBody>
      </p:sp>
      <p:sp>
        <p:nvSpPr>
          <p:cNvPr id="6" name="Rectangle 5"/>
          <p:cNvSpPr/>
          <p:nvPr/>
        </p:nvSpPr>
        <p:spPr>
          <a:xfrm>
            <a:off x="228600" y="841248"/>
            <a:ext cx="5779008"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 y="868680"/>
            <a:ext cx="5742432" cy="182880"/>
          </a:xfrm>
          <a:prstGeom prst="rect">
            <a:avLst/>
          </a:prstGeom>
          <a:noFill/>
        </p:spPr>
        <p:txBody>
          <a:bodyPr wrap="square">
            <a:spAutoFit/>
          </a:bodyPr>
          <a:lstStyle/>
          <a:p>
            <a:pPr algn="l">
              <a:defRPr sz="900" b="1">
                <a:solidFill>
                  <a:srgbClr val="FFFFFF"/>
                </a:solidFill>
                <a:latin typeface="Calibri"/>
              </a:defRPr>
            </a:pPr>
            <a:r>
              <a:t>Top 20 Agencies — Q2 GWP Written</a:t>
            </a:r>
          </a:p>
        </p:txBody>
      </p:sp>
      <p:sp>
        <p:nvSpPr>
          <p:cNvPr id="8" name="TextBox 7"/>
          <p:cNvSpPr txBox="1"/>
          <p:nvPr/>
        </p:nvSpPr>
        <p:spPr>
          <a:xfrm>
            <a:off x="228600" y="1097280"/>
            <a:ext cx="347472" cy="201168"/>
          </a:xfrm>
          <a:prstGeom prst="rect">
            <a:avLst/>
          </a:prstGeom>
          <a:noFill/>
        </p:spPr>
        <p:txBody>
          <a:bodyPr wrap="square">
            <a:spAutoFit/>
          </a:bodyPr>
          <a:lstStyle/>
          <a:p>
            <a:pPr algn="ctr">
              <a:defRPr sz="850" b="1">
                <a:solidFill>
                  <a:srgbClr val="6B7280"/>
                </a:solidFill>
                <a:latin typeface="Calibri"/>
              </a:defRPr>
            </a:pPr>
            <a:r>
              <a:t>#</a:t>
            </a:r>
          </a:p>
        </p:txBody>
      </p:sp>
      <p:sp>
        <p:nvSpPr>
          <p:cNvPr id="9" name="TextBox 8"/>
          <p:cNvSpPr txBox="1"/>
          <p:nvPr/>
        </p:nvSpPr>
        <p:spPr>
          <a:xfrm>
            <a:off x="576072" y="1097280"/>
            <a:ext cx="1005840" cy="201168"/>
          </a:xfrm>
          <a:prstGeom prst="rect">
            <a:avLst/>
          </a:prstGeom>
          <a:noFill/>
        </p:spPr>
        <p:txBody>
          <a:bodyPr wrap="square">
            <a:spAutoFit/>
          </a:bodyPr>
          <a:lstStyle/>
          <a:p>
            <a:pPr algn="ctr">
              <a:defRPr sz="850" b="1">
                <a:solidFill>
                  <a:srgbClr val="6B7280"/>
                </a:solidFill>
                <a:latin typeface="Calibri"/>
              </a:defRPr>
            </a:pPr>
            <a:r>
              <a:t>Rep</a:t>
            </a:r>
          </a:p>
        </p:txBody>
      </p:sp>
      <p:sp>
        <p:nvSpPr>
          <p:cNvPr id="10" name="TextBox 9"/>
          <p:cNvSpPr txBox="1"/>
          <p:nvPr/>
        </p:nvSpPr>
        <p:spPr>
          <a:xfrm>
            <a:off x="1581912" y="1097280"/>
            <a:ext cx="3474720" cy="201168"/>
          </a:xfrm>
          <a:prstGeom prst="rect">
            <a:avLst/>
          </a:prstGeom>
          <a:noFill/>
        </p:spPr>
        <p:txBody>
          <a:bodyPr wrap="square">
            <a:spAutoFit/>
          </a:bodyPr>
          <a:lstStyle/>
          <a:p>
            <a:pPr algn="l">
              <a:defRPr sz="850" b="1">
                <a:solidFill>
                  <a:srgbClr val="6B7280"/>
                </a:solidFill>
                <a:latin typeface="Calibri"/>
              </a:defRPr>
            </a:pPr>
            <a:r>
              <a:t>Agency</a:t>
            </a:r>
          </a:p>
        </p:txBody>
      </p:sp>
      <p:sp>
        <p:nvSpPr>
          <p:cNvPr id="11" name="TextBox 10"/>
          <p:cNvSpPr txBox="1"/>
          <p:nvPr/>
        </p:nvSpPr>
        <p:spPr>
          <a:xfrm>
            <a:off x="5056631" y="1097280"/>
            <a:ext cx="914400" cy="201168"/>
          </a:xfrm>
          <a:prstGeom prst="rect">
            <a:avLst/>
          </a:prstGeom>
          <a:noFill/>
        </p:spPr>
        <p:txBody>
          <a:bodyPr wrap="square">
            <a:spAutoFit/>
          </a:bodyPr>
          <a:lstStyle/>
          <a:p>
            <a:pPr algn="ctr">
              <a:defRPr sz="850" b="1">
                <a:solidFill>
                  <a:srgbClr val="6B7280"/>
                </a:solidFill>
                <a:latin typeface="Calibri"/>
              </a:defRPr>
            </a:pPr>
            <a:r>
              <a:t>Q2 GWP</a:t>
            </a:r>
          </a:p>
        </p:txBody>
      </p:sp>
      <p:sp>
        <p:nvSpPr>
          <p:cNvPr id="12" name="Rectangle 11"/>
          <p:cNvSpPr/>
          <p:nvPr/>
        </p:nvSpPr>
        <p:spPr>
          <a:xfrm>
            <a:off x="228600" y="1298448"/>
            <a:ext cx="5742432"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1316736"/>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 y="1335024"/>
            <a:ext cx="347472" cy="219456"/>
          </a:xfrm>
          <a:prstGeom prst="rect">
            <a:avLst/>
          </a:prstGeom>
          <a:noFill/>
        </p:spPr>
        <p:txBody>
          <a:bodyPr wrap="square">
            <a:spAutoFit/>
          </a:bodyPr>
          <a:lstStyle/>
          <a:p>
            <a:pPr algn="ctr">
              <a:defRPr sz="950" b="1">
                <a:solidFill>
                  <a:srgbClr val="111827"/>
                </a:solidFill>
                <a:latin typeface="Calibri"/>
              </a:defRPr>
            </a:pPr>
            <a:r>
              <a:t>1</a:t>
            </a:r>
          </a:p>
        </p:txBody>
      </p:sp>
      <p:sp>
        <p:nvSpPr>
          <p:cNvPr id="15" name="TextBox 14"/>
          <p:cNvSpPr txBox="1"/>
          <p:nvPr/>
        </p:nvSpPr>
        <p:spPr>
          <a:xfrm>
            <a:off x="576072" y="1335024"/>
            <a:ext cx="1005840" cy="219456"/>
          </a:xfrm>
          <a:prstGeom prst="rect">
            <a:avLst/>
          </a:prstGeom>
          <a:noFill/>
        </p:spPr>
        <p:txBody>
          <a:bodyPr wrap="square">
            <a:spAutoFit/>
          </a:bodyPr>
          <a:lstStyle/>
          <a:p>
            <a:pPr algn="ctr">
              <a:defRPr sz="950" b="1">
                <a:solidFill>
                  <a:srgbClr val="111827"/>
                </a:solidFill>
                <a:latin typeface="Calibri"/>
              </a:defRPr>
            </a:pPr>
            <a:r>
              <a:t>Ron D.</a:t>
            </a:r>
          </a:p>
        </p:txBody>
      </p:sp>
      <p:sp>
        <p:nvSpPr>
          <p:cNvPr id="16" name="TextBox 15"/>
          <p:cNvSpPr txBox="1"/>
          <p:nvPr/>
        </p:nvSpPr>
        <p:spPr>
          <a:xfrm>
            <a:off x="1581912" y="1335024"/>
            <a:ext cx="3474720" cy="219456"/>
          </a:xfrm>
          <a:prstGeom prst="rect">
            <a:avLst/>
          </a:prstGeom>
          <a:noFill/>
        </p:spPr>
        <p:txBody>
          <a:bodyPr wrap="square">
            <a:spAutoFit/>
          </a:bodyPr>
          <a:lstStyle/>
          <a:p>
            <a:pPr algn="l">
              <a:defRPr sz="950" b="0">
                <a:solidFill>
                  <a:srgbClr val="111827"/>
                </a:solidFill>
                <a:latin typeface="Calibri"/>
              </a:defRPr>
            </a:pPr>
            <a:r>
              <a:t>USA SPECIALTY INSURANCE/DBA PREVENTTY</a:t>
            </a:r>
          </a:p>
        </p:txBody>
      </p:sp>
      <p:sp>
        <p:nvSpPr>
          <p:cNvPr id="17" name="TextBox 16"/>
          <p:cNvSpPr txBox="1"/>
          <p:nvPr/>
        </p:nvSpPr>
        <p:spPr>
          <a:xfrm>
            <a:off x="5056631" y="1335024"/>
            <a:ext cx="914400" cy="219456"/>
          </a:xfrm>
          <a:prstGeom prst="rect">
            <a:avLst/>
          </a:prstGeom>
          <a:noFill/>
        </p:spPr>
        <p:txBody>
          <a:bodyPr wrap="square">
            <a:spAutoFit/>
          </a:bodyPr>
          <a:lstStyle/>
          <a:p>
            <a:pPr algn="ctr">
              <a:defRPr sz="950" b="1">
                <a:solidFill>
                  <a:srgbClr val="111827"/>
                </a:solidFill>
                <a:latin typeface="Calibri"/>
              </a:defRPr>
            </a:pPr>
            <a:r>
              <a:t>$3.1M</a:t>
            </a:r>
          </a:p>
        </p:txBody>
      </p:sp>
      <p:sp>
        <p:nvSpPr>
          <p:cNvPr id="18" name="Rectangle 17"/>
          <p:cNvSpPr/>
          <p:nvPr/>
        </p:nvSpPr>
        <p:spPr>
          <a:xfrm>
            <a:off x="228600" y="1554480"/>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600" y="1572768"/>
            <a:ext cx="347472" cy="219456"/>
          </a:xfrm>
          <a:prstGeom prst="rect">
            <a:avLst/>
          </a:prstGeom>
          <a:noFill/>
        </p:spPr>
        <p:txBody>
          <a:bodyPr wrap="square">
            <a:spAutoFit/>
          </a:bodyPr>
          <a:lstStyle/>
          <a:p>
            <a:pPr algn="ctr">
              <a:defRPr sz="950" b="1">
                <a:solidFill>
                  <a:srgbClr val="111827"/>
                </a:solidFill>
                <a:latin typeface="Calibri"/>
              </a:defRPr>
            </a:pPr>
            <a:r>
              <a:t>2</a:t>
            </a:r>
          </a:p>
        </p:txBody>
      </p:sp>
      <p:sp>
        <p:nvSpPr>
          <p:cNvPr id="20" name="TextBox 19"/>
          <p:cNvSpPr txBox="1"/>
          <p:nvPr/>
        </p:nvSpPr>
        <p:spPr>
          <a:xfrm>
            <a:off x="576072" y="1572768"/>
            <a:ext cx="1005840" cy="219456"/>
          </a:xfrm>
          <a:prstGeom prst="rect">
            <a:avLst/>
          </a:prstGeom>
          <a:noFill/>
        </p:spPr>
        <p:txBody>
          <a:bodyPr wrap="square">
            <a:spAutoFit/>
          </a:bodyPr>
          <a:lstStyle/>
          <a:p>
            <a:pPr algn="ctr">
              <a:defRPr sz="950" b="1">
                <a:solidFill>
                  <a:srgbClr val="111827"/>
                </a:solidFill>
                <a:latin typeface="Calibri"/>
              </a:defRPr>
            </a:pPr>
            <a:r>
              <a:t>Christopher H.</a:t>
            </a:r>
          </a:p>
        </p:txBody>
      </p:sp>
      <p:sp>
        <p:nvSpPr>
          <p:cNvPr id="21" name="TextBox 20"/>
          <p:cNvSpPr txBox="1"/>
          <p:nvPr/>
        </p:nvSpPr>
        <p:spPr>
          <a:xfrm>
            <a:off x="1581912" y="1572768"/>
            <a:ext cx="3474720" cy="219456"/>
          </a:xfrm>
          <a:prstGeom prst="rect">
            <a:avLst/>
          </a:prstGeom>
          <a:noFill/>
        </p:spPr>
        <p:txBody>
          <a:bodyPr wrap="square">
            <a:spAutoFit/>
          </a:bodyPr>
          <a:lstStyle/>
          <a:p>
            <a:pPr algn="l">
              <a:defRPr sz="950" b="0">
                <a:solidFill>
                  <a:srgbClr val="111827"/>
                </a:solidFill>
                <a:latin typeface="Calibri"/>
              </a:defRPr>
            </a:pPr>
            <a:r>
              <a:t>Commercial Trucking Insurance Agency LLC</a:t>
            </a:r>
          </a:p>
        </p:txBody>
      </p:sp>
      <p:sp>
        <p:nvSpPr>
          <p:cNvPr id="22" name="TextBox 21"/>
          <p:cNvSpPr txBox="1"/>
          <p:nvPr/>
        </p:nvSpPr>
        <p:spPr>
          <a:xfrm>
            <a:off x="5056631" y="1572768"/>
            <a:ext cx="914400" cy="219456"/>
          </a:xfrm>
          <a:prstGeom prst="rect">
            <a:avLst/>
          </a:prstGeom>
          <a:noFill/>
        </p:spPr>
        <p:txBody>
          <a:bodyPr wrap="square">
            <a:spAutoFit/>
          </a:bodyPr>
          <a:lstStyle/>
          <a:p>
            <a:pPr algn="ctr">
              <a:defRPr sz="950" b="1">
                <a:solidFill>
                  <a:srgbClr val="111827"/>
                </a:solidFill>
                <a:latin typeface="Calibri"/>
              </a:defRPr>
            </a:pPr>
            <a:r>
              <a:t>$2.4M</a:t>
            </a:r>
          </a:p>
        </p:txBody>
      </p:sp>
      <p:sp>
        <p:nvSpPr>
          <p:cNvPr id="23" name="Rectangle 22"/>
          <p:cNvSpPr/>
          <p:nvPr/>
        </p:nvSpPr>
        <p:spPr>
          <a:xfrm>
            <a:off x="228600" y="1792224"/>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8600" y="1810512"/>
            <a:ext cx="347472" cy="219456"/>
          </a:xfrm>
          <a:prstGeom prst="rect">
            <a:avLst/>
          </a:prstGeom>
          <a:noFill/>
        </p:spPr>
        <p:txBody>
          <a:bodyPr wrap="square">
            <a:spAutoFit/>
          </a:bodyPr>
          <a:lstStyle/>
          <a:p>
            <a:pPr algn="ctr">
              <a:defRPr sz="950" b="1">
                <a:solidFill>
                  <a:srgbClr val="111827"/>
                </a:solidFill>
                <a:latin typeface="Calibri"/>
              </a:defRPr>
            </a:pPr>
            <a:r>
              <a:t>3</a:t>
            </a:r>
          </a:p>
        </p:txBody>
      </p:sp>
      <p:sp>
        <p:nvSpPr>
          <p:cNvPr id="25" name="TextBox 24"/>
          <p:cNvSpPr txBox="1"/>
          <p:nvPr/>
        </p:nvSpPr>
        <p:spPr>
          <a:xfrm>
            <a:off x="576072" y="1810512"/>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26" name="TextBox 25"/>
          <p:cNvSpPr txBox="1"/>
          <p:nvPr/>
        </p:nvSpPr>
        <p:spPr>
          <a:xfrm>
            <a:off x="1581912" y="1810512"/>
            <a:ext cx="3474720" cy="219456"/>
          </a:xfrm>
          <a:prstGeom prst="rect">
            <a:avLst/>
          </a:prstGeom>
          <a:noFill/>
        </p:spPr>
        <p:txBody>
          <a:bodyPr wrap="square">
            <a:spAutoFit/>
          </a:bodyPr>
          <a:lstStyle/>
          <a:p>
            <a:pPr algn="l">
              <a:defRPr sz="950" b="0">
                <a:solidFill>
                  <a:srgbClr val="111827"/>
                </a:solidFill>
                <a:latin typeface="Calibri"/>
              </a:defRPr>
            </a:pPr>
            <a:r>
              <a:t>Reliance Partners, LLC</a:t>
            </a:r>
          </a:p>
        </p:txBody>
      </p:sp>
      <p:sp>
        <p:nvSpPr>
          <p:cNvPr id="27" name="TextBox 26"/>
          <p:cNvSpPr txBox="1"/>
          <p:nvPr/>
        </p:nvSpPr>
        <p:spPr>
          <a:xfrm>
            <a:off x="5056631" y="1810512"/>
            <a:ext cx="914400" cy="219456"/>
          </a:xfrm>
          <a:prstGeom prst="rect">
            <a:avLst/>
          </a:prstGeom>
          <a:noFill/>
        </p:spPr>
        <p:txBody>
          <a:bodyPr wrap="square">
            <a:spAutoFit/>
          </a:bodyPr>
          <a:lstStyle/>
          <a:p>
            <a:pPr algn="ctr">
              <a:defRPr sz="950" b="1">
                <a:solidFill>
                  <a:srgbClr val="111827"/>
                </a:solidFill>
                <a:latin typeface="Calibri"/>
              </a:defRPr>
            </a:pPr>
            <a:r>
              <a:t>$2.4M</a:t>
            </a:r>
          </a:p>
        </p:txBody>
      </p:sp>
      <p:sp>
        <p:nvSpPr>
          <p:cNvPr id="28" name="Rectangle 27"/>
          <p:cNvSpPr/>
          <p:nvPr/>
        </p:nvSpPr>
        <p:spPr>
          <a:xfrm>
            <a:off x="228600" y="2029968"/>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 y="2048256"/>
            <a:ext cx="347472" cy="219456"/>
          </a:xfrm>
          <a:prstGeom prst="rect">
            <a:avLst/>
          </a:prstGeom>
          <a:noFill/>
        </p:spPr>
        <p:txBody>
          <a:bodyPr wrap="square">
            <a:spAutoFit/>
          </a:bodyPr>
          <a:lstStyle/>
          <a:p>
            <a:pPr algn="ctr">
              <a:defRPr sz="950" b="1">
                <a:solidFill>
                  <a:srgbClr val="111827"/>
                </a:solidFill>
                <a:latin typeface="Calibri"/>
              </a:defRPr>
            </a:pPr>
            <a:r>
              <a:t>4</a:t>
            </a:r>
          </a:p>
        </p:txBody>
      </p:sp>
      <p:sp>
        <p:nvSpPr>
          <p:cNvPr id="30" name="TextBox 29"/>
          <p:cNvSpPr txBox="1"/>
          <p:nvPr/>
        </p:nvSpPr>
        <p:spPr>
          <a:xfrm>
            <a:off x="576072" y="2048256"/>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31" name="TextBox 30"/>
          <p:cNvSpPr txBox="1"/>
          <p:nvPr/>
        </p:nvSpPr>
        <p:spPr>
          <a:xfrm>
            <a:off x="1581912" y="2048256"/>
            <a:ext cx="3474720" cy="219456"/>
          </a:xfrm>
          <a:prstGeom prst="rect">
            <a:avLst/>
          </a:prstGeom>
          <a:noFill/>
        </p:spPr>
        <p:txBody>
          <a:bodyPr wrap="square">
            <a:spAutoFit/>
          </a:bodyPr>
          <a:lstStyle/>
          <a:p>
            <a:pPr algn="l">
              <a:defRPr sz="950" b="0">
                <a:solidFill>
                  <a:srgbClr val="111827"/>
                </a:solidFill>
                <a:latin typeface="Calibri"/>
              </a:defRPr>
            </a:pPr>
            <a:r>
              <a:t>Jagdeep Singh Insurance Agency, Inc</a:t>
            </a:r>
          </a:p>
        </p:txBody>
      </p:sp>
      <p:sp>
        <p:nvSpPr>
          <p:cNvPr id="32" name="TextBox 31"/>
          <p:cNvSpPr txBox="1"/>
          <p:nvPr/>
        </p:nvSpPr>
        <p:spPr>
          <a:xfrm>
            <a:off x="5056631" y="2048256"/>
            <a:ext cx="914400" cy="219456"/>
          </a:xfrm>
          <a:prstGeom prst="rect">
            <a:avLst/>
          </a:prstGeom>
          <a:noFill/>
        </p:spPr>
        <p:txBody>
          <a:bodyPr wrap="square">
            <a:spAutoFit/>
          </a:bodyPr>
          <a:lstStyle/>
          <a:p>
            <a:pPr algn="ctr">
              <a:defRPr sz="950" b="1">
                <a:solidFill>
                  <a:srgbClr val="111827"/>
                </a:solidFill>
                <a:latin typeface="Calibri"/>
              </a:defRPr>
            </a:pPr>
            <a:r>
              <a:t>$2.4M</a:t>
            </a:r>
          </a:p>
        </p:txBody>
      </p:sp>
      <p:sp>
        <p:nvSpPr>
          <p:cNvPr id="33" name="Rectangle 32"/>
          <p:cNvSpPr/>
          <p:nvPr/>
        </p:nvSpPr>
        <p:spPr>
          <a:xfrm>
            <a:off x="228600" y="2267712"/>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8600" y="2286000"/>
            <a:ext cx="347472" cy="219456"/>
          </a:xfrm>
          <a:prstGeom prst="rect">
            <a:avLst/>
          </a:prstGeom>
          <a:noFill/>
        </p:spPr>
        <p:txBody>
          <a:bodyPr wrap="square">
            <a:spAutoFit/>
          </a:bodyPr>
          <a:lstStyle/>
          <a:p>
            <a:pPr algn="ctr">
              <a:defRPr sz="950" b="1">
                <a:solidFill>
                  <a:srgbClr val="111827"/>
                </a:solidFill>
                <a:latin typeface="Calibri"/>
              </a:defRPr>
            </a:pPr>
            <a:r>
              <a:t>5</a:t>
            </a:r>
          </a:p>
        </p:txBody>
      </p:sp>
      <p:sp>
        <p:nvSpPr>
          <p:cNvPr id="35" name="TextBox 34"/>
          <p:cNvSpPr txBox="1"/>
          <p:nvPr/>
        </p:nvSpPr>
        <p:spPr>
          <a:xfrm>
            <a:off x="576072" y="2286000"/>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36" name="TextBox 35"/>
          <p:cNvSpPr txBox="1"/>
          <p:nvPr/>
        </p:nvSpPr>
        <p:spPr>
          <a:xfrm>
            <a:off x="1581912" y="2286000"/>
            <a:ext cx="3474720" cy="219456"/>
          </a:xfrm>
          <a:prstGeom prst="rect">
            <a:avLst/>
          </a:prstGeom>
          <a:noFill/>
        </p:spPr>
        <p:txBody>
          <a:bodyPr wrap="square">
            <a:spAutoFit/>
          </a:bodyPr>
          <a:lstStyle/>
          <a:p>
            <a:pPr algn="l">
              <a:defRPr sz="950" b="0">
                <a:solidFill>
                  <a:srgbClr val="111827"/>
                </a:solidFill>
                <a:latin typeface="Calibri"/>
              </a:defRPr>
            </a:pPr>
            <a:r>
              <a:t>United Advantage Insurance Services</a:t>
            </a:r>
          </a:p>
        </p:txBody>
      </p:sp>
      <p:sp>
        <p:nvSpPr>
          <p:cNvPr id="37" name="TextBox 36"/>
          <p:cNvSpPr txBox="1"/>
          <p:nvPr/>
        </p:nvSpPr>
        <p:spPr>
          <a:xfrm>
            <a:off x="5056631" y="2286000"/>
            <a:ext cx="914400" cy="219456"/>
          </a:xfrm>
          <a:prstGeom prst="rect">
            <a:avLst/>
          </a:prstGeom>
          <a:noFill/>
        </p:spPr>
        <p:txBody>
          <a:bodyPr wrap="square">
            <a:spAutoFit/>
          </a:bodyPr>
          <a:lstStyle/>
          <a:p>
            <a:pPr algn="ctr">
              <a:defRPr sz="950" b="1">
                <a:solidFill>
                  <a:srgbClr val="111827"/>
                </a:solidFill>
                <a:latin typeface="Calibri"/>
              </a:defRPr>
            </a:pPr>
            <a:r>
              <a:t>$2.0M</a:t>
            </a:r>
          </a:p>
        </p:txBody>
      </p:sp>
      <p:sp>
        <p:nvSpPr>
          <p:cNvPr id="38" name="Rectangle 37"/>
          <p:cNvSpPr/>
          <p:nvPr/>
        </p:nvSpPr>
        <p:spPr>
          <a:xfrm>
            <a:off x="228600" y="2505456"/>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8600" y="2523744"/>
            <a:ext cx="347472" cy="219456"/>
          </a:xfrm>
          <a:prstGeom prst="rect">
            <a:avLst/>
          </a:prstGeom>
          <a:noFill/>
        </p:spPr>
        <p:txBody>
          <a:bodyPr wrap="square">
            <a:spAutoFit/>
          </a:bodyPr>
          <a:lstStyle/>
          <a:p>
            <a:pPr algn="ctr">
              <a:defRPr sz="950" b="1">
                <a:solidFill>
                  <a:srgbClr val="111827"/>
                </a:solidFill>
                <a:latin typeface="Calibri"/>
              </a:defRPr>
            </a:pPr>
            <a:r>
              <a:t>6</a:t>
            </a:r>
          </a:p>
        </p:txBody>
      </p:sp>
      <p:sp>
        <p:nvSpPr>
          <p:cNvPr id="40" name="TextBox 39"/>
          <p:cNvSpPr txBox="1"/>
          <p:nvPr/>
        </p:nvSpPr>
        <p:spPr>
          <a:xfrm>
            <a:off x="576072" y="2523744"/>
            <a:ext cx="1005840" cy="219456"/>
          </a:xfrm>
          <a:prstGeom prst="rect">
            <a:avLst/>
          </a:prstGeom>
          <a:noFill/>
        </p:spPr>
        <p:txBody>
          <a:bodyPr wrap="square">
            <a:spAutoFit/>
          </a:bodyPr>
          <a:lstStyle/>
          <a:p>
            <a:pPr algn="ctr">
              <a:defRPr sz="950" b="1">
                <a:solidFill>
                  <a:srgbClr val="111827"/>
                </a:solidFill>
                <a:latin typeface="Calibri"/>
              </a:defRPr>
            </a:pPr>
            <a:r>
              <a:t>Christopher H.</a:t>
            </a:r>
          </a:p>
        </p:txBody>
      </p:sp>
      <p:sp>
        <p:nvSpPr>
          <p:cNvPr id="41" name="TextBox 40"/>
          <p:cNvSpPr txBox="1"/>
          <p:nvPr/>
        </p:nvSpPr>
        <p:spPr>
          <a:xfrm>
            <a:off x="1581912" y="2523744"/>
            <a:ext cx="3474720" cy="219456"/>
          </a:xfrm>
          <a:prstGeom prst="rect">
            <a:avLst/>
          </a:prstGeom>
          <a:noFill/>
        </p:spPr>
        <p:txBody>
          <a:bodyPr wrap="square">
            <a:spAutoFit/>
          </a:bodyPr>
          <a:lstStyle/>
          <a:p>
            <a:pPr algn="l">
              <a:defRPr sz="950" b="0">
                <a:solidFill>
                  <a:srgbClr val="111827"/>
                </a:solidFill>
                <a:latin typeface="Calibri"/>
              </a:defRPr>
            </a:pPr>
            <a:r>
              <a:t>DNIS Inc.</a:t>
            </a:r>
          </a:p>
        </p:txBody>
      </p:sp>
      <p:sp>
        <p:nvSpPr>
          <p:cNvPr id="42" name="TextBox 41"/>
          <p:cNvSpPr txBox="1"/>
          <p:nvPr/>
        </p:nvSpPr>
        <p:spPr>
          <a:xfrm>
            <a:off x="5056631" y="2523744"/>
            <a:ext cx="914400" cy="219456"/>
          </a:xfrm>
          <a:prstGeom prst="rect">
            <a:avLst/>
          </a:prstGeom>
          <a:noFill/>
        </p:spPr>
        <p:txBody>
          <a:bodyPr wrap="square">
            <a:spAutoFit/>
          </a:bodyPr>
          <a:lstStyle/>
          <a:p>
            <a:pPr algn="ctr">
              <a:defRPr sz="950" b="1">
                <a:solidFill>
                  <a:srgbClr val="111827"/>
                </a:solidFill>
                <a:latin typeface="Calibri"/>
              </a:defRPr>
            </a:pPr>
            <a:r>
              <a:t>$1.6M</a:t>
            </a:r>
          </a:p>
        </p:txBody>
      </p:sp>
      <p:sp>
        <p:nvSpPr>
          <p:cNvPr id="43" name="Rectangle 42"/>
          <p:cNvSpPr/>
          <p:nvPr/>
        </p:nvSpPr>
        <p:spPr>
          <a:xfrm>
            <a:off x="228600" y="2743199"/>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28600" y="2761487"/>
            <a:ext cx="347472" cy="219456"/>
          </a:xfrm>
          <a:prstGeom prst="rect">
            <a:avLst/>
          </a:prstGeom>
          <a:noFill/>
        </p:spPr>
        <p:txBody>
          <a:bodyPr wrap="square">
            <a:spAutoFit/>
          </a:bodyPr>
          <a:lstStyle/>
          <a:p>
            <a:pPr algn="ctr">
              <a:defRPr sz="950" b="1">
                <a:solidFill>
                  <a:srgbClr val="111827"/>
                </a:solidFill>
                <a:latin typeface="Calibri"/>
              </a:defRPr>
            </a:pPr>
            <a:r>
              <a:t>7</a:t>
            </a:r>
          </a:p>
        </p:txBody>
      </p:sp>
      <p:sp>
        <p:nvSpPr>
          <p:cNvPr id="45" name="TextBox 44"/>
          <p:cNvSpPr txBox="1"/>
          <p:nvPr/>
        </p:nvSpPr>
        <p:spPr>
          <a:xfrm>
            <a:off x="576072" y="2761487"/>
            <a:ext cx="1005840" cy="219456"/>
          </a:xfrm>
          <a:prstGeom prst="rect">
            <a:avLst/>
          </a:prstGeom>
          <a:noFill/>
        </p:spPr>
        <p:txBody>
          <a:bodyPr wrap="square">
            <a:spAutoFit/>
          </a:bodyPr>
          <a:lstStyle/>
          <a:p>
            <a:pPr algn="ctr">
              <a:defRPr sz="950" b="1">
                <a:solidFill>
                  <a:srgbClr val="111827"/>
                </a:solidFill>
                <a:latin typeface="Calibri"/>
              </a:defRPr>
            </a:pPr>
            <a:r>
              <a:t>Derrick L.</a:t>
            </a:r>
          </a:p>
        </p:txBody>
      </p:sp>
      <p:sp>
        <p:nvSpPr>
          <p:cNvPr id="46" name="TextBox 45"/>
          <p:cNvSpPr txBox="1"/>
          <p:nvPr/>
        </p:nvSpPr>
        <p:spPr>
          <a:xfrm>
            <a:off x="1581912" y="2761487"/>
            <a:ext cx="3474720" cy="219456"/>
          </a:xfrm>
          <a:prstGeom prst="rect">
            <a:avLst/>
          </a:prstGeom>
          <a:noFill/>
        </p:spPr>
        <p:txBody>
          <a:bodyPr wrap="square">
            <a:spAutoFit/>
          </a:bodyPr>
          <a:lstStyle/>
          <a:p>
            <a:pPr algn="l">
              <a:defRPr sz="950" b="0">
                <a:solidFill>
                  <a:srgbClr val="111827"/>
                </a:solidFill>
                <a:latin typeface="Calibri"/>
              </a:defRPr>
            </a:pPr>
            <a:r>
              <a:t>American Fleet Insurance</a:t>
            </a:r>
          </a:p>
        </p:txBody>
      </p:sp>
      <p:sp>
        <p:nvSpPr>
          <p:cNvPr id="47" name="TextBox 46"/>
          <p:cNvSpPr txBox="1"/>
          <p:nvPr/>
        </p:nvSpPr>
        <p:spPr>
          <a:xfrm>
            <a:off x="5056631" y="2761487"/>
            <a:ext cx="914400" cy="219456"/>
          </a:xfrm>
          <a:prstGeom prst="rect">
            <a:avLst/>
          </a:prstGeom>
          <a:noFill/>
        </p:spPr>
        <p:txBody>
          <a:bodyPr wrap="square">
            <a:spAutoFit/>
          </a:bodyPr>
          <a:lstStyle/>
          <a:p>
            <a:pPr algn="ctr">
              <a:defRPr sz="950" b="1">
                <a:solidFill>
                  <a:srgbClr val="111827"/>
                </a:solidFill>
                <a:latin typeface="Calibri"/>
              </a:defRPr>
            </a:pPr>
            <a:r>
              <a:t>$1.5M</a:t>
            </a:r>
          </a:p>
        </p:txBody>
      </p:sp>
      <p:sp>
        <p:nvSpPr>
          <p:cNvPr id="48" name="Rectangle 47"/>
          <p:cNvSpPr/>
          <p:nvPr/>
        </p:nvSpPr>
        <p:spPr>
          <a:xfrm>
            <a:off x="228600" y="2980943"/>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28600" y="2999231"/>
            <a:ext cx="347472" cy="219456"/>
          </a:xfrm>
          <a:prstGeom prst="rect">
            <a:avLst/>
          </a:prstGeom>
          <a:noFill/>
        </p:spPr>
        <p:txBody>
          <a:bodyPr wrap="square">
            <a:spAutoFit/>
          </a:bodyPr>
          <a:lstStyle/>
          <a:p>
            <a:pPr algn="ctr">
              <a:defRPr sz="950" b="1">
                <a:solidFill>
                  <a:srgbClr val="111827"/>
                </a:solidFill>
                <a:latin typeface="Calibri"/>
              </a:defRPr>
            </a:pPr>
            <a:r>
              <a:t>8</a:t>
            </a:r>
          </a:p>
        </p:txBody>
      </p:sp>
      <p:sp>
        <p:nvSpPr>
          <p:cNvPr id="50" name="TextBox 49"/>
          <p:cNvSpPr txBox="1"/>
          <p:nvPr/>
        </p:nvSpPr>
        <p:spPr>
          <a:xfrm>
            <a:off x="576072" y="2999231"/>
            <a:ext cx="1005840" cy="219456"/>
          </a:xfrm>
          <a:prstGeom prst="rect">
            <a:avLst/>
          </a:prstGeom>
          <a:noFill/>
        </p:spPr>
        <p:txBody>
          <a:bodyPr wrap="square">
            <a:spAutoFit/>
          </a:bodyPr>
          <a:lstStyle/>
          <a:p>
            <a:pPr algn="ctr">
              <a:defRPr sz="950" b="1">
                <a:solidFill>
                  <a:srgbClr val="111827"/>
                </a:solidFill>
                <a:latin typeface="Calibri"/>
              </a:defRPr>
            </a:pPr>
            <a:r>
              <a:t>Ron D.</a:t>
            </a:r>
          </a:p>
        </p:txBody>
      </p:sp>
      <p:sp>
        <p:nvSpPr>
          <p:cNvPr id="51" name="TextBox 50"/>
          <p:cNvSpPr txBox="1"/>
          <p:nvPr/>
        </p:nvSpPr>
        <p:spPr>
          <a:xfrm>
            <a:off x="1581912" y="2999231"/>
            <a:ext cx="3474720" cy="219456"/>
          </a:xfrm>
          <a:prstGeom prst="rect">
            <a:avLst/>
          </a:prstGeom>
          <a:noFill/>
        </p:spPr>
        <p:txBody>
          <a:bodyPr wrap="square">
            <a:spAutoFit/>
          </a:bodyPr>
          <a:lstStyle/>
          <a:p>
            <a:pPr algn="l">
              <a:defRPr sz="950" b="0">
                <a:solidFill>
                  <a:srgbClr val="111827"/>
                </a:solidFill>
                <a:latin typeface="Calibri"/>
              </a:defRPr>
            </a:pPr>
            <a:r>
              <a:t>Insurance4Truckers LLC</a:t>
            </a:r>
          </a:p>
        </p:txBody>
      </p:sp>
      <p:sp>
        <p:nvSpPr>
          <p:cNvPr id="52" name="TextBox 51"/>
          <p:cNvSpPr txBox="1"/>
          <p:nvPr/>
        </p:nvSpPr>
        <p:spPr>
          <a:xfrm>
            <a:off x="5056631" y="2999231"/>
            <a:ext cx="914400" cy="219456"/>
          </a:xfrm>
          <a:prstGeom prst="rect">
            <a:avLst/>
          </a:prstGeom>
          <a:noFill/>
        </p:spPr>
        <p:txBody>
          <a:bodyPr wrap="square">
            <a:spAutoFit/>
          </a:bodyPr>
          <a:lstStyle/>
          <a:p>
            <a:pPr algn="ctr">
              <a:defRPr sz="950" b="1">
                <a:solidFill>
                  <a:srgbClr val="111827"/>
                </a:solidFill>
                <a:latin typeface="Calibri"/>
              </a:defRPr>
            </a:pPr>
            <a:r>
              <a:t>$1.4M</a:t>
            </a:r>
          </a:p>
        </p:txBody>
      </p:sp>
      <p:sp>
        <p:nvSpPr>
          <p:cNvPr id="53" name="Rectangle 52"/>
          <p:cNvSpPr/>
          <p:nvPr/>
        </p:nvSpPr>
        <p:spPr>
          <a:xfrm>
            <a:off x="228600" y="3218687"/>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28600" y="3236975"/>
            <a:ext cx="347472" cy="219456"/>
          </a:xfrm>
          <a:prstGeom prst="rect">
            <a:avLst/>
          </a:prstGeom>
          <a:noFill/>
        </p:spPr>
        <p:txBody>
          <a:bodyPr wrap="square">
            <a:spAutoFit/>
          </a:bodyPr>
          <a:lstStyle/>
          <a:p>
            <a:pPr algn="ctr">
              <a:defRPr sz="950" b="1">
                <a:solidFill>
                  <a:srgbClr val="111827"/>
                </a:solidFill>
                <a:latin typeface="Calibri"/>
              </a:defRPr>
            </a:pPr>
            <a:r>
              <a:t>9</a:t>
            </a:r>
          </a:p>
        </p:txBody>
      </p:sp>
      <p:sp>
        <p:nvSpPr>
          <p:cNvPr id="55" name="TextBox 54"/>
          <p:cNvSpPr txBox="1"/>
          <p:nvPr/>
        </p:nvSpPr>
        <p:spPr>
          <a:xfrm>
            <a:off x="576072" y="3236975"/>
            <a:ext cx="1005840" cy="219456"/>
          </a:xfrm>
          <a:prstGeom prst="rect">
            <a:avLst/>
          </a:prstGeom>
          <a:noFill/>
        </p:spPr>
        <p:txBody>
          <a:bodyPr wrap="square">
            <a:spAutoFit/>
          </a:bodyPr>
          <a:lstStyle/>
          <a:p>
            <a:pPr algn="ctr">
              <a:defRPr sz="950" b="1">
                <a:solidFill>
                  <a:srgbClr val="111827"/>
                </a:solidFill>
                <a:latin typeface="Calibri"/>
              </a:defRPr>
            </a:pPr>
            <a:r>
              <a:t>Derrick L.</a:t>
            </a:r>
          </a:p>
        </p:txBody>
      </p:sp>
      <p:sp>
        <p:nvSpPr>
          <p:cNvPr id="56" name="TextBox 55"/>
          <p:cNvSpPr txBox="1"/>
          <p:nvPr/>
        </p:nvSpPr>
        <p:spPr>
          <a:xfrm>
            <a:off x="1581912" y="3236975"/>
            <a:ext cx="3474720" cy="219456"/>
          </a:xfrm>
          <a:prstGeom prst="rect">
            <a:avLst/>
          </a:prstGeom>
          <a:noFill/>
        </p:spPr>
        <p:txBody>
          <a:bodyPr wrap="square">
            <a:spAutoFit/>
          </a:bodyPr>
          <a:lstStyle/>
          <a:p>
            <a:pPr algn="l">
              <a:defRPr sz="950" b="0">
                <a:solidFill>
                  <a:srgbClr val="111827"/>
                </a:solidFill>
                <a:latin typeface="Calibri"/>
              </a:defRPr>
            </a:pPr>
            <a:r>
              <a:t>AMC Agents LLC</a:t>
            </a:r>
          </a:p>
        </p:txBody>
      </p:sp>
      <p:sp>
        <p:nvSpPr>
          <p:cNvPr id="57" name="TextBox 56"/>
          <p:cNvSpPr txBox="1"/>
          <p:nvPr/>
        </p:nvSpPr>
        <p:spPr>
          <a:xfrm>
            <a:off x="5056631" y="3236975"/>
            <a:ext cx="914400" cy="219456"/>
          </a:xfrm>
          <a:prstGeom prst="rect">
            <a:avLst/>
          </a:prstGeom>
          <a:noFill/>
        </p:spPr>
        <p:txBody>
          <a:bodyPr wrap="square">
            <a:spAutoFit/>
          </a:bodyPr>
          <a:lstStyle/>
          <a:p>
            <a:pPr algn="ctr">
              <a:defRPr sz="950" b="1">
                <a:solidFill>
                  <a:srgbClr val="111827"/>
                </a:solidFill>
                <a:latin typeface="Calibri"/>
              </a:defRPr>
            </a:pPr>
            <a:r>
              <a:t>$1.4M</a:t>
            </a:r>
          </a:p>
        </p:txBody>
      </p:sp>
      <p:sp>
        <p:nvSpPr>
          <p:cNvPr id="58" name="Rectangle 57"/>
          <p:cNvSpPr/>
          <p:nvPr/>
        </p:nvSpPr>
        <p:spPr>
          <a:xfrm>
            <a:off x="228600" y="3456431"/>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8600" y="3474719"/>
            <a:ext cx="347472" cy="219456"/>
          </a:xfrm>
          <a:prstGeom prst="rect">
            <a:avLst/>
          </a:prstGeom>
          <a:noFill/>
        </p:spPr>
        <p:txBody>
          <a:bodyPr wrap="square">
            <a:spAutoFit/>
          </a:bodyPr>
          <a:lstStyle/>
          <a:p>
            <a:pPr algn="ctr">
              <a:defRPr sz="950" b="1">
                <a:solidFill>
                  <a:srgbClr val="111827"/>
                </a:solidFill>
                <a:latin typeface="Calibri"/>
              </a:defRPr>
            </a:pPr>
            <a:r>
              <a:t>10</a:t>
            </a:r>
          </a:p>
        </p:txBody>
      </p:sp>
      <p:sp>
        <p:nvSpPr>
          <p:cNvPr id="60" name="TextBox 59"/>
          <p:cNvSpPr txBox="1"/>
          <p:nvPr/>
        </p:nvSpPr>
        <p:spPr>
          <a:xfrm>
            <a:off x="576072" y="3474719"/>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61" name="TextBox 60"/>
          <p:cNvSpPr txBox="1"/>
          <p:nvPr/>
        </p:nvSpPr>
        <p:spPr>
          <a:xfrm>
            <a:off x="1581912" y="3474719"/>
            <a:ext cx="3474720" cy="219456"/>
          </a:xfrm>
          <a:prstGeom prst="rect">
            <a:avLst/>
          </a:prstGeom>
          <a:noFill/>
        </p:spPr>
        <p:txBody>
          <a:bodyPr wrap="square">
            <a:spAutoFit/>
          </a:bodyPr>
          <a:lstStyle/>
          <a:p>
            <a:pPr algn="l">
              <a:defRPr sz="950" b="0">
                <a:solidFill>
                  <a:srgbClr val="111827"/>
                </a:solidFill>
                <a:latin typeface="Calibri"/>
              </a:defRPr>
            </a:pPr>
            <a:r>
              <a:t>Safeline Insurance Agency, Inc.</a:t>
            </a:r>
          </a:p>
        </p:txBody>
      </p:sp>
      <p:sp>
        <p:nvSpPr>
          <p:cNvPr id="62" name="TextBox 61"/>
          <p:cNvSpPr txBox="1"/>
          <p:nvPr/>
        </p:nvSpPr>
        <p:spPr>
          <a:xfrm>
            <a:off x="5056631" y="3474719"/>
            <a:ext cx="914400" cy="219456"/>
          </a:xfrm>
          <a:prstGeom prst="rect">
            <a:avLst/>
          </a:prstGeom>
          <a:noFill/>
        </p:spPr>
        <p:txBody>
          <a:bodyPr wrap="square">
            <a:spAutoFit/>
          </a:bodyPr>
          <a:lstStyle/>
          <a:p>
            <a:pPr algn="ctr">
              <a:defRPr sz="950" b="1">
                <a:solidFill>
                  <a:srgbClr val="111827"/>
                </a:solidFill>
                <a:latin typeface="Calibri"/>
              </a:defRPr>
            </a:pPr>
            <a:r>
              <a:t>$1.4M</a:t>
            </a:r>
          </a:p>
        </p:txBody>
      </p:sp>
      <p:sp>
        <p:nvSpPr>
          <p:cNvPr id="63" name="Rectangle 62"/>
          <p:cNvSpPr/>
          <p:nvPr/>
        </p:nvSpPr>
        <p:spPr>
          <a:xfrm>
            <a:off x="228600" y="3694175"/>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28600" y="3712463"/>
            <a:ext cx="347472" cy="219456"/>
          </a:xfrm>
          <a:prstGeom prst="rect">
            <a:avLst/>
          </a:prstGeom>
          <a:noFill/>
        </p:spPr>
        <p:txBody>
          <a:bodyPr wrap="square">
            <a:spAutoFit/>
          </a:bodyPr>
          <a:lstStyle/>
          <a:p>
            <a:pPr algn="ctr">
              <a:defRPr sz="950" b="1">
                <a:solidFill>
                  <a:srgbClr val="111827"/>
                </a:solidFill>
                <a:latin typeface="Calibri"/>
              </a:defRPr>
            </a:pPr>
            <a:r>
              <a:t>11</a:t>
            </a:r>
          </a:p>
        </p:txBody>
      </p:sp>
      <p:sp>
        <p:nvSpPr>
          <p:cNvPr id="65" name="TextBox 64"/>
          <p:cNvSpPr txBox="1"/>
          <p:nvPr/>
        </p:nvSpPr>
        <p:spPr>
          <a:xfrm>
            <a:off x="576072" y="3712463"/>
            <a:ext cx="1005840" cy="219456"/>
          </a:xfrm>
          <a:prstGeom prst="rect">
            <a:avLst/>
          </a:prstGeom>
          <a:noFill/>
        </p:spPr>
        <p:txBody>
          <a:bodyPr wrap="square">
            <a:spAutoFit/>
          </a:bodyPr>
          <a:lstStyle/>
          <a:p>
            <a:pPr algn="ctr">
              <a:defRPr sz="950" b="1">
                <a:solidFill>
                  <a:srgbClr val="111827"/>
                </a:solidFill>
                <a:latin typeface="Calibri"/>
              </a:defRPr>
            </a:pPr>
            <a:r>
              <a:t>Ron D.</a:t>
            </a:r>
          </a:p>
        </p:txBody>
      </p:sp>
      <p:sp>
        <p:nvSpPr>
          <p:cNvPr id="66" name="TextBox 65"/>
          <p:cNvSpPr txBox="1"/>
          <p:nvPr/>
        </p:nvSpPr>
        <p:spPr>
          <a:xfrm>
            <a:off x="1581912" y="3712463"/>
            <a:ext cx="3474720" cy="219456"/>
          </a:xfrm>
          <a:prstGeom prst="rect">
            <a:avLst/>
          </a:prstGeom>
          <a:noFill/>
        </p:spPr>
        <p:txBody>
          <a:bodyPr wrap="square">
            <a:spAutoFit/>
          </a:bodyPr>
          <a:lstStyle/>
          <a:p>
            <a:pPr algn="l">
              <a:defRPr sz="950" b="0">
                <a:solidFill>
                  <a:srgbClr val="111827"/>
                </a:solidFill>
                <a:latin typeface="Calibri"/>
              </a:defRPr>
            </a:pPr>
            <a:r>
              <a:t>Valion Security LLC</a:t>
            </a:r>
          </a:p>
        </p:txBody>
      </p:sp>
      <p:sp>
        <p:nvSpPr>
          <p:cNvPr id="67" name="TextBox 66"/>
          <p:cNvSpPr txBox="1"/>
          <p:nvPr/>
        </p:nvSpPr>
        <p:spPr>
          <a:xfrm>
            <a:off x="5056631" y="3712463"/>
            <a:ext cx="914400" cy="219456"/>
          </a:xfrm>
          <a:prstGeom prst="rect">
            <a:avLst/>
          </a:prstGeom>
          <a:noFill/>
        </p:spPr>
        <p:txBody>
          <a:bodyPr wrap="square">
            <a:spAutoFit/>
          </a:bodyPr>
          <a:lstStyle/>
          <a:p>
            <a:pPr algn="ctr">
              <a:defRPr sz="950" b="1">
                <a:solidFill>
                  <a:srgbClr val="111827"/>
                </a:solidFill>
                <a:latin typeface="Calibri"/>
              </a:defRPr>
            </a:pPr>
            <a:r>
              <a:t>$1.2M</a:t>
            </a:r>
          </a:p>
        </p:txBody>
      </p:sp>
      <p:sp>
        <p:nvSpPr>
          <p:cNvPr id="68" name="Rectangle 67"/>
          <p:cNvSpPr/>
          <p:nvPr/>
        </p:nvSpPr>
        <p:spPr>
          <a:xfrm>
            <a:off x="228600" y="3931919"/>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28600" y="3950207"/>
            <a:ext cx="347472" cy="219456"/>
          </a:xfrm>
          <a:prstGeom prst="rect">
            <a:avLst/>
          </a:prstGeom>
          <a:noFill/>
        </p:spPr>
        <p:txBody>
          <a:bodyPr wrap="square">
            <a:spAutoFit/>
          </a:bodyPr>
          <a:lstStyle/>
          <a:p>
            <a:pPr algn="ctr">
              <a:defRPr sz="950" b="1">
                <a:solidFill>
                  <a:srgbClr val="111827"/>
                </a:solidFill>
                <a:latin typeface="Calibri"/>
              </a:defRPr>
            </a:pPr>
            <a:r>
              <a:t>12</a:t>
            </a:r>
          </a:p>
        </p:txBody>
      </p:sp>
      <p:sp>
        <p:nvSpPr>
          <p:cNvPr id="70" name="TextBox 69"/>
          <p:cNvSpPr txBox="1"/>
          <p:nvPr/>
        </p:nvSpPr>
        <p:spPr>
          <a:xfrm>
            <a:off x="576072" y="3950207"/>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71" name="TextBox 70"/>
          <p:cNvSpPr txBox="1"/>
          <p:nvPr/>
        </p:nvSpPr>
        <p:spPr>
          <a:xfrm>
            <a:off x="1581912" y="3950207"/>
            <a:ext cx="3474720" cy="219456"/>
          </a:xfrm>
          <a:prstGeom prst="rect">
            <a:avLst/>
          </a:prstGeom>
          <a:noFill/>
        </p:spPr>
        <p:txBody>
          <a:bodyPr wrap="square">
            <a:spAutoFit/>
          </a:bodyPr>
          <a:lstStyle/>
          <a:p>
            <a:pPr algn="l">
              <a:defRPr sz="950" b="0">
                <a:solidFill>
                  <a:srgbClr val="111827"/>
                </a:solidFill>
                <a:latin typeface="Calibri"/>
              </a:defRPr>
            </a:pPr>
            <a:r>
              <a:t>CASCADE INSURANCE SERVICES INC DBA: CASC…</a:t>
            </a:r>
          </a:p>
        </p:txBody>
      </p:sp>
      <p:sp>
        <p:nvSpPr>
          <p:cNvPr id="72" name="TextBox 71"/>
          <p:cNvSpPr txBox="1"/>
          <p:nvPr/>
        </p:nvSpPr>
        <p:spPr>
          <a:xfrm>
            <a:off x="5056631" y="3950207"/>
            <a:ext cx="914400" cy="219456"/>
          </a:xfrm>
          <a:prstGeom prst="rect">
            <a:avLst/>
          </a:prstGeom>
          <a:noFill/>
        </p:spPr>
        <p:txBody>
          <a:bodyPr wrap="square">
            <a:spAutoFit/>
          </a:bodyPr>
          <a:lstStyle/>
          <a:p>
            <a:pPr algn="ctr">
              <a:defRPr sz="950" b="1">
                <a:solidFill>
                  <a:srgbClr val="111827"/>
                </a:solidFill>
                <a:latin typeface="Calibri"/>
              </a:defRPr>
            </a:pPr>
            <a:r>
              <a:t>$1.1M</a:t>
            </a:r>
          </a:p>
        </p:txBody>
      </p:sp>
      <p:sp>
        <p:nvSpPr>
          <p:cNvPr id="73" name="Rectangle 72"/>
          <p:cNvSpPr/>
          <p:nvPr/>
        </p:nvSpPr>
        <p:spPr>
          <a:xfrm>
            <a:off x="228600" y="4169663"/>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28600" y="4187951"/>
            <a:ext cx="347472" cy="219456"/>
          </a:xfrm>
          <a:prstGeom prst="rect">
            <a:avLst/>
          </a:prstGeom>
          <a:noFill/>
        </p:spPr>
        <p:txBody>
          <a:bodyPr wrap="square">
            <a:spAutoFit/>
          </a:bodyPr>
          <a:lstStyle/>
          <a:p>
            <a:pPr algn="ctr">
              <a:defRPr sz="950" b="1">
                <a:solidFill>
                  <a:srgbClr val="111827"/>
                </a:solidFill>
                <a:latin typeface="Calibri"/>
              </a:defRPr>
            </a:pPr>
            <a:r>
              <a:t>13</a:t>
            </a:r>
          </a:p>
        </p:txBody>
      </p:sp>
      <p:sp>
        <p:nvSpPr>
          <p:cNvPr id="75" name="TextBox 74"/>
          <p:cNvSpPr txBox="1"/>
          <p:nvPr/>
        </p:nvSpPr>
        <p:spPr>
          <a:xfrm>
            <a:off x="576072" y="4187951"/>
            <a:ext cx="1005840" cy="219456"/>
          </a:xfrm>
          <a:prstGeom prst="rect">
            <a:avLst/>
          </a:prstGeom>
          <a:noFill/>
        </p:spPr>
        <p:txBody>
          <a:bodyPr wrap="square">
            <a:spAutoFit/>
          </a:bodyPr>
          <a:lstStyle/>
          <a:p>
            <a:pPr algn="ctr">
              <a:defRPr sz="950" b="1">
                <a:solidFill>
                  <a:srgbClr val="111827"/>
                </a:solidFill>
                <a:latin typeface="Calibri"/>
              </a:defRPr>
            </a:pPr>
            <a:r>
              <a:t>Alexis B.</a:t>
            </a:r>
          </a:p>
        </p:txBody>
      </p:sp>
      <p:sp>
        <p:nvSpPr>
          <p:cNvPr id="76" name="TextBox 75"/>
          <p:cNvSpPr txBox="1"/>
          <p:nvPr/>
        </p:nvSpPr>
        <p:spPr>
          <a:xfrm>
            <a:off x="1581912" y="4187951"/>
            <a:ext cx="3474720" cy="219456"/>
          </a:xfrm>
          <a:prstGeom prst="rect">
            <a:avLst/>
          </a:prstGeom>
          <a:noFill/>
        </p:spPr>
        <p:txBody>
          <a:bodyPr wrap="square">
            <a:spAutoFit/>
          </a:bodyPr>
          <a:lstStyle/>
          <a:p>
            <a:pPr algn="l">
              <a:defRPr sz="950" b="0">
                <a:solidFill>
                  <a:srgbClr val="111827"/>
                </a:solidFill>
                <a:latin typeface="Calibri"/>
              </a:defRPr>
            </a:pPr>
            <a:r>
              <a:t>A.S.I.A Inc</a:t>
            </a:r>
          </a:p>
        </p:txBody>
      </p:sp>
      <p:sp>
        <p:nvSpPr>
          <p:cNvPr id="77" name="TextBox 76"/>
          <p:cNvSpPr txBox="1"/>
          <p:nvPr/>
        </p:nvSpPr>
        <p:spPr>
          <a:xfrm>
            <a:off x="5056631" y="4187951"/>
            <a:ext cx="914400" cy="219456"/>
          </a:xfrm>
          <a:prstGeom prst="rect">
            <a:avLst/>
          </a:prstGeom>
          <a:noFill/>
        </p:spPr>
        <p:txBody>
          <a:bodyPr wrap="square">
            <a:spAutoFit/>
          </a:bodyPr>
          <a:lstStyle/>
          <a:p>
            <a:pPr algn="ctr">
              <a:defRPr sz="950" b="1">
                <a:solidFill>
                  <a:srgbClr val="111827"/>
                </a:solidFill>
                <a:latin typeface="Calibri"/>
              </a:defRPr>
            </a:pPr>
            <a:r>
              <a:t>$995K</a:t>
            </a:r>
          </a:p>
        </p:txBody>
      </p:sp>
      <p:sp>
        <p:nvSpPr>
          <p:cNvPr id="78" name="Rectangle 77"/>
          <p:cNvSpPr/>
          <p:nvPr/>
        </p:nvSpPr>
        <p:spPr>
          <a:xfrm>
            <a:off x="228600" y="4407407"/>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28600" y="4425695"/>
            <a:ext cx="347472" cy="219456"/>
          </a:xfrm>
          <a:prstGeom prst="rect">
            <a:avLst/>
          </a:prstGeom>
          <a:noFill/>
        </p:spPr>
        <p:txBody>
          <a:bodyPr wrap="square">
            <a:spAutoFit/>
          </a:bodyPr>
          <a:lstStyle/>
          <a:p>
            <a:pPr algn="ctr">
              <a:defRPr sz="950" b="1">
                <a:solidFill>
                  <a:srgbClr val="111827"/>
                </a:solidFill>
                <a:latin typeface="Calibri"/>
              </a:defRPr>
            </a:pPr>
            <a:r>
              <a:t>14</a:t>
            </a:r>
          </a:p>
        </p:txBody>
      </p:sp>
      <p:sp>
        <p:nvSpPr>
          <p:cNvPr id="80" name="TextBox 79"/>
          <p:cNvSpPr txBox="1"/>
          <p:nvPr/>
        </p:nvSpPr>
        <p:spPr>
          <a:xfrm>
            <a:off x="576072" y="4425695"/>
            <a:ext cx="1005840" cy="219456"/>
          </a:xfrm>
          <a:prstGeom prst="rect">
            <a:avLst/>
          </a:prstGeom>
          <a:noFill/>
        </p:spPr>
        <p:txBody>
          <a:bodyPr wrap="square">
            <a:spAutoFit/>
          </a:bodyPr>
          <a:lstStyle/>
          <a:p>
            <a:pPr algn="ctr">
              <a:defRPr sz="950" b="1">
                <a:solidFill>
                  <a:srgbClr val="111827"/>
                </a:solidFill>
                <a:latin typeface="Calibri"/>
              </a:defRPr>
            </a:pPr>
            <a:r>
              <a:t>Kurt B.</a:t>
            </a:r>
          </a:p>
        </p:txBody>
      </p:sp>
      <p:sp>
        <p:nvSpPr>
          <p:cNvPr id="81" name="TextBox 80"/>
          <p:cNvSpPr txBox="1"/>
          <p:nvPr/>
        </p:nvSpPr>
        <p:spPr>
          <a:xfrm>
            <a:off x="1581912" y="4425695"/>
            <a:ext cx="3474720" cy="219456"/>
          </a:xfrm>
          <a:prstGeom prst="rect">
            <a:avLst/>
          </a:prstGeom>
          <a:noFill/>
        </p:spPr>
        <p:txBody>
          <a:bodyPr wrap="square">
            <a:spAutoFit/>
          </a:bodyPr>
          <a:lstStyle/>
          <a:p>
            <a:pPr algn="l">
              <a:defRPr sz="950" b="0">
                <a:solidFill>
                  <a:srgbClr val="111827"/>
                </a:solidFill>
                <a:latin typeface="Calibri"/>
              </a:defRPr>
            </a:pPr>
            <a:r>
              <a:t>Fino Services LLC</a:t>
            </a:r>
          </a:p>
        </p:txBody>
      </p:sp>
      <p:sp>
        <p:nvSpPr>
          <p:cNvPr id="82" name="TextBox 81"/>
          <p:cNvSpPr txBox="1"/>
          <p:nvPr/>
        </p:nvSpPr>
        <p:spPr>
          <a:xfrm>
            <a:off x="5056631" y="4425695"/>
            <a:ext cx="914400" cy="219456"/>
          </a:xfrm>
          <a:prstGeom prst="rect">
            <a:avLst/>
          </a:prstGeom>
          <a:noFill/>
        </p:spPr>
        <p:txBody>
          <a:bodyPr wrap="square">
            <a:spAutoFit/>
          </a:bodyPr>
          <a:lstStyle/>
          <a:p>
            <a:pPr algn="ctr">
              <a:defRPr sz="950" b="1">
                <a:solidFill>
                  <a:srgbClr val="111827"/>
                </a:solidFill>
                <a:latin typeface="Calibri"/>
              </a:defRPr>
            </a:pPr>
            <a:r>
              <a:t>$956K</a:t>
            </a:r>
          </a:p>
        </p:txBody>
      </p:sp>
      <p:sp>
        <p:nvSpPr>
          <p:cNvPr id="83" name="Rectangle 82"/>
          <p:cNvSpPr/>
          <p:nvPr/>
        </p:nvSpPr>
        <p:spPr>
          <a:xfrm>
            <a:off x="228600" y="4645151"/>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28600" y="4663439"/>
            <a:ext cx="347472" cy="219456"/>
          </a:xfrm>
          <a:prstGeom prst="rect">
            <a:avLst/>
          </a:prstGeom>
          <a:noFill/>
        </p:spPr>
        <p:txBody>
          <a:bodyPr wrap="square">
            <a:spAutoFit/>
          </a:bodyPr>
          <a:lstStyle/>
          <a:p>
            <a:pPr algn="ctr">
              <a:defRPr sz="950" b="1">
                <a:solidFill>
                  <a:srgbClr val="111827"/>
                </a:solidFill>
                <a:latin typeface="Calibri"/>
              </a:defRPr>
            </a:pPr>
            <a:r>
              <a:t>15</a:t>
            </a:r>
          </a:p>
        </p:txBody>
      </p:sp>
      <p:sp>
        <p:nvSpPr>
          <p:cNvPr id="85" name="TextBox 84"/>
          <p:cNvSpPr txBox="1"/>
          <p:nvPr/>
        </p:nvSpPr>
        <p:spPr>
          <a:xfrm>
            <a:off x="576072" y="4663439"/>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86" name="TextBox 85"/>
          <p:cNvSpPr txBox="1"/>
          <p:nvPr/>
        </p:nvSpPr>
        <p:spPr>
          <a:xfrm>
            <a:off x="1581912" y="4663439"/>
            <a:ext cx="3474720" cy="219456"/>
          </a:xfrm>
          <a:prstGeom prst="rect">
            <a:avLst/>
          </a:prstGeom>
          <a:noFill/>
        </p:spPr>
        <p:txBody>
          <a:bodyPr wrap="square">
            <a:spAutoFit/>
          </a:bodyPr>
          <a:lstStyle/>
          <a:p>
            <a:pPr algn="l">
              <a:defRPr sz="950" b="0">
                <a:solidFill>
                  <a:srgbClr val="111827"/>
                </a:solidFill>
                <a:latin typeface="Calibri"/>
              </a:defRPr>
            </a:pPr>
            <a:r>
              <a:t>Surefire Insurance Agency Corp.</a:t>
            </a:r>
          </a:p>
        </p:txBody>
      </p:sp>
      <p:sp>
        <p:nvSpPr>
          <p:cNvPr id="87" name="TextBox 86"/>
          <p:cNvSpPr txBox="1"/>
          <p:nvPr/>
        </p:nvSpPr>
        <p:spPr>
          <a:xfrm>
            <a:off x="5056631" y="4663439"/>
            <a:ext cx="914400" cy="219456"/>
          </a:xfrm>
          <a:prstGeom prst="rect">
            <a:avLst/>
          </a:prstGeom>
          <a:noFill/>
        </p:spPr>
        <p:txBody>
          <a:bodyPr wrap="square">
            <a:spAutoFit/>
          </a:bodyPr>
          <a:lstStyle/>
          <a:p>
            <a:pPr algn="ctr">
              <a:defRPr sz="950" b="1">
                <a:solidFill>
                  <a:srgbClr val="111827"/>
                </a:solidFill>
                <a:latin typeface="Calibri"/>
              </a:defRPr>
            </a:pPr>
            <a:r>
              <a:t>$952K</a:t>
            </a:r>
          </a:p>
        </p:txBody>
      </p:sp>
      <p:sp>
        <p:nvSpPr>
          <p:cNvPr id="88" name="Rectangle 87"/>
          <p:cNvSpPr/>
          <p:nvPr/>
        </p:nvSpPr>
        <p:spPr>
          <a:xfrm>
            <a:off x="228600" y="4882895"/>
            <a:ext cx="5742432" cy="2377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28600" y="4901183"/>
            <a:ext cx="347472" cy="219456"/>
          </a:xfrm>
          <a:prstGeom prst="rect">
            <a:avLst/>
          </a:prstGeom>
          <a:noFill/>
        </p:spPr>
        <p:txBody>
          <a:bodyPr wrap="square">
            <a:spAutoFit/>
          </a:bodyPr>
          <a:lstStyle/>
          <a:p>
            <a:pPr algn="ctr">
              <a:defRPr sz="950" b="1">
                <a:solidFill>
                  <a:srgbClr val="111827"/>
                </a:solidFill>
                <a:latin typeface="Calibri"/>
              </a:defRPr>
            </a:pPr>
            <a:r>
              <a:t>16</a:t>
            </a:r>
          </a:p>
        </p:txBody>
      </p:sp>
      <p:sp>
        <p:nvSpPr>
          <p:cNvPr id="90" name="TextBox 89"/>
          <p:cNvSpPr txBox="1"/>
          <p:nvPr/>
        </p:nvSpPr>
        <p:spPr>
          <a:xfrm>
            <a:off x="576072" y="4901183"/>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91" name="TextBox 90"/>
          <p:cNvSpPr txBox="1"/>
          <p:nvPr/>
        </p:nvSpPr>
        <p:spPr>
          <a:xfrm>
            <a:off x="1581912" y="4901183"/>
            <a:ext cx="3474720" cy="219456"/>
          </a:xfrm>
          <a:prstGeom prst="rect">
            <a:avLst/>
          </a:prstGeom>
          <a:noFill/>
        </p:spPr>
        <p:txBody>
          <a:bodyPr wrap="square">
            <a:spAutoFit/>
          </a:bodyPr>
          <a:lstStyle/>
          <a:p>
            <a:pPr algn="l">
              <a:defRPr sz="950" b="0">
                <a:solidFill>
                  <a:srgbClr val="111827"/>
                </a:solidFill>
                <a:latin typeface="Calibri"/>
              </a:defRPr>
            </a:pPr>
            <a:r>
              <a:t>Sedge Insurance Agency LLC</a:t>
            </a:r>
          </a:p>
        </p:txBody>
      </p:sp>
      <p:sp>
        <p:nvSpPr>
          <p:cNvPr id="92" name="TextBox 91"/>
          <p:cNvSpPr txBox="1"/>
          <p:nvPr/>
        </p:nvSpPr>
        <p:spPr>
          <a:xfrm>
            <a:off x="5056631" y="4901183"/>
            <a:ext cx="914400" cy="219456"/>
          </a:xfrm>
          <a:prstGeom prst="rect">
            <a:avLst/>
          </a:prstGeom>
          <a:noFill/>
        </p:spPr>
        <p:txBody>
          <a:bodyPr wrap="square">
            <a:spAutoFit/>
          </a:bodyPr>
          <a:lstStyle/>
          <a:p>
            <a:pPr algn="ctr">
              <a:defRPr sz="950" b="1">
                <a:solidFill>
                  <a:srgbClr val="111827"/>
                </a:solidFill>
                <a:latin typeface="Calibri"/>
              </a:defRPr>
            </a:pPr>
            <a:r>
              <a:t>$906K</a:t>
            </a:r>
          </a:p>
        </p:txBody>
      </p:sp>
      <p:sp>
        <p:nvSpPr>
          <p:cNvPr id="93" name="Rectangle 92"/>
          <p:cNvSpPr/>
          <p:nvPr/>
        </p:nvSpPr>
        <p:spPr>
          <a:xfrm>
            <a:off x="228600" y="5120639"/>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28600" y="5138927"/>
            <a:ext cx="347472" cy="219456"/>
          </a:xfrm>
          <a:prstGeom prst="rect">
            <a:avLst/>
          </a:prstGeom>
          <a:noFill/>
        </p:spPr>
        <p:txBody>
          <a:bodyPr wrap="square">
            <a:spAutoFit/>
          </a:bodyPr>
          <a:lstStyle/>
          <a:p>
            <a:pPr algn="ctr">
              <a:defRPr sz="950" b="1">
                <a:solidFill>
                  <a:srgbClr val="111827"/>
                </a:solidFill>
                <a:latin typeface="Calibri"/>
              </a:defRPr>
            </a:pPr>
            <a:r>
              <a:t>17</a:t>
            </a:r>
          </a:p>
        </p:txBody>
      </p:sp>
      <p:sp>
        <p:nvSpPr>
          <p:cNvPr id="95" name="TextBox 94"/>
          <p:cNvSpPr txBox="1"/>
          <p:nvPr/>
        </p:nvSpPr>
        <p:spPr>
          <a:xfrm>
            <a:off x="576072" y="5138927"/>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96" name="TextBox 95"/>
          <p:cNvSpPr txBox="1"/>
          <p:nvPr/>
        </p:nvSpPr>
        <p:spPr>
          <a:xfrm>
            <a:off x="1581912" y="5138927"/>
            <a:ext cx="3474720" cy="219456"/>
          </a:xfrm>
          <a:prstGeom prst="rect">
            <a:avLst/>
          </a:prstGeom>
          <a:noFill/>
        </p:spPr>
        <p:txBody>
          <a:bodyPr wrap="square">
            <a:spAutoFit/>
          </a:bodyPr>
          <a:lstStyle/>
          <a:p>
            <a:pPr algn="l">
              <a:defRPr sz="950" b="0">
                <a:solidFill>
                  <a:srgbClr val="111827"/>
                </a:solidFill>
                <a:latin typeface="Calibri"/>
              </a:defRPr>
            </a:pPr>
            <a:r>
              <a:t>Vintage Insurance Agency Inc (The)</a:t>
            </a:r>
          </a:p>
        </p:txBody>
      </p:sp>
      <p:sp>
        <p:nvSpPr>
          <p:cNvPr id="97" name="TextBox 96"/>
          <p:cNvSpPr txBox="1"/>
          <p:nvPr/>
        </p:nvSpPr>
        <p:spPr>
          <a:xfrm>
            <a:off x="5056631" y="5138927"/>
            <a:ext cx="914400" cy="219456"/>
          </a:xfrm>
          <a:prstGeom prst="rect">
            <a:avLst/>
          </a:prstGeom>
          <a:noFill/>
        </p:spPr>
        <p:txBody>
          <a:bodyPr wrap="square">
            <a:spAutoFit/>
          </a:bodyPr>
          <a:lstStyle/>
          <a:p>
            <a:pPr algn="ctr">
              <a:defRPr sz="950" b="1">
                <a:solidFill>
                  <a:srgbClr val="111827"/>
                </a:solidFill>
                <a:latin typeface="Calibri"/>
              </a:defRPr>
            </a:pPr>
            <a:r>
              <a:t>$849K</a:t>
            </a:r>
          </a:p>
        </p:txBody>
      </p:sp>
      <p:sp>
        <p:nvSpPr>
          <p:cNvPr id="98" name="Rectangle 97"/>
          <p:cNvSpPr/>
          <p:nvPr/>
        </p:nvSpPr>
        <p:spPr>
          <a:xfrm>
            <a:off x="228600" y="5358383"/>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28600" y="5376671"/>
            <a:ext cx="347472" cy="219456"/>
          </a:xfrm>
          <a:prstGeom prst="rect">
            <a:avLst/>
          </a:prstGeom>
          <a:noFill/>
        </p:spPr>
        <p:txBody>
          <a:bodyPr wrap="square">
            <a:spAutoFit/>
          </a:bodyPr>
          <a:lstStyle/>
          <a:p>
            <a:pPr algn="ctr">
              <a:defRPr sz="950" b="1">
                <a:solidFill>
                  <a:srgbClr val="111827"/>
                </a:solidFill>
                <a:latin typeface="Calibri"/>
              </a:defRPr>
            </a:pPr>
            <a:r>
              <a:t>18</a:t>
            </a:r>
          </a:p>
        </p:txBody>
      </p:sp>
      <p:sp>
        <p:nvSpPr>
          <p:cNvPr id="100" name="TextBox 99"/>
          <p:cNvSpPr txBox="1"/>
          <p:nvPr/>
        </p:nvSpPr>
        <p:spPr>
          <a:xfrm>
            <a:off x="576072" y="5376671"/>
            <a:ext cx="1005840" cy="219456"/>
          </a:xfrm>
          <a:prstGeom prst="rect">
            <a:avLst/>
          </a:prstGeom>
          <a:noFill/>
        </p:spPr>
        <p:txBody>
          <a:bodyPr wrap="square">
            <a:spAutoFit/>
          </a:bodyPr>
          <a:lstStyle/>
          <a:p>
            <a:pPr algn="ctr">
              <a:defRPr sz="950" b="1">
                <a:solidFill>
                  <a:srgbClr val="111827"/>
                </a:solidFill>
                <a:latin typeface="Calibri"/>
              </a:defRPr>
            </a:pPr>
            <a:r>
              <a:t>Ron D.</a:t>
            </a:r>
          </a:p>
        </p:txBody>
      </p:sp>
      <p:sp>
        <p:nvSpPr>
          <p:cNvPr id="101" name="TextBox 100"/>
          <p:cNvSpPr txBox="1"/>
          <p:nvPr/>
        </p:nvSpPr>
        <p:spPr>
          <a:xfrm>
            <a:off x="1581912" y="5376671"/>
            <a:ext cx="3474720" cy="219456"/>
          </a:xfrm>
          <a:prstGeom prst="rect">
            <a:avLst/>
          </a:prstGeom>
          <a:noFill/>
        </p:spPr>
        <p:txBody>
          <a:bodyPr wrap="square">
            <a:spAutoFit/>
          </a:bodyPr>
          <a:lstStyle/>
          <a:p>
            <a:pPr algn="l">
              <a:defRPr sz="950" b="0">
                <a:solidFill>
                  <a:srgbClr val="111827"/>
                </a:solidFill>
                <a:latin typeface="Calibri"/>
              </a:defRPr>
            </a:pPr>
            <a:r>
              <a:t>Prestige International Insurance Group I…</a:t>
            </a:r>
          </a:p>
        </p:txBody>
      </p:sp>
      <p:sp>
        <p:nvSpPr>
          <p:cNvPr id="102" name="TextBox 101"/>
          <p:cNvSpPr txBox="1"/>
          <p:nvPr/>
        </p:nvSpPr>
        <p:spPr>
          <a:xfrm>
            <a:off x="5056631" y="5376671"/>
            <a:ext cx="914400" cy="219456"/>
          </a:xfrm>
          <a:prstGeom prst="rect">
            <a:avLst/>
          </a:prstGeom>
          <a:noFill/>
        </p:spPr>
        <p:txBody>
          <a:bodyPr wrap="square">
            <a:spAutoFit/>
          </a:bodyPr>
          <a:lstStyle/>
          <a:p>
            <a:pPr algn="ctr">
              <a:defRPr sz="950" b="1">
                <a:solidFill>
                  <a:srgbClr val="111827"/>
                </a:solidFill>
                <a:latin typeface="Calibri"/>
              </a:defRPr>
            </a:pPr>
            <a:r>
              <a:t>$828K</a:t>
            </a:r>
          </a:p>
        </p:txBody>
      </p:sp>
      <p:sp>
        <p:nvSpPr>
          <p:cNvPr id="103" name="Rectangle 102"/>
          <p:cNvSpPr/>
          <p:nvPr/>
        </p:nvSpPr>
        <p:spPr>
          <a:xfrm>
            <a:off x="228600" y="5596127"/>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28600" y="5614415"/>
            <a:ext cx="347472" cy="219456"/>
          </a:xfrm>
          <a:prstGeom prst="rect">
            <a:avLst/>
          </a:prstGeom>
          <a:noFill/>
        </p:spPr>
        <p:txBody>
          <a:bodyPr wrap="square">
            <a:spAutoFit/>
          </a:bodyPr>
          <a:lstStyle/>
          <a:p>
            <a:pPr algn="ctr">
              <a:defRPr sz="950" b="1">
                <a:solidFill>
                  <a:srgbClr val="111827"/>
                </a:solidFill>
                <a:latin typeface="Calibri"/>
              </a:defRPr>
            </a:pPr>
            <a:r>
              <a:t>19</a:t>
            </a:r>
          </a:p>
        </p:txBody>
      </p:sp>
      <p:sp>
        <p:nvSpPr>
          <p:cNvPr id="105" name="TextBox 104"/>
          <p:cNvSpPr txBox="1"/>
          <p:nvPr/>
        </p:nvSpPr>
        <p:spPr>
          <a:xfrm>
            <a:off x="576072" y="5614415"/>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106" name="TextBox 105"/>
          <p:cNvSpPr txBox="1"/>
          <p:nvPr/>
        </p:nvSpPr>
        <p:spPr>
          <a:xfrm>
            <a:off x="1581912" y="5614415"/>
            <a:ext cx="3474720" cy="219456"/>
          </a:xfrm>
          <a:prstGeom prst="rect">
            <a:avLst/>
          </a:prstGeom>
          <a:noFill/>
        </p:spPr>
        <p:txBody>
          <a:bodyPr wrap="square">
            <a:spAutoFit/>
          </a:bodyPr>
          <a:lstStyle/>
          <a:p>
            <a:pPr algn="l">
              <a:defRPr sz="950" b="0">
                <a:solidFill>
                  <a:srgbClr val="111827"/>
                </a:solidFill>
                <a:latin typeface="Calibri"/>
              </a:defRPr>
            </a:pPr>
            <a:r>
              <a:t>Ewall Insurance Company</a:t>
            </a:r>
          </a:p>
        </p:txBody>
      </p:sp>
      <p:sp>
        <p:nvSpPr>
          <p:cNvPr id="107" name="TextBox 106"/>
          <p:cNvSpPr txBox="1"/>
          <p:nvPr/>
        </p:nvSpPr>
        <p:spPr>
          <a:xfrm>
            <a:off x="5056631" y="5614415"/>
            <a:ext cx="914400" cy="219456"/>
          </a:xfrm>
          <a:prstGeom prst="rect">
            <a:avLst/>
          </a:prstGeom>
          <a:noFill/>
        </p:spPr>
        <p:txBody>
          <a:bodyPr wrap="square">
            <a:spAutoFit/>
          </a:bodyPr>
          <a:lstStyle/>
          <a:p>
            <a:pPr algn="ctr">
              <a:defRPr sz="950" b="1">
                <a:solidFill>
                  <a:srgbClr val="111827"/>
                </a:solidFill>
                <a:latin typeface="Calibri"/>
              </a:defRPr>
            </a:pPr>
            <a:r>
              <a:t>$764K</a:t>
            </a:r>
          </a:p>
        </p:txBody>
      </p:sp>
      <p:sp>
        <p:nvSpPr>
          <p:cNvPr id="108" name="Rectangle 107"/>
          <p:cNvSpPr/>
          <p:nvPr/>
        </p:nvSpPr>
        <p:spPr>
          <a:xfrm>
            <a:off x="228600" y="5833871"/>
            <a:ext cx="5742432" cy="2377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28600" y="5852159"/>
            <a:ext cx="347472" cy="219456"/>
          </a:xfrm>
          <a:prstGeom prst="rect">
            <a:avLst/>
          </a:prstGeom>
          <a:noFill/>
        </p:spPr>
        <p:txBody>
          <a:bodyPr wrap="square">
            <a:spAutoFit/>
          </a:bodyPr>
          <a:lstStyle/>
          <a:p>
            <a:pPr algn="ctr">
              <a:defRPr sz="950" b="1">
                <a:solidFill>
                  <a:srgbClr val="111827"/>
                </a:solidFill>
                <a:latin typeface="Calibri"/>
              </a:defRPr>
            </a:pPr>
            <a:r>
              <a:t>20</a:t>
            </a:r>
          </a:p>
        </p:txBody>
      </p:sp>
      <p:sp>
        <p:nvSpPr>
          <p:cNvPr id="110" name="TextBox 109"/>
          <p:cNvSpPr txBox="1"/>
          <p:nvPr/>
        </p:nvSpPr>
        <p:spPr>
          <a:xfrm>
            <a:off x="576072" y="5852159"/>
            <a:ext cx="1005840" cy="219456"/>
          </a:xfrm>
          <a:prstGeom prst="rect">
            <a:avLst/>
          </a:prstGeom>
          <a:noFill/>
        </p:spPr>
        <p:txBody>
          <a:bodyPr wrap="square">
            <a:spAutoFit/>
          </a:bodyPr>
          <a:lstStyle/>
          <a:p>
            <a:pPr algn="ctr">
              <a:defRPr sz="950" b="1">
                <a:solidFill>
                  <a:srgbClr val="111827"/>
                </a:solidFill>
                <a:latin typeface="Calibri"/>
              </a:defRPr>
            </a:pPr>
            <a:r>
              <a:t>Derrick L.</a:t>
            </a:r>
          </a:p>
        </p:txBody>
      </p:sp>
      <p:sp>
        <p:nvSpPr>
          <p:cNvPr id="111" name="TextBox 110"/>
          <p:cNvSpPr txBox="1"/>
          <p:nvPr/>
        </p:nvSpPr>
        <p:spPr>
          <a:xfrm>
            <a:off x="1581912" y="5852159"/>
            <a:ext cx="3474720" cy="219456"/>
          </a:xfrm>
          <a:prstGeom prst="rect">
            <a:avLst/>
          </a:prstGeom>
          <a:noFill/>
        </p:spPr>
        <p:txBody>
          <a:bodyPr wrap="square">
            <a:spAutoFit/>
          </a:bodyPr>
          <a:lstStyle/>
          <a:p>
            <a:pPr algn="l">
              <a:defRPr sz="950" b="0">
                <a:solidFill>
                  <a:srgbClr val="111827"/>
                </a:solidFill>
                <a:latin typeface="Calibri"/>
              </a:defRPr>
            </a:pPr>
            <a:r>
              <a:t>Connect Insurance Agency, Inc.</a:t>
            </a:r>
          </a:p>
        </p:txBody>
      </p:sp>
      <p:sp>
        <p:nvSpPr>
          <p:cNvPr id="112" name="TextBox 111"/>
          <p:cNvSpPr txBox="1"/>
          <p:nvPr/>
        </p:nvSpPr>
        <p:spPr>
          <a:xfrm>
            <a:off x="5056631" y="5852159"/>
            <a:ext cx="914400" cy="219456"/>
          </a:xfrm>
          <a:prstGeom prst="rect">
            <a:avLst/>
          </a:prstGeom>
          <a:noFill/>
        </p:spPr>
        <p:txBody>
          <a:bodyPr wrap="square">
            <a:spAutoFit/>
          </a:bodyPr>
          <a:lstStyle/>
          <a:p>
            <a:pPr algn="ctr">
              <a:defRPr sz="950" b="1">
                <a:solidFill>
                  <a:srgbClr val="111827"/>
                </a:solidFill>
                <a:latin typeface="Calibri"/>
              </a:defRPr>
            </a:pPr>
            <a:r>
              <a:t>$743K</a:t>
            </a:r>
          </a:p>
        </p:txBody>
      </p:sp>
      <p:sp>
        <p:nvSpPr>
          <p:cNvPr id="113" name="Rectangle 112"/>
          <p:cNvSpPr/>
          <p:nvPr/>
        </p:nvSpPr>
        <p:spPr>
          <a:xfrm>
            <a:off x="6291072" y="841248"/>
            <a:ext cx="5779008"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364224" y="868680"/>
            <a:ext cx="5742432" cy="182880"/>
          </a:xfrm>
          <a:prstGeom prst="rect">
            <a:avLst/>
          </a:prstGeom>
          <a:noFill/>
        </p:spPr>
        <p:txBody>
          <a:bodyPr wrap="square">
            <a:spAutoFit/>
          </a:bodyPr>
          <a:lstStyle/>
          <a:p>
            <a:pPr algn="l">
              <a:defRPr sz="900" b="1">
                <a:solidFill>
                  <a:srgbClr val="FFFFFF"/>
                </a:solidFill>
                <a:latin typeface="Calibri"/>
              </a:defRPr>
            </a:pPr>
            <a:r>
              <a:t>Top 20 Agencies — Q2 Submissions</a:t>
            </a:r>
          </a:p>
        </p:txBody>
      </p:sp>
      <p:sp>
        <p:nvSpPr>
          <p:cNvPr id="115" name="TextBox 114"/>
          <p:cNvSpPr txBox="1"/>
          <p:nvPr/>
        </p:nvSpPr>
        <p:spPr>
          <a:xfrm>
            <a:off x="6291072" y="1097280"/>
            <a:ext cx="347472" cy="201168"/>
          </a:xfrm>
          <a:prstGeom prst="rect">
            <a:avLst/>
          </a:prstGeom>
          <a:noFill/>
        </p:spPr>
        <p:txBody>
          <a:bodyPr wrap="square">
            <a:spAutoFit/>
          </a:bodyPr>
          <a:lstStyle/>
          <a:p>
            <a:pPr algn="ctr">
              <a:defRPr sz="850" b="1">
                <a:solidFill>
                  <a:srgbClr val="6B7280"/>
                </a:solidFill>
                <a:latin typeface="Calibri"/>
              </a:defRPr>
            </a:pPr>
            <a:r>
              <a:t>#</a:t>
            </a:r>
          </a:p>
        </p:txBody>
      </p:sp>
      <p:sp>
        <p:nvSpPr>
          <p:cNvPr id="116" name="TextBox 115"/>
          <p:cNvSpPr txBox="1"/>
          <p:nvPr/>
        </p:nvSpPr>
        <p:spPr>
          <a:xfrm>
            <a:off x="6638544" y="1097280"/>
            <a:ext cx="1005840" cy="201168"/>
          </a:xfrm>
          <a:prstGeom prst="rect">
            <a:avLst/>
          </a:prstGeom>
          <a:noFill/>
        </p:spPr>
        <p:txBody>
          <a:bodyPr wrap="square">
            <a:spAutoFit/>
          </a:bodyPr>
          <a:lstStyle/>
          <a:p>
            <a:pPr algn="ctr">
              <a:defRPr sz="850" b="1">
                <a:solidFill>
                  <a:srgbClr val="6B7280"/>
                </a:solidFill>
                <a:latin typeface="Calibri"/>
              </a:defRPr>
            </a:pPr>
            <a:r>
              <a:t>Rep</a:t>
            </a:r>
          </a:p>
        </p:txBody>
      </p:sp>
      <p:sp>
        <p:nvSpPr>
          <p:cNvPr id="117" name="TextBox 116"/>
          <p:cNvSpPr txBox="1"/>
          <p:nvPr/>
        </p:nvSpPr>
        <p:spPr>
          <a:xfrm>
            <a:off x="7644383" y="1097280"/>
            <a:ext cx="3474720" cy="201168"/>
          </a:xfrm>
          <a:prstGeom prst="rect">
            <a:avLst/>
          </a:prstGeom>
          <a:noFill/>
        </p:spPr>
        <p:txBody>
          <a:bodyPr wrap="square">
            <a:spAutoFit/>
          </a:bodyPr>
          <a:lstStyle/>
          <a:p>
            <a:pPr algn="l">
              <a:defRPr sz="850" b="1">
                <a:solidFill>
                  <a:srgbClr val="6B7280"/>
                </a:solidFill>
                <a:latin typeface="Calibri"/>
              </a:defRPr>
            </a:pPr>
            <a:r>
              <a:t>Agency</a:t>
            </a:r>
          </a:p>
        </p:txBody>
      </p:sp>
      <p:sp>
        <p:nvSpPr>
          <p:cNvPr id="118" name="TextBox 117"/>
          <p:cNvSpPr txBox="1"/>
          <p:nvPr/>
        </p:nvSpPr>
        <p:spPr>
          <a:xfrm>
            <a:off x="11119104" y="1097280"/>
            <a:ext cx="914400" cy="201168"/>
          </a:xfrm>
          <a:prstGeom prst="rect">
            <a:avLst/>
          </a:prstGeom>
          <a:noFill/>
        </p:spPr>
        <p:txBody>
          <a:bodyPr wrap="square">
            <a:spAutoFit/>
          </a:bodyPr>
          <a:lstStyle/>
          <a:p>
            <a:pPr algn="ctr">
              <a:defRPr sz="850" b="1">
                <a:solidFill>
                  <a:srgbClr val="6B7280"/>
                </a:solidFill>
                <a:latin typeface="Calibri"/>
              </a:defRPr>
            </a:pPr>
            <a:r>
              <a:t>Q2 Subs</a:t>
            </a:r>
          </a:p>
        </p:txBody>
      </p:sp>
      <p:sp>
        <p:nvSpPr>
          <p:cNvPr id="119" name="Rectangle 118"/>
          <p:cNvSpPr/>
          <p:nvPr/>
        </p:nvSpPr>
        <p:spPr>
          <a:xfrm>
            <a:off x="6291072" y="1298448"/>
            <a:ext cx="5742432"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6291072" y="1316736"/>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291072" y="1335024"/>
            <a:ext cx="347472" cy="219456"/>
          </a:xfrm>
          <a:prstGeom prst="rect">
            <a:avLst/>
          </a:prstGeom>
          <a:noFill/>
        </p:spPr>
        <p:txBody>
          <a:bodyPr wrap="square">
            <a:spAutoFit/>
          </a:bodyPr>
          <a:lstStyle/>
          <a:p>
            <a:pPr algn="ctr">
              <a:defRPr sz="950" b="1">
                <a:solidFill>
                  <a:srgbClr val="111827"/>
                </a:solidFill>
                <a:latin typeface="Calibri"/>
              </a:defRPr>
            </a:pPr>
            <a:r>
              <a:t>1</a:t>
            </a:r>
          </a:p>
        </p:txBody>
      </p:sp>
      <p:sp>
        <p:nvSpPr>
          <p:cNvPr id="122" name="TextBox 121"/>
          <p:cNvSpPr txBox="1"/>
          <p:nvPr/>
        </p:nvSpPr>
        <p:spPr>
          <a:xfrm>
            <a:off x="6638544" y="1335024"/>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123" name="TextBox 122"/>
          <p:cNvSpPr txBox="1"/>
          <p:nvPr/>
        </p:nvSpPr>
        <p:spPr>
          <a:xfrm>
            <a:off x="7644383" y="1335024"/>
            <a:ext cx="3474720" cy="219456"/>
          </a:xfrm>
          <a:prstGeom prst="rect">
            <a:avLst/>
          </a:prstGeom>
          <a:noFill/>
        </p:spPr>
        <p:txBody>
          <a:bodyPr wrap="square">
            <a:spAutoFit/>
          </a:bodyPr>
          <a:lstStyle/>
          <a:p>
            <a:pPr algn="l">
              <a:defRPr sz="950" b="0">
                <a:solidFill>
                  <a:srgbClr val="111827"/>
                </a:solidFill>
                <a:latin typeface="Calibri"/>
              </a:defRPr>
            </a:pPr>
            <a:r>
              <a:t>Reliance Partners, LLC</a:t>
            </a:r>
          </a:p>
        </p:txBody>
      </p:sp>
      <p:sp>
        <p:nvSpPr>
          <p:cNvPr id="124" name="TextBox 123"/>
          <p:cNvSpPr txBox="1"/>
          <p:nvPr/>
        </p:nvSpPr>
        <p:spPr>
          <a:xfrm>
            <a:off x="11119104" y="1335024"/>
            <a:ext cx="914400" cy="219456"/>
          </a:xfrm>
          <a:prstGeom prst="rect">
            <a:avLst/>
          </a:prstGeom>
          <a:noFill/>
        </p:spPr>
        <p:txBody>
          <a:bodyPr wrap="square">
            <a:spAutoFit/>
          </a:bodyPr>
          <a:lstStyle/>
          <a:p>
            <a:pPr algn="ctr">
              <a:defRPr sz="950" b="1">
                <a:solidFill>
                  <a:srgbClr val="111827"/>
                </a:solidFill>
                <a:latin typeface="Calibri"/>
              </a:defRPr>
            </a:pPr>
            <a:r>
              <a:t>2320</a:t>
            </a:r>
          </a:p>
        </p:txBody>
      </p:sp>
      <p:sp>
        <p:nvSpPr>
          <p:cNvPr id="125" name="Rectangle 124"/>
          <p:cNvSpPr/>
          <p:nvPr/>
        </p:nvSpPr>
        <p:spPr>
          <a:xfrm>
            <a:off x="6291072" y="1554480"/>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6291072" y="1572768"/>
            <a:ext cx="347472" cy="219456"/>
          </a:xfrm>
          <a:prstGeom prst="rect">
            <a:avLst/>
          </a:prstGeom>
          <a:noFill/>
        </p:spPr>
        <p:txBody>
          <a:bodyPr wrap="square">
            <a:spAutoFit/>
          </a:bodyPr>
          <a:lstStyle/>
          <a:p>
            <a:pPr algn="ctr">
              <a:defRPr sz="950" b="1">
                <a:solidFill>
                  <a:srgbClr val="111827"/>
                </a:solidFill>
                <a:latin typeface="Calibri"/>
              </a:defRPr>
            </a:pPr>
            <a:r>
              <a:t>2</a:t>
            </a:r>
          </a:p>
        </p:txBody>
      </p:sp>
      <p:sp>
        <p:nvSpPr>
          <p:cNvPr id="127" name="TextBox 126"/>
          <p:cNvSpPr txBox="1"/>
          <p:nvPr/>
        </p:nvSpPr>
        <p:spPr>
          <a:xfrm>
            <a:off x="6638544" y="1572768"/>
            <a:ext cx="1005840" cy="219456"/>
          </a:xfrm>
          <a:prstGeom prst="rect">
            <a:avLst/>
          </a:prstGeom>
          <a:noFill/>
        </p:spPr>
        <p:txBody>
          <a:bodyPr wrap="square">
            <a:spAutoFit/>
          </a:bodyPr>
          <a:lstStyle/>
          <a:p>
            <a:pPr algn="ctr">
              <a:defRPr sz="950" b="1">
                <a:solidFill>
                  <a:srgbClr val="111827"/>
                </a:solidFill>
                <a:latin typeface="Calibri"/>
              </a:defRPr>
            </a:pPr>
            <a:r>
              <a:t>Ron D.</a:t>
            </a:r>
          </a:p>
        </p:txBody>
      </p:sp>
      <p:sp>
        <p:nvSpPr>
          <p:cNvPr id="128" name="TextBox 127"/>
          <p:cNvSpPr txBox="1"/>
          <p:nvPr/>
        </p:nvSpPr>
        <p:spPr>
          <a:xfrm>
            <a:off x="7644383" y="1572768"/>
            <a:ext cx="3474720" cy="219456"/>
          </a:xfrm>
          <a:prstGeom prst="rect">
            <a:avLst/>
          </a:prstGeom>
          <a:noFill/>
        </p:spPr>
        <p:txBody>
          <a:bodyPr wrap="square">
            <a:spAutoFit/>
          </a:bodyPr>
          <a:lstStyle/>
          <a:p>
            <a:pPr algn="l">
              <a:defRPr sz="950" b="0">
                <a:solidFill>
                  <a:srgbClr val="111827"/>
                </a:solidFill>
                <a:latin typeface="Calibri"/>
              </a:defRPr>
            </a:pPr>
            <a:r>
              <a:t>Insurance4Truckers LLC</a:t>
            </a:r>
          </a:p>
        </p:txBody>
      </p:sp>
      <p:sp>
        <p:nvSpPr>
          <p:cNvPr id="129" name="TextBox 128"/>
          <p:cNvSpPr txBox="1"/>
          <p:nvPr/>
        </p:nvSpPr>
        <p:spPr>
          <a:xfrm>
            <a:off x="11119104" y="1572768"/>
            <a:ext cx="914400" cy="219456"/>
          </a:xfrm>
          <a:prstGeom prst="rect">
            <a:avLst/>
          </a:prstGeom>
          <a:noFill/>
        </p:spPr>
        <p:txBody>
          <a:bodyPr wrap="square">
            <a:spAutoFit/>
          </a:bodyPr>
          <a:lstStyle/>
          <a:p>
            <a:pPr algn="ctr">
              <a:defRPr sz="950" b="1">
                <a:solidFill>
                  <a:srgbClr val="111827"/>
                </a:solidFill>
                <a:latin typeface="Calibri"/>
              </a:defRPr>
            </a:pPr>
            <a:r>
              <a:t>2180</a:t>
            </a:r>
          </a:p>
        </p:txBody>
      </p:sp>
      <p:sp>
        <p:nvSpPr>
          <p:cNvPr id="130" name="Rectangle 129"/>
          <p:cNvSpPr/>
          <p:nvPr/>
        </p:nvSpPr>
        <p:spPr>
          <a:xfrm>
            <a:off x="6291072" y="1792224"/>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6291072" y="1810512"/>
            <a:ext cx="347472" cy="219456"/>
          </a:xfrm>
          <a:prstGeom prst="rect">
            <a:avLst/>
          </a:prstGeom>
          <a:noFill/>
        </p:spPr>
        <p:txBody>
          <a:bodyPr wrap="square">
            <a:spAutoFit/>
          </a:bodyPr>
          <a:lstStyle/>
          <a:p>
            <a:pPr algn="ctr">
              <a:defRPr sz="950" b="1">
                <a:solidFill>
                  <a:srgbClr val="111827"/>
                </a:solidFill>
                <a:latin typeface="Calibri"/>
              </a:defRPr>
            </a:pPr>
            <a:r>
              <a:t>3</a:t>
            </a:r>
          </a:p>
        </p:txBody>
      </p:sp>
      <p:sp>
        <p:nvSpPr>
          <p:cNvPr id="132" name="TextBox 131"/>
          <p:cNvSpPr txBox="1"/>
          <p:nvPr/>
        </p:nvSpPr>
        <p:spPr>
          <a:xfrm>
            <a:off x="6638544" y="1810512"/>
            <a:ext cx="1005840" cy="219456"/>
          </a:xfrm>
          <a:prstGeom prst="rect">
            <a:avLst/>
          </a:prstGeom>
          <a:noFill/>
        </p:spPr>
        <p:txBody>
          <a:bodyPr wrap="square">
            <a:spAutoFit/>
          </a:bodyPr>
          <a:lstStyle/>
          <a:p>
            <a:pPr algn="ctr">
              <a:defRPr sz="950" b="1">
                <a:solidFill>
                  <a:srgbClr val="111827"/>
                </a:solidFill>
                <a:latin typeface="Calibri"/>
              </a:defRPr>
            </a:pPr>
            <a:r>
              <a:t>Kurt B.</a:t>
            </a:r>
          </a:p>
        </p:txBody>
      </p:sp>
      <p:sp>
        <p:nvSpPr>
          <p:cNvPr id="133" name="TextBox 132"/>
          <p:cNvSpPr txBox="1"/>
          <p:nvPr/>
        </p:nvSpPr>
        <p:spPr>
          <a:xfrm>
            <a:off x="7644383" y="1810512"/>
            <a:ext cx="3474720" cy="219456"/>
          </a:xfrm>
          <a:prstGeom prst="rect">
            <a:avLst/>
          </a:prstGeom>
          <a:noFill/>
        </p:spPr>
        <p:txBody>
          <a:bodyPr wrap="square">
            <a:spAutoFit/>
          </a:bodyPr>
          <a:lstStyle/>
          <a:p>
            <a:pPr algn="l">
              <a:defRPr sz="950" b="0">
                <a:solidFill>
                  <a:srgbClr val="111827"/>
                </a:solidFill>
                <a:latin typeface="Calibri"/>
              </a:defRPr>
            </a:pPr>
            <a:r>
              <a:t>Fino Services LLC</a:t>
            </a:r>
          </a:p>
        </p:txBody>
      </p:sp>
      <p:sp>
        <p:nvSpPr>
          <p:cNvPr id="134" name="TextBox 133"/>
          <p:cNvSpPr txBox="1"/>
          <p:nvPr/>
        </p:nvSpPr>
        <p:spPr>
          <a:xfrm>
            <a:off x="11119104" y="1810512"/>
            <a:ext cx="914400" cy="219456"/>
          </a:xfrm>
          <a:prstGeom prst="rect">
            <a:avLst/>
          </a:prstGeom>
          <a:noFill/>
        </p:spPr>
        <p:txBody>
          <a:bodyPr wrap="square">
            <a:spAutoFit/>
          </a:bodyPr>
          <a:lstStyle/>
          <a:p>
            <a:pPr algn="ctr">
              <a:defRPr sz="950" b="1">
                <a:solidFill>
                  <a:srgbClr val="111827"/>
                </a:solidFill>
                <a:latin typeface="Calibri"/>
              </a:defRPr>
            </a:pPr>
            <a:r>
              <a:t>1671</a:t>
            </a:r>
          </a:p>
        </p:txBody>
      </p:sp>
      <p:sp>
        <p:nvSpPr>
          <p:cNvPr id="135" name="Rectangle 134"/>
          <p:cNvSpPr/>
          <p:nvPr/>
        </p:nvSpPr>
        <p:spPr>
          <a:xfrm>
            <a:off x="6291072" y="2029968"/>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6291072" y="2048256"/>
            <a:ext cx="347472" cy="219456"/>
          </a:xfrm>
          <a:prstGeom prst="rect">
            <a:avLst/>
          </a:prstGeom>
          <a:noFill/>
        </p:spPr>
        <p:txBody>
          <a:bodyPr wrap="square">
            <a:spAutoFit/>
          </a:bodyPr>
          <a:lstStyle/>
          <a:p>
            <a:pPr algn="ctr">
              <a:defRPr sz="950" b="1">
                <a:solidFill>
                  <a:srgbClr val="111827"/>
                </a:solidFill>
                <a:latin typeface="Calibri"/>
              </a:defRPr>
            </a:pPr>
            <a:r>
              <a:t>4</a:t>
            </a:r>
          </a:p>
        </p:txBody>
      </p:sp>
      <p:sp>
        <p:nvSpPr>
          <p:cNvPr id="137" name="TextBox 136"/>
          <p:cNvSpPr txBox="1"/>
          <p:nvPr/>
        </p:nvSpPr>
        <p:spPr>
          <a:xfrm>
            <a:off x="6638544" y="2048256"/>
            <a:ext cx="1005840" cy="219456"/>
          </a:xfrm>
          <a:prstGeom prst="rect">
            <a:avLst/>
          </a:prstGeom>
          <a:noFill/>
        </p:spPr>
        <p:txBody>
          <a:bodyPr wrap="square">
            <a:spAutoFit/>
          </a:bodyPr>
          <a:lstStyle/>
          <a:p>
            <a:pPr algn="ctr">
              <a:defRPr sz="950" b="1">
                <a:solidFill>
                  <a:srgbClr val="111827"/>
                </a:solidFill>
                <a:latin typeface="Calibri"/>
              </a:defRPr>
            </a:pPr>
            <a:r>
              <a:t>Ron D.</a:t>
            </a:r>
          </a:p>
        </p:txBody>
      </p:sp>
      <p:sp>
        <p:nvSpPr>
          <p:cNvPr id="138" name="TextBox 137"/>
          <p:cNvSpPr txBox="1"/>
          <p:nvPr/>
        </p:nvSpPr>
        <p:spPr>
          <a:xfrm>
            <a:off x="7644383" y="2048256"/>
            <a:ext cx="3474720" cy="219456"/>
          </a:xfrm>
          <a:prstGeom prst="rect">
            <a:avLst/>
          </a:prstGeom>
          <a:noFill/>
        </p:spPr>
        <p:txBody>
          <a:bodyPr wrap="square">
            <a:spAutoFit/>
          </a:bodyPr>
          <a:lstStyle/>
          <a:p>
            <a:pPr algn="l">
              <a:defRPr sz="950" b="0">
                <a:solidFill>
                  <a:srgbClr val="111827"/>
                </a:solidFill>
                <a:latin typeface="Calibri"/>
              </a:defRPr>
            </a:pPr>
            <a:r>
              <a:t>USA SPECIALTY INSURANCE/DBA PREVENTTY</a:t>
            </a:r>
          </a:p>
        </p:txBody>
      </p:sp>
      <p:sp>
        <p:nvSpPr>
          <p:cNvPr id="139" name="TextBox 138"/>
          <p:cNvSpPr txBox="1"/>
          <p:nvPr/>
        </p:nvSpPr>
        <p:spPr>
          <a:xfrm>
            <a:off x="11119104" y="2048256"/>
            <a:ext cx="914400" cy="219456"/>
          </a:xfrm>
          <a:prstGeom prst="rect">
            <a:avLst/>
          </a:prstGeom>
          <a:noFill/>
        </p:spPr>
        <p:txBody>
          <a:bodyPr wrap="square">
            <a:spAutoFit/>
          </a:bodyPr>
          <a:lstStyle/>
          <a:p>
            <a:pPr algn="ctr">
              <a:defRPr sz="950" b="1">
                <a:solidFill>
                  <a:srgbClr val="111827"/>
                </a:solidFill>
                <a:latin typeface="Calibri"/>
              </a:defRPr>
            </a:pPr>
            <a:r>
              <a:t>1379</a:t>
            </a:r>
          </a:p>
        </p:txBody>
      </p:sp>
      <p:sp>
        <p:nvSpPr>
          <p:cNvPr id="140" name="Rectangle 139"/>
          <p:cNvSpPr/>
          <p:nvPr/>
        </p:nvSpPr>
        <p:spPr>
          <a:xfrm>
            <a:off x="6291072" y="2267712"/>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6291072" y="2286000"/>
            <a:ext cx="347472" cy="219456"/>
          </a:xfrm>
          <a:prstGeom prst="rect">
            <a:avLst/>
          </a:prstGeom>
          <a:noFill/>
        </p:spPr>
        <p:txBody>
          <a:bodyPr wrap="square">
            <a:spAutoFit/>
          </a:bodyPr>
          <a:lstStyle/>
          <a:p>
            <a:pPr algn="ctr">
              <a:defRPr sz="950" b="1">
                <a:solidFill>
                  <a:srgbClr val="111827"/>
                </a:solidFill>
                <a:latin typeface="Calibri"/>
              </a:defRPr>
            </a:pPr>
            <a:r>
              <a:t>5</a:t>
            </a:r>
          </a:p>
        </p:txBody>
      </p:sp>
      <p:sp>
        <p:nvSpPr>
          <p:cNvPr id="142" name="TextBox 141"/>
          <p:cNvSpPr txBox="1"/>
          <p:nvPr/>
        </p:nvSpPr>
        <p:spPr>
          <a:xfrm>
            <a:off x="6638544" y="2286000"/>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143" name="TextBox 142"/>
          <p:cNvSpPr txBox="1"/>
          <p:nvPr/>
        </p:nvSpPr>
        <p:spPr>
          <a:xfrm>
            <a:off x="7644383" y="2286000"/>
            <a:ext cx="3474720" cy="219456"/>
          </a:xfrm>
          <a:prstGeom prst="rect">
            <a:avLst/>
          </a:prstGeom>
          <a:noFill/>
        </p:spPr>
        <p:txBody>
          <a:bodyPr wrap="square">
            <a:spAutoFit/>
          </a:bodyPr>
          <a:lstStyle/>
          <a:p>
            <a:pPr algn="l">
              <a:defRPr sz="950" b="0">
                <a:solidFill>
                  <a:srgbClr val="111827"/>
                </a:solidFill>
                <a:latin typeface="Calibri"/>
              </a:defRPr>
            </a:pPr>
            <a:r>
              <a:t>United Advantage Insurance Services</a:t>
            </a:r>
          </a:p>
        </p:txBody>
      </p:sp>
      <p:sp>
        <p:nvSpPr>
          <p:cNvPr id="144" name="TextBox 143"/>
          <p:cNvSpPr txBox="1"/>
          <p:nvPr/>
        </p:nvSpPr>
        <p:spPr>
          <a:xfrm>
            <a:off x="11119104" y="2286000"/>
            <a:ext cx="914400" cy="219456"/>
          </a:xfrm>
          <a:prstGeom prst="rect">
            <a:avLst/>
          </a:prstGeom>
          <a:noFill/>
        </p:spPr>
        <p:txBody>
          <a:bodyPr wrap="square">
            <a:spAutoFit/>
          </a:bodyPr>
          <a:lstStyle/>
          <a:p>
            <a:pPr algn="ctr">
              <a:defRPr sz="950" b="1">
                <a:solidFill>
                  <a:srgbClr val="111827"/>
                </a:solidFill>
                <a:latin typeface="Calibri"/>
              </a:defRPr>
            </a:pPr>
            <a:r>
              <a:t>1195</a:t>
            </a:r>
          </a:p>
        </p:txBody>
      </p:sp>
      <p:sp>
        <p:nvSpPr>
          <p:cNvPr id="145" name="Rectangle 144"/>
          <p:cNvSpPr/>
          <p:nvPr/>
        </p:nvSpPr>
        <p:spPr>
          <a:xfrm>
            <a:off x="6291072" y="2505456"/>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6291072" y="2523744"/>
            <a:ext cx="347472" cy="219456"/>
          </a:xfrm>
          <a:prstGeom prst="rect">
            <a:avLst/>
          </a:prstGeom>
          <a:noFill/>
        </p:spPr>
        <p:txBody>
          <a:bodyPr wrap="square">
            <a:spAutoFit/>
          </a:bodyPr>
          <a:lstStyle/>
          <a:p>
            <a:pPr algn="ctr">
              <a:defRPr sz="950" b="1">
                <a:solidFill>
                  <a:srgbClr val="111827"/>
                </a:solidFill>
                <a:latin typeface="Calibri"/>
              </a:defRPr>
            </a:pPr>
            <a:r>
              <a:t>6</a:t>
            </a:r>
          </a:p>
        </p:txBody>
      </p:sp>
      <p:sp>
        <p:nvSpPr>
          <p:cNvPr id="147" name="TextBox 146"/>
          <p:cNvSpPr txBox="1"/>
          <p:nvPr/>
        </p:nvSpPr>
        <p:spPr>
          <a:xfrm>
            <a:off x="6638544" y="2523744"/>
            <a:ext cx="1005840" cy="219456"/>
          </a:xfrm>
          <a:prstGeom prst="rect">
            <a:avLst/>
          </a:prstGeom>
          <a:noFill/>
        </p:spPr>
        <p:txBody>
          <a:bodyPr wrap="square">
            <a:spAutoFit/>
          </a:bodyPr>
          <a:lstStyle/>
          <a:p>
            <a:pPr algn="ctr">
              <a:defRPr sz="950" b="1">
                <a:solidFill>
                  <a:srgbClr val="111827"/>
                </a:solidFill>
                <a:latin typeface="Calibri"/>
              </a:defRPr>
            </a:pPr>
            <a:r>
              <a:t>Derrick L.</a:t>
            </a:r>
          </a:p>
        </p:txBody>
      </p:sp>
      <p:sp>
        <p:nvSpPr>
          <p:cNvPr id="148" name="TextBox 147"/>
          <p:cNvSpPr txBox="1"/>
          <p:nvPr/>
        </p:nvSpPr>
        <p:spPr>
          <a:xfrm>
            <a:off x="7644383" y="2523744"/>
            <a:ext cx="3474720" cy="219456"/>
          </a:xfrm>
          <a:prstGeom prst="rect">
            <a:avLst/>
          </a:prstGeom>
          <a:noFill/>
        </p:spPr>
        <p:txBody>
          <a:bodyPr wrap="square">
            <a:spAutoFit/>
          </a:bodyPr>
          <a:lstStyle/>
          <a:p>
            <a:pPr algn="l">
              <a:defRPr sz="950" b="0">
                <a:solidFill>
                  <a:srgbClr val="111827"/>
                </a:solidFill>
                <a:latin typeface="Calibri"/>
              </a:defRPr>
            </a:pPr>
            <a:r>
              <a:t>American Fleet Insurance</a:t>
            </a:r>
          </a:p>
        </p:txBody>
      </p:sp>
      <p:sp>
        <p:nvSpPr>
          <p:cNvPr id="149" name="TextBox 148"/>
          <p:cNvSpPr txBox="1"/>
          <p:nvPr/>
        </p:nvSpPr>
        <p:spPr>
          <a:xfrm>
            <a:off x="11119104" y="2523744"/>
            <a:ext cx="914400" cy="219456"/>
          </a:xfrm>
          <a:prstGeom prst="rect">
            <a:avLst/>
          </a:prstGeom>
          <a:noFill/>
        </p:spPr>
        <p:txBody>
          <a:bodyPr wrap="square">
            <a:spAutoFit/>
          </a:bodyPr>
          <a:lstStyle/>
          <a:p>
            <a:pPr algn="ctr">
              <a:defRPr sz="950" b="1">
                <a:solidFill>
                  <a:srgbClr val="111827"/>
                </a:solidFill>
                <a:latin typeface="Calibri"/>
              </a:defRPr>
            </a:pPr>
            <a:r>
              <a:t>1091</a:t>
            </a:r>
          </a:p>
        </p:txBody>
      </p:sp>
      <p:sp>
        <p:nvSpPr>
          <p:cNvPr id="150" name="Rectangle 149"/>
          <p:cNvSpPr/>
          <p:nvPr/>
        </p:nvSpPr>
        <p:spPr>
          <a:xfrm>
            <a:off x="6291072" y="2743199"/>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6291072" y="2761487"/>
            <a:ext cx="347472" cy="219456"/>
          </a:xfrm>
          <a:prstGeom prst="rect">
            <a:avLst/>
          </a:prstGeom>
          <a:noFill/>
        </p:spPr>
        <p:txBody>
          <a:bodyPr wrap="square">
            <a:spAutoFit/>
          </a:bodyPr>
          <a:lstStyle/>
          <a:p>
            <a:pPr algn="ctr">
              <a:defRPr sz="950" b="1">
                <a:solidFill>
                  <a:srgbClr val="111827"/>
                </a:solidFill>
                <a:latin typeface="Calibri"/>
              </a:defRPr>
            </a:pPr>
            <a:r>
              <a:t>7</a:t>
            </a:r>
          </a:p>
        </p:txBody>
      </p:sp>
      <p:sp>
        <p:nvSpPr>
          <p:cNvPr id="152" name="TextBox 151"/>
          <p:cNvSpPr txBox="1"/>
          <p:nvPr/>
        </p:nvSpPr>
        <p:spPr>
          <a:xfrm>
            <a:off x="6638544" y="2761487"/>
            <a:ext cx="1005840" cy="219456"/>
          </a:xfrm>
          <a:prstGeom prst="rect">
            <a:avLst/>
          </a:prstGeom>
          <a:noFill/>
        </p:spPr>
        <p:txBody>
          <a:bodyPr wrap="square">
            <a:spAutoFit/>
          </a:bodyPr>
          <a:lstStyle/>
          <a:p>
            <a:pPr algn="ctr">
              <a:defRPr sz="950" b="1">
                <a:solidFill>
                  <a:srgbClr val="111827"/>
                </a:solidFill>
                <a:latin typeface="Calibri"/>
              </a:defRPr>
            </a:pPr>
            <a:r>
              <a:t>Derrick L.</a:t>
            </a:r>
          </a:p>
        </p:txBody>
      </p:sp>
      <p:sp>
        <p:nvSpPr>
          <p:cNvPr id="153" name="TextBox 152"/>
          <p:cNvSpPr txBox="1"/>
          <p:nvPr/>
        </p:nvSpPr>
        <p:spPr>
          <a:xfrm>
            <a:off x="7644383" y="2761487"/>
            <a:ext cx="3474720" cy="219456"/>
          </a:xfrm>
          <a:prstGeom prst="rect">
            <a:avLst/>
          </a:prstGeom>
          <a:noFill/>
        </p:spPr>
        <p:txBody>
          <a:bodyPr wrap="square">
            <a:spAutoFit/>
          </a:bodyPr>
          <a:lstStyle/>
          <a:p>
            <a:pPr algn="l">
              <a:defRPr sz="950" b="0">
                <a:solidFill>
                  <a:srgbClr val="111827"/>
                </a:solidFill>
                <a:latin typeface="Calibri"/>
              </a:defRPr>
            </a:pPr>
            <a:r>
              <a:t>AMC Agents LLC</a:t>
            </a:r>
          </a:p>
        </p:txBody>
      </p:sp>
      <p:sp>
        <p:nvSpPr>
          <p:cNvPr id="154" name="TextBox 153"/>
          <p:cNvSpPr txBox="1"/>
          <p:nvPr/>
        </p:nvSpPr>
        <p:spPr>
          <a:xfrm>
            <a:off x="11119104" y="2761487"/>
            <a:ext cx="914400" cy="219456"/>
          </a:xfrm>
          <a:prstGeom prst="rect">
            <a:avLst/>
          </a:prstGeom>
          <a:noFill/>
        </p:spPr>
        <p:txBody>
          <a:bodyPr wrap="square">
            <a:spAutoFit/>
          </a:bodyPr>
          <a:lstStyle/>
          <a:p>
            <a:pPr algn="ctr">
              <a:defRPr sz="950" b="1">
                <a:solidFill>
                  <a:srgbClr val="111827"/>
                </a:solidFill>
                <a:latin typeface="Calibri"/>
              </a:defRPr>
            </a:pPr>
            <a:r>
              <a:t>1078</a:t>
            </a:r>
          </a:p>
        </p:txBody>
      </p:sp>
      <p:sp>
        <p:nvSpPr>
          <p:cNvPr id="155" name="Rectangle 154"/>
          <p:cNvSpPr/>
          <p:nvPr/>
        </p:nvSpPr>
        <p:spPr>
          <a:xfrm>
            <a:off x="6291072" y="2980943"/>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291072" y="2999231"/>
            <a:ext cx="347472" cy="219456"/>
          </a:xfrm>
          <a:prstGeom prst="rect">
            <a:avLst/>
          </a:prstGeom>
          <a:noFill/>
        </p:spPr>
        <p:txBody>
          <a:bodyPr wrap="square">
            <a:spAutoFit/>
          </a:bodyPr>
          <a:lstStyle/>
          <a:p>
            <a:pPr algn="ctr">
              <a:defRPr sz="950" b="1">
                <a:solidFill>
                  <a:srgbClr val="111827"/>
                </a:solidFill>
                <a:latin typeface="Calibri"/>
              </a:defRPr>
            </a:pPr>
            <a:r>
              <a:t>8</a:t>
            </a:r>
          </a:p>
        </p:txBody>
      </p:sp>
      <p:sp>
        <p:nvSpPr>
          <p:cNvPr id="157" name="TextBox 156"/>
          <p:cNvSpPr txBox="1"/>
          <p:nvPr/>
        </p:nvSpPr>
        <p:spPr>
          <a:xfrm>
            <a:off x="6638544" y="2999231"/>
            <a:ext cx="1005840" cy="219456"/>
          </a:xfrm>
          <a:prstGeom prst="rect">
            <a:avLst/>
          </a:prstGeom>
          <a:noFill/>
        </p:spPr>
        <p:txBody>
          <a:bodyPr wrap="square">
            <a:spAutoFit/>
          </a:bodyPr>
          <a:lstStyle/>
          <a:p>
            <a:pPr algn="ctr">
              <a:defRPr sz="950" b="1">
                <a:solidFill>
                  <a:srgbClr val="111827"/>
                </a:solidFill>
                <a:latin typeface="Calibri"/>
              </a:defRPr>
            </a:pPr>
            <a:r>
              <a:t>Erika C.</a:t>
            </a:r>
          </a:p>
        </p:txBody>
      </p:sp>
      <p:sp>
        <p:nvSpPr>
          <p:cNvPr id="158" name="TextBox 157"/>
          <p:cNvSpPr txBox="1"/>
          <p:nvPr/>
        </p:nvSpPr>
        <p:spPr>
          <a:xfrm>
            <a:off x="7644383" y="2999231"/>
            <a:ext cx="3474720" cy="219456"/>
          </a:xfrm>
          <a:prstGeom prst="rect">
            <a:avLst/>
          </a:prstGeom>
          <a:noFill/>
        </p:spPr>
        <p:txBody>
          <a:bodyPr wrap="square">
            <a:spAutoFit/>
          </a:bodyPr>
          <a:lstStyle/>
          <a:p>
            <a:pPr algn="l">
              <a:defRPr sz="950" b="0">
                <a:solidFill>
                  <a:srgbClr val="111827"/>
                </a:solidFill>
                <a:latin typeface="Calibri"/>
              </a:defRPr>
            </a:pPr>
            <a:r>
              <a:t>Cslr Insurance Services, LLC</a:t>
            </a:r>
          </a:p>
        </p:txBody>
      </p:sp>
      <p:sp>
        <p:nvSpPr>
          <p:cNvPr id="159" name="TextBox 158"/>
          <p:cNvSpPr txBox="1"/>
          <p:nvPr/>
        </p:nvSpPr>
        <p:spPr>
          <a:xfrm>
            <a:off x="11119104" y="2999231"/>
            <a:ext cx="914400" cy="219456"/>
          </a:xfrm>
          <a:prstGeom prst="rect">
            <a:avLst/>
          </a:prstGeom>
          <a:noFill/>
        </p:spPr>
        <p:txBody>
          <a:bodyPr wrap="square">
            <a:spAutoFit/>
          </a:bodyPr>
          <a:lstStyle/>
          <a:p>
            <a:pPr algn="ctr">
              <a:defRPr sz="950" b="1">
                <a:solidFill>
                  <a:srgbClr val="111827"/>
                </a:solidFill>
                <a:latin typeface="Calibri"/>
              </a:defRPr>
            </a:pPr>
            <a:r>
              <a:t>1002</a:t>
            </a:r>
          </a:p>
        </p:txBody>
      </p:sp>
      <p:sp>
        <p:nvSpPr>
          <p:cNvPr id="160" name="Rectangle 159"/>
          <p:cNvSpPr/>
          <p:nvPr/>
        </p:nvSpPr>
        <p:spPr>
          <a:xfrm>
            <a:off x="6291072" y="3218687"/>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291072" y="3236975"/>
            <a:ext cx="347472" cy="219456"/>
          </a:xfrm>
          <a:prstGeom prst="rect">
            <a:avLst/>
          </a:prstGeom>
          <a:noFill/>
        </p:spPr>
        <p:txBody>
          <a:bodyPr wrap="square">
            <a:spAutoFit/>
          </a:bodyPr>
          <a:lstStyle/>
          <a:p>
            <a:pPr algn="ctr">
              <a:defRPr sz="950" b="1">
                <a:solidFill>
                  <a:srgbClr val="111827"/>
                </a:solidFill>
                <a:latin typeface="Calibri"/>
              </a:defRPr>
            </a:pPr>
            <a:r>
              <a:t>9</a:t>
            </a:r>
          </a:p>
        </p:txBody>
      </p:sp>
      <p:sp>
        <p:nvSpPr>
          <p:cNvPr id="162" name="TextBox 161"/>
          <p:cNvSpPr txBox="1"/>
          <p:nvPr/>
        </p:nvSpPr>
        <p:spPr>
          <a:xfrm>
            <a:off x="6638544" y="3236975"/>
            <a:ext cx="1005840" cy="219456"/>
          </a:xfrm>
          <a:prstGeom prst="rect">
            <a:avLst/>
          </a:prstGeom>
          <a:noFill/>
        </p:spPr>
        <p:txBody>
          <a:bodyPr wrap="square">
            <a:spAutoFit/>
          </a:bodyPr>
          <a:lstStyle/>
          <a:p>
            <a:pPr algn="ctr">
              <a:defRPr sz="950" b="1">
                <a:solidFill>
                  <a:srgbClr val="111827"/>
                </a:solidFill>
                <a:latin typeface="Calibri"/>
              </a:defRPr>
            </a:pPr>
            <a:r>
              <a:t>Christopher H.</a:t>
            </a:r>
          </a:p>
        </p:txBody>
      </p:sp>
      <p:sp>
        <p:nvSpPr>
          <p:cNvPr id="163" name="TextBox 162"/>
          <p:cNvSpPr txBox="1"/>
          <p:nvPr/>
        </p:nvSpPr>
        <p:spPr>
          <a:xfrm>
            <a:off x="7644383" y="3236975"/>
            <a:ext cx="3474720" cy="219456"/>
          </a:xfrm>
          <a:prstGeom prst="rect">
            <a:avLst/>
          </a:prstGeom>
          <a:noFill/>
        </p:spPr>
        <p:txBody>
          <a:bodyPr wrap="square">
            <a:spAutoFit/>
          </a:bodyPr>
          <a:lstStyle/>
          <a:p>
            <a:pPr algn="l">
              <a:defRPr sz="950" b="0">
                <a:solidFill>
                  <a:srgbClr val="111827"/>
                </a:solidFill>
                <a:latin typeface="Calibri"/>
              </a:defRPr>
            </a:pPr>
            <a:r>
              <a:t>DNIS Inc.</a:t>
            </a:r>
          </a:p>
        </p:txBody>
      </p:sp>
      <p:sp>
        <p:nvSpPr>
          <p:cNvPr id="164" name="TextBox 163"/>
          <p:cNvSpPr txBox="1"/>
          <p:nvPr/>
        </p:nvSpPr>
        <p:spPr>
          <a:xfrm>
            <a:off x="11119104" y="3236975"/>
            <a:ext cx="914400" cy="219456"/>
          </a:xfrm>
          <a:prstGeom prst="rect">
            <a:avLst/>
          </a:prstGeom>
          <a:noFill/>
        </p:spPr>
        <p:txBody>
          <a:bodyPr wrap="square">
            <a:spAutoFit/>
          </a:bodyPr>
          <a:lstStyle/>
          <a:p>
            <a:pPr algn="ctr">
              <a:defRPr sz="950" b="1">
                <a:solidFill>
                  <a:srgbClr val="111827"/>
                </a:solidFill>
                <a:latin typeface="Calibri"/>
              </a:defRPr>
            </a:pPr>
            <a:r>
              <a:t>726</a:t>
            </a:r>
          </a:p>
        </p:txBody>
      </p:sp>
      <p:sp>
        <p:nvSpPr>
          <p:cNvPr id="165" name="Rectangle 164"/>
          <p:cNvSpPr/>
          <p:nvPr/>
        </p:nvSpPr>
        <p:spPr>
          <a:xfrm>
            <a:off x="6291072" y="3456431"/>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291072" y="3474719"/>
            <a:ext cx="347472" cy="219456"/>
          </a:xfrm>
          <a:prstGeom prst="rect">
            <a:avLst/>
          </a:prstGeom>
          <a:noFill/>
        </p:spPr>
        <p:txBody>
          <a:bodyPr wrap="square">
            <a:spAutoFit/>
          </a:bodyPr>
          <a:lstStyle/>
          <a:p>
            <a:pPr algn="ctr">
              <a:defRPr sz="950" b="1">
                <a:solidFill>
                  <a:srgbClr val="111827"/>
                </a:solidFill>
                <a:latin typeface="Calibri"/>
              </a:defRPr>
            </a:pPr>
            <a:r>
              <a:t>10</a:t>
            </a:r>
          </a:p>
        </p:txBody>
      </p:sp>
      <p:sp>
        <p:nvSpPr>
          <p:cNvPr id="167" name="TextBox 166"/>
          <p:cNvSpPr txBox="1"/>
          <p:nvPr/>
        </p:nvSpPr>
        <p:spPr>
          <a:xfrm>
            <a:off x="6638544" y="3474719"/>
            <a:ext cx="1005840" cy="219456"/>
          </a:xfrm>
          <a:prstGeom prst="rect">
            <a:avLst/>
          </a:prstGeom>
          <a:noFill/>
        </p:spPr>
        <p:txBody>
          <a:bodyPr wrap="square">
            <a:spAutoFit/>
          </a:bodyPr>
          <a:lstStyle/>
          <a:p>
            <a:pPr algn="ctr">
              <a:defRPr sz="950" b="1">
                <a:solidFill>
                  <a:srgbClr val="111827"/>
                </a:solidFill>
                <a:latin typeface="Calibri"/>
              </a:defRPr>
            </a:pPr>
            <a:r>
              <a:t>Ron D.</a:t>
            </a:r>
          </a:p>
        </p:txBody>
      </p:sp>
      <p:sp>
        <p:nvSpPr>
          <p:cNvPr id="168" name="TextBox 167"/>
          <p:cNvSpPr txBox="1"/>
          <p:nvPr/>
        </p:nvSpPr>
        <p:spPr>
          <a:xfrm>
            <a:off x="7644383" y="3474719"/>
            <a:ext cx="3474720" cy="219456"/>
          </a:xfrm>
          <a:prstGeom prst="rect">
            <a:avLst/>
          </a:prstGeom>
          <a:noFill/>
        </p:spPr>
        <p:txBody>
          <a:bodyPr wrap="square">
            <a:spAutoFit/>
          </a:bodyPr>
          <a:lstStyle/>
          <a:p>
            <a:pPr algn="l">
              <a:defRPr sz="950" b="0">
                <a:solidFill>
                  <a:srgbClr val="111827"/>
                </a:solidFill>
                <a:latin typeface="Calibri"/>
              </a:defRPr>
            </a:pPr>
            <a:r>
              <a:t>Prestige International Insurance Group I…</a:t>
            </a:r>
          </a:p>
        </p:txBody>
      </p:sp>
      <p:sp>
        <p:nvSpPr>
          <p:cNvPr id="169" name="TextBox 168"/>
          <p:cNvSpPr txBox="1"/>
          <p:nvPr/>
        </p:nvSpPr>
        <p:spPr>
          <a:xfrm>
            <a:off x="11119104" y="3474719"/>
            <a:ext cx="914400" cy="219456"/>
          </a:xfrm>
          <a:prstGeom prst="rect">
            <a:avLst/>
          </a:prstGeom>
          <a:noFill/>
        </p:spPr>
        <p:txBody>
          <a:bodyPr wrap="square">
            <a:spAutoFit/>
          </a:bodyPr>
          <a:lstStyle/>
          <a:p>
            <a:pPr algn="ctr">
              <a:defRPr sz="950" b="1">
                <a:solidFill>
                  <a:srgbClr val="111827"/>
                </a:solidFill>
                <a:latin typeface="Calibri"/>
              </a:defRPr>
            </a:pPr>
            <a:r>
              <a:t>598</a:t>
            </a:r>
          </a:p>
        </p:txBody>
      </p:sp>
      <p:sp>
        <p:nvSpPr>
          <p:cNvPr id="170" name="Rectangle 169"/>
          <p:cNvSpPr/>
          <p:nvPr/>
        </p:nvSpPr>
        <p:spPr>
          <a:xfrm>
            <a:off x="6291072" y="3694175"/>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6291072" y="3712463"/>
            <a:ext cx="347472" cy="219456"/>
          </a:xfrm>
          <a:prstGeom prst="rect">
            <a:avLst/>
          </a:prstGeom>
          <a:noFill/>
        </p:spPr>
        <p:txBody>
          <a:bodyPr wrap="square">
            <a:spAutoFit/>
          </a:bodyPr>
          <a:lstStyle/>
          <a:p>
            <a:pPr algn="ctr">
              <a:defRPr sz="950" b="1">
                <a:solidFill>
                  <a:srgbClr val="111827"/>
                </a:solidFill>
                <a:latin typeface="Calibri"/>
              </a:defRPr>
            </a:pPr>
            <a:r>
              <a:t>11</a:t>
            </a:r>
          </a:p>
        </p:txBody>
      </p:sp>
      <p:sp>
        <p:nvSpPr>
          <p:cNvPr id="172" name="TextBox 171"/>
          <p:cNvSpPr txBox="1"/>
          <p:nvPr/>
        </p:nvSpPr>
        <p:spPr>
          <a:xfrm>
            <a:off x="6638544" y="3712463"/>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173" name="TextBox 172"/>
          <p:cNvSpPr txBox="1"/>
          <p:nvPr/>
        </p:nvSpPr>
        <p:spPr>
          <a:xfrm>
            <a:off x="7644383" y="3712463"/>
            <a:ext cx="3474720" cy="219456"/>
          </a:xfrm>
          <a:prstGeom prst="rect">
            <a:avLst/>
          </a:prstGeom>
          <a:noFill/>
        </p:spPr>
        <p:txBody>
          <a:bodyPr wrap="square">
            <a:spAutoFit/>
          </a:bodyPr>
          <a:lstStyle/>
          <a:p>
            <a:pPr algn="l">
              <a:defRPr sz="950" b="0">
                <a:solidFill>
                  <a:srgbClr val="111827"/>
                </a:solidFill>
                <a:latin typeface="Calibri"/>
              </a:defRPr>
            </a:pPr>
            <a:r>
              <a:t>Jagdeep Singh Insurance Agency, Inc</a:t>
            </a:r>
          </a:p>
        </p:txBody>
      </p:sp>
      <p:sp>
        <p:nvSpPr>
          <p:cNvPr id="174" name="TextBox 173"/>
          <p:cNvSpPr txBox="1"/>
          <p:nvPr/>
        </p:nvSpPr>
        <p:spPr>
          <a:xfrm>
            <a:off x="11119104" y="3712463"/>
            <a:ext cx="914400" cy="219456"/>
          </a:xfrm>
          <a:prstGeom prst="rect">
            <a:avLst/>
          </a:prstGeom>
          <a:noFill/>
        </p:spPr>
        <p:txBody>
          <a:bodyPr wrap="square">
            <a:spAutoFit/>
          </a:bodyPr>
          <a:lstStyle/>
          <a:p>
            <a:pPr algn="ctr">
              <a:defRPr sz="950" b="1">
                <a:solidFill>
                  <a:srgbClr val="111827"/>
                </a:solidFill>
                <a:latin typeface="Calibri"/>
              </a:defRPr>
            </a:pPr>
            <a:r>
              <a:t>553</a:t>
            </a:r>
          </a:p>
        </p:txBody>
      </p:sp>
      <p:sp>
        <p:nvSpPr>
          <p:cNvPr id="175" name="Rectangle 174"/>
          <p:cNvSpPr/>
          <p:nvPr/>
        </p:nvSpPr>
        <p:spPr>
          <a:xfrm>
            <a:off x="6291072" y="3931919"/>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291072" y="3950207"/>
            <a:ext cx="347472" cy="219456"/>
          </a:xfrm>
          <a:prstGeom prst="rect">
            <a:avLst/>
          </a:prstGeom>
          <a:noFill/>
        </p:spPr>
        <p:txBody>
          <a:bodyPr wrap="square">
            <a:spAutoFit/>
          </a:bodyPr>
          <a:lstStyle/>
          <a:p>
            <a:pPr algn="ctr">
              <a:defRPr sz="950" b="1">
                <a:solidFill>
                  <a:srgbClr val="111827"/>
                </a:solidFill>
                <a:latin typeface="Calibri"/>
              </a:defRPr>
            </a:pPr>
            <a:r>
              <a:t>12</a:t>
            </a:r>
          </a:p>
        </p:txBody>
      </p:sp>
      <p:sp>
        <p:nvSpPr>
          <p:cNvPr id="177" name="TextBox 176"/>
          <p:cNvSpPr txBox="1"/>
          <p:nvPr/>
        </p:nvSpPr>
        <p:spPr>
          <a:xfrm>
            <a:off x="6638544" y="3950207"/>
            <a:ext cx="1005840" cy="219456"/>
          </a:xfrm>
          <a:prstGeom prst="rect">
            <a:avLst/>
          </a:prstGeom>
          <a:noFill/>
        </p:spPr>
        <p:txBody>
          <a:bodyPr wrap="square">
            <a:spAutoFit/>
          </a:bodyPr>
          <a:lstStyle/>
          <a:p>
            <a:pPr algn="ctr">
              <a:defRPr sz="950" b="1">
                <a:solidFill>
                  <a:srgbClr val="111827"/>
                </a:solidFill>
                <a:latin typeface="Calibri"/>
              </a:defRPr>
            </a:pPr>
            <a:r>
              <a:t>Kurt B.</a:t>
            </a:r>
          </a:p>
        </p:txBody>
      </p:sp>
      <p:sp>
        <p:nvSpPr>
          <p:cNvPr id="178" name="TextBox 177"/>
          <p:cNvSpPr txBox="1"/>
          <p:nvPr/>
        </p:nvSpPr>
        <p:spPr>
          <a:xfrm>
            <a:off x="7644383" y="3950207"/>
            <a:ext cx="3474720" cy="219456"/>
          </a:xfrm>
          <a:prstGeom prst="rect">
            <a:avLst/>
          </a:prstGeom>
          <a:noFill/>
        </p:spPr>
        <p:txBody>
          <a:bodyPr wrap="square">
            <a:spAutoFit/>
          </a:bodyPr>
          <a:lstStyle/>
          <a:p>
            <a:pPr algn="l">
              <a:defRPr sz="950" b="0">
                <a:solidFill>
                  <a:srgbClr val="111827"/>
                </a:solidFill>
                <a:latin typeface="Calibri"/>
              </a:defRPr>
            </a:pPr>
            <a:r>
              <a:t>Justin Robert Insurance Agency LLC</a:t>
            </a:r>
          </a:p>
        </p:txBody>
      </p:sp>
      <p:sp>
        <p:nvSpPr>
          <p:cNvPr id="179" name="TextBox 178"/>
          <p:cNvSpPr txBox="1"/>
          <p:nvPr/>
        </p:nvSpPr>
        <p:spPr>
          <a:xfrm>
            <a:off x="11119104" y="3950207"/>
            <a:ext cx="914400" cy="219456"/>
          </a:xfrm>
          <a:prstGeom prst="rect">
            <a:avLst/>
          </a:prstGeom>
          <a:noFill/>
        </p:spPr>
        <p:txBody>
          <a:bodyPr wrap="square">
            <a:spAutoFit/>
          </a:bodyPr>
          <a:lstStyle/>
          <a:p>
            <a:pPr algn="ctr">
              <a:defRPr sz="950" b="1">
                <a:solidFill>
                  <a:srgbClr val="111827"/>
                </a:solidFill>
                <a:latin typeface="Calibri"/>
              </a:defRPr>
            </a:pPr>
            <a:r>
              <a:t>534</a:t>
            </a:r>
          </a:p>
        </p:txBody>
      </p:sp>
      <p:sp>
        <p:nvSpPr>
          <p:cNvPr id="180" name="Rectangle 179"/>
          <p:cNvSpPr/>
          <p:nvPr/>
        </p:nvSpPr>
        <p:spPr>
          <a:xfrm>
            <a:off x="6291072" y="4169663"/>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291072" y="4187951"/>
            <a:ext cx="347472" cy="219456"/>
          </a:xfrm>
          <a:prstGeom prst="rect">
            <a:avLst/>
          </a:prstGeom>
          <a:noFill/>
        </p:spPr>
        <p:txBody>
          <a:bodyPr wrap="square">
            <a:spAutoFit/>
          </a:bodyPr>
          <a:lstStyle/>
          <a:p>
            <a:pPr algn="ctr">
              <a:defRPr sz="950" b="1">
                <a:solidFill>
                  <a:srgbClr val="111827"/>
                </a:solidFill>
                <a:latin typeface="Calibri"/>
              </a:defRPr>
            </a:pPr>
            <a:r>
              <a:t>13</a:t>
            </a:r>
          </a:p>
        </p:txBody>
      </p:sp>
      <p:sp>
        <p:nvSpPr>
          <p:cNvPr id="182" name="TextBox 181"/>
          <p:cNvSpPr txBox="1"/>
          <p:nvPr/>
        </p:nvSpPr>
        <p:spPr>
          <a:xfrm>
            <a:off x="6638544" y="4187951"/>
            <a:ext cx="1005840" cy="219456"/>
          </a:xfrm>
          <a:prstGeom prst="rect">
            <a:avLst/>
          </a:prstGeom>
          <a:noFill/>
        </p:spPr>
        <p:txBody>
          <a:bodyPr wrap="square">
            <a:spAutoFit/>
          </a:bodyPr>
          <a:lstStyle/>
          <a:p>
            <a:pPr algn="ctr">
              <a:defRPr sz="950" b="1">
                <a:solidFill>
                  <a:srgbClr val="111827"/>
                </a:solidFill>
                <a:latin typeface="Calibri"/>
              </a:defRPr>
            </a:pPr>
            <a:r>
              <a:t>Erika C.</a:t>
            </a:r>
          </a:p>
        </p:txBody>
      </p:sp>
      <p:sp>
        <p:nvSpPr>
          <p:cNvPr id="183" name="TextBox 182"/>
          <p:cNvSpPr txBox="1"/>
          <p:nvPr/>
        </p:nvSpPr>
        <p:spPr>
          <a:xfrm>
            <a:off x="7644383" y="4187951"/>
            <a:ext cx="3474720" cy="219456"/>
          </a:xfrm>
          <a:prstGeom prst="rect">
            <a:avLst/>
          </a:prstGeom>
          <a:noFill/>
        </p:spPr>
        <p:txBody>
          <a:bodyPr wrap="square">
            <a:spAutoFit/>
          </a:bodyPr>
          <a:lstStyle/>
          <a:p>
            <a:pPr algn="l">
              <a:defRPr sz="950" b="0">
                <a:solidFill>
                  <a:srgbClr val="111827"/>
                </a:solidFill>
                <a:latin typeface="Calibri"/>
              </a:defRPr>
            </a:pPr>
            <a:r>
              <a:t>Truckers Best Insurance dba Trucker Path…</a:t>
            </a:r>
          </a:p>
        </p:txBody>
      </p:sp>
      <p:sp>
        <p:nvSpPr>
          <p:cNvPr id="184" name="TextBox 183"/>
          <p:cNvSpPr txBox="1"/>
          <p:nvPr/>
        </p:nvSpPr>
        <p:spPr>
          <a:xfrm>
            <a:off x="11119104" y="4187951"/>
            <a:ext cx="914400" cy="219456"/>
          </a:xfrm>
          <a:prstGeom prst="rect">
            <a:avLst/>
          </a:prstGeom>
          <a:noFill/>
        </p:spPr>
        <p:txBody>
          <a:bodyPr wrap="square">
            <a:spAutoFit/>
          </a:bodyPr>
          <a:lstStyle/>
          <a:p>
            <a:pPr algn="ctr">
              <a:defRPr sz="950" b="1">
                <a:solidFill>
                  <a:srgbClr val="111827"/>
                </a:solidFill>
                <a:latin typeface="Calibri"/>
              </a:defRPr>
            </a:pPr>
            <a:r>
              <a:t>478</a:t>
            </a:r>
          </a:p>
        </p:txBody>
      </p:sp>
      <p:sp>
        <p:nvSpPr>
          <p:cNvPr id="185" name="Rectangle 184"/>
          <p:cNvSpPr/>
          <p:nvPr/>
        </p:nvSpPr>
        <p:spPr>
          <a:xfrm>
            <a:off x="6291072" y="4407407"/>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6291072" y="4425695"/>
            <a:ext cx="347472" cy="219456"/>
          </a:xfrm>
          <a:prstGeom prst="rect">
            <a:avLst/>
          </a:prstGeom>
          <a:noFill/>
        </p:spPr>
        <p:txBody>
          <a:bodyPr wrap="square">
            <a:spAutoFit/>
          </a:bodyPr>
          <a:lstStyle/>
          <a:p>
            <a:pPr algn="ctr">
              <a:defRPr sz="950" b="1">
                <a:solidFill>
                  <a:srgbClr val="111827"/>
                </a:solidFill>
                <a:latin typeface="Calibri"/>
              </a:defRPr>
            </a:pPr>
            <a:r>
              <a:t>14</a:t>
            </a:r>
          </a:p>
        </p:txBody>
      </p:sp>
      <p:sp>
        <p:nvSpPr>
          <p:cNvPr id="187" name="TextBox 186"/>
          <p:cNvSpPr txBox="1"/>
          <p:nvPr/>
        </p:nvSpPr>
        <p:spPr>
          <a:xfrm>
            <a:off x="6638544" y="4425695"/>
            <a:ext cx="1005840" cy="219456"/>
          </a:xfrm>
          <a:prstGeom prst="rect">
            <a:avLst/>
          </a:prstGeom>
          <a:noFill/>
        </p:spPr>
        <p:txBody>
          <a:bodyPr wrap="square">
            <a:spAutoFit/>
          </a:bodyPr>
          <a:lstStyle/>
          <a:p>
            <a:pPr algn="ctr">
              <a:defRPr sz="950" b="1">
                <a:solidFill>
                  <a:srgbClr val="111827"/>
                </a:solidFill>
                <a:latin typeface="Calibri"/>
              </a:defRPr>
            </a:pPr>
            <a:r>
              <a:t>Alexis B.</a:t>
            </a:r>
          </a:p>
        </p:txBody>
      </p:sp>
      <p:sp>
        <p:nvSpPr>
          <p:cNvPr id="188" name="TextBox 187"/>
          <p:cNvSpPr txBox="1"/>
          <p:nvPr/>
        </p:nvSpPr>
        <p:spPr>
          <a:xfrm>
            <a:off x="7644383" y="4425695"/>
            <a:ext cx="3474720" cy="219456"/>
          </a:xfrm>
          <a:prstGeom prst="rect">
            <a:avLst/>
          </a:prstGeom>
          <a:noFill/>
        </p:spPr>
        <p:txBody>
          <a:bodyPr wrap="square">
            <a:spAutoFit/>
          </a:bodyPr>
          <a:lstStyle/>
          <a:p>
            <a:pPr algn="l">
              <a:defRPr sz="950" b="0">
                <a:solidFill>
                  <a:srgbClr val="111827"/>
                </a:solidFill>
                <a:latin typeface="Calibri"/>
              </a:defRPr>
            </a:pPr>
            <a:r>
              <a:t>A.S.I.A Inc</a:t>
            </a:r>
          </a:p>
        </p:txBody>
      </p:sp>
      <p:sp>
        <p:nvSpPr>
          <p:cNvPr id="189" name="TextBox 188"/>
          <p:cNvSpPr txBox="1"/>
          <p:nvPr/>
        </p:nvSpPr>
        <p:spPr>
          <a:xfrm>
            <a:off x="11119104" y="4425695"/>
            <a:ext cx="914400" cy="219456"/>
          </a:xfrm>
          <a:prstGeom prst="rect">
            <a:avLst/>
          </a:prstGeom>
          <a:noFill/>
        </p:spPr>
        <p:txBody>
          <a:bodyPr wrap="square">
            <a:spAutoFit/>
          </a:bodyPr>
          <a:lstStyle/>
          <a:p>
            <a:pPr algn="ctr">
              <a:defRPr sz="950" b="1">
                <a:solidFill>
                  <a:srgbClr val="111827"/>
                </a:solidFill>
                <a:latin typeface="Calibri"/>
              </a:defRPr>
            </a:pPr>
            <a:r>
              <a:t>474</a:t>
            </a:r>
          </a:p>
        </p:txBody>
      </p:sp>
      <p:sp>
        <p:nvSpPr>
          <p:cNvPr id="190" name="Rectangle 189"/>
          <p:cNvSpPr/>
          <p:nvPr/>
        </p:nvSpPr>
        <p:spPr>
          <a:xfrm>
            <a:off x="6291072" y="4645151"/>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6291072" y="4663439"/>
            <a:ext cx="347472" cy="219456"/>
          </a:xfrm>
          <a:prstGeom prst="rect">
            <a:avLst/>
          </a:prstGeom>
          <a:noFill/>
        </p:spPr>
        <p:txBody>
          <a:bodyPr wrap="square">
            <a:spAutoFit/>
          </a:bodyPr>
          <a:lstStyle/>
          <a:p>
            <a:pPr algn="ctr">
              <a:defRPr sz="950" b="1">
                <a:solidFill>
                  <a:srgbClr val="111827"/>
                </a:solidFill>
                <a:latin typeface="Calibri"/>
              </a:defRPr>
            </a:pPr>
            <a:r>
              <a:t>15</a:t>
            </a:r>
          </a:p>
        </p:txBody>
      </p:sp>
      <p:sp>
        <p:nvSpPr>
          <p:cNvPr id="192" name="TextBox 191"/>
          <p:cNvSpPr txBox="1"/>
          <p:nvPr/>
        </p:nvSpPr>
        <p:spPr>
          <a:xfrm>
            <a:off x="6638544" y="4663439"/>
            <a:ext cx="1005840" cy="219456"/>
          </a:xfrm>
          <a:prstGeom prst="rect">
            <a:avLst/>
          </a:prstGeom>
          <a:noFill/>
        </p:spPr>
        <p:txBody>
          <a:bodyPr wrap="square">
            <a:spAutoFit/>
          </a:bodyPr>
          <a:lstStyle/>
          <a:p>
            <a:pPr algn="ctr">
              <a:defRPr sz="950" b="1">
                <a:solidFill>
                  <a:srgbClr val="111827"/>
                </a:solidFill>
                <a:latin typeface="Calibri"/>
              </a:defRPr>
            </a:pPr>
            <a:r>
              <a:t>Derek J.</a:t>
            </a:r>
          </a:p>
        </p:txBody>
      </p:sp>
      <p:sp>
        <p:nvSpPr>
          <p:cNvPr id="193" name="TextBox 192"/>
          <p:cNvSpPr txBox="1"/>
          <p:nvPr/>
        </p:nvSpPr>
        <p:spPr>
          <a:xfrm>
            <a:off x="7644383" y="4663439"/>
            <a:ext cx="3474720" cy="219456"/>
          </a:xfrm>
          <a:prstGeom prst="rect">
            <a:avLst/>
          </a:prstGeom>
          <a:noFill/>
        </p:spPr>
        <p:txBody>
          <a:bodyPr wrap="square">
            <a:spAutoFit/>
          </a:bodyPr>
          <a:lstStyle/>
          <a:p>
            <a:pPr algn="l">
              <a:defRPr sz="950" b="0">
                <a:solidFill>
                  <a:srgbClr val="111827"/>
                </a:solidFill>
                <a:latin typeface="Calibri"/>
              </a:defRPr>
            </a:pPr>
            <a:r>
              <a:t>Ewall Insurance Company</a:t>
            </a:r>
          </a:p>
        </p:txBody>
      </p:sp>
      <p:sp>
        <p:nvSpPr>
          <p:cNvPr id="194" name="TextBox 193"/>
          <p:cNvSpPr txBox="1"/>
          <p:nvPr/>
        </p:nvSpPr>
        <p:spPr>
          <a:xfrm>
            <a:off x="11119104" y="4663439"/>
            <a:ext cx="914400" cy="219456"/>
          </a:xfrm>
          <a:prstGeom prst="rect">
            <a:avLst/>
          </a:prstGeom>
          <a:noFill/>
        </p:spPr>
        <p:txBody>
          <a:bodyPr wrap="square">
            <a:spAutoFit/>
          </a:bodyPr>
          <a:lstStyle/>
          <a:p>
            <a:pPr algn="ctr">
              <a:defRPr sz="950" b="1">
                <a:solidFill>
                  <a:srgbClr val="111827"/>
                </a:solidFill>
                <a:latin typeface="Calibri"/>
              </a:defRPr>
            </a:pPr>
            <a:r>
              <a:t>404</a:t>
            </a:r>
          </a:p>
        </p:txBody>
      </p:sp>
      <p:sp>
        <p:nvSpPr>
          <p:cNvPr id="195" name="Rectangle 194"/>
          <p:cNvSpPr/>
          <p:nvPr/>
        </p:nvSpPr>
        <p:spPr>
          <a:xfrm>
            <a:off x="6291072" y="4882895"/>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6291072" y="4901183"/>
            <a:ext cx="347472" cy="219456"/>
          </a:xfrm>
          <a:prstGeom prst="rect">
            <a:avLst/>
          </a:prstGeom>
          <a:noFill/>
        </p:spPr>
        <p:txBody>
          <a:bodyPr wrap="square">
            <a:spAutoFit/>
          </a:bodyPr>
          <a:lstStyle/>
          <a:p>
            <a:pPr algn="ctr">
              <a:defRPr sz="950" b="1">
                <a:solidFill>
                  <a:srgbClr val="111827"/>
                </a:solidFill>
                <a:latin typeface="Calibri"/>
              </a:defRPr>
            </a:pPr>
            <a:r>
              <a:t>16</a:t>
            </a:r>
          </a:p>
        </p:txBody>
      </p:sp>
      <p:sp>
        <p:nvSpPr>
          <p:cNvPr id="197" name="TextBox 196"/>
          <p:cNvSpPr txBox="1"/>
          <p:nvPr/>
        </p:nvSpPr>
        <p:spPr>
          <a:xfrm>
            <a:off x="6638544" y="4901183"/>
            <a:ext cx="1005840" cy="219456"/>
          </a:xfrm>
          <a:prstGeom prst="rect">
            <a:avLst/>
          </a:prstGeom>
          <a:noFill/>
        </p:spPr>
        <p:txBody>
          <a:bodyPr wrap="square">
            <a:spAutoFit/>
          </a:bodyPr>
          <a:lstStyle/>
          <a:p>
            <a:pPr algn="ctr">
              <a:defRPr sz="950" b="1">
                <a:solidFill>
                  <a:srgbClr val="111827"/>
                </a:solidFill>
                <a:latin typeface="Calibri"/>
              </a:defRPr>
            </a:pPr>
            <a:r>
              <a:t>Kurt B.</a:t>
            </a:r>
          </a:p>
        </p:txBody>
      </p:sp>
      <p:sp>
        <p:nvSpPr>
          <p:cNvPr id="198" name="TextBox 197"/>
          <p:cNvSpPr txBox="1"/>
          <p:nvPr/>
        </p:nvSpPr>
        <p:spPr>
          <a:xfrm>
            <a:off x="7644383" y="4901183"/>
            <a:ext cx="3474720" cy="219456"/>
          </a:xfrm>
          <a:prstGeom prst="rect">
            <a:avLst/>
          </a:prstGeom>
          <a:noFill/>
        </p:spPr>
        <p:txBody>
          <a:bodyPr wrap="square">
            <a:spAutoFit/>
          </a:bodyPr>
          <a:lstStyle/>
          <a:p>
            <a:pPr algn="l">
              <a:defRPr sz="950" b="0">
                <a:solidFill>
                  <a:srgbClr val="111827"/>
                </a:solidFill>
                <a:latin typeface="Calibri"/>
              </a:defRPr>
            </a:pPr>
            <a:r>
              <a:t>Rodriguez Insurance Agency LLC</a:t>
            </a:r>
          </a:p>
        </p:txBody>
      </p:sp>
      <p:sp>
        <p:nvSpPr>
          <p:cNvPr id="199" name="TextBox 198"/>
          <p:cNvSpPr txBox="1"/>
          <p:nvPr/>
        </p:nvSpPr>
        <p:spPr>
          <a:xfrm>
            <a:off x="11119104" y="4901183"/>
            <a:ext cx="914400" cy="219456"/>
          </a:xfrm>
          <a:prstGeom prst="rect">
            <a:avLst/>
          </a:prstGeom>
          <a:noFill/>
        </p:spPr>
        <p:txBody>
          <a:bodyPr wrap="square">
            <a:spAutoFit/>
          </a:bodyPr>
          <a:lstStyle/>
          <a:p>
            <a:pPr algn="ctr">
              <a:defRPr sz="950" b="1">
                <a:solidFill>
                  <a:srgbClr val="111827"/>
                </a:solidFill>
                <a:latin typeface="Calibri"/>
              </a:defRPr>
            </a:pPr>
            <a:r>
              <a:t>391</a:t>
            </a:r>
          </a:p>
        </p:txBody>
      </p:sp>
      <p:sp>
        <p:nvSpPr>
          <p:cNvPr id="200" name="Rectangle 199"/>
          <p:cNvSpPr/>
          <p:nvPr/>
        </p:nvSpPr>
        <p:spPr>
          <a:xfrm>
            <a:off x="6291072" y="5120639"/>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291072" y="5138927"/>
            <a:ext cx="347472" cy="219456"/>
          </a:xfrm>
          <a:prstGeom prst="rect">
            <a:avLst/>
          </a:prstGeom>
          <a:noFill/>
        </p:spPr>
        <p:txBody>
          <a:bodyPr wrap="square">
            <a:spAutoFit/>
          </a:bodyPr>
          <a:lstStyle/>
          <a:p>
            <a:pPr algn="ctr">
              <a:defRPr sz="950" b="1">
                <a:solidFill>
                  <a:srgbClr val="111827"/>
                </a:solidFill>
                <a:latin typeface="Calibri"/>
              </a:defRPr>
            </a:pPr>
            <a:r>
              <a:t>17</a:t>
            </a:r>
          </a:p>
        </p:txBody>
      </p:sp>
      <p:sp>
        <p:nvSpPr>
          <p:cNvPr id="202" name="TextBox 201"/>
          <p:cNvSpPr txBox="1"/>
          <p:nvPr/>
        </p:nvSpPr>
        <p:spPr>
          <a:xfrm>
            <a:off x="6638544" y="5138927"/>
            <a:ext cx="1005840" cy="219456"/>
          </a:xfrm>
          <a:prstGeom prst="rect">
            <a:avLst/>
          </a:prstGeom>
          <a:noFill/>
        </p:spPr>
        <p:txBody>
          <a:bodyPr wrap="square">
            <a:spAutoFit/>
          </a:bodyPr>
          <a:lstStyle/>
          <a:p>
            <a:pPr algn="ctr">
              <a:defRPr sz="950" b="1">
                <a:solidFill>
                  <a:srgbClr val="111827"/>
                </a:solidFill>
                <a:latin typeface="Calibri"/>
              </a:defRPr>
            </a:pPr>
            <a:r>
              <a:t>Alexis B.</a:t>
            </a:r>
          </a:p>
        </p:txBody>
      </p:sp>
      <p:sp>
        <p:nvSpPr>
          <p:cNvPr id="203" name="TextBox 202"/>
          <p:cNvSpPr txBox="1"/>
          <p:nvPr/>
        </p:nvSpPr>
        <p:spPr>
          <a:xfrm>
            <a:off x="7644383" y="5138927"/>
            <a:ext cx="3474720" cy="219456"/>
          </a:xfrm>
          <a:prstGeom prst="rect">
            <a:avLst/>
          </a:prstGeom>
          <a:noFill/>
        </p:spPr>
        <p:txBody>
          <a:bodyPr wrap="square">
            <a:spAutoFit/>
          </a:bodyPr>
          <a:lstStyle/>
          <a:p>
            <a:pPr algn="l">
              <a:defRPr sz="950" b="0">
                <a:solidFill>
                  <a:srgbClr val="111827"/>
                </a:solidFill>
                <a:latin typeface="Calibri"/>
              </a:defRPr>
            </a:pPr>
            <a:r>
              <a:t>Stellar Management, Inc</a:t>
            </a:r>
          </a:p>
        </p:txBody>
      </p:sp>
      <p:sp>
        <p:nvSpPr>
          <p:cNvPr id="204" name="TextBox 203"/>
          <p:cNvSpPr txBox="1"/>
          <p:nvPr/>
        </p:nvSpPr>
        <p:spPr>
          <a:xfrm>
            <a:off x="11119104" y="5138927"/>
            <a:ext cx="914400" cy="219456"/>
          </a:xfrm>
          <a:prstGeom prst="rect">
            <a:avLst/>
          </a:prstGeom>
          <a:noFill/>
        </p:spPr>
        <p:txBody>
          <a:bodyPr wrap="square">
            <a:spAutoFit/>
          </a:bodyPr>
          <a:lstStyle/>
          <a:p>
            <a:pPr algn="ctr">
              <a:defRPr sz="950" b="1">
                <a:solidFill>
                  <a:srgbClr val="111827"/>
                </a:solidFill>
                <a:latin typeface="Calibri"/>
              </a:defRPr>
            </a:pPr>
            <a:r>
              <a:t>380</a:t>
            </a:r>
          </a:p>
        </p:txBody>
      </p:sp>
      <p:sp>
        <p:nvSpPr>
          <p:cNvPr id="205" name="Rectangle 204"/>
          <p:cNvSpPr/>
          <p:nvPr/>
        </p:nvSpPr>
        <p:spPr>
          <a:xfrm>
            <a:off x="6291072" y="5358383"/>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291072" y="5376671"/>
            <a:ext cx="347472" cy="219456"/>
          </a:xfrm>
          <a:prstGeom prst="rect">
            <a:avLst/>
          </a:prstGeom>
          <a:noFill/>
        </p:spPr>
        <p:txBody>
          <a:bodyPr wrap="square">
            <a:spAutoFit/>
          </a:bodyPr>
          <a:lstStyle/>
          <a:p>
            <a:pPr algn="ctr">
              <a:defRPr sz="950" b="1">
                <a:solidFill>
                  <a:srgbClr val="111827"/>
                </a:solidFill>
                <a:latin typeface="Calibri"/>
              </a:defRPr>
            </a:pPr>
            <a:r>
              <a:t>18</a:t>
            </a:r>
          </a:p>
        </p:txBody>
      </p:sp>
      <p:sp>
        <p:nvSpPr>
          <p:cNvPr id="207" name="TextBox 206"/>
          <p:cNvSpPr txBox="1"/>
          <p:nvPr/>
        </p:nvSpPr>
        <p:spPr>
          <a:xfrm>
            <a:off x="6638544" y="5376671"/>
            <a:ext cx="1005840" cy="219456"/>
          </a:xfrm>
          <a:prstGeom prst="rect">
            <a:avLst/>
          </a:prstGeom>
          <a:noFill/>
        </p:spPr>
        <p:txBody>
          <a:bodyPr wrap="square">
            <a:spAutoFit/>
          </a:bodyPr>
          <a:lstStyle/>
          <a:p>
            <a:pPr algn="ctr">
              <a:defRPr sz="950" b="1">
                <a:solidFill>
                  <a:srgbClr val="111827"/>
                </a:solidFill>
                <a:latin typeface="Calibri"/>
              </a:defRPr>
            </a:pPr>
            <a:r>
              <a:t>Erika C.</a:t>
            </a:r>
          </a:p>
        </p:txBody>
      </p:sp>
      <p:sp>
        <p:nvSpPr>
          <p:cNvPr id="208" name="TextBox 207"/>
          <p:cNvSpPr txBox="1"/>
          <p:nvPr/>
        </p:nvSpPr>
        <p:spPr>
          <a:xfrm>
            <a:off x="7644383" y="5376671"/>
            <a:ext cx="3474720" cy="219456"/>
          </a:xfrm>
          <a:prstGeom prst="rect">
            <a:avLst/>
          </a:prstGeom>
          <a:noFill/>
        </p:spPr>
        <p:txBody>
          <a:bodyPr wrap="square">
            <a:spAutoFit/>
          </a:bodyPr>
          <a:lstStyle/>
          <a:p>
            <a:pPr algn="l">
              <a:defRPr sz="950" b="0">
                <a:solidFill>
                  <a:srgbClr val="111827"/>
                </a:solidFill>
                <a:latin typeface="Calibri"/>
              </a:defRPr>
            </a:pPr>
            <a:r>
              <a:t>Southwestern Insurance Services, Inc.</a:t>
            </a:r>
          </a:p>
        </p:txBody>
      </p:sp>
      <p:sp>
        <p:nvSpPr>
          <p:cNvPr id="209" name="TextBox 208"/>
          <p:cNvSpPr txBox="1"/>
          <p:nvPr/>
        </p:nvSpPr>
        <p:spPr>
          <a:xfrm>
            <a:off x="11119104" y="5376671"/>
            <a:ext cx="914400" cy="219456"/>
          </a:xfrm>
          <a:prstGeom prst="rect">
            <a:avLst/>
          </a:prstGeom>
          <a:noFill/>
        </p:spPr>
        <p:txBody>
          <a:bodyPr wrap="square">
            <a:spAutoFit/>
          </a:bodyPr>
          <a:lstStyle/>
          <a:p>
            <a:pPr algn="ctr">
              <a:defRPr sz="950" b="1">
                <a:solidFill>
                  <a:srgbClr val="111827"/>
                </a:solidFill>
                <a:latin typeface="Calibri"/>
              </a:defRPr>
            </a:pPr>
            <a:r>
              <a:t>375</a:t>
            </a:r>
          </a:p>
        </p:txBody>
      </p:sp>
      <p:sp>
        <p:nvSpPr>
          <p:cNvPr id="210" name="Rectangle 209"/>
          <p:cNvSpPr/>
          <p:nvPr/>
        </p:nvSpPr>
        <p:spPr>
          <a:xfrm>
            <a:off x="6291072" y="5596127"/>
            <a:ext cx="574243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291072" y="5614415"/>
            <a:ext cx="347472" cy="219456"/>
          </a:xfrm>
          <a:prstGeom prst="rect">
            <a:avLst/>
          </a:prstGeom>
          <a:noFill/>
        </p:spPr>
        <p:txBody>
          <a:bodyPr wrap="square">
            <a:spAutoFit/>
          </a:bodyPr>
          <a:lstStyle/>
          <a:p>
            <a:pPr algn="ctr">
              <a:defRPr sz="950" b="1">
                <a:solidFill>
                  <a:srgbClr val="111827"/>
                </a:solidFill>
                <a:latin typeface="Calibri"/>
              </a:defRPr>
            </a:pPr>
            <a:r>
              <a:t>19</a:t>
            </a:r>
          </a:p>
        </p:txBody>
      </p:sp>
      <p:sp>
        <p:nvSpPr>
          <p:cNvPr id="212" name="TextBox 211"/>
          <p:cNvSpPr txBox="1"/>
          <p:nvPr/>
        </p:nvSpPr>
        <p:spPr>
          <a:xfrm>
            <a:off x="6638544" y="5614415"/>
            <a:ext cx="1005840" cy="219456"/>
          </a:xfrm>
          <a:prstGeom prst="rect">
            <a:avLst/>
          </a:prstGeom>
          <a:noFill/>
        </p:spPr>
        <p:txBody>
          <a:bodyPr wrap="square">
            <a:spAutoFit/>
          </a:bodyPr>
          <a:lstStyle/>
          <a:p>
            <a:pPr algn="ctr">
              <a:defRPr sz="950" b="1">
                <a:solidFill>
                  <a:srgbClr val="111827"/>
                </a:solidFill>
                <a:latin typeface="Calibri"/>
              </a:defRPr>
            </a:pPr>
            <a:r>
              <a:t>Kurt B.</a:t>
            </a:r>
          </a:p>
        </p:txBody>
      </p:sp>
      <p:sp>
        <p:nvSpPr>
          <p:cNvPr id="213" name="TextBox 212"/>
          <p:cNvSpPr txBox="1"/>
          <p:nvPr/>
        </p:nvSpPr>
        <p:spPr>
          <a:xfrm>
            <a:off x="7644383" y="5614415"/>
            <a:ext cx="3474720" cy="219456"/>
          </a:xfrm>
          <a:prstGeom prst="rect">
            <a:avLst/>
          </a:prstGeom>
          <a:noFill/>
        </p:spPr>
        <p:txBody>
          <a:bodyPr wrap="square">
            <a:spAutoFit/>
          </a:bodyPr>
          <a:lstStyle/>
          <a:p>
            <a:pPr algn="l">
              <a:defRPr sz="950" b="0">
                <a:solidFill>
                  <a:srgbClr val="111827"/>
                </a:solidFill>
                <a:latin typeface="Calibri"/>
              </a:defRPr>
            </a:pPr>
            <a:r>
              <a:t>The McClure Agency LLC</a:t>
            </a:r>
          </a:p>
        </p:txBody>
      </p:sp>
      <p:sp>
        <p:nvSpPr>
          <p:cNvPr id="214" name="TextBox 213"/>
          <p:cNvSpPr txBox="1"/>
          <p:nvPr/>
        </p:nvSpPr>
        <p:spPr>
          <a:xfrm>
            <a:off x="11119104" y="5614415"/>
            <a:ext cx="914400" cy="219456"/>
          </a:xfrm>
          <a:prstGeom prst="rect">
            <a:avLst/>
          </a:prstGeom>
          <a:noFill/>
        </p:spPr>
        <p:txBody>
          <a:bodyPr wrap="square">
            <a:spAutoFit/>
          </a:bodyPr>
          <a:lstStyle/>
          <a:p>
            <a:pPr algn="ctr">
              <a:defRPr sz="950" b="1">
                <a:solidFill>
                  <a:srgbClr val="111827"/>
                </a:solidFill>
                <a:latin typeface="Calibri"/>
              </a:defRPr>
            </a:pPr>
            <a:r>
              <a:t>358</a:t>
            </a:r>
          </a:p>
        </p:txBody>
      </p:sp>
      <p:sp>
        <p:nvSpPr>
          <p:cNvPr id="215" name="Rectangle 214"/>
          <p:cNvSpPr/>
          <p:nvPr/>
        </p:nvSpPr>
        <p:spPr>
          <a:xfrm>
            <a:off x="6291072" y="5833871"/>
            <a:ext cx="5742432"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291072" y="5852159"/>
            <a:ext cx="347472" cy="219456"/>
          </a:xfrm>
          <a:prstGeom prst="rect">
            <a:avLst/>
          </a:prstGeom>
          <a:noFill/>
        </p:spPr>
        <p:txBody>
          <a:bodyPr wrap="square">
            <a:spAutoFit/>
          </a:bodyPr>
          <a:lstStyle/>
          <a:p>
            <a:pPr algn="ctr">
              <a:defRPr sz="950" b="1">
                <a:solidFill>
                  <a:srgbClr val="111827"/>
                </a:solidFill>
                <a:latin typeface="Calibri"/>
              </a:defRPr>
            </a:pPr>
            <a:r>
              <a:t>20</a:t>
            </a:r>
          </a:p>
        </p:txBody>
      </p:sp>
      <p:sp>
        <p:nvSpPr>
          <p:cNvPr id="217" name="TextBox 216"/>
          <p:cNvSpPr txBox="1"/>
          <p:nvPr/>
        </p:nvSpPr>
        <p:spPr>
          <a:xfrm>
            <a:off x="6638544" y="5852159"/>
            <a:ext cx="1005840" cy="219456"/>
          </a:xfrm>
          <a:prstGeom prst="rect">
            <a:avLst/>
          </a:prstGeom>
          <a:noFill/>
        </p:spPr>
        <p:txBody>
          <a:bodyPr wrap="square">
            <a:spAutoFit/>
          </a:bodyPr>
          <a:lstStyle/>
          <a:p>
            <a:pPr algn="ctr">
              <a:defRPr sz="950" b="1">
                <a:solidFill>
                  <a:srgbClr val="111827"/>
                </a:solidFill>
                <a:latin typeface="Calibri"/>
              </a:defRPr>
            </a:pPr>
            <a:r>
              <a:t>Derrick L.</a:t>
            </a:r>
          </a:p>
        </p:txBody>
      </p:sp>
      <p:sp>
        <p:nvSpPr>
          <p:cNvPr id="218" name="TextBox 217"/>
          <p:cNvSpPr txBox="1"/>
          <p:nvPr/>
        </p:nvSpPr>
        <p:spPr>
          <a:xfrm>
            <a:off x="7644383" y="5852159"/>
            <a:ext cx="3474720" cy="219456"/>
          </a:xfrm>
          <a:prstGeom prst="rect">
            <a:avLst/>
          </a:prstGeom>
          <a:noFill/>
        </p:spPr>
        <p:txBody>
          <a:bodyPr wrap="square">
            <a:spAutoFit/>
          </a:bodyPr>
          <a:lstStyle/>
          <a:p>
            <a:pPr algn="l">
              <a:defRPr sz="950" b="0">
                <a:solidFill>
                  <a:srgbClr val="111827"/>
                </a:solidFill>
                <a:latin typeface="Calibri"/>
              </a:defRPr>
            </a:pPr>
            <a:r>
              <a:t>Protectgo Services LLC</a:t>
            </a:r>
          </a:p>
        </p:txBody>
      </p:sp>
      <p:sp>
        <p:nvSpPr>
          <p:cNvPr id="219" name="TextBox 218"/>
          <p:cNvSpPr txBox="1"/>
          <p:nvPr/>
        </p:nvSpPr>
        <p:spPr>
          <a:xfrm>
            <a:off x="11119104" y="5852159"/>
            <a:ext cx="914400" cy="219456"/>
          </a:xfrm>
          <a:prstGeom prst="rect">
            <a:avLst/>
          </a:prstGeom>
          <a:noFill/>
        </p:spPr>
        <p:txBody>
          <a:bodyPr wrap="square">
            <a:spAutoFit/>
          </a:bodyPr>
          <a:lstStyle/>
          <a:p>
            <a:pPr algn="ctr">
              <a:defRPr sz="950" b="1">
                <a:solidFill>
                  <a:srgbClr val="111827"/>
                </a:solidFill>
                <a:latin typeface="Calibri"/>
              </a:defRPr>
            </a:pPr>
            <a:r>
              <a:t>345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Team Wins — Top Fleet Binds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Largest fleet policies written Apr 1–May 29  ·  Ranked by premium  ·  Fleet = 4+ power units</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29, 2026</a:t>
            </a:r>
          </a:p>
        </p:txBody>
      </p:sp>
      <p:sp>
        <p:nvSpPr>
          <p:cNvPr id="6" name="TextBox 5"/>
          <p:cNvSpPr txBox="1"/>
          <p:nvPr/>
        </p:nvSpPr>
        <p:spPr>
          <a:xfrm>
            <a:off x="274320" y="841248"/>
            <a:ext cx="502920" cy="201168"/>
          </a:xfrm>
          <a:prstGeom prst="rect">
            <a:avLst/>
          </a:prstGeom>
          <a:noFill/>
        </p:spPr>
        <p:txBody>
          <a:bodyPr wrap="square">
            <a:spAutoFit/>
          </a:bodyPr>
          <a:lstStyle/>
          <a:p>
            <a:pPr algn="ctr">
              <a:defRPr sz="850" b="1">
                <a:solidFill>
                  <a:srgbClr val="6B7280"/>
                </a:solidFill>
                <a:latin typeface="Calibri"/>
              </a:defRPr>
            </a:pPr>
            <a:r>
              <a:t>Rank</a:t>
            </a:r>
          </a:p>
        </p:txBody>
      </p:sp>
      <p:sp>
        <p:nvSpPr>
          <p:cNvPr id="7" name="TextBox 6"/>
          <p:cNvSpPr txBox="1"/>
          <p:nvPr/>
        </p:nvSpPr>
        <p:spPr>
          <a:xfrm>
            <a:off x="777240" y="841248"/>
            <a:ext cx="1645920" cy="201168"/>
          </a:xfrm>
          <a:prstGeom prst="rect">
            <a:avLst/>
          </a:prstGeom>
          <a:noFill/>
        </p:spPr>
        <p:txBody>
          <a:bodyPr wrap="square">
            <a:spAutoFit/>
          </a:bodyPr>
          <a:lstStyle/>
          <a:p>
            <a:pPr algn="ctr">
              <a:defRPr sz="850" b="1">
                <a:solidFill>
                  <a:srgbClr val="6B7280"/>
                </a:solidFill>
                <a:latin typeface="Calibri"/>
              </a:defRPr>
            </a:pPr>
            <a:r>
              <a:t>Rep</a:t>
            </a:r>
          </a:p>
        </p:txBody>
      </p:sp>
      <p:sp>
        <p:nvSpPr>
          <p:cNvPr id="8" name="TextBox 7"/>
          <p:cNvSpPr txBox="1"/>
          <p:nvPr/>
        </p:nvSpPr>
        <p:spPr>
          <a:xfrm>
            <a:off x="2423160" y="841248"/>
            <a:ext cx="5486400" cy="201168"/>
          </a:xfrm>
          <a:prstGeom prst="rect">
            <a:avLst/>
          </a:prstGeom>
          <a:noFill/>
        </p:spPr>
        <p:txBody>
          <a:bodyPr wrap="square">
            <a:spAutoFit/>
          </a:bodyPr>
          <a:lstStyle/>
          <a:p>
            <a:pPr algn="l">
              <a:defRPr sz="850" b="1">
                <a:solidFill>
                  <a:srgbClr val="6B7280"/>
                </a:solidFill>
                <a:latin typeface="Calibri"/>
              </a:defRPr>
            </a:pPr>
            <a:r>
              <a:t>Agency</a:t>
            </a:r>
          </a:p>
        </p:txBody>
      </p:sp>
      <p:sp>
        <p:nvSpPr>
          <p:cNvPr id="9" name="TextBox 8"/>
          <p:cNvSpPr txBox="1"/>
          <p:nvPr/>
        </p:nvSpPr>
        <p:spPr>
          <a:xfrm>
            <a:off x="7909560" y="841248"/>
            <a:ext cx="1463040" cy="201168"/>
          </a:xfrm>
          <a:prstGeom prst="rect">
            <a:avLst/>
          </a:prstGeom>
          <a:noFill/>
        </p:spPr>
        <p:txBody>
          <a:bodyPr wrap="square">
            <a:spAutoFit/>
          </a:bodyPr>
          <a:lstStyle/>
          <a:p>
            <a:pPr algn="ctr">
              <a:defRPr sz="850" b="1">
                <a:solidFill>
                  <a:srgbClr val="6B7280"/>
                </a:solidFill>
                <a:latin typeface="Calibri"/>
              </a:defRPr>
            </a:pPr>
            <a:r>
              <a:t>Premium</a:t>
            </a:r>
          </a:p>
        </p:txBody>
      </p:sp>
      <p:sp>
        <p:nvSpPr>
          <p:cNvPr id="10" name="TextBox 9"/>
          <p:cNvSpPr txBox="1"/>
          <p:nvPr/>
        </p:nvSpPr>
        <p:spPr>
          <a:xfrm>
            <a:off x="9372600" y="841248"/>
            <a:ext cx="822960" cy="201168"/>
          </a:xfrm>
          <a:prstGeom prst="rect">
            <a:avLst/>
          </a:prstGeom>
          <a:noFill/>
        </p:spPr>
        <p:txBody>
          <a:bodyPr wrap="square">
            <a:spAutoFit/>
          </a:bodyPr>
          <a:lstStyle/>
          <a:p>
            <a:pPr algn="ctr">
              <a:defRPr sz="850" b="1">
                <a:solidFill>
                  <a:srgbClr val="6B7280"/>
                </a:solidFill>
                <a:latin typeface="Calibri"/>
              </a:defRPr>
            </a:pPr>
            <a:r>
              <a:t>Units</a:t>
            </a:r>
          </a:p>
        </p:txBody>
      </p:sp>
      <p:sp>
        <p:nvSpPr>
          <p:cNvPr id="11" name="Rectangle 10"/>
          <p:cNvSpPr/>
          <p:nvPr/>
        </p:nvSpPr>
        <p:spPr>
          <a:xfrm>
            <a:off x="274320" y="1042416"/>
            <a:ext cx="99212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078992"/>
            <a:ext cx="9921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1097280"/>
            <a:ext cx="502920" cy="237744"/>
          </a:xfrm>
          <a:prstGeom prst="rect">
            <a:avLst/>
          </a:prstGeom>
          <a:noFill/>
        </p:spPr>
        <p:txBody>
          <a:bodyPr wrap="square">
            <a:spAutoFit/>
          </a:bodyPr>
          <a:lstStyle/>
          <a:p>
            <a:pPr algn="ctr">
              <a:defRPr sz="950" b="1">
                <a:solidFill>
                  <a:srgbClr val="111827"/>
                </a:solidFill>
                <a:latin typeface="Calibri"/>
              </a:defRPr>
            </a:pPr>
            <a:r>
              <a:t>1</a:t>
            </a:r>
          </a:p>
        </p:txBody>
      </p:sp>
      <p:sp>
        <p:nvSpPr>
          <p:cNvPr id="14" name="TextBox 13"/>
          <p:cNvSpPr txBox="1"/>
          <p:nvPr/>
        </p:nvSpPr>
        <p:spPr>
          <a:xfrm>
            <a:off x="777240" y="1097280"/>
            <a:ext cx="1645920" cy="237744"/>
          </a:xfrm>
          <a:prstGeom prst="rect">
            <a:avLst/>
          </a:prstGeom>
          <a:noFill/>
        </p:spPr>
        <p:txBody>
          <a:bodyPr wrap="square">
            <a:spAutoFit/>
          </a:bodyPr>
          <a:lstStyle/>
          <a:p>
            <a:pPr algn="ctr">
              <a:defRPr sz="950" b="1">
                <a:solidFill>
                  <a:srgbClr val="111827"/>
                </a:solidFill>
                <a:latin typeface="Calibri"/>
              </a:defRPr>
            </a:pPr>
            <a:r>
              <a:t>Ron D.</a:t>
            </a:r>
          </a:p>
        </p:txBody>
      </p:sp>
      <p:sp>
        <p:nvSpPr>
          <p:cNvPr id="15" name="TextBox 14"/>
          <p:cNvSpPr txBox="1"/>
          <p:nvPr/>
        </p:nvSpPr>
        <p:spPr>
          <a:xfrm>
            <a:off x="2423160" y="1097280"/>
            <a:ext cx="5486400" cy="237744"/>
          </a:xfrm>
          <a:prstGeom prst="rect">
            <a:avLst/>
          </a:prstGeom>
          <a:noFill/>
        </p:spPr>
        <p:txBody>
          <a:bodyPr wrap="square">
            <a:spAutoFit/>
          </a:bodyPr>
          <a:lstStyle/>
          <a:p>
            <a:pPr algn="l">
              <a:defRPr sz="950" b="0">
                <a:solidFill>
                  <a:srgbClr val="111827"/>
                </a:solidFill>
                <a:latin typeface="Calibri"/>
              </a:defRPr>
            </a:pPr>
            <a:r>
              <a:t>Ameritrans Risk Solutions, Inc DBA American Transportation &amp; Ener</a:t>
            </a:r>
          </a:p>
        </p:txBody>
      </p:sp>
      <p:sp>
        <p:nvSpPr>
          <p:cNvPr id="16" name="TextBox 15"/>
          <p:cNvSpPr txBox="1"/>
          <p:nvPr/>
        </p:nvSpPr>
        <p:spPr>
          <a:xfrm>
            <a:off x="7909560" y="1097280"/>
            <a:ext cx="1463040" cy="237744"/>
          </a:xfrm>
          <a:prstGeom prst="rect">
            <a:avLst/>
          </a:prstGeom>
          <a:noFill/>
        </p:spPr>
        <p:txBody>
          <a:bodyPr wrap="square">
            <a:spAutoFit/>
          </a:bodyPr>
          <a:lstStyle/>
          <a:p>
            <a:pPr algn="ctr">
              <a:defRPr sz="950" b="1">
                <a:solidFill>
                  <a:srgbClr val="111827"/>
                </a:solidFill>
                <a:latin typeface="Calibri"/>
              </a:defRPr>
            </a:pPr>
            <a:r>
              <a:t>$371K</a:t>
            </a:r>
          </a:p>
        </p:txBody>
      </p:sp>
      <p:sp>
        <p:nvSpPr>
          <p:cNvPr id="17" name="TextBox 16"/>
          <p:cNvSpPr txBox="1"/>
          <p:nvPr/>
        </p:nvSpPr>
        <p:spPr>
          <a:xfrm>
            <a:off x="9372600" y="1097280"/>
            <a:ext cx="822960" cy="237744"/>
          </a:xfrm>
          <a:prstGeom prst="rect">
            <a:avLst/>
          </a:prstGeom>
          <a:noFill/>
        </p:spPr>
        <p:txBody>
          <a:bodyPr wrap="square">
            <a:spAutoFit/>
          </a:bodyPr>
          <a:lstStyle/>
          <a:p>
            <a:pPr algn="ctr">
              <a:defRPr sz="950" b="1">
                <a:solidFill>
                  <a:srgbClr val="0E6BA0"/>
                </a:solidFill>
                <a:latin typeface="Calibri"/>
              </a:defRPr>
            </a:pPr>
            <a:r>
              <a:t>33</a:t>
            </a:r>
          </a:p>
        </p:txBody>
      </p:sp>
      <p:sp>
        <p:nvSpPr>
          <p:cNvPr id="18" name="Rectangle 17"/>
          <p:cNvSpPr/>
          <p:nvPr/>
        </p:nvSpPr>
        <p:spPr>
          <a:xfrm>
            <a:off x="274320" y="1335024"/>
            <a:ext cx="9921240"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1353312"/>
            <a:ext cx="502920" cy="237744"/>
          </a:xfrm>
          <a:prstGeom prst="rect">
            <a:avLst/>
          </a:prstGeom>
          <a:noFill/>
        </p:spPr>
        <p:txBody>
          <a:bodyPr wrap="square">
            <a:spAutoFit/>
          </a:bodyPr>
          <a:lstStyle/>
          <a:p>
            <a:pPr algn="ctr">
              <a:defRPr sz="950" b="1">
                <a:solidFill>
                  <a:srgbClr val="111827"/>
                </a:solidFill>
                <a:latin typeface="Calibri"/>
              </a:defRPr>
            </a:pPr>
            <a:r>
              <a:t>2</a:t>
            </a:r>
          </a:p>
        </p:txBody>
      </p:sp>
      <p:sp>
        <p:nvSpPr>
          <p:cNvPr id="20" name="TextBox 19"/>
          <p:cNvSpPr txBox="1"/>
          <p:nvPr/>
        </p:nvSpPr>
        <p:spPr>
          <a:xfrm>
            <a:off x="777240" y="1353312"/>
            <a:ext cx="1645920" cy="237744"/>
          </a:xfrm>
          <a:prstGeom prst="rect">
            <a:avLst/>
          </a:prstGeom>
          <a:noFill/>
        </p:spPr>
        <p:txBody>
          <a:bodyPr wrap="square">
            <a:spAutoFit/>
          </a:bodyPr>
          <a:lstStyle/>
          <a:p>
            <a:pPr algn="ctr">
              <a:defRPr sz="950" b="1">
                <a:solidFill>
                  <a:srgbClr val="111827"/>
                </a:solidFill>
                <a:latin typeface="Calibri"/>
              </a:defRPr>
            </a:pPr>
            <a:r>
              <a:t>Derek J.</a:t>
            </a:r>
          </a:p>
        </p:txBody>
      </p:sp>
      <p:sp>
        <p:nvSpPr>
          <p:cNvPr id="21" name="TextBox 20"/>
          <p:cNvSpPr txBox="1"/>
          <p:nvPr/>
        </p:nvSpPr>
        <p:spPr>
          <a:xfrm>
            <a:off x="2423160" y="1353312"/>
            <a:ext cx="5486400" cy="237744"/>
          </a:xfrm>
          <a:prstGeom prst="rect">
            <a:avLst/>
          </a:prstGeom>
          <a:noFill/>
        </p:spPr>
        <p:txBody>
          <a:bodyPr wrap="square">
            <a:spAutoFit/>
          </a:bodyPr>
          <a:lstStyle/>
          <a:p>
            <a:pPr algn="l">
              <a:defRPr sz="950" b="0">
                <a:solidFill>
                  <a:srgbClr val="111827"/>
                </a:solidFill>
                <a:latin typeface="Calibri"/>
              </a:defRPr>
            </a:pPr>
            <a:r>
              <a:t>Jagdeep Singh Insurance Agency, Inc</a:t>
            </a:r>
          </a:p>
        </p:txBody>
      </p:sp>
      <p:sp>
        <p:nvSpPr>
          <p:cNvPr id="22" name="TextBox 21"/>
          <p:cNvSpPr txBox="1"/>
          <p:nvPr/>
        </p:nvSpPr>
        <p:spPr>
          <a:xfrm>
            <a:off x="7909560" y="1353312"/>
            <a:ext cx="1463040" cy="237744"/>
          </a:xfrm>
          <a:prstGeom prst="rect">
            <a:avLst/>
          </a:prstGeom>
          <a:noFill/>
        </p:spPr>
        <p:txBody>
          <a:bodyPr wrap="square">
            <a:spAutoFit/>
          </a:bodyPr>
          <a:lstStyle/>
          <a:p>
            <a:pPr algn="ctr">
              <a:defRPr sz="950" b="1">
                <a:solidFill>
                  <a:srgbClr val="111827"/>
                </a:solidFill>
                <a:latin typeface="Calibri"/>
              </a:defRPr>
            </a:pPr>
            <a:r>
              <a:t>$323K</a:t>
            </a:r>
          </a:p>
        </p:txBody>
      </p:sp>
      <p:sp>
        <p:nvSpPr>
          <p:cNvPr id="23" name="TextBox 22"/>
          <p:cNvSpPr txBox="1"/>
          <p:nvPr/>
        </p:nvSpPr>
        <p:spPr>
          <a:xfrm>
            <a:off x="9372600" y="1353312"/>
            <a:ext cx="822960" cy="237744"/>
          </a:xfrm>
          <a:prstGeom prst="rect">
            <a:avLst/>
          </a:prstGeom>
          <a:noFill/>
        </p:spPr>
        <p:txBody>
          <a:bodyPr wrap="square">
            <a:spAutoFit/>
          </a:bodyPr>
          <a:lstStyle/>
          <a:p>
            <a:pPr algn="ctr">
              <a:defRPr sz="950" b="1">
                <a:solidFill>
                  <a:srgbClr val="0E6BA0"/>
                </a:solidFill>
                <a:latin typeface="Calibri"/>
              </a:defRPr>
            </a:pPr>
            <a:r>
              <a:t>17</a:t>
            </a:r>
          </a:p>
        </p:txBody>
      </p:sp>
      <p:sp>
        <p:nvSpPr>
          <p:cNvPr id="24" name="Rectangle 23"/>
          <p:cNvSpPr/>
          <p:nvPr/>
        </p:nvSpPr>
        <p:spPr>
          <a:xfrm>
            <a:off x="274320" y="1591056"/>
            <a:ext cx="9921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1609344"/>
            <a:ext cx="502920" cy="237744"/>
          </a:xfrm>
          <a:prstGeom prst="rect">
            <a:avLst/>
          </a:prstGeom>
          <a:noFill/>
        </p:spPr>
        <p:txBody>
          <a:bodyPr wrap="square">
            <a:spAutoFit/>
          </a:bodyPr>
          <a:lstStyle/>
          <a:p>
            <a:pPr algn="ctr">
              <a:defRPr sz="950" b="1">
                <a:solidFill>
                  <a:srgbClr val="111827"/>
                </a:solidFill>
                <a:latin typeface="Calibri"/>
              </a:defRPr>
            </a:pPr>
            <a:r>
              <a:t>3</a:t>
            </a:r>
          </a:p>
        </p:txBody>
      </p:sp>
      <p:sp>
        <p:nvSpPr>
          <p:cNvPr id="26" name="TextBox 25"/>
          <p:cNvSpPr txBox="1"/>
          <p:nvPr/>
        </p:nvSpPr>
        <p:spPr>
          <a:xfrm>
            <a:off x="777240" y="1609344"/>
            <a:ext cx="1645920" cy="237744"/>
          </a:xfrm>
          <a:prstGeom prst="rect">
            <a:avLst/>
          </a:prstGeom>
          <a:noFill/>
        </p:spPr>
        <p:txBody>
          <a:bodyPr wrap="square">
            <a:spAutoFit/>
          </a:bodyPr>
          <a:lstStyle/>
          <a:p>
            <a:pPr algn="ctr">
              <a:defRPr sz="950" b="1">
                <a:solidFill>
                  <a:srgbClr val="111827"/>
                </a:solidFill>
                <a:latin typeface="Calibri"/>
              </a:defRPr>
            </a:pPr>
            <a:r>
              <a:t>Derek J.</a:t>
            </a:r>
          </a:p>
        </p:txBody>
      </p:sp>
      <p:sp>
        <p:nvSpPr>
          <p:cNvPr id="27" name="TextBox 26"/>
          <p:cNvSpPr txBox="1"/>
          <p:nvPr/>
        </p:nvSpPr>
        <p:spPr>
          <a:xfrm>
            <a:off x="2423160" y="1609344"/>
            <a:ext cx="5486400" cy="237744"/>
          </a:xfrm>
          <a:prstGeom prst="rect">
            <a:avLst/>
          </a:prstGeom>
          <a:noFill/>
        </p:spPr>
        <p:txBody>
          <a:bodyPr wrap="square">
            <a:spAutoFit/>
          </a:bodyPr>
          <a:lstStyle/>
          <a:p>
            <a:pPr algn="l">
              <a:defRPr sz="950" b="0">
                <a:solidFill>
                  <a:srgbClr val="111827"/>
                </a:solidFill>
                <a:latin typeface="Calibri"/>
              </a:defRPr>
            </a:pPr>
            <a:r>
              <a:t>Jtc Insurance Agency, Inc.</a:t>
            </a:r>
          </a:p>
        </p:txBody>
      </p:sp>
      <p:sp>
        <p:nvSpPr>
          <p:cNvPr id="28" name="TextBox 27"/>
          <p:cNvSpPr txBox="1"/>
          <p:nvPr/>
        </p:nvSpPr>
        <p:spPr>
          <a:xfrm>
            <a:off x="7909560" y="1609344"/>
            <a:ext cx="1463040" cy="237744"/>
          </a:xfrm>
          <a:prstGeom prst="rect">
            <a:avLst/>
          </a:prstGeom>
          <a:noFill/>
        </p:spPr>
        <p:txBody>
          <a:bodyPr wrap="square">
            <a:spAutoFit/>
          </a:bodyPr>
          <a:lstStyle/>
          <a:p>
            <a:pPr algn="ctr">
              <a:defRPr sz="950" b="1">
                <a:solidFill>
                  <a:srgbClr val="111827"/>
                </a:solidFill>
                <a:latin typeface="Calibri"/>
              </a:defRPr>
            </a:pPr>
            <a:r>
              <a:t>$318K</a:t>
            </a:r>
          </a:p>
        </p:txBody>
      </p:sp>
      <p:sp>
        <p:nvSpPr>
          <p:cNvPr id="29" name="TextBox 28"/>
          <p:cNvSpPr txBox="1"/>
          <p:nvPr/>
        </p:nvSpPr>
        <p:spPr>
          <a:xfrm>
            <a:off x="9372600" y="1609344"/>
            <a:ext cx="822960" cy="237744"/>
          </a:xfrm>
          <a:prstGeom prst="rect">
            <a:avLst/>
          </a:prstGeom>
          <a:noFill/>
        </p:spPr>
        <p:txBody>
          <a:bodyPr wrap="square">
            <a:spAutoFit/>
          </a:bodyPr>
          <a:lstStyle/>
          <a:p>
            <a:pPr algn="ctr">
              <a:defRPr sz="950" b="1">
                <a:solidFill>
                  <a:srgbClr val="0E6BA0"/>
                </a:solidFill>
                <a:latin typeface="Calibri"/>
              </a:defRPr>
            </a:pPr>
            <a:r>
              <a:t>21</a:t>
            </a:r>
          </a:p>
        </p:txBody>
      </p:sp>
      <p:sp>
        <p:nvSpPr>
          <p:cNvPr id="30" name="Rectangle 29"/>
          <p:cNvSpPr/>
          <p:nvPr/>
        </p:nvSpPr>
        <p:spPr>
          <a:xfrm>
            <a:off x="274320" y="1847088"/>
            <a:ext cx="9921240"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1865376"/>
            <a:ext cx="502920" cy="237744"/>
          </a:xfrm>
          <a:prstGeom prst="rect">
            <a:avLst/>
          </a:prstGeom>
          <a:noFill/>
        </p:spPr>
        <p:txBody>
          <a:bodyPr wrap="square">
            <a:spAutoFit/>
          </a:bodyPr>
          <a:lstStyle/>
          <a:p>
            <a:pPr algn="ctr">
              <a:defRPr sz="950" b="1">
                <a:solidFill>
                  <a:srgbClr val="111827"/>
                </a:solidFill>
                <a:latin typeface="Calibri"/>
              </a:defRPr>
            </a:pPr>
            <a:r>
              <a:t>4</a:t>
            </a:r>
          </a:p>
        </p:txBody>
      </p:sp>
      <p:sp>
        <p:nvSpPr>
          <p:cNvPr id="32" name="TextBox 31"/>
          <p:cNvSpPr txBox="1"/>
          <p:nvPr/>
        </p:nvSpPr>
        <p:spPr>
          <a:xfrm>
            <a:off x="777240" y="1865376"/>
            <a:ext cx="1645920" cy="237744"/>
          </a:xfrm>
          <a:prstGeom prst="rect">
            <a:avLst/>
          </a:prstGeom>
          <a:noFill/>
        </p:spPr>
        <p:txBody>
          <a:bodyPr wrap="square">
            <a:spAutoFit/>
          </a:bodyPr>
          <a:lstStyle/>
          <a:p>
            <a:pPr algn="ctr">
              <a:defRPr sz="950" b="1">
                <a:solidFill>
                  <a:srgbClr val="111827"/>
                </a:solidFill>
                <a:latin typeface="Calibri"/>
              </a:defRPr>
            </a:pPr>
            <a:r>
              <a:t>Derek J.</a:t>
            </a:r>
          </a:p>
        </p:txBody>
      </p:sp>
      <p:sp>
        <p:nvSpPr>
          <p:cNvPr id="33" name="TextBox 32"/>
          <p:cNvSpPr txBox="1"/>
          <p:nvPr/>
        </p:nvSpPr>
        <p:spPr>
          <a:xfrm>
            <a:off x="2423160" y="1865376"/>
            <a:ext cx="5486400" cy="237744"/>
          </a:xfrm>
          <a:prstGeom prst="rect">
            <a:avLst/>
          </a:prstGeom>
          <a:noFill/>
        </p:spPr>
        <p:txBody>
          <a:bodyPr wrap="square">
            <a:spAutoFit/>
          </a:bodyPr>
          <a:lstStyle/>
          <a:p>
            <a:pPr algn="l">
              <a:defRPr sz="950" b="0">
                <a:solidFill>
                  <a:srgbClr val="111827"/>
                </a:solidFill>
                <a:latin typeface="Calibri"/>
              </a:defRPr>
            </a:pPr>
            <a:r>
              <a:t>Safeline Insurance Agency, Inc.</a:t>
            </a:r>
          </a:p>
        </p:txBody>
      </p:sp>
      <p:sp>
        <p:nvSpPr>
          <p:cNvPr id="34" name="TextBox 33"/>
          <p:cNvSpPr txBox="1"/>
          <p:nvPr/>
        </p:nvSpPr>
        <p:spPr>
          <a:xfrm>
            <a:off x="7909560" y="1865376"/>
            <a:ext cx="1463040" cy="237744"/>
          </a:xfrm>
          <a:prstGeom prst="rect">
            <a:avLst/>
          </a:prstGeom>
          <a:noFill/>
        </p:spPr>
        <p:txBody>
          <a:bodyPr wrap="square">
            <a:spAutoFit/>
          </a:bodyPr>
          <a:lstStyle/>
          <a:p>
            <a:pPr algn="ctr">
              <a:defRPr sz="950" b="1">
                <a:solidFill>
                  <a:srgbClr val="111827"/>
                </a:solidFill>
                <a:latin typeface="Calibri"/>
              </a:defRPr>
            </a:pPr>
            <a:r>
              <a:t>$315K</a:t>
            </a:r>
          </a:p>
        </p:txBody>
      </p:sp>
      <p:sp>
        <p:nvSpPr>
          <p:cNvPr id="35" name="TextBox 34"/>
          <p:cNvSpPr txBox="1"/>
          <p:nvPr/>
        </p:nvSpPr>
        <p:spPr>
          <a:xfrm>
            <a:off x="9372600" y="1865376"/>
            <a:ext cx="822960" cy="237744"/>
          </a:xfrm>
          <a:prstGeom prst="rect">
            <a:avLst/>
          </a:prstGeom>
          <a:noFill/>
        </p:spPr>
        <p:txBody>
          <a:bodyPr wrap="square">
            <a:spAutoFit/>
          </a:bodyPr>
          <a:lstStyle/>
          <a:p>
            <a:pPr algn="ctr">
              <a:defRPr sz="950" b="1">
                <a:solidFill>
                  <a:srgbClr val="0E6BA0"/>
                </a:solidFill>
                <a:latin typeface="Calibri"/>
              </a:defRPr>
            </a:pPr>
            <a:r>
              <a:t>15</a:t>
            </a:r>
          </a:p>
        </p:txBody>
      </p:sp>
      <p:sp>
        <p:nvSpPr>
          <p:cNvPr id="36" name="Rectangle 35"/>
          <p:cNvSpPr/>
          <p:nvPr/>
        </p:nvSpPr>
        <p:spPr>
          <a:xfrm>
            <a:off x="274320" y="2103120"/>
            <a:ext cx="9921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2121408"/>
            <a:ext cx="502920" cy="237744"/>
          </a:xfrm>
          <a:prstGeom prst="rect">
            <a:avLst/>
          </a:prstGeom>
          <a:noFill/>
        </p:spPr>
        <p:txBody>
          <a:bodyPr wrap="square">
            <a:spAutoFit/>
          </a:bodyPr>
          <a:lstStyle/>
          <a:p>
            <a:pPr algn="ctr">
              <a:defRPr sz="950" b="1">
                <a:solidFill>
                  <a:srgbClr val="111827"/>
                </a:solidFill>
                <a:latin typeface="Calibri"/>
              </a:defRPr>
            </a:pPr>
            <a:r>
              <a:t>5</a:t>
            </a:r>
          </a:p>
        </p:txBody>
      </p:sp>
      <p:sp>
        <p:nvSpPr>
          <p:cNvPr id="38" name="TextBox 37"/>
          <p:cNvSpPr txBox="1"/>
          <p:nvPr/>
        </p:nvSpPr>
        <p:spPr>
          <a:xfrm>
            <a:off x="777240" y="2121408"/>
            <a:ext cx="1645920" cy="237744"/>
          </a:xfrm>
          <a:prstGeom prst="rect">
            <a:avLst/>
          </a:prstGeom>
          <a:noFill/>
        </p:spPr>
        <p:txBody>
          <a:bodyPr wrap="square">
            <a:spAutoFit/>
          </a:bodyPr>
          <a:lstStyle/>
          <a:p>
            <a:pPr algn="ctr">
              <a:defRPr sz="950" b="1">
                <a:solidFill>
                  <a:srgbClr val="111827"/>
                </a:solidFill>
                <a:latin typeface="Calibri"/>
              </a:defRPr>
            </a:pPr>
            <a:r>
              <a:t>Derek J.</a:t>
            </a:r>
          </a:p>
        </p:txBody>
      </p:sp>
      <p:sp>
        <p:nvSpPr>
          <p:cNvPr id="39" name="TextBox 38"/>
          <p:cNvSpPr txBox="1"/>
          <p:nvPr/>
        </p:nvSpPr>
        <p:spPr>
          <a:xfrm>
            <a:off x="2423160" y="2121408"/>
            <a:ext cx="5486400" cy="237744"/>
          </a:xfrm>
          <a:prstGeom prst="rect">
            <a:avLst/>
          </a:prstGeom>
          <a:noFill/>
        </p:spPr>
        <p:txBody>
          <a:bodyPr wrap="square">
            <a:spAutoFit/>
          </a:bodyPr>
          <a:lstStyle/>
          <a:p>
            <a:pPr algn="l">
              <a:defRPr sz="950" b="0">
                <a:solidFill>
                  <a:srgbClr val="111827"/>
                </a:solidFill>
                <a:latin typeface="Calibri"/>
              </a:defRPr>
            </a:pPr>
            <a:r>
              <a:t>Sedge Insurance Agency LLC</a:t>
            </a:r>
          </a:p>
        </p:txBody>
      </p:sp>
      <p:sp>
        <p:nvSpPr>
          <p:cNvPr id="40" name="TextBox 39"/>
          <p:cNvSpPr txBox="1"/>
          <p:nvPr/>
        </p:nvSpPr>
        <p:spPr>
          <a:xfrm>
            <a:off x="7909560" y="2121408"/>
            <a:ext cx="1463040" cy="237744"/>
          </a:xfrm>
          <a:prstGeom prst="rect">
            <a:avLst/>
          </a:prstGeom>
          <a:noFill/>
        </p:spPr>
        <p:txBody>
          <a:bodyPr wrap="square">
            <a:spAutoFit/>
          </a:bodyPr>
          <a:lstStyle/>
          <a:p>
            <a:pPr algn="ctr">
              <a:defRPr sz="950" b="1">
                <a:solidFill>
                  <a:srgbClr val="111827"/>
                </a:solidFill>
                <a:latin typeface="Calibri"/>
              </a:defRPr>
            </a:pPr>
            <a:r>
              <a:t>$281K</a:t>
            </a:r>
          </a:p>
        </p:txBody>
      </p:sp>
      <p:sp>
        <p:nvSpPr>
          <p:cNvPr id="41" name="TextBox 40"/>
          <p:cNvSpPr txBox="1"/>
          <p:nvPr/>
        </p:nvSpPr>
        <p:spPr>
          <a:xfrm>
            <a:off x="9372600" y="2121408"/>
            <a:ext cx="822960" cy="237744"/>
          </a:xfrm>
          <a:prstGeom prst="rect">
            <a:avLst/>
          </a:prstGeom>
          <a:noFill/>
        </p:spPr>
        <p:txBody>
          <a:bodyPr wrap="square">
            <a:spAutoFit/>
          </a:bodyPr>
          <a:lstStyle/>
          <a:p>
            <a:pPr algn="ctr">
              <a:defRPr sz="950" b="1">
                <a:solidFill>
                  <a:srgbClr val="0E6BA0"/>
                </a:solidFill>
                <a:latin typeface="Calibri"/>
              </a:defRPr>
            </a:pPr>
            <a:r>
              <a:t>12</a:t>
            </a:r>
          </a:p>
        </p:txBody>
      </p:sp>
      <p:sp>
        <p:nvSpPr>
          <p:cNvPr id="42" name="Rectangle 41"/>
          <p:cNvSpPr/>
          <p:nvPr/>
        </p:nvSpPr>
        <p:spPr>
          <a:xfrm>
            <a:off x="274320" y="2359152"/>
            <a:ext cx="9921240"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 y="2377440"/>
            <a:ext cx="502920" cy="237744"/>
          </a:xfrm>
          <a:prstGeom prst="rect">
            <a:avLst/>
          </a:prstGeom>
          <a:noFill/>
        </p:spPr>
        <p:txBody>
          <a:bodyPr wrap="square">
            <a:spAutoFit/>
          </a:bodyPr>
          <a:lstStyle/>
          <a:p>
            <a:pPr algn="ctr">
              <a:defRPr sz="950" b="1">
                <a:solidFill>
                  <a:srgbClr val="111827"/>
                </a:solidFill>
                <a:latin typeface="Calibri"/>
              </a:defRPr>
            </a:pPr>
            <a:r>
              <a:t>6</a:t>
            </a:r>
          </a:p>
        </p:txBody>
      </p:sp>
      <p:sp>
        <p:nvSpPr>
          <p:cNvPr id="44" name="TextBox 43"/>
          <p:cNvSpPr txBox="1"/>
          <p:nvPr/>
        </p:nvSpPr>
        <p:spPr>
          <a:xfrm>
            <a:off x="777240" y="2377440"/>
            <a:ext cx="1645920" cy="237744"/>
          </a:xfrm>
          <a:prstGeom prst="rect">
            <a:avLst/>
          </a:prstGeom>
          <a:noFill/>
        </p:spPr>
        <p:txBody>
          <a:bodyPr wrap="square">
            <a:spAutoFit/>
          </a:bodyPr>
          <a:lstStyle/>
          <a:p>
            <a:pPr algn="ctr">
              <a:defRPr sz="950" b="1">
                <a:solidFill>
                  <a:srgbClr val="111827"/>
                </a:solidFill>
                <a:latin typeface="Calibri"/>
              </a:defRPr>
            </a:pPr>
            <a:r>
              <a:t>Christopher H.</a:t>
            </a:r>
          </a:p>
        </p:txBody>
      </p:sp>
      <p:sp>
        <p:nvSpPr>
          <p:cNvPr id="45" name="TextBox 44"/>
          <p:cNvSpPr txBox="1"/>
          <p:nvPr/>
        </p:nvSpPr>
        <p:spPr>
          <a:xfrm>
            <a:off x="2423160" y="2377440"/>
            <a:ext cx="5486400" cy="237744"/>
          </a:xfrm>
          <a:prstGeom prst="rect">
            <a:avLst/>
          </a:prstGeom>
          <a:noFill/>
        </p:spPr>
        <p:txBody>
          <a:bodyPr wrap="square">
            <a:spAutoFit/>
          </a:bodyPr>
          <a:lstStyle/>
          <a:p>
            <a:pPr algn="l">
              <a:defRPr sz="950" b="0">
                <a:solidFill>
                  <a:srgbClr val="111827"/>
                </a:solidFill>
                <a:latin typeface="Calibri"/>
              </a:defRPr>
            </a:pPr>
            <a:r>
              <a:t>Insurox Group, Inc</a:t>
            </a:r>
          </a:p>
        </p:txBody>
      </p:sp>
      <p:sp>
        <p:nvSpPr>
          <p:cNvPr id="46" name="TextBox 45"/>
          <p:cNvSpPr txBox="1"/>
          <p:nvPr/>
        </p:nvSpPr>
        <p:spPr>
          <a:xfrm>
            <a:off x="7909560" y="2377440"/>
            <a:ext cx="1463040" cy="237744"/>
          </a:xfrm>
          <a:prstGeom prst="rect">
            <a:avLst/>
          </a:prstGeom>
          <a:noFill/>
        </p:spPr>
        <p:txBody>
          <a:bodyPr wrap="square">
            <a:spAutoFit/>
          </a:bodyPr>
          <a:lstStyle/>
          <a:p>
            <a:pPr algn="ctr">
              <a:defRPr sz="950" b="1">
                <a:solidFill>
                  <a:srgbClr val="111827"/>
                </a:solidFill>
                <a:latin typeface="Calibri"/>
              </a:defRPr>
            </a:pPr>
            <a:r>
              <a:t>$275K</a:t>
            </a:r>
          </a:p>
        </p:txBody>
      </p:sp>
      <p:sp>
        <p:nvSpPr>
          <p:cNvPr id="47" name="TextBox 46"/>
          <p:cNvSpPr txBox="1"/>
          <p:nvPr/>
        </p:nvSpPr>
        <p:spPr>
          <a:xfrm>
            <a:off x="9372600" y="2377440"/>
            <a:ext cx="822960" cy="237744"/>
          </a:xfrm>
          <a:prstGeom prst="rect">
            <a:avLst/>
          </a:prstGeom>
          <a:noFill/>
        </p:spPr>
        <p:txBody>
          <a:bodyPr wrap="square">
            <a:spAutoFit/>
          </a:bodyPr>
          <a:lstStyle/>
          <a:p>
            <a:pPr algn="ctr">
              <a:defRPr sz="950" b="1">
                <a:solidFill>
                  <a:srgbClr val="0E6BA0"/>
                </a:solidFill>
                <a:latin typeface="Calibri"/>
              </a:defRPr>
            </a:pPr>
            <a:r>
              <a:t>9</a:t>
            </a:r>
          </a:p>
        </p:txBody>
      </p:sp>
      <p:sp>
        <p:nvSpPr>
          <p:cNvPr id="48" name="Rectangle 47"/>
          <p:cNvSpPr/>
          <p:nvPr/>
        </p:nvSpPr>
        <p:spPr>
          <a:xfrm>
            <a:off x="274320" y="2615184"/>
            <a:ext cx="9921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4320" y="2633472"/>
            <a:ext cx="502920" cy="237744"/>
          </a:xfrm>
          <a:prstGeom prst="rect">
            <a:avLst/>
          </a:prstGeom>
          <a:noFill/>
        </p:spPr>
        <p:txBody>
          <a:bodyPr wrap="square">
            <a:spAutoFit/>
          </a:bodyPr>
          <a:lstStyle/>
          <a:p>
            <a:pPr algn="ctr">
              <a:defRPr sz="950" b="1">
                <a:solidFill>
                  <a:srgbClr val="111827"/>
                </a:solidFill>
                <a:latin typeface="Calibri"/>
              </a:defRPr>
            </a:pPr>
            <a:r>
              <a:t>7</a:t>
            </a:r>
          </a:p>
        </p:txBody>
      </p:sp>
      <p:sp>
        <p:nvSpPr>
          <p:cNvPr id="50" name="TextBox 49"/>
          <p:cNvSpPr txBox="1"/>
          <p:nvPr/>
        </p:nvSpPr>
        <p:spPr>
          <a:xfrm>
            <a:off x="777240" y="2633472"/>
            <a:ext cx="1645920" cy="237744"/>
          </a:xfrm>
          <a:prstGeom prst="rect">
            <a:avLst/>
          </a:prstGeom>
          <a:noFill/>
        </p:spPr>
        <p:txBody>
          <a:bodyPr wrap="square">
            <a:spAutoFit/>
          </a:bodyPr>
          <a:lstStyle/>
          <a:p>
            <a:pPr algn="ctr">
              <a:defRPr sz="950" b="1">
                <a:solidFill>
                  <a:srgbClr val="111827"/>
                </a:solidFill>
                <a:latin typeface="Calibri"/>
              </a:defRPr>
            </a:pPr>
            <a:r>
              <a:t>Derrick L.</a:t>
            </a:r>
          </a:p>
        </p:txBody>
      </p:sp>
      <p:sp>
        <p:nvSpPr>
          <p:cNvPr id="51" name="TextBox 50"/>
          <p:cNvSpPr txBox="1"/>
          <p:nvPr/>
        </p:nvSpPr>
        <p:spPr>
          <a:xfrm>
            <a:off x="2423160" y="2633472"/>
            <a:ext cx="5486400" cy="237744"/>
          </a:xfrm>
          <a:prstGeom prst="rect">
            <a:avLst/>
          </a:prstGeom>
          <a:noFill/>
        </p:spPr>
        <p:txBody>
          <a:bodyPr wrap="square">
            <a:spAutoFit/>
          </a:bodyPr>
          <a:lstStyle/>
          <a:p>
            <a:pPr algn="l">
              <a:defRPr sz="950" b="0">
                <a:solidFill>
                  <a:srgbClr val="111827"/>
                </a:solidFill>
                <a:latin typeface="Calibri"/>
              </a:defRPr>
            </a:pPr>
            <a:r>
              <a:t>Lone Star Direct Insurance Agency LLC</a:t>
            </a:r>
          </a:p>
        </p:txBody>
      </p:sp>
      <p:sp>
        <p:nvSpPr>
          <p:cNvPr id="52" name="TextBox 51"/>
          <p:cNvSpPr txBox="1"/>
          <p:nvPr/>
        </p:nvSpPr>
        <p:spPr>
          <a:xfrm>
            <a:off x="7909560" y="2633472"/>
            <a:ext cx="1463040" cy="237744"/>
          </a:xfrm>
          <a:prstGeom prst="rect">
            <a:avLst/>
          </a:prstGeom>
          <a:noFill/>
        </p:spPr>
        <p:txBody>
          <a:bodyPr wrap="square">
            <a:spAutoFit/>
          </a:bodyPr>
          <a:lstStyle/>
          <a:p>
            <a:pPr algn="ctr">
              <a:defRPr sz="950" b="1">
                <a:solidFill>
                  <a:srgbClr val="111827"/>
                </a:solidFill>
                <a:latin typeface="Calibri"/>
              </a:defRPr>
            </a:pPr>
            <a:r>
              <a:t>$254K</a:t>
            </a:r>
          </a:p>
        </p:txBody>
      </p:sp>
      <p:sp>
        <p:nvSpPr>
          <p:cNvPr id="53" name="TextBox 52"/>
          <p:cNvSpPr txBox="1"/>
          <p:nvPr/>
        </p:nvSpPr>
        <p:spPr>
          <a:xfrm>
            <a:off x="9372600" y="2633472"/>
            <a:ext cx="822960" cy="237744"/>
          </a:xfrm>
          <a:prstGeom prst="rect">
            <a:avLst/>
          </a:prstGeom>
          <a:noFill/>
        </p:spPr>
        <p:txBody>
          <a:bodyPr wrap="square">
            <a:spAutoFit/>
          </a:bodyPr>
          <a:lstStyle/>
          <a:p>
            <a:pPr algn="ctr">
              <a:defRPr sz="950" b="1">
                <a:solidFill>
                  <a:srgbClr val="0E6BA0"/>
                </a:solidFill>
                <a:latin typeface="Calibri"/>
              </a:defRPr>
            </a:pPr>
            <a:r>
              <a:t>21</a:t>
            </a:r>
          </a:p>
        </p:txBody>
      </p:sp>
      <p:sp>
        <p:nvSpPr>
          <p:cNvPr id="54" name="Rectangle 53"/>
          <p:cNvSpPr/>
          <p:nvPr/>
        </p:nvSpPr>
        <p:spPr>
          <a:xfrm>
            <a:off x="274320" y="2871216"/>
            <a:ext cx="9921240"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4320" y="2889504"/>
            <a:ext cx="502920" cy="237744"/>
          </a:xfrm>
          <a:prstGeom prst="rect">
            <a:avLst/>
          </a:prstGeom>
          <a:noFill/>
        </p:spPr>
        <p:txBody>
          <a:bodyPr wrap="square">
            <a:spAutoFit/>
          </a:bodyPr>
          <a:lstStyle/>
          <a:p>
            <a:pPr algn="ctr">
              <a:defRPr sz="950" b="1">
                <a:solidFill>
                  <a:srgbClr val="111827"/>
                </a:solidFill>
                <a:latin typeface="Calibri"/>
              </a:defRPr>
            </a:pPr>
            <a:r>
              <a:t>8</a:t>
            </a:r>
          </a:p>
        </p:txBody>
      </p:sp>
      <p:sp>
        <p:nvSpPr>
          <p:cNvPr id="56" name="TextBox 55"/>
          <p:cNvSpPr txBox="1"/>
          <p:nvPr/>
        </p:nvSpPr>
        <p:spPr>
          <a:xfrm>
            <a:off x="777240" y="2889504"/>
            <a:ext cx="1645920" cy="237744"/>
          </a:xfrm>
          <a:prstGeom prst="rect">
            <a:avLst/>
          </a:prstGeom>
          <a:noFill/>
        </p:spPr>
        <p:txBody>
          <a:bodyPr wrap="square">
            <a:spAutoFit/>
          </a:bodyPr>
          <a:lstStyle/>
          <a:p>
            <a:pPr algn="ctr">
              <a:defRPr sz="950" b="1">
                <a:solidFill>
                  <a:srgbClr val="111827"/>
                </a:solidFill>
                <a:latin typeface="Calibri"/>
              </a:defRPr>
            </a:pPr>
            <a:r>
              <a:t>Derek J.</a:t>
            </a:r>
          </a:p>
        </p:txBody>
      </p:sp>
      <p:sp>
        <p:nvSpPr>
          <p:cNvPr id="57" name="TextBox 56"/>
          <p:cNvSpPr txBox="1"/>
          <p:nvPr/>
        </p:nvSpPr>
        <p:spPr>
          <a:xfrm>
            <a:off x="2423160" y="2889504"/>
            <a:ext cx="5486400" cy="237744"/>
          </a:xfrm>
          <a:prstGeom prst="rect">
            <a:avLst/>
          </a:prstGeom>
          <a:noFill/>
        </p:spPr>
        <p:txBody>
          <a:bodyPr wrap="square">
            <a:spAutoFit/>
          </a:bodyPr>
          <a:lstStyle/>
          <a:p>
            <a:pPr algn="l">
              <a:defRPr sz="950" b="0">
                <a:solidFill>
                  <a:srgbClr val="111827"/>
                </a:solidFill>
                <a:latin typeface="Calibri"/>
              </a:defRPr>
            </a:pPr>
            <a:r>
              <a:t>Reliance Partners, LLC</a:t>
            </a:r>
          </a:p>
        </p:txBody>
      </p:sp>
      <p:sp>
        <p:nvSpPr>
          <p:cNvPr id="58" name="TextBox 57"/>
          <p:cNvSpPr txBox="1"/>
          <p:nvPr/>
        </p:nvSpPr>
        <p:spPr>
          <a:xfrm>
            <a:off x="7909560" y="2889504"/>
            <a:ext cx="1463040" cy="237744"/>
          </a:xfrm>
          <a:prstGeom prst="rect">
            <a:avLst/>
          </a:prstGeom>
          <a:noFill/>
        </p:spPr>
        <p:txBody>
          <a:bodyPr wrap="square">
            <a:spAutoFit/>
          </a:bodyPr>
          <a:lstStyle/>
          <a:p>
            <a:pPr algn="ctr">
              <a:defRPr sz="950" b="1">
                <a:solidFill>
                  <a:srgbClr val="111827"/>
                </a:solidFill>
                <a:latin typeface="Calibri"/>
              </a:defRPr>
            </a:pPr>
            <a:r>
              <a:t>$247K</a:t>
            </a:r>
          </a:p>
        </p:txBody>
      </p:sp>
      <p:sp>
        <p:nvSpPr>
          <p:cNvPr id="59" name="TextBox 58"/>
          <p:cNvSpPr txBox="1"/>
          <p:nvPr/>
        </p:nvSpPr>
        <p:spPr>
          <a:xfrm>
            <a:off x="9372600" y="2889504"/>
            <a:ext cx="822960" cy="237744"/>
          </a:xfrm>
          <a:prstGeom prst="rect">
            <a:avLst/>
          </a:prstGeom>
          <a:noFill/>
        </p:spPr>
        <p:txBody>
          <a:bodyPr wrap="square">
            <a:spAutoFit/>
          </a:bodyPr>
          <a:lstStyle/>
          <a:p>
            <a:pPr algn="ctr">
              <a:defRPr sz="950" b="1">
                <a:solidFill>
                  <a:srgbClr val="0E6BA0"/>
                </a:solidFill>
                <a:latin typeface="Calibri"/>
              </a:defRPr>
            </a:pPr>
            <a:r>
              <a:t>10</a:t>
            </a:r>
          </a:p>
        </p:txBody>
      </p:sp>
      <p:sp>
        <p:nvSpPr>
          <p:cNvPr id="60" name="Rectangle 59"/>
          <p:cNvSpPr/>
          <p:nvPr/>
        </p:nvSpPr>
        <p:spPr>
          <a:xfrm>
            <a:off x="274320" y="3127248"/>
            <a:ext cx="9921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4320" y="3145536"/>
            <a:ext cx="502920" cy="237744"/>
          </a:xfrm>
          <a:prstGeom prst="rect">
            <a:avLst/>
          </a:prstGeom>
          <a:noFill/>
        </p:spPr>
        <p:txBody>
          <a:bodyPr wrap="square">
            <a:spAutoFit/>
          </a:bodyPr>
          <a:lstStyle/>
          <a:p>
            <a:pPr algn="ctr">
              <a:defRPr sz="950" b="1">
                <a:solidFill>
                  <a:srgbClr val="111827"/>
                </a:solidFill>
                <a:latin typeface="Calibri"/>
              </a:defRPr>
            </a:pPr>
            <a:r>
              <a:t>9</a:t>
            </a:r>
          </a:p>
        </p:txBody>
      </p:sp>
      <p:sp>
        <p:nvSpPr>
          <p:cNvPr id="62" name="TextBox 61"/>
          <p:cNvSpPr txBox="1"/>
          <p:nvPr/>
        </p:nvSpPr>
        <p:spPr>
          <a:xfrm>
            <a:off x="777240" y="3145536"/>
            <a:ext cx="1645920" cy="237744"/>
          </a:xfrm>
          <a:prstGeom prst="rect">
            <a:avLst/>
          </a:prstGeom>
          <a:noFill/>
        </p:spPr>
        <p:txBody>
          <a:bodyPr wrap="square">
            <a:spAutoFit/>
          </a:bodyPr>
          <a:lstStyle/>
          <a:p>
            <a:pPr algn="ctr">
              <a:defRPr sz="950" b="1">
                <a:solidFill>
                  <a:srgbClr val="111827"/>
                </a:solidFill>
                <a:latin typeface="Calibri"/>
              </a:defRPr>
            </a:pPr>
            <a:r>
              <a:t>Christopher H.</a:t>
            </a:r>
          </a:p>
        </p:txBody>
      </p:sp>
      <p:sp>
        <p:nvSpPr>
          <p:cNvPr id="63" name="TextBox 62"/>
          <p:cNvSpPr txBox="1"/>
          <p:nvPr/>
        </p:nvSpPr>
        <p:spPr>
          <a:xfrm>
            <a:off x="2423160" y="3145536"/>
            <a:ext cx="5486400" cy="237744"/>
          </a:xfrm>
          <a:prstGeom prst="rect">
            <a:avLst/>
          </a:prstGeom>
          <a:noFill/>
        </p:spPr>
        <p:txBody>
          <a:bodyPr wrap="square">
            <a:spAutoFit/>
          </a:bodyPr>
          <a:lstStyle/>
          <a:p>
            <a:pPr algn="l">
              <a:defRPr sz="950" b="0">
                <a:solidFill>
                  <a:srgbClr val="111827"/>
                </a:solidFill>
                <a:latin typeface="Calibri"/>
              </a:defRPr>
            </a:pPr>
            <a:r>
              <a:t>TR Insurance Agency Inc</a:t>
            </a:r>
          </a:p>
        </p:txBody>
      </p:sp>
      <p:sp>
        <p:nvSpPr>
          <p:cNvPr id="64" name="TextBox 63"/>
          <p:cNvSpPr txBox="1"/>
          <p:nvPr/>
        </p:nvSpPr>
        <p:spPr>
          <a:xfrm>
            <a:off x="7909560" y="3145536"/>
            <a:ext cx="1463040" cy="237744"/>
          </a:xfrm>
          <a:prstGeom prst="rect">
            <a:avLst/>
          </a:prstGeom>
          <a:noFill/>
        </p:spPr>
        <p:txBody>
          <a:bodyPr wrap="square">
            <a:spAutoFit/>
          </a:bodyPr>
          <a:lstStyle/>
          <a:p>
            <a:pPr algn="ctr">
              <a:defRPr sz="950" b="1">
                <a:solidFill>
                  <a:srgbClr val="111827"/>
                </a:solidFill>
                <a:latin typeface="Calibri"/>
              </a:defRPr>
            </a:pPr>
            <a:r>
              <a:t>$241K</a:t>
            </a:r>
          </a:p>
        </p:txBody>
      </p:sp>
      <p:sp>
        <p:nvSpPr>
          <p:cNvPr id="65" name="TextBox 64"/>
          <p:cNvSpPr txBox="1"/>
          <p:nvPr/>
        </p:nvSpPr>
        <p:spPr>
          <a:xfrm>
            <a:off x="9372600" y="3145536"/>
            <a:ext cx="822960" cy="237744"/>
          </a:xfrm>
          <a:prstGeom prst="rect">
            <a:avLst/>
          </a:prstGeom>
          <a:noFill/>
        </p:spPr>
        <p:txBody>
          <a:bodyPr wrap="square">
            <a:spAutoFit/>
          </a:bodyPr>
          <a:lstStyle/>
          <a:p>
            <a:pPr algn="ctr">
              <a:defRPr sz="950" b="1">
                <a:solidFill>
                  <a:srgbClr val="0E6BA0"/>
                </a:solidFill>
                <a:latin typeface="Calibri"/>
              </a:defRPr>
            </a:pPr>
            <a:r>
              <a:t>12</a:t>
            </a:r>
          </a:p>
        </p:txBody>
      </p:sp>
      <p:sp>
        <p:nvSpPr>
          <p:cNvPr id="66" name="Rectangle 65"/>
          <p:cNvSpPr/>
          <p:nvPr/>
        </p:nvSpPr>
        <p:spPr>
          <a:xfrm>
            <a:off x="274320" y="3383280"/>
            <a:ext cx="9921240"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74320" y="3401568"/>
            <a:ext cx="502920" cy="237744"/>
          </a:xfrm>
          <a:prstGeom prst="rect">
            <a:avLst/>
          </a:prstGeom>
          <a:noFill/>
        </p:spPr>
        <p:txBody>
          <a:bodyPr wrap="square">
            <a:spAutoFit/>
          </a:bodyPr>
          <a:lstStyle/>
          <a:p>
            <a:pPr algn="ctr">
              <a:defRPr sz="950" b="1">
                <a:solidFill>
                  <a:srgbClr val="111827"/>
                </a:solidFill>
                <a:latin typeface="Calibri"/>
              </a:defRPr>
            </a:pPr>
            <a:r>
              <a:t>10</a:t>
            </a:r>
          </a:p>
        </p:txBody>
      </p:sp>
      <p:sp>
        <p:nvSpPr>
          <p:cNvPr id="68" name="TextBox 67"/>
          <p:cNvSpPr txBox="1"/>
          <p:nvPr/>
        </p:nvSpPr>
        <p:spPr>
          <a:xfrm>
            <a:off x="777240" y="3401568"/>
            <a:ext cx="1645920" cy="237744"/>
          </a:xfrm>
          <a:prstGeom prst="rect">
            <a:avLst/>
          </a:prstGeom>
          <a:noFill/>
        </p:spPr>
        <p:txBody>
          <a:bodyPr wrap="square">
            <a:spAutoFit/>
          </a:bodyPr>
          <a:lstStyle/>
          <a:p>
            <a:pPr algn="ctr">
              <a:defRPr sz="950" b="1">
                <a:solidFill>
                  <a:srgbClr val="111827"/>
                </a:solidFill>
                <a:latin typeface="Calibri"/>
              </a:defRPr>
            </a:pPr>
            <a:r>
              <a:t>Derek J.</a:t>
            </a:r>
          </a:p>
        </p:txBody>
      </p:sp>
      <p:sp>
        <p:nvSpPr>
          <p:cNvPr id="69" name="TextBox 68"/>
          <p:cNvSpPr txBox="1"/>
          <p:nvPr/>
        </p:nvSpPr>
        <p:spPr>
          <a:xfrm>
            <a:off x="2423160" y="3401568"/>
            <a:ext cx="5486400" cy="237744"/>
          </a:xfrm>
          <a:prstGeom prst="rect">
            <a:avLst/>
          </a:prstGeom>
          <a:noFill/>
        </p:spPr>
        <p:txBody>
          <a:bodyPr wrap="square">
            <a:spAutoFit/>
          </a:bodyPr>
          <a:lstStyle/>
          <a:p>
            <a:pPr algn="l">
              <a:defRPr sz="950" b="0">
                <a:solidFill>
                  <a:srgbClr val="111827"/>
                </a:solidFill>
                <a:latin typeface="Calibri"/>
              </a:defRPr>
            </a:pPr>
            <a:r>
              <a:t>Jagdeep Singh Insurance Agency, Inc</a:t>
            </a:r>
          </a:p>
        </p:txBody>
      </p:sp>
      <p:sp>
        <p:nvSpPr>
          <p:cNvPr id="70" name="TextBox 69"/>
          <p:cNvSpPr txBox="1"/>
          <p:nvPr/>
        </p:nvSpPr>
        <p:spPr>
          <a:xfrm>
            <a:off x="7909560" y="3401568"/>
            <a:ext cx="1463040" cy="237744"/>
          </a:xfrm>
          <a:prstGeom prst="rect">
            <a:avLst/>
          </a:prstGeom>
          <a:noFill/>
        </p:spPr>
        <p:txBody>
          <a:bodyPr wrap="square">
            <a:spAutoFit/>
          </a:bodyPr>
          <a:lstStyle/>
          <a:p>
            <a:pPr algn="ctr">
              <a:defRPr sz="950" b="1">
                <a:solidFill>
                  <a:srgbClr val="111827"/>
                </a:solidFill>
                <a:latin typeface="Calibri"/>
              </a:defRPr>
            </a:pPr>
            <a:r>
              <a:t>$239K</a:t>
            </a:r>
          </a:p>
        </p:txBody>
      </p:sp>
      <p:sp>
        <p:nvSpPr>
          <p:cNvPr id="71" name="TextBox 70"/>
          <p:cNvSpPr txBox="1"/>
          <p:nvPr/>
        </p:nvSpPr>
        <p:spPr>
          <a:xfrm>
            <a:off x="9372600" y="3401568"/>
            <a:ext cx="822960" cy="237744"/>
          </a:xfrm>
          <a:prstGeom prst="rect">
            <a:avLst/>
          </a:prstGeom>
          <a:noFill/>
        </p:spPr>
        <p:txBody>
          <a:bodyPr wrap="square">
            <a:spAutoFit/>
          </a:bodyPr>
          <a:lstStyle/>
          <a:p>
            <a:pPr algn="ctr">
              <a:defRPr sz="950" b="1">
                <a:solidFill>
                  <a:srgbClr val="0E6BA0"/>
                </a:solidFill>
                <a:latin typeface="Calibri"/>
              </a:defRPr>
            </a:pPr>
            <a:r>
              <a:t>15</a:t>
            </a:r>
          </a:p>
        </p:txBody>
      </p:sp>
      <p:sp>
        <p:nvSpPr>
          <p:cNvPr id="72" name="Rectangle 71"/>
          <p:cNvSpPr/>
          <p:nvPr/>
        </p:nvSpPr>
        <p:spPr>
          <a:xfrm>
            <a:off x="274320" y="3639312"/>
            <a:ext cx="9921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4320" y="3657600"/>
            <a:ext cx="502920" cy="237744"/>
          </a:xfrm>
          <a:prstGeom prst="rect">
            <a:avLst/>
          </a:prstGeom>
          <a:noFill/>
        </p:spPr>
        <p:txBody>
          <a:bodyPr wrap="square">
            <a:spAutoFit/>
          </a:bodyPr>
          <a:lstStyle/>
          <a:p>
            <a:pPr algn="ctr">
              <a:defRPr sz="950" b="1">
                <a:solidFill>
                  <a:srgbClr val="111827"/>
                </a:solidFill>
                <a:latin typeface="Calibri"/>
              </a:defRPr>
            </a:pPr>
            <a:r>
              <a:t>11</a:t>
            </a:r>
          </a:p>
        </p:txBody>
      </p:sp>
      <p:sp>
        <p:nvSpPr>
          <p:cNvPr id="74" name="TextBox 73"/>
          <p:cNvSpPr txBox="1"/>
          <p:nvPr/>
        </p:nvSpPr>
        <p:spPr>
          <a:xfrm>
            <a:off x="777240" y="3657600"/>
            <a:ext cx="1645920" cy="237744"/>
          </a:xfrm>
          <a:prstGeom prst="rect">
            <a:avLst/>
          </a:prstGeom>
          <a:noFill/>
        </p:spPr>
        <p:txBody>
          <a:bodyPr wrap="square">
            <a:spAutoFit/>
          </a:bodyPr>
          <a:lstStyle/>
          <a:p>
            <a:pPr algn="ctr">
              <a:defRPr sz="950" b="1">
                <a:solidFill>
                  <a:srgbClr val="111827"/>
                </a:solidFill>
                <a:latin typeface="Calibri"/>
              </a:defRPr>
            </a:pPr>
            <a:r>
              <a:t>Alexis B.</a:t>
            </a:r>
          </a:p>
        </p:txBody>
      </p:sp>
      <p:sp>
        <p:nvSpPr>
          <p:cNvPr id="75" name="TextBox 74"/>
          <p:cNvSpPr txBox="1"/>
          <p:nvPr/>
        </p:nvSpPr>
        <p:spPr>
          <a:xfrm>
            <a:off x="2423160" y="3657600"/>
            <a:ext cx="5486400" cy="237744"/>
          </a:xfrm>
          <a:prstGeom prst="rect">
            <a:avLst/>
          </a:prstGeom>
          <a:noFill/>
        </p:spPr>
        <p:txBody>
          <a:bodyPr wrap="square">
            <a:spAutoFit/>
          </a:bodyPr>
          <a:lstStyle/>
          <a:p>
            <a:pPr algn="l">
              <a:defRPr sz="950" b="0">
                <a:solidFill>
                  <a:srgbClr val="111827"/>
                </a:solidFill>
                <a:latin typeface="Calibri"/>
              </a:defRPr>
            </a:pPr>
            <a:r>
              <a:t>Amerigo Insurance Agency</a:t>
            </a:r>
          </a:p>
        </p:txBody>
      </p:sp>
      <p:sp>
        <p:nvSpPr>
          <p:cNvPr id="76" name="TextBox 75"/>
          <p:cNvSpPr txBox="1"/>
          <p:nvPr/>
        </p:nvSpPr>
        <p:spPr>
          <a:xfrm>
            <a:off x="7909560" y="3657600"/>
            <a:ext cx="1463040" cy="237744"/>
          </a:xfrm>
          <a:prstGeom prst="rect">
            <a:avLst/>
          </a:prstGeom>
          <a:noFill/>
        </p:spPr>
        <p:txBody>
          <a:bodyPr wrap="square">
            <a:spAutoFit/>
          </a:bodyPr>
          <a:lstStyle/>
          <a:p>
            <a:pPr algn="ctr">
              <a:defRPr sz="950" b="1">
                <a:solidFill>
                  <a:srgbClr val="111827"/>
                </a:solidFill>
                <a:latin typeface="Calibri"/>
              </a:defRPr>
            </a:pPr>
            <a:r>
              <a:t>$234K</a:t>
            </a:r>
          </a:p>
        </p:txBody>
      </p:sp>
      <p:sp>
        <p:nvSpPr>
          <p:cNvPr id="77" name="TextBox 76"/>
          <p:cNvSpPr txBox="1"/>
          <p:nvPr/>
        </p:nvSpPr>
        <p:spPr>
          <a:xfrm>
            <a:off x="9372600" y="3657600"/>
            <a:ext cx="822960" cy="237744"/>
          </a:xfrm>
          <a:prstGeom prst="rect">
            <a:avLst/>
          </a:prstGeom>
          <a:noFill/>
        </p:spPr>
        <p:txBody>
          <a:bodyPr wrap="square">
            <a:spAutoFit/>
          </a:bodyPr>
          <a:lstStyle/>
          <a:p>
            <a:pPr algn="ctr">
              <a:defRPr sz="950" b="1">
                <a:solidFill>
                  <a:srgbClr val="0E6BA0"/>
                </a:solidFill>
                <a:latin typeface="Calibri"/>
              </a:defRPr>
            </a:pPr>
            <a:r>
              <a:t>10</a:t>
            </a:r>
          </a:p>
        </p:txBody>
      </p:sp>
      <p:sp>
        <p:nvSpPr>
          <p:cNvPr id="78" name="Rectangle 77"/>
          <p:cNvSpPr/>
          <p:nvPr/>
        </p:nvSpPr>
        <p:spPr>
          <a:xfrm>
            <a:off x="274320" y="3895344"/>
            <a:ext cx="9921240"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74320" y="3913632"/>
            <a:ext cx="502920" cy="237744"/>
          </a:xfrm>
          <a:prstGeom prst="rect">
            <a:avLst/>
          </a:prstGeom>
          <a:noFill/>
        </p:spPr>
        <p:txBody>
          <a:bodyPr wrap="square">
            <a:spAutoFit/>
          </a:bodyPr>
          <a:lstStyle/>
          <a:p>
            <a:pPr algn="ctr">
              <a:defRPr sz="950" b="1">
                <a:solidFill>
                  <a:srgbClr val="111827"/>
                </a:solidFill>
                <a:latin typeface="Calibri"/>
              </a:defRPr>
            </a:pPr>
            <a:r>
              <a:t>12</a:t>
            </a:r>
          </a:p>
        </p:txBody>
      </p:sp>
      <p:sp>
        <p:nvSpPr>
          <p:cNvPr id="80" name="TextBox 79"/>
          <p:cNvSpPr txBox="1"/>
          <p:nvPr/>
        </p:nvSpPr>
        <p:spPr>
          <a:xfrm>
            <a:off x="777240" y="3913632"/>
            <a:ext cx="1645920" cy="237744"/>
          </a:xfrm>
          <a:prstGeom prst="rect">
            <a:avLst/>
          </a:prstGeom>
          <a:noFill/>
        </p:spPr>
        <p:txBody>
          <a:bodyPr wrap="square">
            <a:spAutoFit/>
          </a:bodyPr>
          <a:lstStyle/>
          <a:p>
            <a:pPr algn="ctr">
              <a:defRPr sz="950" b="1">
                <a:solidFill>
                  <a:srgbClr val="111827"/>
                </a:solidFill>
                <a:latin typeface="Calibri"/>
              </a:defRPr>
            </a:pPr>
            <a:r>
              <a:t>Derek J.</a:t>
            </a:r>
          </a:p>
        </p:txBody>
      </p:sp>
      <p:sp>
        <p:nvSpPr>
          <p:cNvPr id="81" name="TextBox 80"/>
          <p:cNvSpPr txBox="1"/>
          <p:nvPr/>
        </p:nvSpPr>
        <p:spPr>
          <a:xfrm>
            <a:off x="2423160" y="3913632"/>
            <a:ext cx="5486400" cy="237744"/>
          </a:xfrm>
          <a:prstGeom prst="rect">
            <a:avLst/>
          </a:prstGeom>
          <a:noFill/>
        </p:spPr>
        <p:txBody>
          <a:bodyPr wrap="square">
            <a:spAutoFit/>
          </a:bodyPr>
          <a:lstStyle/>
          <a:p>
            <a:pPr algn="l">
              <a:defRPr sz="950" b="0">
                <a:solidFill>
                  <a:srgbClr val="111827"/>
                </a:solidFill>
                <a:latin typeface="Calibri"/>
              </a:defRPr>
            </a:pPr>
            <a:r>
              <a:t>Paramount Exclusive Insurance Services, Inc.</a:t>
            </a:r>
          </a:p>
        </p:txBody>
      </p:sp>
      <p:sp>
        <p:nvSpPr>
          <p:cNvPr id="82" name="TextBox 81"/>
          <p:cNvSpPr txBox="1"/>
          <p:nvPr/>
        </p:nvSpPr>
        <p:spPr>
          <a:xfrm>
            <a:off x="7909560" y="3913632"/>
            <a:ext cx="1463040" cy="237744"/>
          </a:xfrm>
          <a:prstGeom prst="rect">
            <a:avLst/>
          </a:prstGeom>
          <a:noFill/>
        </p:spPr>
        <p:txBody>
          <a:bodyPr wrap="square">
            <a:spAutoFit/>
          </a:bodyPr>
          <a:lstStyle/>
          <a:p>
            <a:pPr algn="ctr">
              <a:defRPr sz="950" b="1">
                <a:solidFill>
                  <a:srgbClr val="111827"/>
                </a:solidFill>
                <a:latin typeface="Calibri"/>
              </a:defRPr>
            </a:pPr>
            <a:r>
              <a:t>$220K</a:t>
            </a:r>
          </a:p>
        </p:txBody>
      </p:sp>
      <p:sp>
        <p:nvSpPr>
          <p:cNvPr id="83" name="TextBox 82"/>
          <p:cNvSpPr txBox="1"/>
          <p:nvPr/>
        </p:nvSpPr>
        <p:spPr>
          <a:xfrm>
            <a:off x="9372600" y="3913632"/>
            <a:ext cx="822960" cy="237744"/>
          </a:xfrm>
          <a:prstGeom prst="rect">
            <a:avLst/>
          </a:prstGeom>
          <a:noFill/>
        </p:spPr>
        <p:txBody>
          <a:bodyPr wrap="square">
            <a:spAutoFit/>
          </a:bodyPr>
          <a:lstStyle/>
          <a:p>
            <a:pPr algn="ctr">
              <a:defRPr sz="950" b="1">
                <a:solidFill>
                  <a:srgbClr val="0E6BA0"/>
                </a:solidFill>
                <a:latin typeface="Calibri"/>
              </a:defRPr>
            </a:pPr>
            <a:r>
              <a:t>11</a:t>
            </a:r>
          </a:p>
        </p:txBody>
      </p:sp>
      <p:sp>
        <p:nvSpPr>
          <p:cNvPr id="84" name="Rectangle 83"/>
          <p:cNvSpPr/>
          <p:nvPr/>
        </p:nvSpPr>
        <p:spPr>
          <a:xfrm>
            <a:off x="274320" y="4151376"/>
            <a:ext cx="9921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74320" y="4169664"/>
            <a:ext cx="502920" cy="237744"/>
          </a:xfrm>
          <a:prstGeom prst="rect">
            <a:avLst/>
          </a:prstGeom>
          <a:noFill/>
        </p:spPr>
        <p:txBody>
          <a:bodyPr wrap="square">
            <a:spAutoFit/>
          </a:bodyPr>
          <a:lstStyle/>
          <a:p>
            <a:pPr algn="ctr">
              <a:defRPr sz="950" b="1">
                <a:solidFill>
                  <a:srgbClr val="111827"/>
                </a:solidFill>
                <a:latin typeface="Calibri"/>
              </a:defRPr>
            </a:pPr>
            <a:r>
              <a:t>13</a:t>
            </a:r>
          </a:p>
        </p:txBody>
      </p:sp>
      <p:sp>
        <p:nvSpPr>
          <p:cNvPr id="86" name="TextBox 85"/>
          <p:cNvSpPr txBox="1"/>
          <p:nvPr/>
        </p:nvSpPr>
        <p:spPr>
          <a:xfrm>
            <a:off x="777240" y="4169664"/>
            <a:ext cx="1645920" cy="237744"/>
          </a:xfrm>
          <a:prstGeom prst="rect">
            <a:avLst/>
          </a:prstGeom>
          <a:noFill/>
        </p:spPr>
        <p:txBody>
          <a:bodyPr wrap="square">
            <a:spAutoFit/>
          </a:bodyPr>
          <a:lstStyle/>
          <a:p>
            <a:pPr algn="ctr">
              <a:defRPr sz="950" b="1">
                <a:solidFill>
                  <a:srgbClr val="111827"/>
                </a:solidFill>
                <a:latin typeface="Calibri"/>
              </a:defRPr>
            </a:pPr>
            <a:r>
              <a:t>Derek J.</a:t>
            </a:r>
          </a:p>
        </p:txBody>
      </p:sp>
      <p:sp>
        <p:nvSpPr>
          <p:cNvPr id="87" name="TextBox 86"/>
          <p:cNvSpPr txBox="1"/>
          <p:nvPr/>
        </p:nvSpPr>
        <p:spPr>
          <a:xfrm>
            <a:off x="2423160" y="4169664"/>
            <a:ext cx="5486400" cy="237744"/>
          </a:xfrm>
          <a:prstGeom prst="rect">
            <a:avLst/>
          </a:prstGeom>
          <a:noFill/>
        </p:spPr>
        <p:txBody>
          <a:bodyPr wrap="square">
            <a:spAutoFit/>
          </a:bodyPr>
          <a:lstStyle/>
          <a:p>
            <a:pPr algn="l">
              <a:defRPr sz="950" b="0">
                <a:solidFill>
                  <a:srgbClr val="111827"/>
                </a:solidFill>
                <a:latin typeface="Calibri"/>
              </a:defRPr>
            </a:pPr>
            <a:r>
              <a:t>Jagdeep Singh Insurance Agency, Inc</a:t>
            </a:r>
          </a:p>
        </p:txBody>
      </p:sp>
      <p:sp>
        <p:nvSpPr>
          <p:cNvPr id="88" name="TextBox 87"/>
          <p:cNvSpPr txBox="1"/>
          <p:nvPr/>
        </p:nvSpPr>
        <p:spPr>
          <a:xfrm>
            <a:off x="7909560" y="4169664"/>
            <a:ext cx="1463040" cy="237744"/>
          </a:xfrm>
          <a:prstGeom prst="rect">
            <a:avLst/>
          </a:prstGeom>
          <a:noFill/>
        </p:spPr>
        <p:txBody>
          <a:bodyPr wrap="square">
            <a:spAutoFit/>
          </a:bodyPr>
          <a:lstStyle/>
          <a:p>
            <a:pPr algn="ctr">
              <a:defRPr sz="950" b="1">
                <a:solidFill>
                  <a:srgbClr val="111827"/>
                </a:solidFill>
                <a:latin typeface="Calibri"/>
              </a:defRPr>
            </a:pPr>
            <a:r>
              <a:t>$217K</a:t>
            </a:r>
          </a:p>
        </p:txBody>
      </p:sp>
      <p:sp>
        <p:nvSpPr>
          <p:cNvPr id="89" name="TextBox 88"/>
          <p:cNvSpPr txBox="1"/>
          <p:nvPr/>
        </p:nvSpPr>
        <p:spPr>
          <a:xfrm>
            <a:off x="9372600" y="4169664"/>
            <a:ext cx="822960" cy="237744"/>
          </a:xfrm>
          <a:prstGeom prst="rect">
            <a:avLst/>
          </a:prstGeom>
          <a:noFill/>
        </p:spPr>
        <p:txBody>
          <a:bodyPr wrap="square">
            <a:spAutoFit/>
          </a:bodyPr>
          <a:lstStyle/>
          <a:p>
            <a:pPr algn="ctr">
              <a:defRPr sz="950" b="1">
                <a:solidFill>
                  <a:srgbClr val="0E6BA0"/>
                </a:solidFill>
                <a:latin typeface="Calibri"/>
              </a:defRPr>
            </a:pPr>
            <a:r>
              <a:t>11</a:t>
            </a:r>
          </a:p>
        </p:txBody>
      </p:sp>
      <p:sp>
        <p:nvSpPr>
          <p:cNvPr id="90" name="Rectangle 89"/>
          <p:cNvSpPr/>
          <p:nvPr/>
        </p:nvSpPr>
        <p:spPr>
          <a:xfrm>
            <a:off x="274320" y="4407408"/>
            <a:ext cx="9921240"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74320" y="4425696"/>
            <a:ext cx="502920" cy="237744"/>
          </a:xfrm>
          <a:prstGeom prst="rect">
            <a:avLst/>
          </a:prstGeom>
          <a:noFill/>
        </p:spPr>
        <p:txBody>
          <a:bodyPr wrap="square">
            <a:spAutoFit/>
          </a:bodyPr>
          <a:lstStyle/>
          <a:p>
            <a:pPr algn="ctr">
              <a:defRPr sz="950" b="1">
                <a:solidFill>
                  <a:srgbClr val="111827"/>
                </a:solidFill>
                <a:latin typeface="Calibri"/>
              </a:defRPr>
            </a:pPr>
            <a:r>
              <a:t>14</a:t>
            </a:r>
          </a:p>
        </p:txBody>
      </p:sp>
      <p:sp>
        <p:nvSpPr>
          <p:cNvPr id="92" name="TextBox 91"/>
          <p:cNvSpPr txBox="1"/>
          <p:nvPr/>
        </p:nvSpPr>
        <p:spPr>
          <a:xfrm>
            <a:off x="777240" y="4425696"/>
            <a:ext cx="1645920" cy="237744"/>
          </a:xfrm>
          <a:prstGeom prst="rect">
            <a:avLst/>
          </a:prstGeom>
          <a:noFill/>
        </p:spPr>
        <p:txBody>
          <a:bodyPr wrap="square">
            <a:spAutoFit/>
          </a:bodyPr>
          <a:lstStyle/>
          <a:p>
            <a:pPr algn="ctr">
              <a:defRPr sz="950" b="1">
                <a:solidFill>
                  <a:srgbClr val="111827"/>
                </a:solidFill>
                <a:latin typeface="Calibri"/>
              </a:defRPr>
            </a:pPr>
            <a:r>
              <a:t>Derek J.</a:t>
            </a:r>
          </a:p>
        </p:txBody>
      </p:sp>
      <p:sp>
        <p:nvSpPr>
          <p:cNvPr id="93" name="TextBox 92"/>
          <p:cNvSpPr txBox="1"/>
          <p:nvPr/>
        </p:nvSpPr>
        <p:spPr>
          <a:xfrm>
            <a:off x="2423160" y="4425696"/>
            <a:ext cx="5486400" cy="237744"/>
          </a:xfrm>
          <a:prstGeom prst="rect">
            <a:avLst/>
          </a:prstGeom>
          <a:noFill/>
        </p:spPr>
        <p:txBody>
          <a:bodyPr wrap="square">
            <a:spAutoFit/>
          </a:bodyPr>
          <a:lstStyle/>
          <a:p>
            <a:pPr algn="l">
              <a:defRPr sz="950" b="0">
                <a:solidFill>
                  <a:srgbClr val="111827"/>
                </a:solidFill>
                <a:latin typeface="Calibri"/>
              </a:defRPr>
            </a:pPr>
            <a:r>
              <a:t>Surefire Insurance Agency Corp.</a:t>
            </a:r>
          </a:p>
        </p:txBody>
      </p:sp>
      <p:sp>
        <p:nvSpPr>
          <p:cNvPr id="94" name="TextBox 93"/>
          <p:cNvSpPr txBox="1"/>
          <p:nvPr/>
        </p:nvSpPr>
        <p:spPr>
          <a:xfrm>
            <a:off x="7909560" y="4425696"/>
            <a:ext cx="1463040" cy="237744"/>
          </a:xfrm>
          <a:prstGeom prst="rect">
            <a:avLst/>
          </a:prstGeom>
          <a:noFill/>
        </p:spPr>
        <p:txBody>
          <a:bodyPr wrap="square">
            <a:spAutoFit/>
          </a:bodyPr>
          <a:lstStyle/>
          <a:p>
            <a:pPr algn="ctr">
              <a:defRPr sz="950" b="1">
                <a:solidFill>
                  <a:srgbClr val="111827"/>
                </a:solidFill>
                <a:latin typeface="Calibri"/>
              </a:defRPr>
            </a:pPr>
            <a:r>
              <a:t>$215K</a:t>
            </a:r>
          </a:p>
        </p:txBody>
      </p:sp>
      <p:sp>
        <p:nvSpPr>
          <p:cNvPr id="95" name="TextBox 94"/>
          <p:cNvSpPr txBox="1"/>
          <p:nvPr/>
        </p:nvSpPr>
        <p:spPr>
          <a:xfrm>
            <a:off x="9372600" y="4425696"/>
            <a:ext cx="822960" cy="237744"/>
          </a:xfrm>
          <a:prstGeom prst="rect">
            <a:avLst/>
          </a:prstGeom>
          <a:noFill/>
        </p:spPr>
        <p:txBody>
          <a:bodyPr wrap="square">
            <a:spAutoFit/>
          </a:bodyPr>
          <a:lstStyle/>
          <a:p>
            <a:pPr algn="ctr">
              <a:defRPr sz="950" b="1">
                <a:solidFill>
                  <a:srgbClr val="0E6BA0"/>
                </a:solidFill>
                <a:latin typeface="Calibri"/>
              </a:defRPr>
            </a:pPr>
            <a:r>
              <a:t>17</a:t>
            </a:r>
          </a:p>
        </p:txBody>
      </p:sp>
      <p:sp>
        <p:nvSpPr>
          <p:cNvPr id="96" name="Rectangle 95"/>
          <p:cNvSpPr/>
          <p:nvPr/>
        </p:nvSpPr>
        <p:spPr>
          <a:xfrm>
            <a:off x="274320" y="4663440"/>
            <a:ext cx="9921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74320" y="4681728"/>
            <a:ext cx="502920" cy="237744"/>
          </a:xfrm>
          <a:prstGeom prst="rect">
            <a:avLst/>
          </a:prstGeom>
          <a:noFill/>
        </p:spPr>
        <p:txBody>
          <a:bodyPr wrap="square">
            <a:spAutoFit/>
          </a:bodyPr>
          <a:lstStyle/>
          <a:p>
            <a:pPr algn="ctr">
              <a:defRPr sz="950" b="1">
                <a:solidFill>
                  <a:srgbClr val="111827"/>
                </a:solidFill>
                <a:latin typeface="Calibri"/>
              </a:defRPr>
            </a:pPr>
            <a:r>
              <a:t>15</a:t>
            </a:r>
          </a:p>
        </p:txBody>
      </p:sp>
      <p:sp>
        <p:nvSpPr>
          <p:cNvPr id="98" name="TextBox 97"/>
          <p:cNvSpPr txBox="1"/>
          <p:nvPr/>
        </p:nvSpPr>
        <p:spPr>
          <a:xfrm>
            <a:off x="777240" y="4681728"/>
            <a:ext cx="1645920" cy="237744"/>
          </a:xfrm>
          <a:prstGeom prst="rect">
            <a:avLst/>
          </a:prstGeom>
          <a:noFill/>
        </p:spPr>
        <p:txBody>
          <a:bodyPr wrap="square">
            <a:spAutoFit/>
          </a:bodyPr>
          <a:lstStyle/>
          <a:p>
            <a:pPr algn="ctr">
              <a:defRPr sz="950" b="1">
                <a:solidFill>
                  <a:srgbClr val="111827"/>
                </a:solidFill>
                <a:latin typeface="Calibri"/>
              </a:defRPr>
            </a:pPr>
            <a:r>
              <a:t>Derek J.</a:t>
            </a:r>
          </a:p>
        </p:txBody>
      </p:sp>
      <p:sp>
        <p:nvSpPr>
          <p:cNvPr id="99" name="TextBox 98"/>
          <p:cNvSpPr txBox="1"/>
          <p:nvPr/>
        </p:nvSpPr>
        <p:spPr>
          <a:xfrm>
            <a:off x="2423160" y="4681728"/>
            <a:ext cx="5486400" cy="237744"/>
          </a:xfrm>
          <a:prstGeom prst="rect">
            <a:avLst/>
          </a:prstGeom>
          <a:noFill/>
        </p:spPr>
        <p:txBody>
          <a:bodyPr wrap="square">
            <a:spAutoFit/>
          </a:bodyPr>
          <a:lstStyle/>
          <a:p>
            <a:pPr algn="l">
              <a:defRPr sz="950" b="0">
                <a:solidFill>
                  <a:srgbClr val="111827"/>
                </a:solidFill>
                <a:latin typeface="Calibri"/>
              </a:defRPr>
            </a:pPr>
            <a:r>
              <a:t>Reliance Partners, LLC</a:t>
            </a:r>
          </a:p>
        </p:txBody>
      </p:sp>
      <p:sp>
        <p:nvSpPr>
          <p:cNvPr id="100" name="TextBox 99"/>
          <p:cNvSpPr txBox="1"/>
          <p:nvPr/>
        </p:nvSpPr>
        <p:spPr>
          <a:xfrm>
            <a:off x="7909560" y="4681728"/>
            <a:ext cx="1463040" cy="237744"/>
          </a:xfrm>
          <a:prstGeom prst="rect">
            <a:avLst/>
          </a:prstGeom>
          <a:noFill/>
        </p:spPr>
        <p:txBody>
          <a:bodyPr wrap="square">
            <a:spAutoFit/>
          </a:bodyPr>
          <a:lstStyle/>
          <a:p>
            <a:pPr algn="ctr">
              <a:defRPr sz="950" b="1">
                <a:solidFill>
                  <a:srgbClr val="111827"/>
                </a:solidFill>
                <a:latin typeface="Calibri"/>
              </a:defRPr>
            </a:pPr>
            <a:r>
              <a:t>$214K</a:t>
            </a:r>
          </a:p>
        </p:txBody>
      </p:sp>
      <p:sp>
        <p:nvSpPr>
          <p:cNvPr id="101" name="TextBox 100"/>
          <p:cNvSpPr txBox="1"/>
          <p:nvPr/>
        </p:nvSpPr>
        <p:spPr>
          <a:xfrm>
            <a:off x="9372600" y="4681728"/>
            <a:ext cx="822960" cy="237744"/>
          </a:xfrm>
          <a:prstGeom prst="rect">
            <a:avLst/>
          </a:prstGeom>
          <a:noFill/>
        </p:spPr>
        <p:txBody>
          <a:bodyPr wrap="square">
            <a:spAutoFit/>
          </a:bodyPr>
          <a:lstStyle/>
          <a:p>
            <a:pPr algn="ctr">
              <a:defRPr sz="950" b="1">
                <a:solidFill>
                  <a:srgbClr val="0E6BA0"/>
                </a:solidFill>
                <a:latin typeface="Calibri"/>
              </a:defRPr>
            </a:pPr>
            <a:r>
              <a:t>12</a:t>
            </a:r>
          </a:p>
        </p:txBody>
      </p:sp>
      <p:sp>
        <p:nvSpPr>
          <p:cNvPr id="102" name="Rectangle 101"/>
          <p:cNvSpPr/>
          <p:nvPr/>
        </p:nvSpPr>
        <p:spPr>
          <a:xfrm>
            <a:off x="274320" y="4919472"/>
            <a:ext cx="9921240"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74320" y="4937760"/>
            <a:ext cx="502920" cy="237744"/>
          </a:xfrm>
          <a:prstGeom prst="rect">
            <a:avLst/>
          </a:prstGeom>
          <a:noFill/>
        </p:spPr>
        <p:txBody>
          <a:bodyPr wrap="square">
            <a:spAutoFit/>
          </a:bodyPr>
          <a:lstStyle/>
          <a:p>
            <a:pPr algn="ctr">
              <a:defRPr sz="950" b="1">
                <a:solidFill>
                  <a:srgbClr val="111827"/>
                </a:solidFill>
                <a:latin typeface="Calibri"/>
              </a:defRPr>
            </a:pPr>
            <a:r>
              <a:t>16</a:t>
            </a:r>
          </a:p>
        </p:txBody>
      </p:sp>
      <p:sp>
        <p:nvSpPr>
          <p:cNvPr id="104" name="TextBox 103"/>
          <p:cNvSpPr txBox="1"/>
          <p:nvPr/>
        </p:nvSpPr>
        <p:spPr>
          <a:xfrm>
            <a:off x="777240" y="4937760"/>
            <a:ext cx="1645920" cy="237744"/>
          </a:xfrm>
          <a:prstGeom prst="rect">
            <a:avLst/>
          </a:prstGeom>
          <a:noFill/>
        </p:spPr>
        <p:txBody>
          <a:bodyPr wrap="square">
            <a:spAutoFit/>
          </a:bodyPr>
          <a:lstStyle/>
          <a:p>
            <a:pPr algn="ctr">
              <a:defRPr sz="950" b="1">
                <a:solidFill>
                  <a:srgbClr val="111827"/>
                </a:solidFill>
                <a:latin typeface="Calibri"/>
              </a:defRPr>
            </a:pPr>
            <a:r>
              <a:t>Ron D.</a:t>
            </a:r>
          </a:p>
        </p:txBody>
      </p:sp>
      <p:sp>
        <p:nvSpPr>
          <p:cNvPr id="105" name="TextBox 104"/>
          <p:cNvSpPr txBox="1"/>
          <p:nvPr/>
        </p:nvSpPr>
        <p:spPr>
          <a:xfrm>
            <a:off x="2423160" y="4937760"/>
            <a:ext cx="5486400" cy="237744"/>
          </a:xfrm>
          <a:prstGeom prst="rect">
            <a:avLst/>
          </a:prstGeom>
          <a:noFill/>
        </p:spPr>
        <p:txBody>
          <a:bodyPr wrap="square">
            <a:spAutoFit/>
          </a:bodyPr>
          <a:lstStyle/>
          <a:p>
            <a:pPr algn="l">
              <a:defRPr sz="950" b="0">
                <a:solidFill>
                  <a:srgbClr val="111827"/>
                </a:solidFill>
                <a:latin typeface="Calibri"/>
              </a:defRPr>
            </a:pPr>
            <a:r>
              <a:t>Eagle National Insurance Services, Inc.</a:t>
            </a:r>
          </a:p>
        </p:txBody>
      </p:sp>
      <p:sp>
        <p:nvSpPr>
          <p:cNvPr id="106" name="TextBox 105"/>
          <p:cNvSpPr txBox="1"/>
          <p:nvPr/>
        </p:nvSpPr>
        <p:spPr>
          <a:xfrm>
            <a:off x="7909560" y="4937760"/>
            <a:ext cx="1463040" cy="237744"/>
          </a:xfrm>
          <a:prstGeom prst="rect">
            <a:avLst/>
          </a:prstGeom>
          <a:noFill/>
        </p:spPr>
        <p:txBody>
          <a:bodyPr wrap="square">
            <a:spAutoFit/>
          </a:bodyPr>
          <a:lstStyle/>
          <a:p>
            <a:pPr algn="ctr">
              <a:defRPr sz="950" b="1">
                <a:solidFill>
                  <a:srgbClr val="111827"/>
                </a:solidFill>
                <a:latin typeface="Calibri"/>
              </a:defRPr>
            </a:pPr>
            <a:r>
              <a:t>$202K</a:t>
            </a:r>
          </a:p>
        </p:txBody>
      </p:sp>
      <p:sp>
        <p:nvSpPr>
          <p:cNvPr id="107" name="TextBox 106"/>
          <p:cNvSpPr txBox="1"/>
          <p:nvPr/>
        </p:nvSpPr>
        <p:spPr>
          <a:xfrm>
            <a:off x="9372600" y="4937760"/>
            <a:ext cx="822960" cy="237744"/>
          </a:xfrm>
          <a:prstGeom prst="rect">
            <a:avLst/>
          </a:prstGeom>
          <a:noFill/>
        </p:spPr>
        <p:txBody>
          <a:bodyPr wrap="square">
            <a:spAutoFit/>
          </a:bodyPr>
          <a:lstStyle/>
          <a:p>
            <a:pPr algn="ctr">
              <a:defRPr sz="950" b="1">
                <a:solidFill>
                  <a:srgbClr val="0E6BA0"/>
                </a:solidFill>
                <a:latin typeface="Calibri"/>
              </a:defRPr>
            </a:pPr>
            <a:r>
              <a:t>8</a:t>
            </a:r>
          </a:p>
        </p:txBody>
      </p:sp>
      <p:sp>
        <p:nvSpPr>
          <p:cNvPr id="108" name="Rectangle 107"/>
          <p:cNvSpPr/>
          <p:nvPr/>
        </p:nvSpPr>
        <p:spPr>
          <a:xfrm>
            <a:off x="274320" y="5175504"/>
            <a:ext cx="9921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74320" y="5193792"/>
            <a:ext cx="502920" cy="237744"/>
          </a:xfrm>
          <a:prstGeom prst="rect">
            <a:avLst/>
          </a:prstGeom>
          <a:noFill/>
        </p:spPr>
        <p:txBody>
          <a:bodyPr wrap="square">
            <a:spAutoFit/>
          </a:bodyPr>
          <a:lstStyle/>
          <a:p>
            <a:pPr algn="ctr">
              <a:defRPr sz="950" b="1">
                <a:solidFill>
                  <a:srgbClr val="111827"/>
                </a:solidFill>
                <a:latin typeface="Calibri"/>
              </a:defRPr>
            </a:pPr>
            <a:r>
              <a:t>17</a:t>
            </a:r>
          </a:p>
        </p:txBody>
      </p:sp>
      <p:sp>
        <p:nvSpPr>
          <p:cNvPr id="110" name="TextBox 109"/>
          <p:cNvSpPr txBox="1"/>
          <p:nvPr/>
        </p:nvSpPr>
        <p:spPr>
          <a:xfrm>
            <a:off x="777240" y="5193792"/>
            <a:ext cx="1645920" cy="237744"/>
          </a:xfrm>
          <a:prstGeom prst="rect">
            <a:avLst/>
          </a:prstGeom>
          <a:noFill/>
        </p:spPr>
        <p:txBody>
          <a:bodyPr wrap="square">
            <a:spAutoFit/>
          </a:bodyPr>
          <a:lstStyle/>
          <a:p>
            <a:pPr algn="ctr">
              <a:defRPr sz="950" b="1">
                <a:solidFill>
                  <a:srgbClr val="111827"/>
                </a:solidFill>
                <a:latin typeface="Calibri"/>
              </a:defRPr>
            </a:pPr>
            <a:r>
              <a:t>Derrick L.</a:t>
            </a:r>
          </a:p>
        </p:txBody>
      </p:sp>
      <p:sp>
        <p:nvSpPr>
          <p:cNvPr id="111" name="TextBox 110"/>
          <p:cNvSpPr txBox="1"/>
          <p:nvPr/>
        </p:nvSpPr>
        <p:spPr>
          <a:xfrm>
            <a:off x="2423160" y="5193792"/>
            <a:ext cx="5486400" cy="237744"/>
          </a:xfrm>
          <a:prstGeom prst="rect">
            <a:avLst/>
          </a:prstGeom>
          <a:noFill/>
        </p:spPr>
        <p:txBody>
          <a:bodyPr wrap="square">
            <a:spAutoFit/>
          </a:bodyPr>
          <a:lstStyle/>
          <a:p>
            <a:pPr algn="l">
              <a:defRPr sz="950" b="0">
                <a:solidFill>
                  <a:srgbClr val="111827"/>
                </a:solidFill>
                <a:latin typeface="Calibri"/>
              </a:defRPr>
            </a:pPr>
            <a:r>
              <a:t>Justin Wilson</a:t>
            </a:r>
          </a:p>
        </p:txBody>
      </p:sp>
      <p:sp>
        <p:nvSpPr>
          <p:cNvPr id="112" name="TextBox 111"/>
          <p:cNvSpPr txBox="1"/>
          <p:nvPr/>
        </p:nvSpPr>
        <p:spPr>
          <a:xfrm>
            <a:off x="7909560" y="5193792"/>
            <a:ext cx="1463040" cy="237744"/>
          </a:xfrm>
          <a:prstGeom prst="rect">
            <a:avLst/>
          </a:prstGeom>
          <a:noFill/>
        </p:spPr>
        <p:txBody>
          <a:bodyPr wrap="square">
            <a:spAutoFit/>
          </a:bodyPr>
          <a:lstStyle/>
          <a:p>
            <a:pPr algn="ctr">
              <a:defRPr sz="950" b="1">
                <a:solidFill>
                  <a:srgbClr val="111827"/>
                </a:solidFill>
                <a:latin typeface="Calibri"/>
              </a:defRPr>
            </a:pPr>
            <a:r>
              <a:t>$194K</a:t>
            </a:r>
          </a:p>
        </p:txBody>
      </p:sp>
      <p:sp>
        <p:nvSpPr>
          <p:cNvPr id="113" name="TextBox 112"/>
          <p:cNvSpPr txBox="1"/>
          <p:nvPr/>
        </p:nvSpPr>
        <p:spPr>
          <a:xfrm>
            <a:off x="9372600" y="5193792"/>
            <a:ext cx="822960" cy="237744"/>
          </a:xfrm>
          <a:prstGeom prst="rect">
            <a:avLst/>
          </a:prstGeom>
          <a:noFill/>
        </p:spPr>
        <p:txBody>
          <a:bodyPr wrap="square">
            <a:spAutoFit/>
          </a:bodyPr>
          <a:lstStyle/>
          <a:p>
            <a:pPr algn="ctr">
              <a:defRPr sz="950" b="1">
                <a:solidFill>
                  <a:srgbClr val="0E6BA0"/>
                </a:solidFill>
                <a:latin typeface="Calibri"/>
              </a:defRPr>
            </a:pPr>
            <a:r>
              <a:t>9</a:t>
            </a:r>
          </a:p>
        </p:txBody>
      </p:sp>
      <p:sp>
        <p:nvSpPr>
          <p:cNvPr id="114" name="Rectangle 113"/>
          <p:cNvSpPr/>
          <p:nvPr/>
        </p:nvSpPr>
        <p:spPr>
          <a:xfrm>
            <a:off x="274320" y="5431536"/>
            <a:ext cx="9921240"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74320" y="5449824"/>
            <a:ext cx="502920" cy="237744"/>
          </a:xfrm>
          <a:prstGeom prst="rect">
            <a:avLst/>
          </a:prstGeom>
          <a:noFill/>
        </p:spPr>
        <p:txBody>
          <a:bodyPr wrap="square">
            <a:spAutoFit/>
          </a:bodyPr>
          <a:lstStyle/>
          <a:p>
            <a:pPr algn="ctr">
              <a:defRPr sz="950" b="1">
                <a:solidFill>
                  <a:srgbClr val="111827"/>
                </a:solidFill>
                <a:latin typeface="Calibri"/>
              </a:defRPr>
            </a:pPr>
            <a:r>
              <a:t>18</a:t>
            </a:r>
          </a:p>
        </p:txBody>
      </p:sp>
      <p:sp>
        <p:nvSpPr>
          <p:cNvPr id="116" name="TextBox 115"/>
          <p:cNvSpPr txBox="1"/>
          <p:nvPr/>
        </p:nvSpPr>
        <p:spPr>
          <a:xfrm>
            <a:off x="777240" y="5449824"/>
            <a:ext cx="1645920" cy="237744"/>
          </a:xfrm>
          <a:prstGeom prst="rect">
            <a:avLst/>
          </a:prstGeom>
          <a:noFill/>
        </p:spPr>
        <p:txBody>
          <a:bodyPr wrap="square">
            <a:spAutoFit/>
          </a:bodyPr>
          <a:lstStyle/>
          <a:p>
            <a:pPr algn="ctr">
              <a:defRPr sz="950" b="1">
                <a:solidFill>
                  <a:srgbClr val="111827"/>
                </a:solidFill>
                <a:latin typeface="Calibri"/>
              </a:defRPr>
            </a:pPr>
            <a:r>
              <a:t>Alexis B.</a:t>
            </a:r>
          </a:p>
        </p:txBody>
      </p:sp>
      <p:sp>
        <p:nvSpPr>
          <p:cNvPr id="117" name="TextBox 116"/>
          <p:cNvSpPr txBox="1"/>
          <p:nvPr/>
        </p:nvSpPr>
        <p:spPr>
          <a:xfrm>
            <a:off x="2423160" y="5449824"/>
            <a:ext cx="5486400" cy="237744"/>
          </a:xfrm>
          <a:prstGeom prst="rect">
            <a:avLst/>
          </a:prstGeom>
          <a:noFill/>
        </p:spPr>
        <p:txBody>
          <a:bodyPr wrap="square">
            <a:spAutoFit/>
          </a:bodyPr>
          <a:lstStyle/>
          <a:p>
            <a:pPr algn="l">
              <a:defRPr sz="950" b="0">
                <a:solidFill>
                  <a:srgbClr val="111827"/>
                </a:solidFill>
                <a:latin typeface="Calibri"/>
              </a:defRPr>
            </a:pPr>
            <a:r>
              <a:t>Stellar Management, Inc</a:t>
            </a:r>
          </a:p>
        </p:txBody>
      </p:sp>
      <p:sp>
        <p:nvSpPr>
          <p:cNvPr id="118" name="TextBox 117"/>
          <p:cNvSpPr txBox="1"/>
          <p:nvPr/>
        </p:nvSpPr>
        <p:spPr>
          <a:xfrm>
            <a:off x="7909560" y="5449824"/>
            <a:ext cx="1463040" cy="237744"/>
          </a:xfrm>
          <a:prstGeom prst="rect">
            <a:avLst/>
          </a:prstGeom>
          <a:noFill/>
        </p:spPr>
        <p:txBody>
          <a:bodyPr wrap="square">
            <a:spAutoFit/>
          </a:bodyPr>
          <a:lstStyle/>
          <a:p>
            <a:pPr algn="ctr">
              <a:defRPr sz="950" b="1">
                <a:solidFill>
                  <a:srgbClr val="111827"/>
                </a:solidFill>
                <a:latin typeface="Calibri"/>
              </a:defRPr>
            </a:pPr>
            <a:r>
              <a:t>$190K</a:t>
            </a:r>
          </a:p>
        </p:txBody>
      </p:sp>
      <p:sp>
        <p:nvSpPr>
          <p:cNvPr id="119" name="TextBox 118"/>
          <p:cNvSpPr txBox="1"/>
          <p:nvPr/>
        </p:nvSpPr>
        <p:spPr>
          <a:xfrm>
            <a:off x="9372600" y="5449824"/>
            <a:ext cx="822960" cy="237744"/>
          </a:xfrm>
          <a:prstGeom prst="rect">
            <a:avLst/>
          </a:prstGeom>
          <a:noFill/>
        </p:spPr>
        <p:txBody>
          <a:bodyPr wrap="square">
            <a:spAutoFit/>
          </a:bodyPr>
          <a:lstStyle/>
          <a:p>
            <a:pPr algn="ctr">
              <a:defRPr sz="950" b="1">
                <a:solidFill>
                  <a:srgbClr val="0E6BA0"/>
                </a:solidFill>
                <a:latin typeface="Calibri"/>
              </a:defRPr>
            </a:pPr>
            <a:r>
              <a:t>13</a:t>
            </a:r>
          </a:p>
        </p:txBody>
      </p:sp>
      <p:sp>
        <p:nvSpPr>
          <p:cNvPr id="120" name="Rectangle 119"/>
          <p:cNvSpPr/>
          <p:nvPr/>
        </p:nvSpPr>
        <p:spPr>
          <a:xfrm>
            <a:off x="274320" y="5687568"/>
            <a:ext cx="9921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74320" y="5705856"/>
            <a:ext cx="502920" cy="237744"/>
          </a:xfrm>
          <a:prstGeom prst="rect">
            <a:avLst/>
          </a:prstGeom>
          <a:noFill/>
        </p:spPr>
        <p:txBody>
          <a:bodyPr wrap="square">
            <a:spAutoFit/>
          </a:bodyPr>
          <a:lstStyle/>
          <a:p>
            <a:pPr algn="ctr">
              <a:defRPr sz="950" b="1">
                <a:solidFill>
                  <a:srgbClr val="111827"/>
                </a:solidFill>
                <a:latin typeface="Calibri"/>
              </a:defRPr>
            </a:pPr>
            <a:r>
              <a:t>19</a:t>
            </a:r>
          </a:p>
        </p:txBody>
      </p:sp>
      <p:sp>
        <p:nvSpPr>
          <p:cNvPr id="122" name="TextBox 121"/>
          <p:cNvSpPr txBox="1"/>
          <p:nvPr/>
        </p:nvSpPr>
        <p:spPr>
          <a:xfrm>
            <a:off x="777240" y="5705856"/>
            <a:ext cx="1645920" cy="237744"/>
          </a:xfrm>
          <a:prstGeom prst="rect">
            <a:avLst/>
          </a:prstGeom>
          <a:noFill/>
        </p:spPr>
        <p:txBody>
          <a:bodyPr wrap="square">
            <a:spAutoFit/>
          </a:bodyPr>
          <a:lstStyle/>
          <a:p>
            <a:pPr algn="ctr">
              <a:defRPr sz="950" b="1">
                <a:solidFill>
                  <a:srgbClr val="111827"/>
                </a:solidFill>
                <a:latin typeface="Calibri"/>
              </a:defRPr>
            </a:pPr>
            <a:r>
              <a:t>Derek J.</a:t>
            </a:r>
          </a:p>
        </p:txBody>
      </p:sp>
      <p:sp>
        <p:nvSpPr>
          <p:cNvPr id="123" name="TextBox 122"/>
          <p:cNvSpPr txBox="1"/>
          <p:nvPr/>
        </p:nvSpPr>
        <p:spPr>
          <a:xfrm>
            <a:off x="2423160" y="5705856"/>
            <a:ext cx="5486400" cy="237744"/>
          </a:xfrm>
          <a:prstGeom prst="rect">
            <a:avLst/>
          </a:prstGeom>
          <a:noFill/>
        </p:spPr>
        <p:txBody>
          <a:bodyPr wrap="square">
            <a:spAutoFit/>
          </a:bodyPr>
          <a:lstStyle/>
          <a:p>
            <a:pPr algn="l">
              <a:defRPr sz="950" b="0">
                <a:solidFill>
                  <a:srgbClr val="111827"/>
                </a:solidFill>
                <a:latin typeface="Calibri"/>
              </a:defRPr>
            </a:pPr>
            <a:r>
              <a:t>Swan Insurance Sales, LLC</a:t>
            </a:r>
          </a:p>
        </p:txBody>
      </p:sp>
      <p:sp>
        <p:nvSpPr>
          <p:cNvPr id="124" name="TextBox 123"/>
          <p:cNvSpPr txBox="1"/>
          <p:nvPr/>
        </p:nvSpPr>
        <p:spPr>
          <a:xfrm>
            <a:off x="7909560" y="5705856"/>
            <a:ext cx="1463040" cy="237744"/>
          </a:xfrm>
          <a:prstGeom prst="rect">
            <a:avLst/>
          </a:prstGeom>
          <a:noFill/>
        </p:spPr>
        <p:txBody>
          <a:bodyPr wrap="square">
            <a:spAutoFit/>
          </a:bodyPr>
          <a:lstStyle/>
          <a:p>
            <a:pPr algn="ctr">
              <a:defRPr sz="950" b="1">
                <a:solidFill>
                  <a:srgbClr val="111827"/>
                </a:solidFill>
                <a:latin typeface="Calibri"/>
              </a:defRPr>
            </a:pPr>
            <a:r>
              <a:t>$190K</a:t>
            </a:r>
          </a:p>
        </p:txBody>
      </p:sp>
      <p:sp>
        <p:nvSpPr>
          <p:cNvPr id="125" name="TextBox 124"/>
          <p:cNvSpPr txBox="1"/>
          <p:nvPr/>
        </p:nvSpPr>
        <p:spPr>
          <a:xfrm>
            <a:off x="9372600" y="5705856"/>
            <a:ext cx="822960" cy="237744"/>
          </a:xfrm>
          <a:prstGeom prst="rect">
            <a:avLst/>
          </a:prstGeom>
          <a:noFill/>
        </p:spPr>
        <p:txBody>
          <a:bodyPr wrap="square">
            <a:spAutoFit/>
          </a:bodyPr>
          <a:lstStyle/>
          <a:p>
            <a:pPr algn="ctr">
              <a:defRPr sz="950" b="1">
                <a:solidFill>
                  <a:srgbClr val="0E6BA0"/>
                </a:solidFill>
                <a:latin typeface="Calibri"/>
              </a:defRPr>
            </a:pPr>
            <a:r>
              <a:t>10</a:t>
            </a:r>
          </a:p>
        </p:txBody>
      </p:sp>
      <p:sp>
        <p:nvSpPr>
          <p:cNvPr id="126" name="Rectangle 125"/>
          <p:cNvSpPr/>
          <p:nvPr/>
        </p:nvSpPr>
        <p:spPr>
          <a:xfrm>
            <a:off x="274320" y="5943600"/>
            <a:ext cx="9921240"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74320" y="5961888"/>
            <a:ext cx="502920" cy="237744"/>
          </a:xfrm>
          <a:prstGeom prst="rect">
            <a:avLst/>
          </a:prstGeom>
          <a:noFill/>
        </p:spPr>
        <p:txBody>
          <a:bodyPr wrap="square">
            <a:spAutoFit/>
          </a:bodyPr>
          <a:lstStyle/>
          <a:p>
            <a:pPr algn="ctr">
              <a:defRPr sz="950" b="1">
                <a:solidFill>
                  <a:srgbClr val="111827"/>
                </a:solidFill>
                <a:latin typeface="Calibri"/>
              </a:defRPr>
            </a:pPr>
            <a:r>
              <a:t>20</a:t>
            </a:r>
          </a:p>
        </p:txBody>
      </p:sp>
      <p:sp>
        <p:nvSpPr>
          <p:cNvPr id="128" name="TextBox 127"/>
          <p:cNvSpPr txBox="1"/>
          <p:nvPr/>
        </p:nvSpPr>
        <p:spPr>
          <a:xfrm>
            <a:off x="777240" y="5961888"/>
            <a:ext cx="1645920" cy="237744"/>
          </a:xfrm>
          <a:prstGeom prst="rect">
            <a:avLst/>
          </a:prstGeom>
          <a:noFill/>
        </p:spPr>
        <p:txBody>
          <a:bodyPr wrap="square">
            <a:spAutoFit/>
          </a:bodyPr>
          <a:lstStyle/>
          <a:p>
            <a:pPr algn="ctr">
              <a:defRPr sz="950" b="1">
                <a:solidFill>
                  <a:srgbClr val="111827"/>
                </a:solidFill>
                <a:latin typeface="Calibri"/>
              </a:defRPr>
            </a:pPr>
            <a:r>
              <a:t>Christopher H.</a:t>
            </a:r>
          </a:p>
        </p:txBody>
      </p:sp>
      <p:sp>
        <p:nvSpPr>
          <p:cNvPr id="129" name="TextBox 128"/>
          <p:cNvSpPr txBox="1"/>
          <p:nvPr/>
        </p:nvSpPr>
        <p:spPr>
          <a:xfrm>
            <a:off x="2423160" y="5961888"/>
            <a:ext cx="5486400" cy="237744"/>
          </a:xfrm>
          <a:prstGeom prst="rect">
            <a:avLst/>
          </a:prstGeom>
          <a:noFill/>
        </p:spPr>
        <p:txBody>
          <a:bodyPr wrap="square">
            <a:spAutoFit/>
          </a:bodyPr>
          <a:lstStyle/>
          <a:p>
            <a:pPr algn="l">
              <a:defRPr sz="950" b="0">
                <a:solidFill>
                  <a:srgbClr val="111827"/>
                </a:solidFill>
                <a:latin typeface="Calibri"/>
              </a:defRPr>
            </a:pPr>
            <a:r>
              <a:t>Truczone Insurance Agency LLC</a:t>
            </a:r>
          </a:p>
        </p:txBody>
      </p:sp>
      <p:sp>
        <p:nvSpPr>
          <p:cNvPr id="130" name="TextBox 129"/>
          <p:cNvSpPr txBox="1"/>
          <p:nvPr/>
        </p:nvSpPr>
        <p:spPr>
          <a:xfrm>
            <a:off x="7909560" y="5961888"/>
            <a:ext cx="1463040" cy="237744"/>
          </a:xfrm>
          <a:prstGeom prst="rect">
            <a:avLst/>
          </a:prstGeom>
          <a:noFill/>
        </p:spPr>
        <p:txBody>
          <a:bodyPr wrap="square">
            <a:spAutoFit/>
          </a:bodyPr>
          <a:lstStyle/>
          <a:p>
            <a:pPr algn="ctr">
              <a:defRPr sz="950" b="1">
                <a:solidFill>
                  <a:srgbClr val="111827"/>
                </a:solidFill>
                <a:latin typeface="Calibri"/>
              </a:defRPr>
            </a:pPr>
            <a:r>
              <a:t>$179K</a:t>
            </a:r>
          </a:p>
        </p:txBody>
      </p:sp>
      <p:sp>
        <p:nvSpPr>
          <p:cNvPr id="131" name="TextBox 130"/>
          <p:cNvSpPr txBox="1"/>
          <p:nvPr/>
        </p:nvSpPr>
        <p:spPr>
          <a:xfrm>
            <a:off x="9372600" y="5961888"/>
            <a:ext cx="822960" cy="237744"/>
          </a:xfrm>
          <a:prstGeom prst="rect">
            <a:avLst/>
          </a:prstGeom>
          <a:noFill/>
        </p:spPr>
        <p:txBody>
          <a:bodyPr wrap="square">
            <a:spAutoFit/>
          </a:bodyPr>
          <a:lstStyle/>
          <a:p>
            <a:pPr algn="ctr">
              <a:defRPr sz="950" b="1">
                <a:solidFill>
                  <a:srgbClr val="0E6BA0"/>
                </a:solidFill>
                <a:latin typeface="Calibri"/>
              </a:defRPr>
            </a:pPr>
            <a:r>
              <a:t>13</a:t>
            </a:r>
          </a:p>
        </p:txBody>
      </p:sp>
      <p:sp>
        <p:nvSpPr>
          <p:cNvPr id="132" name="Rectangle 131"/>
          <p:cNvSpPr/>
          <p:nvPr/>
        </p:nvSpPr>
        <p:spPr>
          <a:xfrm>
            <a:off x="274320" y="6327648"/>
            <a:ext cx="9921240" cy="347472"/>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384048" y="6419088"/>
            <a:ext cx="9701784" cy="219456"/>
          </a:xfrm>
          <a:prstGeom prst="rect">
            <a:avLst/>
          </a:prstGeom>
          <a:noFill/>
        </p:spPr>
        <p:txBody>
          <a:bodyPr wrap="square">
            <a:spAutoFit/>
          </a:bodyPr>
          <a:lstStyle/>
          <a:p>
            <a:pPr algn="ctr">
              <a:defRPr sz="1000" b="1">
                <a:solidFill>
                  <a:srgbClr val="FFFFFF"/>
                </a:solidFill>
                <a:latin typeface="Calibri"/>
              </a:defRPr>
            </a:pPr>
            <a:r>
              <a:t>Q2 Fleet Total: 222 fleet binds  ·  $20.7M bound premium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Top 40 Individual Agents — Q2 2026  |  Bound Premium</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Ranked by bound GWP written  ·  Mint-shaded row = new vs last week’s deck  ·  Apr 1–May 29  ·  Individual producers</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29, 2026</a:t>
            </a:r>
          </a:p>
        </p:txBody>
      </p:sp>
      <p:sp>
        <p:nvSpPr>
          <p:cNvPr id="6" name="TextBox 5"/>
          <p:cNvSpPr txBox="1"/>
          <p:nvPr/>
        </p:nvSpPr>
        <p:spPr>
          <a:xfrm>
            <a:off x="228600" y="841248"/>
            <a:ext cx="411480" cy="201168"/>
          </a:xfrm>
          <a:prstGeom prst="rect">
            <a:avLst/>
          </a:prstGeom>
          <a:noFill/>
        </p:spPr>
        <p:txBody>
          <a:bodyPr wrap="none">
            <a:spAutoFit/>
          </a:bodyPr>
          <a:lstStyle/>
          <a:p>
            <a:pPr algn="ctr">
              <a:defRPr sz="850" b="1">
                <a:solidFill>
                  <a:srgbClr val="6B7280"/>
                </a:solidFill>
                <a:latin typeface="Calibri"/>
              </a:defRPr>
            </a:pPr>
            <a:r>
              <a:t>Rank</a:t>
            </a:r>
          </a:p>
        </p:txBody>
      </p:sp>
      <p:sp>
        <p:nvSpPr>
          <p:cNvPr id="7" name="TextBox 6"/>
          <p:cNvSpPr txBox="1"/>
          <p:nvPr/>
        </p:nvSpPr>
        <p:spPr>
          <a:xfrm>
            <a:off x="640080" y="841248"/>
            <a:ext cx="1920240" cy="201168"/>
          </a:xfrm>
          <a:prstGeom prst="rect">
            <a:avLst/>
          </a:prstGeom>
          <a:noFill/>
        </p:spPr>
        <p:txBody>
          <a:bodyPr wrap="none">
            <a:spAutoFit/>
          </a:bodyPr>
          <a:lstStyle/>
          <a:p>
            <a:pPr algn="l">
              <a:defRPr sz="850" b="1">
                <a:solidFill>
                  <a:srgbClr val="6B7280"/>
                </a:solidFill>
                <a:latin typeface="Calibri"/>
              </a:defRPr>
            </a:pPr>
            <a:r>
              <a:t>Agent</a:t>
            </a:r>
          </a:p>
        </p:txBody>
      </p:sp>
      <p:sp>
        <p:nvSpPr>
          <p:cNvPr id="8" name="TextBox 7"/>
          <p:cNvSpPr txBox="1"/>
          <p:nvPr/>
        </p:nvSpPr>
        <p:spPr>
          <a:xfrm>
            <a:off x="2560320" y="841248"/>
            <a:ext cx="2459736" cy="201168"/>
          </a:xfrm>
          <a:prstGeom prst="rect">
            <a:avLst/>
          </a:prstGeom>
          <a:noFill/>
        </p:spPr>
        <p:txBody>
          <a:bodyPr wrap="none">
            <a:spAutoFit/>
          </a:bodyPr>
          <a:lstStyle/>
          <a:p>
            <a:pPr algn="l">
              <a:defRPr sz="850" b="1">
                <a:solidFill>
                  <a:srgbClr val="6B7280"/>
                </a:solidFill>
                <a:latin typeface="Calibri"/>
              </a:defRPr>
            </a:pPr>
            <a:r>
              <a:t>Agency</a:t>
            </a:r>
          </a:p>
        </p:txBody>
      </p:sp>
      <p:sp>
        <p:nvSpPr>
          <p:cNvPr id="9" name="TextBox 8"/>
          <p:cNvSpPr txBox="1"/>
          <p:nvPr/>
        </p:nvSpPr>
        <p:spPr>
          <a:xfrm>
            <a:off x="5020056" y="841248"/>
            <a:ext cx="914400" cy="201168"/>
          </a:xfrm>
          <a:prstGeom prst="rect">
            <a:avLst/>
          </a:prstGeom>
          <a:noFill/>
        </p:spPr>
        <p:txBody>
          <a:bodyPr wrap="none">
            <a:spAutoFit/>
          </a:bodyPr>
          <a:lstStyle/>
          <a:p>
            <a:pPr algn="ctr">
              <a:defRPr sz="850" b="1">
                <a:solidFill>
                  <a:srgbClr val="6B7280"/>
                </a:solidFill>
                <a:latin typeface="Calibri"/>
              </a:defRPr>
            </a:pPr>
            <a:r>
              <a:t>Q2 GWP</a:t>
            </a:r>
          </a:p>
        </p:txBody>
      </p:sp>
      <p:sp>
        <p:nvSpPr>
          <p:cNvPr id="10" name="Rectangle 9"/>
          <p:cNvSpPr/>
          <p:nvPr/>
        </p:nvSpPr>
        <p:spPr>
          <a:xfrm>
            <a:off x="228600" y="1042416"/>
            <a:ext cx="5705856"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078992"/>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1097280"/>
            <a:ext cx="411480" cy="237744"/>
          </a:xfrm>
          <a:prstGeom prst="rect">
            <a:avLst/>
          </a:prstGeom>
          <a:noFill/>
        </p:spPr>
        <p:txBody>
          <a:bodyPr wrap="none">
            <a:spAutoFit/>
          </a:bodyPr>
          <a:lstStyle/>
          <a:p>
            <a:pPr algn="ctr">
              <a:defRPr sz="950" b="1">
                <a:solidFill>
                  <a:srgbClr val="6B7280"/>
                </a:solidFill>
                <a:latin typeface="Calibri"/>
              </a:defRPr>
            </a:pPr>
            <a:r>
              <a:t>1</a:t>
            </a:r>
          </a:p>
        </p:txBody>
      </p:sp>
      <p:sp>
        <p:nvSpPr>
          <p:cNvPr id="13" name="TextBox 12"/>
          <p:cNvSpPr txBox="1"/>
          <p:nvPr/>
        </p:nvSpPr>
        <p:spPr>
          <a:xfrm>
            <a:off x="640080" y="1097280"/>
            <a:ext cx="1920240" cy="237744"/>
          </a:xfrm>
          <a:prstGeom prst="rect">
            <a:avLst/>
          </a:prstGeom>
          <a:noFill/>
        </p:spPr>
        <p:txBody>
          <a:bodyPr wrap="none">
            <a:spAutoFit/>
          </a:bodyPr>
          <a:lstStyle/>
          <a:p>
            <a:pPr algn="l">
              <a:defRPr sz="950" b="1">
                <a:solidFill>
                  <a:srgbClr val="111827"/>
                </a:solidFill>
                <a:latin typeface="Calibri"/>
              </a:defRPr>
            </a:pPr>
            <a:r>
              <a:t>Cover Badger</a:t>
            </a:r>
          </a:p>
        </p:txBody>
      </p:sp>
      <p:sp>
        <p:nvSpPr>
          <p:cNvPr id="14" name="TextBox 13"/>
          <p:cNvSpPr txBox="1"/>
          <p:nvPr/>
        </p:nvSpPr>
        <p:spPr>
          <a:xfrm>
            <a:off x="2560320" y="1097280"/>
            <a:ext cx="2459736" cy="237744"/>
          </a:xfrm>
          <a:prstGeom prst="rect">
            <a:avLst/>
          </a:prstGeom>
          <a:noFill/>
        </p:spPr>
        <p:txBody>
          <a:bodyPr wrap="none">
            <a:spAutoFit/>
          </a:bodyPr>
          <a:lstStyle/>
          <a:p>
            <a:pPr algn="l">
              <a:defRPr sz="950" b="0">
                <a:solidFill>
                  <a:srgbClr val="6B7280"/>
                </a:solidFill>
                <a:latin typeface="Calibri"/>
              </a:defRPr>
            </a:pPr>
            <a:r>
              <a:t>Cover Badger LLC</a:t>
            </a:r>
          </a:p>
        </p:txBody>
      </p:sp>
      <p:sp>
        <p:nvSpPr>
          <p:cNvPr id="15" name="TextBox 14"/>
          <p:cNvSpPr txBox="1"/>
          <p:nvPr/>
        </p:nvSpPr>
        <p:spPr>
          <a:xfrm>
            <a:off x="5020056" y="1097280"/>
            <a:ext cx="914400" cy="237744"/>
          </a:xfrm>
          <a:prstGeom prst="rect">
            <a:avLst/>
          </a:prstGeom>
          <a:noFill/>
        </p:spPr>
        <p:txBody>
          <a:bodyPr wrap="none">
            <a:spAutoFit/>
          </a:bodyPr>
          <a:lstStyle/>
          <a:p>
            <a:pPr algn="ctr">
              <a:defRPr sz="950" b="1">
                <a:solidFill>
                  <a:srgbClr val="111827"/>
                </a:solidFill>
                <a:latin typeface="Calibri"/>
              </a:defRPr>
            </a:pPr>
            <a:r>
              <a:t>$4.6M</a:t>
            </a:r>
          </a:p>
        </p:txBody>
      </p:sp>
      <p:sp>
        <p:nvSpPr>
          <p:cNvPr id="16" name="Rectangle 15"/>
          <p:cNvSpPr/>
          <p:nvPr/>
        </p:nvSpPr>
        <p:spPr>
          <a:xfrm>
            <a:off x="228600" y="1335024"/>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1353312"/>
            <a:ext cx="411480" cy="237744"/>
          </a:xfrm>
          <a:prstGeom prst="rect">
            <a:avLst/>
          </a:prstGeom>
          <a:noFill/>
        </p:spPr>
        <p:txBody>
          <a:bodyPr wrap="none">
            <a:spAutoFit/>
          </a:bodyPr>
          <a:lstStyle/>
          <a:p>
            <a:pPr algn="ctr">
              <a:defRPr sz="950" b="1">
                <a:solidFill>
                  <a:srgbClr val="6B7280"/>
                </a:solidFill>
                <a:latin typeface="Calibri"/>
              </a:defRPr>
            </a:pPr>
            <a:r>
              <a:t>2</a:t>
            </a:r>
          </a:p>
        </p:txBody>
      </p:sp>
      <p:sp>
        <p:nvSpPr>
          <p:cNvPr id="18" name="TextBox 17"/>
          <p:cNvSpPr txBox="1"/>
          <p:nvPr/>
        </p:nvSpPr>
        <p:spPr>
          <a:xfrm>
            <a:off x="640080" y="1353312"/>
            <a:ext cx="1920240" cy="237744"/>
          </a:xfrm>
          <a:prstGeom prst="rect">
            <a:avLst/>
          </a:prstGeom>
          <a:noFill/>
        </p:spPr>
        <p:txBody>
          <a:bodyPr wrap="none">
            <a:spAutoFit/>
          </a:bodyPr>
          <a:lstStyle/>
          <a:p>
            <a:pPr algn="l">
              <a:defRPr sz="950" b="1">
                <a:solidFill>
                  <a:srgbClr val="111827"/>
                </a:solidFill>
                <a:latin typeface="Calibri"/>
              </a:defRPr>
            </a:pPr>
            <a:r>
              <a:t>John Medina</a:t>
            </a:r>
          </a:p>
        </p:txBody>
      </p:sp>
      <p:sp>
        <p:nvSpPr>
          <p:cNvPr id="19" name="TextBox 18"/>
          <p:cNvSpPr txBox="1"/>
          <p:nvPr/>
        </p:nvSpPr>
        <p:spPr>
          <a:xfrm>
            <a:off x="2560320" y="1353312"/>
            <a:ext cx="2459736" cy="237744"/>
          </a:xfrm>
          <a:prstGeom prst="rect">
            <a:avLst/>
          </a:prstGeom>
          <a:noFill/>
        </p:spPr>
        <p:txBody>
          <a:bodyPr wrap="none">
            <a:spAutoFit/>
          </a:bodyPr>
          <a:lstStyle/>
          <a:p>
            <a:pPr algn="l">
              <a:defRPr sz="950" b="0">
                <a:solidFill>
                  <a:srgbClr val="6B7280"/>
                </a:solidFill>
                <a:latin typeface="Calibri"/>
              </a:defRPr>
            </a:pPr>
            <a:r>
              <a:t>USA SPECIALTY INSURANCE/DBA PREVEN…</a:t>
            </a:r>
          </a:p>
        </p:txBody>
      </p:sp>
      <p:sp>
        <p:nvSpPr>
          <p:cNvPr id="20" name="TextBox 19"/>
          <p:cNvSpPr txBox="1"/>
          <p:nvPr/>
        </p:nvSpPr>
        <p:spPr>
          <a:xfrm>
            <a:off x="5020056" y="1353312"/>
            <a:ext cx="914400" cy="237744"/>
          </a:xfrm>
          <a:prstGeom prst="rect">
            <a:avLst/>
          </a:prstGeom>
          <a:noFill/>
        </p:spPr>
        <p:txBody>
          <a:bodyPr wrap="none">
            <a:spAutoFit/>
          </a:bodyPr>
          <a:lstStyle/>
          <a:p>
            <a:pPr algn="ctr">
              <a:defRPr sz="950" b="1">
                <a:solidFill>
                  <a:srgbClr val="111827"/>
                </a:solidFill>
                <a:latin typeface="Calibri"/>
              </a:defRPr>
            </a:pPr>
            <a:r>
              <a:t>$3.4M</a:t>
            </a:r>
          </a:p>
        </p:txBody>
      </p:sp>
      <p:sp>
        <p:nvSpPr>
          <p:cNvPr id="21" name="Rectangle 20"/>
          <p:cNvSpPr/>
          <p:nvPr/>
        </p:nvSpPr>
        <p:spPr>
          <a:xfrm>
            <a:off x="228600" y="1591056"/>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 y="1609344"/>
            <a:ext cx="411480" cy="237744"/>
          </a:xfrm>
          <a:prstGeom prst="rect">
            <a:avLst/>
          </a:prstGeom>
          <a:noFill/>
        </p:spPr>
        <p:txBody>
          <a:bodyPr wrap="none">
            <a:spAutoFit/>
          </a:bodyPr>
          <a:lstStyle/>
          <a:p>
            <a:pPr algn="ctr">
              <a:defRPr sz="950" b="1">
                <a:solidFill>
                  <a:srgbClr val="6B7280"/>
                </a:solidFill>
                <a:latin typeface="Calibri"/>
              </a:defRPr>
            </a:pPr>
            <a:r>
              <a:t>3</a:t>
            </a:r>
          </a:p>
        </p:txBody>
      </p:sp>
      <p:sp>
        <p:nvSpPr>
          <p:cNvPr id="23" name="TextBox 22"/>
          <p:cNvSpPr txBox="1"/>
          <p:nvPr/>
        </p:nvSpPr>
        <p:spPr>
          <a:xfrm>
            <a:off x="640080" y="1609344"/>
            <a:ext cx="1920240" cy="237744"/>
          </a:xfrm>
          <a:prstGeom prst="rect">
            <a:avLst/>
          </a:prstGeom>
          <a:noFill/>
        </p:spPr>
        <p:txBody>
          <a:bodyPr wrap="none">
            <a:spAutoFit/>
          </a:bodyPr>
          <a:lstStyle/>
          <a:p>
            <a:pPr algn="l">
              <a:defRPr sz="950" b="1">
                <a:solidFill>
                  <a:srgbClr val="111827"/>
                </a:solidFill>
                <a:latin typeface="Calibri"/>
              </a:defRPr>
            </a:pPr>
            <a:r>
              <a:t>David Rodriguez</a:t>
            </a:r>
          </a:p>
        </p:txBody>
      </p:sp>
      <p:sp>
        <p:nvSpPr>
          <p:cNvPr id="24" name="TextBox 23"/>
          <p:cNvSpPr txBox="1"/>
          <p:nvPr/>
        </p:nvSpPr>
        <p:spPr>
          <a:xfrm>
            <a:off x="2560320" y="1609344"/>
            <a:ext cx="2459736" cy="237744"/>
          </a:xfrm>
          <a:prstGeom prst="rect">
            <a:avLst/>
          </a:prstGeom>
          <a:noFill/>
        </p:spPr>
        <p:txBody>
          <a:bodyPr wrap="none">
            <a:spAutoFit/>
          </a:bodyPr>
          <a:lstStyle/>
          <a:p>
            <a:pPr algn="l">
              <a:defRPr sz="950" b="0">
                <a:solidFill>
                  <a:srgbClr val="6B7280"/>
                </a:solidFill>
                <a:latin typeface="Calibri"/>
              </a:defRPr>
            </a:pPr>
            <a:r>
              <a:t>DNIS Inc.</a:t>
            </a:r>
          </a:p>
        </p:txBody>
      </p:sp>
      <p:sp>
        <p:nvSpPr>
          <p:cNvPr id="25" name="TextBox 24"/>
          <p:cNvSpPr txBox="1"/>
          <p:nvPr/>
        </p:nvSpPr>
        <p:spPr>
          <a:xfrm>
            <a:off x="5020056" y="1609344"/>
            <a:ext cx="914400" cy="237744"/>
          </a:xfrm>
          <a:prstGeom prst="rect">
            <a:avLst/>
          </a:prstGeom>
          <a:noFill/>
        </p:spPr>
        <p:txBody>
          <a:bodyPr wrap="none">
            <a:spAutoFit/>
          </a:bodyPr>
          <a:lstStyle/>
          <a:p>
            <a:pPr algn="ctr">
              <a:defRPr sz="950" b="1">
                <a:solidFill>
                  <a:srgbClr val="111827"/>
                </a:solidFill>
                <a:latin typeface="Calibri"/>
              </a:defRPr>
            </a:pPr>
            <a:r>
              <a:t>$1.7M</a:t>
            </a:r>
          </a:p>
        </p:txBody>
      </p:sp>
      <p:sp>
        <p:nvSpPr>
          <p:cNvPr id="26" name="Rectangle 25"/>
          <p:cNvSpPr/>
          <p:nvPr/>
        </p:nvSpPr>
        <p:spPr>
          <a:xfrm>
            <a:off x="228600" y="1847088"/>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8600" y="1865376"/>
            <a:ext cx="411480" cy="237744"/>
          </a:xfrm>
          <a:prstGeom prst="rect">
            <a:avLst/>
          </a:prstGeom>
          <a:noFill/>
        </p:spPr>
        <p:txBody>
          <a:bodyPr wrap="none">
            <a:spAutoFit/>
          </a:bodyPr>
          <a:lstStyle/>
          <a:p>
            <a:pPr algn="ctr">
              <a:defRPr sz="950" b="1">
                <a:solidFill>
                  <a:srgbClr val="6B7280"/>
                </a:solidFill>
                <a:latin typeface="Calibri"/>
              </a:defRPr>
            </a:pPr>
            <a:r>
              <a:t>4</a:t>
            </a:r>
          </a:p>
        </p:txBody>
      </p:sp>
      <p:sp>
        <p:nvSpPr>
          <p:cNvPr id="28" name="TextBox 27"/>
          <p:cNvSpPr txBox="1"/>
          <p:nvPr/>
        </p:nvSpPr>
        <p:spPr>
          <a:xfrm>
            <a:off x="640080" y="1865376"/>
            <a:ext cx="1920240" cy="237744"/>
          </a:xfrm>
          <a:prstGeom prst="rect">
            <a:avLst/>
          </a:prstGeom>
          <a:noFill/>
        </p:spPr>
        <p:txBody>
          <a:bodyPr wrap="none">
            <a:spAutoFit/>
          </a:bodyPr>
          <a:lstStyle/>
          <a:p>
            <a:pPr algn="l">
              <a:defRPr sz="950" b="1">
                <a:solidFill>
                  <a:srgbClr val="111827"/>
                </a:solidFill>
                <a:latin typeface="Calibri"/>
              </a:defRPr>
            </a:pPr>
            <a:r>
              <a:t>Gurashish Bedi</a:t>
            </a:r>
          </a:p>
        </p:txBody>
      </p:sp>
      <p:sp>
        <p:nvSpPr>
          <p:cNvPr id="29" name="TextBox 28"/>
          <p:cNvSpPr txBox="1"/>
          <p:nvPr/>
        </p:nvSpPr>
        <p:spPr>
          <a:xfrm>
            <a:off x="2560320" y="1865376"/>
            <a:ext cx="2459736" cy="237744"/>
          </a:xfrm>
          <a:prstGeom prst="rect">
            <a:avLst/>
          </a:prstGeom>
          <a:noFill/>
        </p:spPr>
        <p:txBody>
          <a:bodyPr wrap="none">
            <a:spAutoFit/>
          </a:bodyPr>
          <a:lstStyle/>
          <a:p>
            <a:pPr algn="l">
              <a:defRPr sz="950" b="0">
                <a:solidFill>
                  <a:srgbClr val="6B7280"/>
                </a:solidFill>
                <a:latin typeface="Calibri"/>
              </a:defRPr>
            </a:pPr>
            <a:r>
              <a:t>Commercial Trucking Insurance Agen…</a:t>
            </a:r>
          </a:p>
        </p:txBody>
      </p:sp>
      <p:sp>
        <p:nvSpPr>
          <p:cNvPr id="30" name="TextBox 29"/>
          <p:cNvSpPr txBox="1"/>
          <p:nvPr/>
        </p:nvSpPr>
        <p:spPr>
          <a:xfrm>
            <a:off x="5020056" y="1865376"/>
            <a:ext cx="914400" cy="237744"/>
          </a:xfrm>
          <a:prstGeom prst="rect">
            <a:avLst/>
          </a:prstGeom>
          <a:noFill/>
        </p:spPr>
        <p:txBody>
          <a:bodyPr wrap="none">
            <a:spAutoFit/>
          </a:bodyPr>
          <a:lstStyle/>
          <a:p>
            <a:pPr algn="ctr">
              <a:defRPr sz="950" b="1">
                <a:solidFill>
                  <a:srgbClr val="111827"/>
                </a:solidFill>
                <a:latin typeface="Calibri"/>
              </a:defRPr>
            </a:pPr>
            <a:r>
              <a:t>$1.6M</a:t>
            </a:r>
          </a:p>
        </p:txBody>
      </p:sp>
      <p:sp>
        <p:nvSpPr>
          <p:cNvPr id="31" name="Rectangle 30"/>
          <p:cNvSpPr/>
          <p:nvPr/>
        </p:nvSpPr>
        <p:spPr>
          <a:xfrm>
            <a:off x="228600" y="2103120"/>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8600" y="2121408"/>
            <a:ext cx="411480" cy="237744"/>
          </a:xfrm>
          <a:prstGeom prst="rect">
            <a:avLst/>
          </a:prstGeom>
          <a:noFill/>
        </p:spPr>
        <p:txBody>
          <a:bodyPr wrap="none">
            <a:spAutoFit/>
          </a:bodyPr>
          <a:lstStyle/>
          <a:p>
            <a:pPr algn="ctr">
              <a:defRPr sz="950" b="1">
                <a:solidFill>
                  <a:srgbClr val="6B7280"/>
                </a:solidFill>
                <a:latin typeface="Calibri"/>
              </a:defRPr>
            </a:pPr>
            <a:r>
              <a:t>5</a:t>
            </a:r>
          </a:p>
        </p:txBody>
      </p:sp>
      <p:sp>
        <p:nvSpPr>
          <p:cNvPr id="33" name="TextBox 32"/>
          <p:cNvSpPr txBox="1"/>
          <p:nvPr/>
        </p:nvSpPr>
        <p:spPr>
          <a:xfrm>
            <a:off x="640080" y="2121408"/>
            <a:ext cx="1920240" cy="237744"/>
          </a:xfrm>
          <a:prstGeom prst="rect">
            <a:avLst/>
          </a:prstGeom>
          <a:noFill/>
        </p:spPr>
        <p:txBody>
          <a:bodyPr wrap="none">
            <a:spAutoFit/>
          </a:bodyPr>
          <a:lstStyle/>
          <a:p>
            <a:pPr algn="l">
              <a:defRPr sz="950" b="1">
                <a:solidFill>
                  <a:srgbClr val="111827"/>
                </a:solidFill>
                <a:latin typeface="Calibri"/>
              </a:defRPr>
            </a:pPr>
            <a:r>
              <a:t>Justin Feaster</a:t>
            </a:r>
          </a:p>
        </p:txBody>
      </p:sp>
      <p:sp>
        <p:nvSpPr>
          <p:cNvPr id="34" name="TextBox 33"/>
          <p:cNvSpPr txBox="1"/>
          <p:nvPr/>
        </p:nvSpPr>
        <p:spPr>
          <a:xfrm>
            <a:off x="2560320" y="2121408"/>
            <a:ext cx="2459736" cy="237744"/>
          </a:xfrm>
          <a:prstGeom prst="rect">
            <a:avLst/>
          </a:prstGeom>
          <a:noFill/>
        </p:spPr>
        <p:txBody>
          <a:bodyPr wrap="none">
            <a:spAutoFit/>
          </a:bodyPr>
          <a:lstStyle/>
          <a:p>
            <a:pPr algn="l">
              <a:defRPr sz="950" b="0">
                <a:solidFill>
                  <a:srgbClr val="6B7280"/>
                </a:solidFill>
                <a:latin typeface="Calibri"/>
              </a:defRPr>
            </a:pPr>
            <a:r>
              <a:t>American Fleet Insurance</a:t>
            </a:r>
          </a:p>
        </p:txBody>
      </p:sp>
      <p:sp>
        <p:nvSpPr>
          <p:cNvPr id="35" name="TextBox 34"/>
          <p:cNvSpPr txBox="1"/>
          <p:nvPr/>
        </p:nvSpPr>
        <p:spPr>
          <a:xfrm>
            <a:off x="5020056" y="2121408"/>
            <a:ext cx="914400" cy="237744"/>
          </a:xfrm>
          <a:prstGeom prst="rect">
            <a:avLst/>
          </a:prstGeom>
          <a:noFill/>
        </p:spPr>
        <p:txBody>
          <a:bodyPr wrap="none">
            <a:spAutoFit/>
          </a:bodyPr>
          <a:lstStyle/>
          <a:p>
            <a:pPr algn="ctr">
              <a:defRPr sz="950" b="1">
                <a:solidFill>
                  <a:srgbClr val="111827"/>
                </a:solidFill>
                <a:latin typeface="Calibri"/>
              </a:defRPr>
            </a:pPr>
            <a:r>
              <a:t>$1.6M</a:t>
            </a:r>
          </a:p>
        </p:txBody>
      </p:sp>
      <p:sp>
        <p:nvSpPr>
          <p:cNvPr id="36" name="Rectangle 35"/>
          <p:cNvSpPr/>
          <p:nvPr/>
        </p:nvSpPr>
        <p:spPr>
          <a:xfrm>
            <a:off x="228600" y="2359152"/>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8600" y="2377440"/>
            <a:ext cx="411480" cy="237744"/>
          </a:xfrm>
          <a:prstGeom prst="rect">
            <a:avLst/>
          </a:prstGeom>
          <a:noFill/>
        </p:spPr>
        <p:txBody>
          <a:bodyPr wrap="none">
            <a:spAutoFit/>
          </a:bodyPr>
          <a:lstStyle/>
          <a:p>
            <a:pPr algn="ctr">
              <a:defRPr sz="950" b="1">
                <a:solidFill>
                  <a:srgbClr val="6B7280"/>
                </a:solidFill>
                <a:latin typeface="Calibri"/>
              </a:defRPr>
            </a:pPr>
            <a:r>
              <a:t>6</a:t>
            </a:r>
          </a:p>
        </p:txBody>
      </p:sp>
      <p:sp>
        <p:nvSpPr>
          <p:cNvPr id="38" name="TextBox 37"/>
          <p:cNvSpPr txBox="1"/>
          <p:nvPr/>
        </p:nvSpPr>
        <p:spPr>
          <a:xfrm>
            <a:off x="640080" y="2377440"/>
            <a:ext cx="1920240" cy="237744"/>
          </a:xfrm>
          <a:prstGeom prst="rect">
            <a:avLst/>
          </a:prstGeom>
          <a:noFill/>
        </p:spPr>
        <p:txBody>
          <a:bodyPr wrap="none">
            <a:spAutoFit/>
          </a:bodyPr>
          <a:lstStyle/>
          <a:p>
            <a:pPr algn="l">
              <a:defRPr sz="950" b="1">
                <a:solidFill>
                  <a:srgbClr val="111827"/>
                </a:solidFill>
                <a:latin typeface="Calibri"/>
              </a:defRPr>
            </a:pPr>
            <a:r>
              <a:t>Cecile Awad</a:t>
            </a:r>
          </a:p>
        </p:txBody>
      </p:sp>
      <p:sp>
        <p:nvSpPr>
          <p:cNvPr id="39" name="TextBox 38"/>
          <p:cNvSpPr txBox="1"/>
          <p:nvPr/>
        </p:nvSpPr>
        <p:spPr>
          <a:xfrm>
            <a:off x="2560320" y="2377440"/>
            <a:ext cx="2459736" cy="237744"/>
          </a:xfrm>
          <a:prstGeom prst="rect">
            <a:avLst/>
          </a:prstGeom>
          <a:noFill/>
        </p:spPr>
        <p:txBody>
          <a:bodyPr wrap="none">
            <a:spAutoFit/>
          </a:bodyPr>
          <a:lstStyle/>
          <a:p>
            <a:pPr algn="l">
              <a:defRPr sz="950" b="0">
                <a:solidFill>
                  <a:srgbClr val="6B7280"/>
                </a:solidFill>
                <a:latin typeface="Calibri"/>
              </a:defRPr>
            </a:pPr>
            <a:r>
              <a:t>United Advantage Insurance Service…</a:t>
            </a:r>
          </a:p>
        </p:txBody>
      </p:sp>
      <p:sp>
        <p:nvSpPr>
          <p:cNvPr id="40" name="TextBox 39"/>
          <p:cNvSpPr txBox="1"/>
          <p:nvPr/>
        </p:nvSpPr>
        <p:spPr>
          <a:xfrm>
            <a:off x="5020056" y="2377440"/>
            <a:ext cx="914400" cy="237744"/>
          </a:xfrm>
          <a:prstGeom prst="rect">
            <a:avLst/>
          </a:prstGeom>
          <a:noFill/>
        </p:spPr>
        <p:txBody>
          <a:bodyPr wrap="none">
            <a:spAutoFit/>
          </a:bodyPr>
          <a:lstStyle/>
          <a:p>
            <a:pPr algn="ctr">
              <a:defRPr sz="950" b="1">
                <a:solidFill>
                  <a:srgbClr val="111827"/>
                </a:solidFill>
                <a:latin typeface="Calibri"/>
              </a:defRPr>
            </a:pPr>
            <a:r>
              <a:t>$1.5M</a:t>
            </a:r>
          </a:p>
        </p:txBody>
      </p:sp>
      <p:sp>
        <p:nvSpPr>
          <p:cNvPr id="41" name="Rectangle 40"/>
          <p:cNvSpPr/>
          <p:nvPr/>
        </p:nvSpPr>
        <p:spPr>
          <a:xfrm>
            <a:off x="228600" y="2615184"/>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8600" y="2633472"/>
            <a:ext cx="411480" cy="237744"/>
          </a:xfrm>
          <a:prstGeom prst="rect">
            <a:avLst/>
          </a:prstGeom>
          <a:noFill/>
        </p:spPr>
        <p:txBody>
          <a:bodyPr wrap="none">
            <a:spAutoFit/>
          </a:bodyPr>
          <a:lstStyle/>
          <a:p>
            <a:pPr algn="ctr">
              <a:defRPr sz="950" b="1">
                <a:solidFill>
                  <a:srgbClr val="6B7280"/>
                </a:solidFill>
                <a:latin typeface="Calibri"/>
              </a:defRPr>
            </a:pPr>
            <a:r>
              <a:t>7</a:t>
            </a:r>
          </a:p>
        </p:txBody>
      </p:sp>
      <p:sp>
        <p:nvSpPr>
          <p:cNvPr id="43" name="TextBox 42"/>
          <p:cNvSpPr txBox="1"/>
          <p:nvPr/>
        </p:nvSpPr>
        <p:spPr>
          <a:xfrm>
            <a:off x="640080" y="2633472"/>
            <a:ext cx="1920240" cy="237744"/>
          </a:xfrm>
          <a:prstGeom prst="rect">
            <a:avLst/>
          </a:prstGeom>
          <a:noFill/>
        </p:spPr>
        <p:txBody>
          <a:bodyPr wrap="none">
            <a:spAutoFit/>
          </a:bodyPr>
          <a:lstStyle/>
          <a:p>
            <a:pPr algn="l">
              <a:defRPr sz="950" b="1">
                <a:solidFill>
                  <a:srgbClr val="111827"/>
                </a:solidFill>
                <a:latin typeface="Calibri"/>
              </a:defRPr>
            </a:pPr>
            <a:r>
              <a:t>Anahit Grigoryan</a:t>
            </a:r>
          </a:p>
        </p:txBody>
      </p:sp>
      <p:sp>
        <p:nvSpPr>
          <p:cNvPr id="44" name="TextBox 43"/>
          <p:cNvSpPr txBox="1"/>
          <p:nvPr/>
        </p:nvSpPr>
        <p:spPr>
          <a:xfrm>
            <a:off x="2560320" y="2633472"/>
            <a:ext cx="2459736" cy="237744"/>
          </a:xfrm>
          <a:prstGeom prst="rect">
            <a:avLst/>
          </a:prstGeom>
          <a:noFill/>
        </p:spPr>
        <p:txBody>
          <a:bodyPr wrap="none">
            <a:spAutoFit/>
          </a:bodyPr>
          <a:lstStyle/>
          <a:p>
            <a:pPr algn="l">
              <a:defRPr sz="950" b="0">
                <a:solidFill>
                  <a:srgbClr val="6B7280"/>
                </a:solidFill>
                <a:latin typeface="Calibri"/>
              </a:defRPr>
            </a:pPr>
            <a:r>
              <a:t>CASCADE INSURANCE SERVICES INC DBA…</a:t>
            </a:r>
          </a:p>
        </p:txBody>
      </p:sp>
      <p:sp>
        <p:nvSpPr>
          <p:cNvPr id="45" name="TextBox 44"/>
          <p:cNvSpPr txBox="1"/>
          <p:nvPr/>
        </p:nvSpPr>
        <p:spPr>
          <a:xfrm>
            <a:off x="5020056" y="2633472"/>
            <a:ext cx="914400" cy="237744"/>
          </a:xfrm>
          <a:prstGeom prst="rect">
            <a:avLst/>
          </a:prstGeom>
          <a:noFill/>
        </p:spPr>
        <p:txBody>
          <a:bodyPr wrap="none">
            <a:spAutoFit/>
          </a:bodyPr>
          <a:lstStyle/>
          <a:p>
            <a:pPr algn="ctr">
              <a:defRPr sz="950" b="1">
                <a:solidFill>
                  <a:srgbClr val="111827"/>
                </a:solidFill>
                <a:latin typeface="Calibri"/>
              </a:defRPr>
            </a:pPr>
            <a:r>
              <a:t>$1.3M</a:t>
            </a:r>
          </a:p>
        </p:txBody>
      </p:sp>
      <p:sp>
        <p:nvSpPr>
          <p:cNvPr id="46" name="Rectangle 45"/>
          <p:cNvSpPr/>
          <p:nvPr/>
        </p:nvSpPr>
        <p:spPr>
          <a:xfrm>
            <a:off x="228600" y="2871216"/>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8600" y="2889504"/>
            <a:ext cx="411480" cy="237744"/>
          </a:xfrm>
          <a:prstGeom prst="rect">
            <a:avLst/>
          </a:prstGeom>
          <a:noFill/>
        </p:spPr>
        <p:txBody>
          <a:bodyPr wrap="none">
            <a:spAutoFit/>
          </a:bodyPr>
          <a:lstStyle/>
          <a:p>
            <a:pPr algn="ctr">
              <a:defRPr sz="950" b="1">
                <a:solidFill>
                  <a:srgbClr val="6B7280"/>
                </a:solidFill>
                <a:latin typeface="Calibri"/>
              </a:defRPr>
            </a:pPr>
            <a:r>
              <a:t>8</a:t>
            </a:r>
          </a:p>
        </p:txBody>
      </p:sp>
      <p:sp>
        <p:nvSpPr>
          <p:cNvPr id="48" name="TextBox 47"/>
          <p:cNvSpPr txBox="1"/>
          <p:nvPr/>
        </p:nvSpPr>
        <p:spPr>
          <a:xfrm>
            <a:off x="640080" y="2889504"/>
            <a:ext cx="1920240" cy="237744"/>
          </a:xfrm>
          <a:prstGeom prst="rect">
            <a:avLst/>
          </a:prstGeom>
          <a:noFill/>
        </p:spPr>
        <p:txBody>
          <a:bodyPr wrap="none">
            <a:spAutoFit/>
          </a:bodyPr>
          <a:lstStyle/>
          <a:p>
            <a:pPr algn="l">
              <a:defRPr sz="950" b="1">
                <a:solidFill>
                  <a:srgbClr val="111827"/>
                </a:solidFill>
                <a:latin typeface="Calibri"/>
              </a:defRPr>
            </a:pPr>
            <a:r>
              <a:t>Carlos Ochoa</a:t>
            </a:r>
          </a:p>
        </p:txBody>
      </p:sp>
      <p:sp>
        <p:nvSpPr>
          <p:cNvPr id="49" name="TextBox 48"/>
          <p:cNvSpPr txBox="1"/>
          <p:nvPr/>
        </p:nvSpPr>
        <p:spPr>
          <a:xfrm>
            <a:off x="2560320" y="2889504"/>
            <a:ext cx="2459736" cy="237744"/>
          </a:xfrm>
          <a:prstGeom prst="rect">
            <a:avLst/>
          </a:prstGeom>
          <a:noFill/>
        </p:spPr>
        <p:txBody>
          <a:bodyPr wrap="none">
            <a:spAutoFit/>
          </a:bodyPr>
          <a:lstStyle/>
          <a:p>
            <a:pPr algn="l">
              <a:defRPr sz="950" b="0">
                <a:solidFill>
                  <a:srgbClr val="6B7280"/>
                </a:solidFill>
                <a:latin typeface="Calibri"/>
              </a:defRPr>
            </a:pPr>
            <a:r>
              <a:t>AMC Agents LLC</a:t>
            </a:r>
          </a:p>
        </p:txBody>
      </p:sp>
      <p:sp>
        <p:nvSpPr>
          <p:cNvPr id="50" name="TextBox 49"/>
          <p:cNvSpPr txBox="1"/>
          <p:nvPr/>
        </p:nvSpPr>
        <p:spPr>
          <a:xfrm>
            <a:off x="5020056" y="2889504"/>
            <a:ext cx="914400" cy="237744"/>
          </a:xfrm>
          <a:prstGeom prst="rect">
            <a:avLst/>
          </a:prstGeom>
          <a:noFill/>
        </p:spPr>
        <p:txBody>
          <a:bodyPr wrap="none">
            <a:spAutoFit/>
          </a:bodyPr>
          <a:lstStyle/>
          <a:p>
            <a:pPr algn="ctr">
              <a:defRPr sz="950" b="1">
                <a:solidFill>
                  <a:srgbClr val="111827"/>
                </a:solidFill>
                <a:latin typeface="Calibri"/>
              </a:defRPr>
            </a:pPr>
            <a:r>
              <a:t>$1.2M</a:t>
            </a:r>
          </a:p>
        </p:txBody>
      </p:sp>
      <p:sp>
        <p:nvSpPr>
          <p:cNvPr id="51" name="Rectangle 50"/>
          <p:cNvSpPr/>
          <p:nvPr/>
        </p:nvSpPr>
        <p:spPr>
          <a:xfrm>
            <a:off x="228600" y="3127248"/>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28600" y="3145536"/>
            <a:ext cx="411480" cy="237744"/>
          </a:xfrm>
          <a:prstGeom prst="rect">
            <a:avLst/>
          </a:prstGeom>
          <a:noFill/>
        </p:spPr>
        <p:txBody>
          <a:bodyPr wrap="none">
            <a:spAutoFit/>
          </a:bodyPr>
          <a:lstStyle/>
          <a:p>
            <a:pPr algn="ctr">
              <a:defRPr sz="950" b="1">
                <a:solidFill>
                  <a:srgbClr val="6B7280"/>
                </a:solidFill>
                <a:latin typeface="Calibri"/>
              </a:defRPr>
            </a:pPr>
            <a:r>
              <a:t>9</a:t>
            </a:r>
          </a:p>
        </p:txBody>
      </p:sp>
      <p:sp>
        <p:nvSpPr>
          <p:cNvPr id="53" name="TextBox 52"/>
          <p:cNvSpPr txBox="1"/>
          <p:nvPr/>
        </p:nvSpPr>
        <p:spPr>
          <a:xfrm>
            <a:off x="640080" y="3145536"/>
            <a:ext cx="1920240" cy="237744"/>
          </a:xfrm>
          <a:prstGeom prst="rect">
            <a:avLst/>
          </a:prstGeom>
          <a:noFill/>
        </p:spPr>
        <p:txBody>
          <a:bodyPr wrap="none">
            <a:spAutoFit/>
          </a:bodyPr>
          <a:lstStyle/>
          <a:p>
            <a:pPr algn="l">
              <a:defRPr sz="950" b="1">
                <a:solidFill>
                  <a:srgbClr val="111827"/>
                </a:solidFill>
                <a:latin typeface="Calibri"/>
              </a:defRPr>
            </a:pPr>
            <a:r>
              <a:t>Oscar Rodriguez</a:t>
            </a:r>
          </a:p>
        </p:txBody>
      </p:sp>
      <p:sp>
        <p:nvSpPr>
          <p:cNvPr id="54" name="TextBox 53"/>
          <p:cNvSpPr txBox="1"/>
          <p:nvPr/>
        </p:nvSpPr>
        <p:spPr>
          <a:xfrm>
            <a:off x="2560320" y="3145536"/>
            <a:ext cx="2459736" cy="237744"/>
          </a:xfrm>
          <a:prstGeom prst="rect">
            <a:avLst/>
          </a:prstGeom>
          <a:noFill/>
        </p:spPr>
        <p:txBody>
          <a:bodyPr wrap="none">
            <a:spAutoFit/>
          </a:bodyPr>
          <a:lstStyle/>
          <a:p>
            <a:pPr algn="l">
              <a:defRPr sz="950" b="0">
                <a:solidFill>
                  <a:srgbClr val="6B7280"/>
                </a:solidFill>
                <a:latin typeface="Calibri"/>
              </a:defRPr>
            </a:pPr>
            <a:r>
              <a:t>Fino Services LLC</a:t>
            </a:r>
          </a:p>
        </p:txBody>
      </p:sp>
      <p:sp>
        <p:nvSpPr>
          <p:cNvPr id="55" name="TextBox 54"/>
          <p:cNvSpPr txBox="1"/>
          <p:nvPr/>
        </p:nvSpPr>
        <p:spPr>
          <a:xfrm>
            <a:off x="5020056" y="3145536"/>
            <a:ext cx="914400" cy="237744"/>
          </a:xfrm>
          <a:prstGeom prst="rect">
            <a:avLst/>
          </a:prstGeom>
          <a:noFill/>
        </p:spPr>
        <p:txBody>
          <a:bodyPr wrap="none">
            <a:spAutoFit/>
          </a:bodyPr>
          <a:lstStyle/>
          <a:p>
            <a:pPr algn="ctr">
              <a:defRPr sz="950" b="1">
                <a:solidFill>
                  <a:srgbClr val="111827"/>
                </a:solidFill>
                <a:latin typeface="Calibri"/>
              </a:defRPr>
            </a:pPr>
            <a:r>
              <a:t>$1.0M</a:t>
            </a:r>
          </a:p>
        </p:txBody>
      </p:sp>
      <p:sp>
        <p:nvSpPr>
          <p:cNvPr id="56" name="Rectangle 55"/>
          <p:cNvSpPr/>
          <p:nvPr/>
        </p:nvSpPr>
        <p:spPr>
          <a:xfrm>
            <a:off x="228600" y="3383280"/>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8600" y="3401568"/>
            <a:ext cx="411480" cy="237744"/>
          </a:xfrm>
          <a:prstGeom prst="rect">
            <a:avLst/>
          </a:prstGeom>
          <a:noFill/>
        </p:spPr>
        <p:txBody>
          <a:bodyPr wrap="none">
            <a:spAutoFit/>
          </a:bodyPr>
          <a:lstStyle/>
          <a:p>
            <a:pPr algn="ctr">
              <a:defRPr sz="950" b="1">
                <a:solidFill>
                  <a:srgbClr val="6B7280"/>
                </a:solidFill>
                <a:latin typeface="Calibri"/>
              </a:defRPr>
            </a:pPr>
            <a:r>
              <a:t>10</a:t>
            </a:r>
          </a:p>
        </p:txBody>
      </p:sp>
      <p:sp>
        <p:nvSpPr>
          <p:cNvPr id="58" name="TextBox 57"/>
          <p:cNvSpPr txBox="1"/>
          <p:nvPr/>
        </p:nvSpPr>
        <p:spPr>
          <a:xfrm>
            <a:off x="640080" y="3401568"/>
            <a:ext cx="1920240" cy="237744"/>
          </a:xfrm>
          <a:prstGeom prst="rect">
            <a:avLst/>
          </a:prstGeom>
          <a:noFill/>
        </p:spPr>
        <p:txBody>
          <a:bodyPr wrap="none">
            <a:spAutoFit/>
          </a:bodyPr>
          <a:lstStyle/>
          <a:p>
            <a:pPr algn="l">
              <a:defRPr sz="950" b="1">
                <a:solidFill>
                  <a:srgbClr val="111827"/>
                </a:solidFill>
                <a:latin typeface="Calibri"/>
              </a:defRPr>
            </a:pPr>
            <a:r>
              <a:t>Jeremy Huddleston</a:t>
            </a:r>
          </a:p>
        </p:txBody>
      </p:sp>
      <p:sp>
        <p:nvSpPr>
          <p:cNvPr id="59" name="TextBox 58"/>
          <p:cNvSpPr txBox="1"/>
          <p:nvPr/>
        </p:nvSpPr>
        <p:spPr>
          <a:xfrm>
            <a:off x="2560320" y="3401568"/>
            <a:ext cx="2459736" cy="237744"/>
          </a:xfrm>
          <a:prstGeom prst="rect">
            <a:avLst/>
          </a:prstGeom>
          <a:noFill/>
        </p:spPr>
        <p:txBody>
          <a:bodyPr wrap="none">
            <a:spAutoFit/>
          </a:bodyPr>
          <a:lstStyle/>
          <a:p>
            <a:pPr algn="l">
              <a:defRPr sz="950" b="0">
                <a:solidFill>
                  <a:srgbClr val="6B7280"/>
                </a:solidFill>
                <a:latin typeface="Calibri"/>
              </a:defRPr>
            </a:pPr>
            <a:r>
              <a:t>ELITE PARTNERS INSURANCE GROUP LLC</a:t>
            </a:r>
          </a:p>
        </p:txBody>
      </p:sp>
      <p:sp>
        <p:nvSpPr>
          <p:cNvPr id="60" name="TextBox 59"/>
          <p:cNvSpPr txBox="1"/>
          <p:nvPr/>
        </p:nvSpPr>
        <p:spPr>
          <a:xfrm>
            <a:off x="5020056" y="3401568"/>
            <a:ext cx="914400" cy="237744"/>
          </a:xfrm>
          <a:prstGeom prst="rect">
            <a:avLst/>
          </a:prstGeom>
          <a:noFill/>
        </p:spPr>
        <p:txBody>
          <a:bodyPr wrap="none">
            <a:spAutoFit/>
          </a:bodyPr>
          <a:lstStyle/>
          <a:p>
            <a:pPr algn="ctr">
              <a:defRPr sz="950" b="1">
                <a:solidFill>
                  <a:srgbClr val="111827"/>
                </a:solidFill>
                <a:latin typeface="Calibri"/>
              </a:defRPr>
            </a:pPr>
            <a:r>
              <a:t>$860K</a:t>
            </a:r>
          </a:p>
        </p:txBody>
      </p:sp>
      <p:sp>
        <p:nvSpPr>
          <p:cNvPr id="61" name="Rectangle 60"/>
          <p:cNvSpPr/>
          <p:nvPr/>
        </p:nvSpPr>
        <p:spPr>
          <a:xfrm>
            <a:off x="228600" y="3639312"/>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28600" y="3657600"/>
            <a:ext cx="411480" cy="237744"/>
          </a:xfrm>
          <a:prstGeom prst="rect">
            <a:avLst/>
          </a:prstGeom>
          <a:noFill/>
        </p:spPr>
        <p:txBody>
          <a:bodyPr wrap="none">
            <a:spAutoFit/>
          </a:bodyPr>
          <a:lstStyle/>
          <a:p>
            <a:pPr algn="ctr">
              <a:defRPr sz="950" b="1">
                <a:solidFill>
                  <a:srgbClr val="6B7280"/>
                </a:solidFill>
                <a:latin typeface="Calibri"/>
              </a:defRPr>
            </a:pPr>
            <a:r>
              <a:t>11</a:t>
            </a:r>
          </a:p>
        </p:txBody>
      </p:sp>
      <p:sp>
        <p:nvSpPr>
          <p:cNvPr id="63" name="TextBox 62"/>
          <p:cNvSpPr txBox="1"/>
          <p:nvPr/>
        </p:nvSpPr>
        <p:spPr>
          <a:xfrm>
            <a:off x="640080" y="3657600"/>
            <a:ext cx="1920240" cy="237744"/>
          </a:xfrm>
          <a:prstGeom prst="rect">
            <a:avLst/>
          </a:prstGeom>
          <a:noFill/>
        </p:spPr>
        <p:txBody>
          <a:bodyPr wrap="none">
            <a:spAutoFit/>
          </a:bodyPr>
          <a:lstStyle/>
          <a:p>
            <a:pPr algn="l">
              <a:defRPr sz="950" b="1">
                <a:solidFill>
                  <a:srgbClr val="111827"/>
                </a:solidFill>
                <a:latin typeface="Calibri"/>
              </a:defRPr>
            </a:pPr>
            <a:r>
              <a:t>Ateetpal Bansal</a:t>
            </a:r>
          </a:p>
        </p:txBody>
      </p:sp>
      <p:sp>
        <p:nvSpPr>
          <p:cNvPr id="64" name="TextBox 63"/>
          <p:cNvSpPr txBox="1"/>
          <p:nvPr/>
        </p:nvSpPr>
        <p:spPr>
          <a:xfrm>
            <a:off x="2560320" y="3657600"/>
            <a:ext cx="2459736" cy="237744"/>
          </a:xfrm>
          <a:prstGeom prst="rect">
            <a:avLst/>
          </a:prstGeom>
          <a:noFill/>
        </p:spPr>
        <p:txBody>
          <a:bodyPr wrap="none">
            <a:spAutoFit/>
          </a:bodyPr>
          <a:lstStyle/>
          <a:p>
            <a:pPr algn="l">
              <a:defRPr sz="950" b="0">
                <a:solidFill>
                  <a:srgbClr val="6B7280"/>
                </a:solidFill>
                <a:latin typeface="Calibri"/>
              </a:defRPr>
            </a:pPr>
            <a:r>
              <a:t>Jagdeep Singh Insurance Agency, In…</a:t>
            </a:r>
          </a:p>
        </p:txBody>
      </p:sp>
      <p:sp>
        <p:nvSpPr>
          <p:cNvPr id="65" name="TextBox 64"/>
          <p:cNvSpPr txBox="1"/>
          <p:nvPr/>
        </p:nvSpPr>
        <p:spPr>
          <a:xfrm>
            <a:off x="5020056" y="3657600"/>
            <a:ext cx="914400" cy="237744"/>
          </a:xfrm>
          <a:prstGeom prst="rect">
            <a:avLst/>
          </a:prstGeom>
          <a:noFill/>
        </p:spPr>
        <p:txBody>
          <a:bodyPr wrap="none">
            <a:spAutoFit/>
          </a:bodyPr>
          <a:lstStyle/>
          <a:p>
            <a:pPr algn="ctr">
              <a:defRPr sz="950" b="1">
                <a:solidFill>
                  <a:srgbClr val="111827"/>
                </a:solidFill>
                <a:latin typeface="Calibri"/>
              </a:defRPr>
            </a:pPr>
            <a:r>
              <a:t>$720K</a:t>
            </a:r>
          </a:p>
        </p:txBody>
      </p:sp>
      <p:sp>
        <p:nvSpPr>
          <p:cNvPr id="66" name="Rectangle 65"/>
          <p:cNvSpPr/>
          <p:nvPr/>
        </p:nvSpPr>
        <p:spPr>
          <a:xfrm>
            <a:off x="228600" y="3895344"/>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8600" y="3913632"/>
            <a:ext cx="411480" cy="237744"/>
          </a:xfrm>
          <a:prstGeom prst="rect">
            <a:avLst/>
          </a:prstGeom>
          <a:noFill/>
        </p:spPr>
        <p:txBody>
          <a:bodyPr wrap="none">
            <a:spAutoFit/>
          </a:bodyPr>
          <a:lstStyle/>
          <a:p>
            <a:pPr algn="ctr">
              <a:defRPr sz="950" b="1">
                <a:solidFill>
                  <a:srgbClr val="6B7280"/>
                </a:solidFill>
                <a:latin typeface="Calibri"/>
              </a:defRPr>
            </a:pPr>
            <a:r>
              <a:t>12</a:t>
            </a:r>
          </a:p>
        </p:txBody>
      </p:sp>
      <p:sp>
        <p:nvSpPr>
          <p:cNvPr id="68" name="TextBox 67"/>
          <p:cNvSpPr txBox="1"/>
          <p:nvPr/>
        </p:nvSpPr>
        <p:spPr>
          <a:xfrm>
            <a:off x="640080" y="3913632"/>
            <a:ext cx="1920240" cy="237744"/>
          </a:xfrm>
          <a:prstGeom prst="rect">
            <a:avLst/>
          </a:prstGeom>
          <a:noFill/>
        </p:spPr>
        <p:txBody>
          <a:bodyPr wrap="none">
            <a:spAutoFit/>
          </a:bodyPr>
          <a:lstStyle/>
          <a:p>
            <a:pPr algn="l">
              <a:defRPr sz="950" b="1">
                <a:solidFill>
                  <a:srgbClr val="111827"/>
                </a:solidFill>
                <a:latin typeface="Calibri"/>
              </a:defRPr>
            </a:pPr>
            <a:r>
              <a:t>Raj Singh</a:t>
            </a:r>
          </a:p>
        </p:txBody>
      </p:sp>
      <p:sp>
        <p:nvSpPr>
          <p:cNvPr id="69" name="TextBox 68"/>
          <p:cNvSpPr txBox="1"/>
          <p:nvPr/>
        </p:nvSpPr>
        <p:spPr>
          <a:xfrm>
            <a:off x="2560320" y="3913632"/>
            <a:ext cx="2459736" cy="237744"/>
          </a:xfrm>
          <a:prstGeom prst="rect">
            <a:avLst/>
          </a:prstGeom>
          <a:noFill/>
        </p:spPr>
        <p:txBody>
          <a:bodyPr wrap="none">
            <a:spAutoFit/>
          </a:bodyPr>
          <a:lstStyle/>
          <a:p>
            <a:pPr algn="l">
              <a:defRPr sz="950" b="0">
                <a:solidFill>
                  <a:srgbClr val="6B7280"/>
                </a:solidFill>
                <a:latin typeface="Calibri"/>
              </a:defRPr>
            </a:pPr>
            <a:r>
              <a:t>Pride Insurance LLC</a:t>
            </a:r>
          </a:p>
        </p:txBody>
      </p:sp>
      <p:sp>
        <p:nvSpPr>
          <p:cNvPr id="70" name="TextBox 69"/>
          <p:cNvSpPr txBox="1"/>
          <p:nvPr/>
        </p:nvSpPr>
        <p:spPr>
          <a:xfrm>
            <a:off x="5020056" y="3913632"/>
            <a:ext cx="914400" cy="237744"/>
          </a:xfrm>
          <a:prstGeom prst="rect">
            <a:avLst/>
          </a:prstGeom>
          <a:noFill/>
        </p:spPr>
        <p:txBody>
          <a:bodyPr wrap="none">
            <a:spAutoFit/>
          </a:bodyPr>
          <a:lstStyle/>
          <a:p>
            <a:pPr algn="ctr">
              <a:defRPr sz="950" b="1">
                <a:solidFill>
                  <a:srgbClr val="111827"/>
                </a:solidFill>
                <a:latin typeface="Calibri"/>
              </a:defRPr>
            </a:pPr>
            <a:r>
              <a:t>$706K</a:t>
            </a:r>
          </a:p>
        </p:txBody>
      </p:sp>
      <p:sp>
        <p:nvSpPr>
          <p:cNvPr id="71" name="Rectangle 70"/>
          <p:cNvSpPr/>
          <p:nvPr/>
        </p:nvSpPr>
        <p:spPr>
          <a:xfrm>
            <a:off x="228600" y="4151376"/>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28600" y="4169664"/>
            <a:ext cx="411480" cy="237744"/>
          </a:xfrm>
          <a:prstGeom prst="rect">
            <a:avLst/>
          </a:prstGeom>
          <a:noFill/>
        </p:spPr>
        <p:txBody>
          <a:bodyPr wrap="none">
            <a:spAutoFit/>
          </a:bodyPr>
          <a:lstStyle/>
          <a:p>
            <a:pPr algn="ctr">
              <a:defRPr sz="950" b="1">
                <a:solidFill>
                  <a:srgbClr val="6B7280"/>
                </a:solidFill>
                <a:latin typeface="Calibri"/>
              </a:defRPr>
            </a:pPr>
            <a:r>
              <a:t>13</a:t>
            </a:r>
          </a:p>
        </p:txBody>
      </p:sp>
      <p:sp>
        <p:nvSpPr>
          <p:cNvPr id="73" name="TextBox 72"/>
          <p:cNvSpPr txBox="1"/>
          <p:nvPr/>
        </p:nvSpPr>
        <p:spPr>
          <a:xfrm>
            <a:off x="640080" y="4169664"/>
            <a:ext cx="1920240" cy="237744"/>
          </a:xfrm>
          <a:prstGeom prst="rect">
            <a:avLst/>
          </a:prstGeom>
          <a:noFill/>
        </p:spPr>
        <p:txBody>
          <a:bodyPr wrap="none">
            <a:spAutoFit/>
          </a:bodyPr>
          <a:lstStyle/>
          <a:p>
            <a:pPr algn="l">
              <a:defRPr sz="950" b="1">
                <a:solidFill>
                  <a:srgbClr val="111827"/>
                </a:solidFill>
                <a:latin typeface="Calibri"/>
              </a:defRPr>
            </a:pPr>
            <a:r>
              <a:t>No Name Given Ankush</a:t>
            </a:r>
          </a:p>
        </p:txBody>
      </p:sp>
      <p:sp>
        <p:nvSpPr>
          <p:cNvPr id="74" name="TextBox 73"/>
          <p:cNvSpPr txBox="1"/>
          <p:nvPr/>
        </p:nvSpPr>
        <p:spPr>
          <a:xfrm>
            <a:off x="2560320" y="4169664"/>
            <a:ext cx="2459736" cy="237744"/>
          </a:xfrm>
          <a:prstGeom prst="rect">
            <a:avLst/>
          </a:prstGeom>
          <a:noFill/>
        </p:spPr>
        <p:txBody>
          <a:bodyPr wrap="none">
            <a:spAutoFit/>
          </a:bodyPr>
          <a:lstStyle/>
          <a:p>
            <a:pPr algn="l">
              <a:defRPr sz="950" b="0">
                <a:solidFill>
                  <a:srgbClr val="6B7280"/>
                </a:solidFill>
                <a:latin typeface="Calibri"/>
              </a:defRPr>
            </a:pPr>
            <a:r>
              <a:t>Vintage Insurance Agency Inc (The)</a:t>
            </a:r>
          </a:p>
        </p:txBody>
      </p:sp>
      <p:sp>
        <p:nvSpPr>
          <p:cNvPr id="75" name="TextBox 74"/>
          <p:cNvSpPr txBox="1"/>
          <p:nvPr/>
        </p:nvSpPr>
        <p:spPr>
          <a:xfrm>
            <a:off x="5020056" y="4169664"/>
            <a:ext cx="914400" cy="237744"/>
          </a:xfrm>
          <a:prstGeom prst="rect">
            <a:avLst/>
          </a:prstGeom>
          <a:noFill/>
        </p:spPr>
        <p:txBody>
          <a:bodyPr wrap="none">
            <a:spAutoFit/>
          </a:bodyPr>
          <a:lstStyle/>
          <a:p>
            <a:pPr algn="ctr">
              <a:defRPr sz="950" b="1">
                <a:solidFill>
                  <a:srgbClr val="111827"/>
                </a:solidFill>
                <a:latin typeface="Calibri"/>
              </a:defRPr>
            </a:pPr>
            <a:r>
              <a:t>$698K</a:t>
            </a:r>
          </a:p>
        </p:txBody>
      </p:sp>
      <p:sp>
        <p:nvSpPr>
          <p:cNvPr id="76" name="Rectangle 75"/>
          <p:cNvSpPr/>
          <p:nvPr/>
        </p:nvSpPr>
        <p:spPr>
          <a:xfrm>
            <a:off x="228600" y="4407408"/>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28600" y="4425696"/>
            <a:ext cx="411480" cy="237744"/>
          </a:xfrm>
          <a:prstGeom prst="rect">
            <a:avLst/>
          </a:prstGeom>
          <a:noFill/>
        </p:spPr>
        <p:txBody>
          <a:bodyPr wrap="none">
            <a:spAutoFit/>
          </a:bodyPr>
          <a:lstStyle/>
          <a:p>
            <a:pPr algn="ctr">
              <a:defRPr sz="950" b="1">
                <a:solidFill>
                  <a:srgbClr val="6B7280"/>
                </a:solidFill>
                <a:latin typeface="Calibri"/>
              </a:defRPr>
            </a:pPr>
            <a:r>
              <a:t>14</a:t>
            </a:r>
          </a:p>
        </p:txBody>
      </p:sp>
      <p:sp>
        <p:nvSpPr>
          <p:cNvPr id="78" name="TextBox 77"/>
          <p:cNvSpPr txBox="1"/>
          <p:nvPr/>
        </p:nvSpPr>
        <p:spPr>
          <a:xfrm>
            <a:off x="640080" y="4425696"/>
            <a:ext cx="1920240" cy="237744"/>
          </a:xfrm>
          <a:prstGeom prst="rect">
            <a:avLst/>
          </a:prstGeom>
          <a:noFill/>
        </p:spPr>
        <p:txBody>
          <a:bodyPr wrap="none">
            <a:spAutoFit/>
          </a:bodyPr>
          <a:lstStyle/>
          <a:p>
            <a:pPr algn="l">
              <a:defRPr sz="950" b="1">
                <a:solidFill>
                  <a:srgbClr val="111827"/>
                </a:solidFill>
                <a:latin typeface="Calibri"/>
              </a:defRPr>
            </a:pPr>
            <a:r>
              <a:t>Larisa Davtyan</a:t>
            </a:r>
          </a:p>
        </p:txBody>
      </p:sp>
      <p:sp>
        <p:nvSpPr>
          <p:cNvPr id="79" name="TextBox 78"/>
          <p:cNvSpPr txBox="1"/>
          <p:nvPr/>
        </p:nvSpPr>
        <p:spPr>
          <a:xfrm>
            <a:off x="2560320" y="4425696"/>
            <a:ext cx="2459736" cy="237744"/>
          </a:xfrm>
          <a:prstGeom prst="rect">
            <a:avLst/>
          </a:prstGeom>
          <a:noFill/>
        </p:spPr>
        <p:txBody>
          <a:bodyPr wrap="none">
            <a:spAutoFit/>
          </a:bodyPr>
          <a:lstStyle/>
          <a:p>
            <a:pPr algn="l">
              <a:defRPr sz="950" b="0">
                <a:solidFill>
                  <a:srgbClr val="6B7280"/>
                </a:solidFill>
                <a:latin typeface="Calibri"/>
              </a:defRPr>
            </a:pPr>
            <a:r>
              <a:t>Safeline Insurance Agency, Inc.</a:t>
            </a:r>
          </a:p>
        </p:txBody>
      </p:sp>
      <p:sp>
        <p:nvSpPr>
          <p:cNvPr id="80" name="TextBox 79"/>
          <p:cNvSpPr txBox="1"/>
          <p:nvPr/>
        </p:nvSpPr>
        <p:spPr>
          <a:xfrm>
            <a:off x="5020056" y="4425696"/>
            <a:ext cx="914400" cy="237744"/>
          </a:xfrm>
          <a:prstGeom prst="rect">
            <a:avLst/>
          </a:prstGeom>
          <a:noFill/>
        </p:spPr>
        <p:txBody>
          <a:bodyPr wrap="none">
            <a:spAutoFit/>
          </a:bodyPr>
          <a:lstStyle/>
          <a:p>
            <a:pPr algn="ctr">
              <a:defRPr sz="950" b="1">
                <a:solidFill>
                  <a:srgbClr val="111827"/>
                </a:solidFill>
                <a:latin typeface="Calibri"/>
              </a:defRPr>
            </a:pPr>
            <a:r>
              <a:t>$698K</a:t>
            </a:r>
          </a:p>
        </p:txBody>
      </p:sp>
      <p:sp>
        <p:nvSpPr>
          <p:cNvPr id="81" name="Rectangle 80"/>
          <p:cNvSpPr/>
          <p:nvPr/>
        </p:nvSpPr>
        <p:spPr>
          <a:xfrm>
            <a:off x="228600" y="4663440"/>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28600" y="4681728"/>
            <a:ext cx="411480" cy="237744"/>
          </a:xfrm>
          <a:prstGeom prst="rect">
            <a:avLst/>
          </a:prstGeom>
          <a:noFill/>
        </p:spPr>
        <p:txBody>
          <a:bodyPr wrap="none">
            <a:spAutoFit/>
          </a:bodyPr>
          <a:lstStyle/>
          <a:p>
            <a:pPr algn="ctr">
              <a:defRPr sz="950" b="1">
                <a:solidFill>
                  <a:srgbClr val="6B7280"/>
                </a:solidFill>
                <a:latin typeface="Calibri"/>
              </a:defRPr>
            </a:pPr>
            <a:r>
              <a:t>15</a:t>
            </a:r>
          </a:p>
        </p:txBody>
      </p:sp>
      <p:sp>
        <p:nvSpPr>
          <p:cNvPr id="83" name="TextBox 82"/>
          <p:cNvSpPr txBox="1"/>
          <p:nvPr/>
        </p:nvSpPr>
        <p:spPr>
          <a:xfrm>
            <a:off x="640080" y="4681728"/>
            <a:ext cx="1920240" cy="237744"/>
          </a:xfrm>
          <a:prstGeom prst="rect">
            <a:avLst/>
          </a:prstGeom>
          <a:noFill/>
        </p:spPr>
        <p:txBody>
          <a:bodyPr wrap="none">
            <a:spAutoFit/>
          </a:bodyPr>
          <a:lstStyle/>
          <a:p>
            <a:pPr algn="l">
              <a:defRPr sz="950" b="1">
                <a:solidFill>
                  <a:srgbClr val="111827"/>
                </a:solidFill>
                <a:latin typeface="Calibri"/>
              </a:defRPr>
            </a:pPr>
            <a:r>
              <a:t>Shubham Kamra</a:t>
            </a:r>
          </a:p>
        </p:txBody>
      </p:sp>
      <p:sp>
        <p:nvSpPr>
          <p:cNvPr id="84" name="TextBox 83"/>
          <p:cNvSpPr txBox="1"/>
          <p:nvPr/>
        </p:nvSpPr>
        <p:spPr>
          <a:xfrm>
            <a:off x="2560320" y="4681728"/>
            <a:ext cx="2459736" cy="237744"/>
          </a:xfrm>
          <a:prstGeom prst="rect">
            <a:avLst/>
          </a:prstGeom>
          <a:noFill/>
        </p:spPr>
        <p:txBody>
          <a:bodyPr wrap="none">
            <a:spAutoFit/>
          </a:bodyPr>
          <a:lstStyle/>
          <a:p>
            <a:pPr algn="l">
              <a:defRPr sz="950" b="0">
                <a:solidFill>
                  <a:srgbClr val="6B7280"/>
                </a:solidFill>
                <a:latin typeface="Calibri"/>
              </a:defRPr>
            </a:pPr>
            <a:r>
              <a:t>A.S.I.A Inc</a:t>
            </a:r>
          </a:p>
        </p:txBody>
      </p:sp>
      <p:sp>
        <p:nvSpPr>
          <p:cNvPr id="85" name="TextBox 84"/>
          <p:cNvSpPr txBox="1"/>
          <p:nvPr/>
        </p:nvSpPr>
        <p:spPr>
          <a:xfrm>
            <a:off x="5020056" y="4681728"/>
            <a:ext cx="914400" cy="237744"/>
          </a:xfrm>
          <a:prstGeom prst="rect">
            <a:avLst/>
          </a:prstGeom>
          <a:noFill/>
        </p:spPr>
        <p:txBody>
          <a:bodyPr wrap="none">
            <a:spAutoFit/>
          </a:bodyPr>
          <a:lstStyle/>
          <a:p>
            <a:pPr algn="ctr">
              <a:defRPr sz="950" b="1">
                <a:solidFill>
                  <a:srgbClr val="111827"/>
                </a:solidFill>
                <a:latin typeface="Calibri"/>
              </a:defRPr>
            </a:pPr>
            <a:r>
              <a:t>$688K</a:t>
            </a:r>
          </a:p>
        </p:txBody>
      </p:sp>
      <p:sp>
        <p:nvSpPr>
          <p:cNvPr id="86" name="Rectangle 85"/>
          <p:cNvSpPr/>
          <p:nvPr/>
        </p:nvSpPr>
        <p:spPr>
          <a:xfrm>
            <a:off x="228600" y="4919472"/>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28600" y="4937760"/>
            <a:ext cx="411480" cy="237744"/>
          </a:xfrm>
          <a:prstGeom prst="rect">
            <a:avLst/>
          </a:prstGeom>
          <a:noFill/>
        </p:spPr>
        <p:txBody>
          <a:bodyPr wrap="none">
            <a:spAutoFit/>
          </a:bodyPr>
          <a:lstStyle/>
          <a:p>
            <a:pPr algn="ctr">
              <a:defRPr sz="950" b="1">
                <a:solidFill>
                  <a:srgbClr val="6B7280"/>
                </a:solidFill>
                <a:latin typeface="Calibri"/>
              </a:defRPr>
            </a:pPr>
            <a:r>
              <a:t>16</a:t>
            </a:r>
          </a:p>
        </p:txBody>
      </p:sp>
      <p:sp>
        <p:nvSpPr>
          <p:cNvPr id="88" name="TextBox 87"/>
          <p:cNvSpPr txBox="1"/>
          <p:nvPr/>
        </p:nvSpPr>
        <p:spPr>
          <a:xfrm>
            <a:off x="640080" y="4937760"/>
            <a:ext cx="1920240" cy="237744"/>
          </a:xfrm>
          <a:prstGeom prst="rect">
            <a:avLst/>
          </a:prstGeom>
          <a:noFill/>
        </p:spPr>
        <p:txBody>
          <a:bodyPr wrap="none">
            <a:spAutoFit/>
          </a:bodyPr>
          <a:lstStyle/>
          <a:p>
            <a:pPr algn="l">
              <a:defRPr sz="950" b="1">
                <a:solidFill>
                  <a:srgbClr val="111827"/>
                </a:solidFill>
                <a:latin typeface="Calibri"/>
              </a:defRPr>
            </a:pPr>
            <a:r>
              <a:t>Mary Davis-Spivak</a:t>
            </a:r>
          </a:p>
        </p:txBody>
      </p:sp>
      <p:sp>
        <p:nvSpPr>
          <p:cNvPr id="89" name="TextBox 88"/>
          <p:cNvSpPr txBox="1"/>
          <p:nvPr/>
        </p:nvSpPr>
        <p:spPr>
          <a:xfrm>
            <a:off x="2560320" y="4937760"/>
            <a:ext cx="2459736" cy="237744"/>
          </a:xfrm>
          <a:prstGeom prst="rect">
            <a:avLst/>
          </a:prstGeom>
          <a:noFill/>
        </p:spPr>
        <p:txBody>
          <a:bodyPr wrap="none">
            <a:spAutoFit/>
          </a:bodyPr>
          <a:lstStyle/>
          <a:p>
            <a:pPr algn="l">
              <a:defRPr sz="950" b="0">
                <a:solidFill>
                  <a:srgbClr val="6B7280"/>
                </a:solidFill>
                <a:latin typeface="Calibri"/>
              </a:defRPr>
            </a:pPr>
            <a:r>
              <a:t>Valion Security LLC</a:t>
            </a:r>
          </a:p>
        </p:txBody>
      </p:sp>
      <p:sp>
        <p:nvSpPr>
          <p:cNvPr id="90" name="TextBox 89"/>
          <p:cNvSpPr txBox="1"/>
          <p:nvPr/>
        </p:nvSpPr>
        <p:spPr>
          <a:xfrm>
            <a:off x="5020056" y="4937760"/>
            <a:ext cx="914400" cy="237744"/>
          </a:xfrm>
          <a:prstGeom prst="rect">
            <a:avLst/>
          </a:prstGeom>
          <a:noFill/>
        </p:spPr>
        <p:txBody>
          <a:bodyPr wrap="none">
            <a:spAutoFit/>
          </a:bodyPr>
          <a:lstStyle/>
          <a:p>
            <a:pPr algn="ctr">
              <a:defRPr sz="950" b="1">
                <a:solidFill>
                  <a:srgbClr val="111827"/>
                </a:solidFill>
                <a:latin typeface="Calibri"/>
              </a:defRPr>
            </a:pPr>
            <a:r>
              <a:t>$638K</a:t>
            </a:r>
          </a:p>
        </p:txBody>
      </p:sp>
      <p:sp>
        <p:nvSpPr>
          <p:cNvPr id="91" name="Rectangle 90"/>
          <p:cNvSpPr/>
          <p:nvPr/>
        </p:nvSpPr>
        <p:spPr>
          <a:xfrm>
            <a:off x="228600" y="5175504"/>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28600" y="5193792"/>
            <a:ext cx="411480" cy="237744"/>
          </a:xfrm>
          <a:prstGeom prst="rect">
            <a:avLst/>
          </a:prstGeom>
          <a:noFill/>
        </p:spPr>
        <p:txBody>
          <a:bodyPr wrap="none">
            <a:spAutoFit/>
          </a:bodyPr>
          <a:lstStyle/>
          <a:p>
            <a:pPr algn="ctr">
              <a:defRPr sz="950" b="1">
                <a:solidFill>
                  <a:srgbClr val="6B7280"/>
                </a:solidFill>
                <a:latin typeface="Calibri"/>
              </a:defRPr>
            </a:pPr>
            <a:r>
              <a:t>17</a:t>
            </a:r>
          </a:p>
        </p:txBody>
      </p:sp>
      <p:sp>
        <p:nvSpPr>
          <p:cNvPr id="93" name="TextBox 92"/>
          <p:cNvSpPr txBox="1"/>
          <p:nvPr/>
        </p:nvSpPr>
        <p:spPr>
          <a:xfrm>
            <a:off x="640080" y="5193792"/>
            <a:ext cx="1920240" cy="237744"/>
          </a:xfrm>
          <a:prstGeom prst="rect">
            <a:avLst/>
          </a:prstGeom>
          <a:noFill/>
        </p:spPr>
        <p:txBody>
          <a:bodyPr wrap="none">
            <a:spAutoFit/>
          </a:bodyPr>
          <a:lstStyle/>
          <a:p>
            <a:pPr algn="l">
              <a:defRPr sz="950" b="1">
                <a:solidFill>
                  <a:srgbClr val="111827"/>
                </a:solidFill>
                <a:latin typeface="Calibri"/>
              </a:defRPr>
            </a:pPr>
            <a:r>
              <a:t>Diego Giraldo</a:t>
            </a:r>
          </a:p>
        </p:txBody>
      </p:sp>
      <p:sp>
        <p:nvSpPr>
          <p:cNvPr id="94" name="TextBox 93"/>
          <p:cNvSpPr txBox="1"/>
          <p:nvPr/>
        </p:nvSpPr>
        <p:spPr>
          <a:xfrm>
            <a:off x="2560320" y="5193792"/>
            <a:ext cx="2459736" cy="237744"/>
          </a:xfrm>
          <a:prstGeom prst="rect">
            <a:avLst/>
          </a:prstGeom>
          <a:noFill/>
        </p:spPr>
        <p:txBody>
          <a:bodyPr wrap="none">
            <a:spAutoFit/>
          </a:bodyPr>
          <a:lstStyle/>
          <a:p>
            <a:pPr algn="l">
              <a:defRPr sz="950" b="0">
                <a:solidFill>
                  <a:srgbClr val="6B7280"/>
                </a:solidFill>
                <a:latin typeface="Calibri"/>
              </a:defRPr>
            </a:pPr>
            <a:r>
              <a:t>Horizons Insurance And Financial S…</a:t>
            </a:r>
          </a:p>
        </p:txBody>
      </p:sp>
      <p:sp>
        <p:nvSpPr>
          <p:cNvPr id="95" name="TextBox 94"/>
          <p:cNvSpPr txBox="1"/>
          <p:nvPr/>
        </p:nvSpPr>
        <p:spPr>
          <a:xfrm>
            <a:off x="5020056" y="5193792"/>
            <a:ext cx="914400" cy="237744"/>
          </a:xfrm>
          <a:prstGeom prst="rect">
            <a:avLst/>
          </a:prstGeom>
          <a:noFill/>
        </p:spPr>
        <p:txBody>
          <a:bodyPr wrap="none">
            <a:spAutoFit/>
          </a:bodyPr>
          <a:lstStyle/>
          <a:p>
            <a:pPr algn="ctr">
              <a:defRPr sz="950" b="1">
                <a:solidFill>
                  <a:srgbClr val="111827"/>
                </a:solidFill>
                <a:latin typeface="Calibri"/>
              </a:defRPr>
            </a:pPr>
            <a:r>
              <a:t>$591K</a:t>
            </a:r>
          </a:p>
        </p:txBody>
      </p:sp>
      <p:sp>
        <p:nvSpPr>
          <p:cNvPr id="96" name="Rectangle 95"/>
          <p:cNvSpPr/>
          <p:nvPr/>
        </p:nvSpPr>
        <p:spPr>
          <a:xfrm>
            <a:off x="228600" y="5431536"/>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28600" y="5449824"/>
            <a:ext cx="411480" cy="237744"/>
          </a:xfrm>
          <a:prstGeom prst="rect">
            <a:avLst/>
          </a:prstGeom>
          <a:noFill/>
        </p:spPr>
        <p:txBody>
          <a:bodyPr wrap="none">
            <a:spAutoFit/>
          </a:bodyPr>
          <a:lstStyle/>
          <a:p>
            <a:pPr algn="ctr">
              <a:defRPr sz="950" b="1">
                <a:solidFill>
                  <a:srgbClr val="6B7280"/>
                </a:solidFill>
                <a:latin typeface="Calibri"/>
              </a:defRPr>
            </a:pPr>
            <a:r>
              <a:t>18</a:t>
            </a:r>
          </a:p>
        </p:txBody>
      </p:sp>
      <p:sp>
        <p:nvSpPr>
          <p:cNvPr id="98" name="TextBox 97"/>
          <p:cNvSpPr txBox="1"/>
          <p:nvPr/>
        </p:nvSpPr>
        <p:spPr>
          <a:xfrm>
            <a:off x="640080" y="5449824"/>
            <a:ext cx="1920240" cy="237744"/>
          </a:xfrm>
          <a:prstGeom prst="rect">
            <a:avLst/>
          </a:prstGeom>
          <a:noFill/>
        </p:spPr>
        <p:txBody>
          <a:bodyPr wrap="none">
            <a:spAutoFit/>
          </a:bodyPr>
          <a:lstStyle/>
          <a:p>
            <a:pPr algn="l">
              <a:defRPr sz="950" b="1">
                <a:solidFill>
                  <a:srgbClr val="111827"/>
                </a:solidFill>
                <a:latin typeface="Calibri"/>
              </a:defRPr>
            </a:pPr>
            <a:r>
              <a:t>Anastasiya Nabokov</a:t>
            </a:r>
          </a:p>
        </p:txBody>
      </p:sp>
      <p:sp>
        <p:nvSpPr>
          <p:cNvPr id="99" name="TextBox 98"/>
          <p:cNvSpPr txBox="1"/>
          <p:nvPr/>
        </p:nvSpPr>
        <p:spPr>
          <a:xfrm>
            <a:off x="2560320" y="5449824"/>
            <a:ext cx="2459736" cy="237744"/>
          </a:xfrm>
          <a:prstGeom prst="rect">
            <a:avLst/>
          </a:prstGeom>
          <a:noFill/>
        </p:spPr>
        <p:txBody>
          <a:bodyPr wrap="none">
            <a:spAutoFit/>
          </a:bodyPr>
          <a:lstStyle/>
          <a:p>
            <a:pPr algn="l">
              <a:defRPr sz="950" b="0">
                <a:solidFill>
                  <a:srgbClr val="6B7280"/>
                </a:solidFill>
                <a:latin typeface="Calibri"/>
              </a:defRPr>
            </a:pPr>
            <a:r>
              <a:t>Drive Safe Group LLC</a:t>
            </a:r>
          </a:p>
        </p:txBody>
      </p:sp>
      <p:sp>
        <p:nvSpPr>
          <p:cNvPr id="100" name="TextBox 99"/>
          <p:cNvSpPr txBox="1"/>
          <p:nvPr/>
        </p:nvSpPr>
        <p:spPr>
          <a:xfrm>
            <a:off x="5020056" y="5449824"/>
            <a:ext cx="914400" cy="237744"/>
          </a:xfrm>
          <a:prstGeom prst="rect">
            <a:avLst/>
          </a:prstGeom>
          <a:noFill/>
        </p:spPr>
        <p:txBody>
          <a:bodyPr wrap="none">
            <a:spAutoFit/>
          </a:bodyPr>
          <a:lstStyle/>
          <a:p>
            <a:pPr algn="ctr">
              <a:defRPr sz="950" b="1">
                <a:solidFill>
                  <a:srgbClr val="111827"/>
                </a:solidFill>
                <a:latin typeface="Calibri"/>
              </a:defRPr>
            </a:pPr>
            <a:r>
              <a:t>$589K</a:t>
            </a:r>
          </a:p>
        </p:txBody>
      </p:sp>
      <p:sp>
        <p:nvSpPr>
          <p:cNvPr id="101" name="Rectangle 100"/>
          <p:cNvSpPr/>
          <p:nvPr/>
        </p:nvSpPr>
        <p:spPr>
          <a:xfrm>
            <a:off x="228600" y="5687568"/>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28600" y="5705856"/>
            <a:ext cx="411480" cy="237744"/>
          </a:xfrm>
          <a:prstGeom prst="rect">
            <a:avLst/>
          </a:prstGeom>
          <a:noFill/>
        </p:spPr>
        <p:txBody>
          <a:bodyPr wrap="none">
            <a:spAutoFit/>
          </a:bodyPr>
          <a:lstStyle/>
          <a:p>
            <a:pPr algn="ctr">
              <a:defRPr sz="950" b="1">
                <a:solidFill>
                  <a:srgbClr val="6B7280"/>
                </a:solidFill>
                <a:latin typeface="Calibri"/>
              </a:defRPr>
            </a:pPr>
            <a:r>
              <a:t>19</a:t>
            </a:r>
          </a:p>
        </p:txBody>
      </p:sp>
      <p:sp>
        <p:nvSpPr>
          <p:cNvPr id="103" name="TextBox 102"/>
          <p:cNvSpPr txBox="1"/>
          <p:nvPr/>
        </p:nvSpPr>
        <p:spPr>
          <a:xfrm>
            <a:off x="640080" y="5705856"/>
            <a:ext cx="1920240" cy="237744"/>
          </a:xfrm>
          <a:prstGeom prst="rect">
            <a:avLst/>
          </a:prstGeom>
          <a:noFill/>
        </p:spPr>
        <p:txBody>
          <a:bodyPr wrap="none">
            <a:spAutoFit/>
          </a:bodyPr>
          <a:lstStyle/>
          <a:p>
            <a:pPr algn="l">
              <a:defRPr sz="950" b="1">
                <a:solidFill>
                  <a:srgbClr val="111827"/>
                </a:solidFill>
                <a:latin typeface="Calibri"/>
              </a:defRPr>
            </a:pPr>
            <a:r>
              <a:t>Sapna Kharbanda</a:t>
            </a:r>
          </a:p>
        </p:txBody>
      </p:sp>
      <p:sp>
        <p:nvSpPr>
          <p:cNvPr id="104" name="TextBox 103"/>
          <p:cNvSpPr txBox="1"/>
          <p:nvPr/>
        </p:nvSpPr>
        <p:spPr>
          <a:xfrm>
            <a:off x="2560320" y="5705856"/>
            <a:ext cx="2459736" cy="237744"/>
          </a:xfrm>
          <a:prstGeom prst="rect">
            <a:avLst/>
          </a:prstGeom>
          <a:noFill/>
        </p:spPr>
        <p:txBody>
          <a:bodyPr wrap="none">
            <a:spAutoFit/>
          </a:bodyPr>
          <a:lstStyle/>
          <a:p>
            <a:pPr algn="l">
              <a:defRPr sz="950" b="0">
                <a:solidFill>
                  <a:srgbClr val="6B7280"/>
                </a:solidFill>
                <a:latin typeface="Calibri"/>
              </a:defRPr>
            </a:pPr>
            <a:r>
              <a:t>Sedge Insurance Agency LLC</a:t>
            </a:r>
          </a:p>
        </p:txBody>
      </p:sp>
      <p:sp>
        <p:nvSpPr>
          <p:cNvPr id="105" name="TextBox 104"/>
          <p:cNvSpPr txBox="1"/>
          <p:nvPr/>
        </p:nvSpPr>
        <p:spPr>
          <a:xfrm>
            <a:off x="5020056" y="5705856"/>
            <a:ext cx="914400" cy="237744"/>
          </a:xfrm>
          <a:prstGeom prst="rect">
            <a:avLst/>
          </a:prstGeom>
          <a:noFill/>
        </p:spPr>
        <p:txBody>
          <a:bodyPr wrap="none">
            <a:spAutoFit/>
          </a:bodyPr>
          <a:lstStyle/>
          <a:p>
            <a:pPr algn="ctr">
              <a:defRPr sz="950" b="1">
                <a:solidFill>
                  <a:srgbClr val="111827"/>
                </a:solidFill>
                <a:latin typeface="Calibri"/>
              </a:defRPr>
            </a:pPr>
            <a:r>
              <a:t>$551K</a:t>
            </a:r>
          </a:p>
        </p:txBody>
      </p:sp>
      <p:sp>
        <p:nvSpPr>
          <p:cNvPr id="106" name="Rectangle 105"/>
          <p:cNvSpPr/>
          <p:nvPr/>
        </p:nvSpPr>
        <p:spPr>
          <a:xfrm>
            <a:off x="228600" y="5943600"/>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28600" y="5961888"/>
            <a:ext cx="411480" cy="237744"/>
          </a:xfrm>
          <a:prstGeom prst="rect">
            <a:avLst/>
          </a:prstGeom>
          <a:noFill/>
        </p:spPr>
        <p:txBody>
          <a:bodyPr wrap="none">
            <a:spAutoFit/>
          </a:bodyPr>
          <a:lstStyle/>
          <a:p>
            <a:pPr algn="ctr">
              <a:defRPr sz="950" b="1">
                <a:solidFill>
                  <a:srgbClr val="6B7280"/>
                </a:solidFill>
                <a:latin typeface="Calibri"/>
              </a:defRPr>
            </a:pPr>
            <a:r>
              <a:t>20</a:t>
            </a:r>
          </a:p>
        </p:txBody>
      </p:sp>
      <p:sp>
        <p:nvSpPr>
          <p:cNvPr id="108" name="TextBox 107"/>
          <p:cNvSpPr txBox="1"/>
          <p:nvPr/>
        </p:nvSpPr>
        <p:spPr>
          <a:xfrm>
            <a:off x="640080" y="5961888"/>
            <a:ext cx="1920240" cy="237744"/>
          </a:xfrm>
          <a:prstGeom prst="rect">
            <a:avLst/>
          </a:prstGeom>
          <a:noFill/>
        </p:spPr>
        <p:txBody>
          <a:bodyPr wrap="none">
            <a:spAutoFit/>
          </a:bodyPr>
          <a:lstStyle/>
          <a:p>
            <a:pPr algn="l">
              <a:defRPr sz="950" b="1">
                <a:solidFill>
                  <a:srgbClr val="111827"/>
                </a:solidFill>
                <a:latin typeface="Calibri"/>
              </a:defRPr>
            </a:pPr>
            <a:r>
              <a:t>Justin Robert</a:t>
            </a:r>
          </a:p>
        </p:txBody>
      </p:sp>
      <p:sp>
        <p:nvSpPr>
          <p:cNvPr id="109" name="TextBox 108"/>
          <p:cNvSpPr txBox="1"/>
          <p:nvPr/>
        </p:nvSpPr>
        <p:spPr>
          <a:xfrm>
            <a:off x="2560320" y="5961888"/>
            <a:ext cx="2459736" cy="237744"/>
          </a:xfrm>
          <a:prstGeom prst="rect">
            <a:avLst/>
          </a:prstGeom>
          <a:noFill/>
        </p:spPr>
        <p:txBody>
          <a:bodyPr wrap="none">
            <a:spAutoFit/>
          </a:bodyPr>
          <a:lstStyle/>
          <a:p>
            <a:pPr algn="l">
              <a:defRPr sz="950" b="0">
                <a:solidFill>
                  <a:srgbClr val="6B7280"/>
                </a:solidFill>
                <a:latin typeface="Calibri"/>
              </a:defRPr>
            </a:pPr>
            <a:r>
              <a:t>Justin Robert Insurance Agency LLC</a:t>
            </a:r>
          </a:p>
        </p:txBody>
      </p:sp>
      <p:sp>
        <p:nvSpPr>
          <p:cNvPr id="110" name="TextBox 109"/>
          <p:cNvSpPr txBox="1"/>
          <p:nvPr/>
        </p:nvSpPr>
        <p:spPr>
          <a:xfrm>
            <a:off x="5020056" y="5961888"/>
            <a:ext cx="914400" cy="237744"/>
          </a:xfrm>
          <a:prstGeom prst="rect">
            <a:avLst/>
          </a:prstGeom>
          <a:noFill/>
        </p:spPr>
        <p:txBody>
          <a:bodyPr wrap="none">
            <a:spAutoFit/>
          </a:bodyPr>
          <a:lstStyle/>
          <a:p>
            <a:pPr algn="ctr">
              <a:defRPr sz="950" b="1">
                <a:solidFill>
                  <a:srgbClr val="111827"/>
                </a:solidFill>
                <a:latin typeface="Calibri"/>
              </a:defRPr>
            </a:pPr>
            <a:r>
              <a:t>$529K</a:t>
            </a:r>
          </a:p>
        </p:txBody>
      </p:sp>
      <p:sp>
        <p:nvSpPr>
          <p:cNvPr id="111" name="TextBox 110"/>
          <p:cNvSpPr txBox="1"/>
          <p:nvPr/>
        </p:nvSpPr>
        <p:spPr>
          <a:xfrm>
            <a:off x="6254496" y="841248"/>
            <a:ext cx="411480" cy="201168"/>
          </a:xfrm>
          <a:prstGeom prst="rect">
            <a:avLst/>
          </a:prstGeom>
          <a:noFill/>
        </p:spPr>
        <p:txBody>
          <a:bodyPr wrap="none">
            <a:spAutoFit/>
          </a:bodyPr>
          <a:lstStyle/>
          <a:p>
            <a:pPr algn="ctr">
              <a:defRPr sz="850" b="1">
                <a:solidFill>
                  <a:srgbClr val="6B7280"/>
                </a:solidFill>
                <a:latin typeface="Calibri"/>
              </a:defRPr>
            </a:pPr>
            <a:r>
              <a:t>Rank</a:t>
            </a:r>
          </a:p>
        </p:txBody>
      </p:sp>
      <p:sp>
        <p:nvSpPr>
          <p:cNvPr id="112" name="TextBox 111"/>
          <p:cNvSpPr txBox="1"/>
          <p:nvPr/>
        </p:nvSpPr>
        <p:spPr>
          <a:xfrm>
            <a:off x="6665976" y="841248"/>
            <a:ext cx="1920240" cy="201168"/>
          </a:xfrm>
          <a:prstGeom prst="rect">
            <a:avLst/>
          </a:prstGeom>
          <a:noFill/>
        </p:spPr>
        <p:txBody>
          <a:bodyPr wrap="none">
            <a:spAutoFit/>
          </a:bodyPr>
          <a:lstStyle/>
          <a:p>
            <a:pPr algn="l">
              <a:defRPr sz="850" b="1">
                <a:solidFill>
                  <a:srgbClr val="6B7280"/>
                </a:solidFill>
                <a:latin typeface="Calibri"/>
              </a:defRPr>
            </a:pPr>
            <a:r>
              <a:t>Agent</a:t>
            </a:r>
          </a:p>
        </p:txBody>
      </p:sp>
      <p:sp>
        <p:nvSpPr>
          <p:cNvPr id="113" name="TextBox 112"/>
          <p:cNvSpPr txBox="1"/>
          <p:nvPr/>
        </p:nvSpPr>
        <p:spPr>
          <a:xfrm>
            <a:off x="8586216" y="841248"/>
            <a:ext cx="2459736" cy="201168"/>
          </a:xfrm>
          <a:prstGeom prst="rect">
            <a:avLst/>
          </a:prstGeom>
          <a:noFill/>
        </p:spPr>
        <p:txBody>
          <a:bodyPr wrap="none">
            <a:spAutoFit/>
          </a:bodyPr>
          <a:lstStyle/>
          <a:p>
            <a:pPr algn="l">
              <a:defRPr sz="850" b="1">
                <a:solidFill>
                  <a:srgbClr val="6B7280"/>
                </a:solidFill>
                <a:latin typeface="Calibri"/>
              </a:defRPr>
            </a:pPr>
            <a:r>
              <a:t>Agency</a:t>
            </a:r>
          </a:p>
        </p:txBody>
      </p:sp>
      <p:sp>
        <p:nvSpPr>
          <p:cNvPr id="114" name="TextBox 113"/>
          <p:cNvSpPr txBox="1"/>
          <p:nvPr/>
        </p:nvSpPr>
        <p:spPr>
          <a:xfrm>
            <a:off x="11045952" y="841248"/>
            <a:ext cx="914400" cy="201168"/>
          </a:xfrm>
          <a:prstGeom prst="rect">
            <a:avLst/>
          </a:prstGeom>
          <a:noFill/>
        </p:spPr>
        <p:txBody>
          <a:bodyPr wrap="none">
            <a:spAutoFit/>
          </a:bodyPr>
          <a:lstStyle/>
          <a:p>
            <a:pPr algn="ctr">
              <a:defRPr sz="850" b="1">
                <a:solidFill>
                  <a:srgbClr val="6B7280"/>
                </a:solidFill>
                <a:latin typeface="Calibri"/>
              </a:defRPr>
            </a:pPr>
            <a:r>
              <a:t>Q2 GWP</a:t>
            </a:r>
          </a:p>
        </p:txBody>
      </p:sp>
      <p:sp>
        <p:nvSpPr>
          <p:cNvPr id="115" name="Rectangle 114"/>
          <p:cNvSpPr/>
          <p:nvPr/>
        </p:nvSpPr>
        <p:spPr>
          <a:xfrm>
            <a:off x="6254496" y="1042416"/>
            <a:ext cx="5705856"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6254496" y="1078992"/>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254496" y="1097280"/>
            <a:ext cx="411480" cy="237744"/>
          </a:xfrm>
          <a:prstGeom prst="rect">
            <a:avLst/>
          </a:prstGeom>
          <a:noFill/>
        </p:spPr>
        <p:txBody>
          <a:bodyPr wrap="none">
            <a:spAutoFit/>
          </a:bodyPr>
          <a:lstStyle/>
          <a:p>
            <a:pPr algn="ctr">
              <a:defRPr sz="950" b="1">
                <a:solidFill>
                  <a:srgbClr val="6B7280"/>
                </a:solidFill>
                <a:latin typeface="Calibri"/>
              </a:defRPr>
            </a:pPr>
            <a:r>
              <a:t>21</a:t>
            </a:r>
          </a:p>
        </p:txBody>
      </p:sp>
      <p:sp>
        <p:nvSpPr>
          <p:cNvPr id="118" name="TextBox 117"/>
          <p:cNvSpPr txBox="1"/>
          <p:nvPr/>
        </p:nvSpPr>
        <p:spPr>
          <a:xfrm>
            <a:off x="6665976" y="1097280"/>
            <a:ext cx="1920240" cy="237744"/>
          </a:xfrm>
          <a:prstGeom prst="rect">
            <a:avLst/>
          </a:prstGeom>
          <a:noFill/>
        </p:spPr>
        <p:txBody>
          <a:bodyPr wrap="none">
            <a:spAutoFit/>
          </a:bodyPr>
          <a:lstStyle/>
          <a:p>
            <a:pPr algn="l">
              <a:defRPr sz="950" b="1">
                <a:solidFill>
                  <a:srgbClr val="111827"/>
                </a:solidFill>
                <a:latin typeface="Calibri"/>
              </a:defRPr>
            </a:pPr>
            <a:r>
              <a:t>Scott Procops</a:t>
            </a:r>
          </a:p>
        </p:txBody>
      </p:sp>
      <p:sp>
        <p:nvSpPr>
          <p:cNvPr id="119" name="TextBox 118"/>
          <p:cNvSpPr txBox="1"/>
          <p:nvPr/>
        </p:nvSpPr>
        <p:spPr>
          <a:xfrm>
            <a:off x="8586216" y="1097280"/>
            <a:ext cx="2459736" cy="237744"/>
          </a:xfrm>
          <a:prstGeom prst="rect">
            <a:avLst/>
          </a:prstGeom>
          <a:noFill/>
        </p:spPr>
        <p:txBody>
          <a:bodyPr wrap="none">
            <a:spAutoFit/>
          </a:bodyPr>
          <a:lstStyle/>
          <a:p>
            <a:pPr algn="l">
              <a:defRPr sz="950" b="0">
                <a:solidFill>
                  <a:srgbClr val="6B7280"/>
                </a:solidFill>
                <a:latin typeface="Calibri"/>
              </a:defRPr>
            </a:pPr>
            <a:r>
              <a:t>Specialty Coverage Insurance Agenc…</a:t>
            </a:r>
          </a:p>
        </p:txBody>
      </p:sp>
      <p:sp>
        <p:nvSpPr>
          <p:cNvPr id="120" name="TextBox 119"/>
          <p:cNvSpPr txBox="1"/>
          <p:nvPr/>
        </p:nvSpPr>
        <p:spPr>
          <a:xfrm>
            <a:off x="11045952" y="1097280"/>
            <a:ext cx="914400" cy="237744"/>
          </a:xfrm>
          <a:prstGeom prst="rect">
            <a:avLst/>
          </a:prstGeom>
          <a:noFill/>
        </p:spPr>
        <p:txBody>
          <a:bodyPr wrap="none">
            <a:spAutoFit/>
          </a:bodyPr>
          <a:lstStyle/>
          <a:p>
            <a:pPr algn="ctr">
              <a:defRPr sz="950" b="1">
                <a:solidFill>
                  <a:srgbClr val="111827"/>
                </a:solidFill>
                <a:latin typeface="Calibri"/>
              </a:defRPr>
            </a:pPr>
            <a:r>
              <a:t>$512K</a:t>
            </a:r>
          </a:p>
        </p:txBody>
      </p:sp>
      <p:sp>
        <p:nvSpPr>
          <p:cNvPr id="121" name="Rectangle 120"/>
          <p:cNvSpPr/>
          <p:nvPr/>
        </p:nvSpPr>
        <p:spPr>
          <a:xfrm>
            <a:off x="6254496" y="1335024"/>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254496" y="1353312"/>
            <a:ext cx="411480" cy="237744"/>
          </a:xfrm>
          <a:prstGeom prst="rect">
            <a:avLst/>
          </a:prstGeom>
          <a:noFill/>
        </p:spPr>
        <p:txBody>
          <a:bodyPr wrap="none">
            <a:spAutoFit/>
          </a:bodyPr>
          <a:lstStyle/>
          <a:p>
            <a:pPr algn="ctr">
              <a:defRPr sz="950" b="1">
                <a:solidFill>
                  <a:srgbClr val="6B7280"/>
                </a:solidFill>
                <a:latin typeface="Calibri"/>
              </a:defRPr>
            </a:pPr>
            <a:r>
              <a:t>22</a:t>
            </a:r>
          </a:p>
        </p:txBody>
      </p:sp>
      <p:sp>
        <p:nvSpPr>
          <p:cNvPr id="123" name="TextBox 122"/>
          <p:cNvSpPr txBox="1"/>
          <p:nvPr/>
        </p:nvSpPr>
        <p:spPr>
          <a:xfrm>
            <a:off x="6665976" y="1353312"/>
            <a:ext cx="1920240" cy="237744"/>
          </a:xfrm>
          <a:prstGeom prst="rect">
            <a:avLst/>
          </a:prstGeom>
          <a:noFill/>
        </p:spPr>
        <p:txBody>
          <a:bodyPr wrap="none">
            <a:spAutoFit/>
          </a:bodyPr>
          <a:lstStyle/>
          <a:p>
            <a:pPr algn="l">
              <a:defRPr sz="950" b="1">
                <a:solidFill>
                  <a:srgbClr val="111827"/>
                </a:solidFill>
                <a:latin typeface="Calibri"/>
              </a:defRPr>
            </a:pPr>
            <a:r>
              <a:t>Daven Loomba</a:t>
            </a:r>
          </a:p>
        </p:txBody>
      </p:sp>
      <p:sp>
        <p:nvSpPr>
          <p:cNvPr id="124" name="TextBox 123"/>
          <p:cNvSpPr txBox="1"/>
          <p:nvPr/>
        </p:nvSpPr>
        <p:spPr>
          <a:xfrm>
            <a:off x="8586216" y="1353312"/>
            <a:ext cx="2459736" cy="237744"/>
          </a:xfrm>
          <a:prstGeom prst="rect">
            <a:avLst/>
          </a:prstGeom>
          <a:noFill/>
        </p:spPr>
        <p:txBody>
          <a:bodyPr wrap="none">
            <a:spAutoFit/>
          </a:bodyPr>
          <a:lstStyle/>
          <a:p>
            <a:pPr algn="l">
              <a:defRPr sz="950" b="0">
                <a:solidFill>
                  <a:srgbClr val="6B7280"/>
                </a:solidFill>
                <a:latin typeface="Calibri"/>
              </a:defRPr>
            </a:pPr>
            <a:r>
              <a:t>GoldenEra Insurance Agency</a:t>
            </a:r>
          </a:p>
        </p:txBody>
      </p:sp>
      <p:sp>
        <p:nvSpPr>
          <p:cNvPr id="125" name="TextBox 124"/>
          <p:cNvSpPr txBox="1"/>
          <p:nvPr/>
        </p:nvSpPr>
        <p:spPr>
          <a:xfrm>
            <a:off x="11045952" y="1353312"/>
            <a:ext cx="914400" cy="237744"/>
          </a:xfrm>
          <a:prstGeom prst="rect">
            <a:avLst/>
          </a:prstGeom>
          <a:noFill/>
        </p:spPr>
        <p:txBody>
          <a:bodyPr wrap="none">
            <a:spAutoFit/>
          </a:bodyPr>
          <a:lstStyle/>
          <a:p>
            <a:pPr algn="ctr">
              <a:defRPr sz="950" b="1">
                <a:solidFill>
                  <a:srgbClr val="111827"/>
                </a:solidFill>
                <a:latin typeface="Calibri"/>
              </a:defRPr>
            </a:pPr>
            <a:r>
              <a:t>$505K</a:t>
            </a:r>
          </a:p>
        </p:txBody>
      </p:sp>
      <p:sp>
        <p:nvSpPr>
          <p:cNvPr id="126" name="Rectangle 125"/>
          <p:cNvSpPr/>
          <p:nvPr/>
        </p:nvSpPr>
        <p:spPr>
          <a:xfrm>
            <a:off x="6254496" y="1591056"/>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254496" y="1609344"/>
            <a:ext cx="411480" cy="237744"/>
          </a:xfrm>
          <a:prstGeom prst="rect">
            <a:avLst/>
          </a:prstGeom>
          <a:noFill/>
        </p:spPr>
        <p:txBody>
          <a:bodyPr wrap="none">
            <a:spAutoFit/>
          </a:bodyPr>
          <a:lstStyle/>
          <a:p>
            <a:pPr algn="ctr">
              <a:defRPr sz="950" b="1">
                <a:solidFill>
                  <a:srgbClr val="6B7280"/>
                </a:solidFill>
                <a:latin typeface="Calibri"/>
              </a:defRPr>
            </a:pPr>
            <a:r>
              <a:t>23</a:t>
            </a:r>
          </a:p>
        </p:txBody>
      </p:sp>
      <p:sp>
        <p:nvSpPr>
          <p:cNvPr id="128" name="TextBox 127"/>
          <p:cNvSpPr txBox="1"/>
          <p:nvPr/>
        </p:nvSpPr>
        <p:spPr>
          <a:xfrm>
            <a:off x="6665976" y="1609344"/>
            <a:ext cx="1920240" cy="237744"/>
          </a:xfrm>
          <a:prstGeom prst="rect">
            <a:avLst/>
          </a:prstGeom>
          <a:noFill/>
        </p:spPr>
        <p:txBody>
          <a:bodyPr wrap="none">
            <a:spAutoFit/>
          </a:bodyPr>
          <a:lstStyle/>
          <a:p>
            <a:pPr algn="l">
              <a:defRPr sz="950" b="1">
                <a:solidFill>
                  <a:srgbClr val="111827"/>
                </a:solidFill>
                <a:latin typeface="Calibri"/>
              </a:defRPr>
            </a:pPr>
            <a:r>
              <a:t>Koraima Pino</a:t>
            </a:r>
          </a:p>
        </p:txBody>
      </p:sp>
      <p:sp>
        <p:nvSpPr>
          <p:cNvPr id="129" name="TextBox 128"/>
          <p:cNvSpPr txBox="1"/>
          <p:nvPr/>
        </p:nvSpPr>
        <p:spPr>
          <a:xfrm>
            <a:off x="8586216" y="1609344"/>
            <a:ext cx="2459736" cy="237744"/>
          </a:xfrm>
          <a:prstGeom prst="rect">
            <a:avLst/>
          </a:prstGeom>
          <a:noFill/>
        </p:spPr>
        <p:txBody>
          <a:bodyPr wrap="none">
            <a:spAutoFit/>
          </a:bodyPr>
          <a:lstStyle/>
          <a:p>
            <a:pPr algn="l">
              <a:defRPr sz="950" b="0">
                <a:solidFill>
                  <a:srgbClr val="6B7280"/>
                </a:solidFill>
                <a:latin typeface="Calibri"/>
              </a:defRPr>
            </a:pPr>
            <a:r>
              <a:t>Vantage Ins LLC</a:t>
            </a:r>
          </a:p>
        </p:txBody>
      </p:sp>
      <p:sp>
        <p:nvSpPr>
          <p:cNvPr id="130" name="TextBox 129"/>
          <p:cNvSpPr txBox="1"/>
          <p:nvPr/>
        </p:nvSpPr>
        <p:spPr>
          <a:xfrm>
            <a:off x="11045952" y="1609344"/>
            <a:ext cx="914400" cy="237744"/>
          </a:xfrm>
          <a:prstGeom prst="rect">
            <a:avLst/>
          </a:prstGeom>
          <a:noFill/>
        </p:spPr>
        <p:txBody>
          <a:bodyPr wrap="none">
            <a:spAutoFit/>
          </a:bodyPr>
          <a:lstStyle/>
          <a:p>
            <a:pPr algn="ctr">
              <a:defRPr sz="950" b="1">
                <a:solidFill>
                  <a:srgbClr val="111827"/>
                </a:solidFill>
                <a:latin typeface="Calibri"/>
              </a:defRPr>
            </a:pPr>
            <a:r>
              <a:t>$455K</a:t>
            </a:r>
          </a:p>
        </p:txBody>
      </p:sp>
      <p:sp>
        <p:nvSpPr>
          <p:cNvPr id="131" name="Rectangle 130"/>
          <p:cNvSpPr/>
          <p:nvPr/>
        </p:nvSpPr>
        <p:spPr>
          <a:xfrm>
            <a:off x="6254496" y="1847088"/>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254496" y="1865376"/>
            <a:ext cx="411480" cy="237744"/>
          </a:xfrm>
          <a:prstGeom prst="rect">
            <a:avLst/>
          </a:prstGeom>
          <a:noFill/>
        </p:spPr>
        <p:txBody>
          <a:bodyPr wrap="none">
            <a:spAutoFit/>
          </a:bodyPr>
          <a:lstStyle/>
          <a:p>
            <a:pPr algn="ctr">
              <a:defRPr sz="950" b="1">
                <a:solidFill>
                  <a:srgbClr val="6B7280"/>
                </a:solidFill>
                <a:latin typeface="Calibri"/>
              </a:defRPr>
            </a:pPr>
            <a:r>
              <a:t>24</a:t>
            </a:r>
          </a:p>
        </p:txBody>
      </p:sp>
      <p:sp>
        <p:nvSpPr>
          <p:cNvPr id="133" name="TextBox 132"/>
          <p:cNvSpPr txBox="1"/>
          <p:nvPr/>
        </p:nvSpPr>
        <p:spPr>
          <a:xfrm>
            <a:off x="6665976" y="1865376"/>
            <a:ext cx="1920240" cy="237744"/>
          </a:xfrm>
          <a:prstGeom prst="rect">
            <a:avLst/>
          </a:prstGeom>
          <a:noFill/>
        </p:spPr>
        <p:txBody>
          <a:bodyPr wrap="none">
            <a:spAutoFit/>
          </a:bodyPr>
          <a:lstStyle/>
          <a:p>
            <a:pPr algn="l">
              <a:defRPr sz="950" b="1">
                <a:solidFill>
                  <a:srgbClr val="111827"/>
                </a:solidFill>
                <a:latin typeface="Calibri"/>
              </a:defRPr>
            </a:pPr>
            <a:r>
              <a:t>Deepak Goswami</a:t>
            </a:r>
          </a:p>
        </p:txBody>
      </p:sp>
      <p:sp>
        <p:nvSpPr>
          <p:cNvPr id="134" name="TextBox 133"/>
          <p:cNvSpPr txBox="1"/>
          <p:nvPr/>
        </p:nvSpPr>
        <p:spPr>
          <a:xfrm>
            <a:off x="8586216" y="1865376"/>
            <a:ext cx="2459736" cy="237744"/>
          </a:xfrm>
          <a:prstGeom prst="rect">
            <a:avLst/>
          </a:prstGeom>
          <a:noFill/>
        </p:spPr>
        <p:txBody>
          <a:bodyPr wrap="none">
            <a:spAutoFit/>
          </a:bodyPr>
          <a:lstStyle/>
          <a:p>
            <a:pPr algn="l">
              <a:defRPr sz="950" b="0">
                <a:solidFill>
                  <a:srgbClr val="6B7280"/>
                </a:solidFill>
                <a:latin typeface="Calibri"/>
              </a:defRPr>
            </a:pPr>
            <a:r>
              <a:t>A.S.I.A Inc</a:t>
            </a:r>
          </a:p>
        </p:txBody>
      </p:sp>
      <p:sp>
        <p:nvSpPr>
          <p:cNvPr id="135" name="TextBox 134"/>
          <p:cNvSpPr txBox="1"/>
          <p:nvPr/>
        </p:nvSpPr>
        <p:spPr>
          <a:xfrm>
            <a:off x="11045952" y="1865376"/>
            <a:ext cx="914400" cy="237744"/>
          </a:xfrm>
          <a:prstGeom prst="rect">
            <a:avLst/>
          </a:prstGeom>
          <a:noFill/>
        </p:spPr>
        <p:txBody>
          <a:bodyPr wrap="none">
            <a:spAutoFit/>
          </a:bodyPr>
          <a:lstStyle/>
          <a:p>
            <a:pPr algn="ctr">
              <a:defRPr sz="950" b="1">
                <a:solidFill>
                  <a:srgbClr val="111827"/>
                </a:solidFill>
                <a:latin typeface="Calibri"/>
              </a:defRPr>
            </a:pPr>
            <a:r>
              <a:t>$443K</a:t>
            </a:r>
          </a:p>
        </p:txBody>
      </p:sp>
      <p:sp>
        <p:nvSpPr>
          <p:cNvPr id="136" name="Rectangle 135"/>
          <p:cNvSpPr/>
          <p:nvPr/>
        </p:nvSpPr>
        <p:spPr>
          <a:xfrm>
            <a:off x="6254496" y="2103120"/>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254496" y="2121408"/>
            <a:ext cx="411480" cy="237744"/>
          </a:xfrm>
          <a:prstGeom prst="rect">
            <a:avLst/>
          </a:prstGeom>
          <a:noFill/>
        </p:spPr>
        <p:txBody>
          <a:bodyPr wrap="none">
            <a:spAutoFit/>
          </a:bodyPr>
          <a:lstStyle/>
          <a:p>
            <a:pPr algn="ctr">
              <a:defRPr sz="950" b="1">
                <a:solidFill>
                  <a:srgbClr val="6B7280"/>
                </a:solidFill>
                <a:latin typeface="Calibri"/>
              </a:defRPr>
            </a:pPr>
            <a:r>
              <a:t>25</a:t>
            </a:r>
          </a:p>
        </p:txBody>
      </p:sp>
      <p:sp>
        <p:nvSpPr>
          <p:cNvPr id="138" name="TextBox 137"/>
          <p:cNvSpPr txBox="1"/>
          <p:nvPr/>
        </p:nvSpPr>
        <p:spPr>
          <a:xfrm>
            <a:off x="6665976" y="2121408"/>
            <a:ext cx="1920240" cy="237744"/>
          </a:xfrm>
          <a:prstGeom prst="rect">
            <a:avLst/>
          </a:prstGeom>
          <a:noFill/>
        </p:spPr>
        <p:txBody>
          <a:bodyPr wrap="none">
            <a:spAutoFit/>
          </a:bodyPr>
          <a:lstStyle/>
          <a:p>
            <a:pPr algn="l">
              <a:defRPr sz="950" b="1">
                <a:solidFill>
                  <a:srgbClr val="111827"/>
                </a:solidFill>
                <a:latin typeface="Calibri"/>
              </a:defRPr>
            </a:pPr>
            <a:r>
              <a:t>Christian Gomez</a:t>
            </a:r>
          </a:p>
        </p:txBody>
      </p:sp>
      <p:sp>
        <p:nvSpPr>
          <p:cNvPr id="139" name="TextBox 138"/>
          <p:cNvSpPr txBox="1"/>
          <p:nvPr/>
        </p:nvSpPr>
        <p:spPr>
          <a:xfrm>
            <a:off x="8586216" y="2121408"/>
            <a:ext cx="2459736" cy="237744"/>
          </a:xfrm>
          <a:prstGeom prst="rect">
            <a:avLst/>
          </a:prstGeom>
          <a:noFill/>
        </p:spPr>
        <p:txBody>
          <a:bodyPr wrap="none">
            <a:spAutoFit/>
          </a:bodyPr>
          <a:lstStyle/>
          <a:p>
            <a:pPr algn="l">
              <a:defRPr sz="950" b="0">
                <a:solidFill>
                  <a:srgbClr val="6B7280"/>
                </a:solidFill>
                <a:latin typeface="Calibri"/>
              </a:defRPr>
            </a:pPr>
            <a:r>
              <a:t>Your Truck Shield LLC</a:t>
            </a:r>
          </a:p>
        </p:txBody>
      </p:sp>
      <p:sp>
        <p:nvSpPr>
          <p:cNvPr id="140" name="TextBox 139"/>
          <p:cNvSpPr txBox="1"/>
          <p:nvPr/>
        </p:nvSpPr>
        <p:spPr>
          <a:xfrm>
            <a:off x="11045952" y="2121408"/>
            <a:ext cx="914400" cy="237744"/>
          </a:xfrm>
          <a:prstGeom prst="rect">
            <a:avLst/>
          </a:prstGeom>
          <a:noFill/>
        </p:spPr>
        <p:txBody>
          <a:bodyPr wrap="none">
            <a:spAutoFit/>
          </a:bodyPr>
          <a:lstStyle/>
          <a:p>
            <a:pPr algn="ctr">
              <a:defRPr sz="950" b="1">
                <a:solidFill>
                  <a:srgbClr val="111827"/>
                </a:solidFill>
                <a:latin typeface="Calibri"/>
              </a:defRPr>
            </a:pPr>
            <a:r>
              <a:t>$438K</a:t>
            </a:r>
          </a:p>
        </p:txBody>
      </p:sp>
      <p:sp>
        <p:nvSpPr>
          <p:cNvPr id="141" name="Rectangle 140"/>
          <p:cNvSpPr/>
          <p:nvPr/>
        </p:nvSpPr>
        <p:spPr>
          <a:xfrm>
            <a:off x="6254496" y="2359152"/>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4496" y="2377440"/>
            <a:ext cx="411480" cy="237744"/>
          </a:xfrm>
          <a:prstGeom prst="rect">
            <a:avLst/>
          </a:prstGeom>
          <a:noFill/>
        </p:spPr>
        <p:txBody>
          <a:bodyPr wrap="none">
            <a:spAutoFit/>
          </a:bodyPr>
          <a:lstStyle/>
          <a:p>
            <a:pPr algn="ctr">
              <a:defRPr sz="950" b="1">
                <a:solidFill>
                  <a:srgbClr val="6B7280"/>
                </a:solidFill>
                <a:latin typeface="Calibri"/>
              </a:defRPr>
            </a:pPr>
            <a:r>
              <a:t>26</a:t>
            </a:r>
          </a:p>
        </p:txBody>
      </p:sp>
      <p:sp>
        <p:nvSpPr>
          <p:cNvPr id="143" name="TextBox 142"/>
          <p:cNvSpPr txBox="1"/>
          <p:nvPr/>
        </p:nvSpPr>
        <p:spPr>
          <a:xfrm>
            <a:off x="6665976" y="2377440"/>
            <a:ext cx="1920240" cy="237744"/>
          </a:xfrm>
          <a:prstGeom prst="rect">
            <a:avLst/>
          </a:prstGeom>
          <a:noFill/>
        </p:spPr>
        <p:txBody>
          <a:bodyPr wrap="none">
            <a:spAutoFit/>
          </a:bodyPr>
          <a:lstStyle/>
          <a:p>
            <a:pPr algn="l">
              <a:defRPr sz="950" b="1">
                <a:solidFill>
                  <a:srgbClr val="111827"/>
                </a:solidFill>
                <a:latin typeface="Calibri"/>
              </a:defRPr>
            </a:pPr>
            <a:r>
              <a:t>Gayane Yeghiazaryan</a:t>
            </a:r>
          </a:p>
        </p:txBody>
      </p:sp>
      <p:sp>
        <p:nvSpPr>
          <p:cNvPr id="144" name="TextBox 143"/>
          <p:cNvSpPr txBox="1"/>
          <p:nvPr/>
        </p:nvSpPr>
        <p:spPr>
          <a:xfrm>
            <a:off x="8586216" y="2377440"/>
            <a:ext cx="2459736" cy="237744"/>
          </a:xfrm>
          <a:prstGeom prst="rect">
            <a:avLst/>
          </a:prstGeom>
          <a:noFill/>
        </p:spPr>
        <p:txBody>
          <a:bodyPr wrap="none">
            <a:spAutoFit/>
          </a:bodyPr>
          <a:lstStyle/>
          <a:p>
            <a:pPr algn="l">
              <a:defRPr sz="950" b="0">
                <a:solidFill>
                  <a:srgbClr val="6B7280"/>
                </a:solidFill>
                <a:latin typeface="Calibri"/>
              </a:defRPr>
            </a:pPr>
            <a:r>
              <a:t>Limosa Insurance Services Inc</a:t>
            </a:r>
          </a:p>
        </p:txBody>
      </p:sp>
      <p:sp>
        <p:nvSpPr>
          <p:cNvPr id="145" name="TextBox 144"/>
          <p:cNvSpPr txBox="1"/>
          <p:nvPr/>
        </p:nvSpPr>
        <p:spPr>
          <a:xfrm>
            <a:off x="11045952" y="2377440"/>
            <a:ext cx="914400" cy="237744"/>
          </a:xfrm>
          <a:prstGeom prst="rect">
            <a:avLst/>
          </a:prstGeom>
          <a:noFill/>
        </p:spPr>
        <p:txBody>
          <a:bodyPr wrap="none">
            <a:spAutoFit/>
          </a:bodyPr>
          <a:lstStyle/>
          <a:p>
            <a:pPr algn="ctr">
              <a:defRPr sz="950" b="1">
                <a:solidFill>
                  <a:srgbClr val="111827"/>
                </a:solidFill>
                <a:latin typeface="Calibri"/>
              </a:defRPr>
            </a:pPr>
            <a:r>
              <a:t>$427K</a:t>
            </a:r>
          </a:p>
        </p:txBody>
      </p:sp>
      <p:sp>
        <p:nvSpPr>
          <p:cNvPr id="146" name="Rectangle 145"/>
          <p:cNvSpPr/>
          <p:nvPr/>
        </p:nvSpPr>
        <p:spPr>
          <a:xfrm>
            <a:off x="6254496" y="2615184"/>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254496" y="2633472"/>
            <a:ext cx="411480" cy="237744"/>
          </a:xfrm>
          <a:prstGeom prst="rect">
            <a:avLst/>
          </a:prstGeom>
          <a:noFill/>
        </p:spPr>
        <p:txBody>
          <a:bodyPr wrap="none">
            <a:spAutoFit/>
          </a:bodyPr>
          <a:lstStyle/>
          <a:p>
            <a:pPr algn="ctr">
              <a:defRPr sz="950" b="1">
                <a:solidFill>
                  <a:srgbClr val="6B7280"/>
                </a:solidFill>
                <a:latin typeface="Calibri"/>
              </a:defRPr>
            </a:pPr>
            <a:r>
              <a:t>27</a:t>
            </a:r>
          </a:p>
        </p:txBody>
      </p:sp>
      <p:sp>
        <p:nvSpPr>
          <p:cNvPr id="148" name="TextBox 147"/>
          <p:cNvSpPr txBox="1"/>
          <p:nvPr/>
        </p:nvSpPr>
        <p:spPr>
          <a:xfrm>
            <a:off x="6665976" y="2633472"/>
            <a:ext cx="1920240" cy="237744"/>
          </a:xfrm>
          <a:prstGeom prst="rect">
            <a:avLst/>
          </a:prstGeom>
          <a:noFill/>
        </p:spPr>
        <p:txBody>
          <a:bodyPr wrap="none">
            <a:spAutoFit/>
          </a:bodyPr>
          <a:lstStyle/>
          <a:p>
            <a:pPr algn="l">
              <a:defRPr sz="950" b="1">
                <a:solidFill>
                  <a:srgbClr val="111827"/>
                </a:solidFill>
                <a:latin typeface="Calibri"/>
              </a:defRPr>
            </a:pPr>
            <a:r>
              <a:t>Vladimir Tesler</a:t>
            </a:r>
          </a:p>
        </p:txBody>
      </p:sp>
      <p:sp>
        <p:nvSpPr>
          <p:cNvPr id="149" name="TextBox 148"/>
          <p:cNvSpPr txBox="1"/>
          <p:nvPr/>
        </p:nvSpPr>
        <p:spPr>
          <a:xfrm>
            <a:off x="8586216" y="2633472"/>
            <a:ext cx="2459736" cy="237744"/>
          </a:xfrm>
          <a:prstGeom prst="rect">
            <a:avLst/>
          </a:prstGeom>
          <a:noFill/>
        </p:spPr>
        <p:txBody>
          <a:bodyPr wrap="none">
            <a:spAutoFit/>
          </a:bodyPr>
          <a:lstStyle/>
          <a:p>
            <a:pPr algn="l">
              <a:defRPr sz="950" b="0">
                <a:solidFill>
                  <a:srgbClr val="6B7280"/>
                </a:solidFill>
                <a:latin typeface="Calibri"/>
              </a:defRPr>
            </a:pPr>
            <a:r>
              <a:t>Insurance Planet</a:t>
            </a:r>
          </a:p>
        </p:txBody>
      </p:sp>
      <p:sp>
        <p:nvSpPr>
          <p:cNvPr id="150" name="TextBox 149"/>
          <p:cNvSpPr txBox="1"/>
          <p:nvPr/>
        </p:nvSpPr>
        <p:spPr>
          <a:xfrm>
            <a:off x="11045952" y="2633472"/>
            <a:ext cx="914400" cy="237744"/>
          </a:xfrm>
          <a:prstGeom prst="rect">
            <a:avLst/>
          </a:prstGeom>
          <a:noFill/>
        </p:spPr>
        <p:txBody>
          <a:bodyPr wrap="none">
            <a:spAutoFit/>
          </a:bodyPr>
          <a:lstStyle/>
          <a:p>
            <a:pPr algn="ctr">
              <a:defRPr sz="950" b="1">
                <a:solidFill>
                  <a:srgbClr val="111827"/>
                </a:solidFill>
                <a:latin typeface="Calibri"/>
              </a:defRPr>
            </a:pPr>
            <a:r>
              <a:t>$412K</a:t>
            </a:r>
          </a:p>
        </p:txBody>
      </p:sp>
      <p:sp>
        <p:nvSpPr>
          <p:cNvPr id="151" name="Rectangle 150"/>
          <p:cNvSpPr/>
          <p:nvPr/>
        </p:nvSpPr>
        <p:spPr>
          <a:xfrm>
            <a:off x="6254496" y="2871216"/>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54496" y="2889504"/>
            <a:ext cx="411480" cy="237744"/>
          </a:xfrm>
          <a:prstGeom prst="rect">
            <a:avLst/>
          </a:prstGeom>
          <a:noFill/>
        </p:spPr>
        <p:txBody>
          <a:bodyPr wrap="none">
            <a:spAutoFit/>
          </a:bodyPr>
          <a:lstStyle/>
          <a:p>
            <a:pPr algn="ctr">
              <a:defRPr sz="950" b="1">
                <a:solidFill>
                  <a:srgbClr val="6B7280"/>
                </a:solidFill>
                <a:latin typeface="Calibri"/>
              </a:defRPr>
            </a:pPr>
            <a:r>
              <a:t>28</a:t>
            </a:r>
          </a:p>
        </p:txBody>
      </p:sp>
      <p:sp>
        <p:nvSpPr>
          <p:cNvPr id="153" name="TextBox 152"/>
          <p:cNvSpPr txBox="1"/>
          <p:nvPr/>
        </p:nvSpPr>
        <p:spPr>
          <a:xfrm>
            <a:off x="6665976" y="2889504"/>
            <a:ext cx="1920240" cy="237744"/>
          </a:xfrm>
          <a:prstGeom prst="rect">
            <a:avLst/>
          </a:prstGeom>
          <a:noFill/>
        </p:spPr>
        <p:txBody>
          <a:bodyPr wrap="none">
            <a:spAutoFit/>
          </a:bodyPr>
          <a:lstStyle/>
          <a:p>
            <a:pPr algn="l">
              <a:defRPr sz="950" b="1">
                <a:solidFill>
                  <a:srgbClr val="111827"/>
                </a:solidFill>
                <a:latin typeface="Calibri"/>
              </a:defRPr>
            </a:pPr>
            <a:r>
              <a:t>Raul Fernandez</a:t>
            </a:r>
          </a:p>
        </p:txBody>
      </p:sp>
      <p:sp>
        <p:nvSpPr>
          <p:cNvPr id="154" name="TextBox 153"/>
          <p:cNvSpPr txBox="1"/>
          <p:nvPr/>
        </p:nvSpPr>
        <p:spPr>
          <a:xfrm>
            <a:off x="8586216" y="2889504"/>
            <a:ext cx="2459736" cy="237744"/>
          </a:xfrm>
          <a:prstGeom prst="rect">
            <a:avLst/>
          </a:prstGeom>
          <a:noFill/>
        </p:spPr>
        <p:txBody>
          <a:bodyPr wrap="none">
            <a:spAutoFit/>
          </a:bodyPr>
          <a:lstStyle/>
          <a:p>
            <a:pPr algn="l">
              <a:defRPr sz="950" b="0">
                <a:solidFill>
                  <a:srgbClr val="6B7280"/>
                </a:solidFill>
                <a:latin typeface="Calibri"/>
              </a:defRPr>
            </a:pPr>
            <a:r>
              <a:t>Ewall Insurance Company</a:t>
            </a:r>
          </a:p>
        </p:txBody>
      </p:sp>
      <p:sp>
        <p:nvSpPr>
          <p:cNvPr id="155" name="TextBox 154"/>
          <p:cNvSpPr txBox="1"/>
          <p:nvPr/>
        </p:nvSpPr>
        <p:spPr>
          <a:xfrm>
            <a:off x="11045952" y="2889504"/>
            <a:ext cx="914400" cy="237744"/>
          </a:xfrm>
          <a:prstGeom prst="rect">
            <a:avLst/>
          </a:prstGeom>
          <a:noFill/>
        </p:spPr>
        <p:txBody>
          <a:bodyPr wrap="none">
            <a:spAutoFit/>
          </a:bodyPr>
          <a:lstStyle/>
          <a:p>
            <a:pPr algn="ctr">
              <a:defRPr sz="950" b="1">
                <a:solidFill>
                  <a:srgbClr val="111827"/>
                </a:solidFill>
                <a:latin typeface="Calibri"/>
              </a:defRPr>
            </a:pPr>
            <a:r>
              <a:t>$408K</a:t>
            </a:r>
          </a:p>
        </p:txBody>
      </p:sp>
      <p:sp>
        <p:nvSpPr>
          <p:cNvPr id="156" name="Rectangle 155"/>
          <p:cNvSpPr/>
          <p:nvPr/>
        </p:nvSpPr>
        <p:spPr>
          <a:xfrm>
            <a:off x="6254496" y="3127248"/>
            <a:ext cx="5705856" cy="256032"/>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6254496" y="3145536"/>
            <a:ext cx="411480" cy="237744"/>
          </a:xfrm>
          <a:prstGeom prst="rect">
            <a:avLst/>
          </a:prstGeom>
          <a:noFill/>
        </p:spPr>
        <p:txBody>
          <a:bodyPr wrap="none">
            <a:spAutoFit/>
          </a:bodyPr>
          <a:lstStyle/>
          <a:p>
            <a:pPr algn="ctr">
              <a:defRPr sz="950" b="1">
                <a:solidFill>
                  <a:srgbClr val="6B7280"/>
                </a:solidFill>
                <a:latin typeface="Calibri"/>
              </a:defRPr>
            </a:pPr>
            <a:r>
              <a:t>29</a:t>
            </a:r>
          </a:p>
        </p:txBody>
      </p:sp>
      <p:sp>
        <p:nvSpPr>
          <p:cNvPr id="158" name="TextBox 157"/>
          <p:cNvSpPr txBox="1"/>
          <p:nvPr/>
        </p:nvSpPr>
        <p:spPr>
          <a:xfrm>
            <a:off x="6665976" y="3145536"/>
            <a:ext cx="1920240" cy="237744"/>
          </a:xfrm>
          <a:prstGeom prst="rect">
            <a:avLst/>
          </a:prstGeom>
          <a:noFill/>
        </p:spPr>
        <p:txBody>
          <a:bodyPr wrap="none">
            <a:spAutoFit/>
          </a:bodyPr>
          <a:lstStyle/>
          <a:p>
            <a:pPr algn="l">
              <a:defRPr sz="950" b="1">
                <a:solidFill>
                  <a:srgbClr val="111827"/>
                </a:solidFill>
                <a:latin typeface="Calibri"/>
              </a:defRPr>
            </a:pPr>
            <a:r>
              <a:t>Arundeep Singh</a:t>
            </a:r>
          </a:p>
        </p:txBody>
      </p:sp>
      <p:sp>
        <p:nvSpPr>
          <p:cNvPr id="159" name="TextBox 158"/>
          <p:cNvSpPr txBox="1"/>
          <p:nvPr/>
        </p:nvSpPr>
        <p:spPr>
          <a:xfrm>
            <a:off x="8586216" y="3145536"/>
            <a:ext cx="2459736" cy="237744"/>
          </a:xfrm>
          <a:prstGeom prst="rect">
            <a:avLst/>
          </a:prstGeom>
          <a:noFill/>
        </p:spPr>
        <p:txBody>
          <a:bodyPr wrap="none">
            <a:spAutoFit/>
          </a:bodyPr>
          <a:lstStyle/>
          <a:p>
            <a:pPr algn="l">
              <a:defRPr sz="950" b="0">
                <a:solidFill>
                  <a:srgbClr val="6B7280"/>
                </a:solidFill>
                <a:latin typeface="Calibri"/>
              </a:defRPr>
            </a:pPr>
            <a:r>
              <a:t>Jagdeep Singh Insurance Agency, In…</a:t>
            </a:r>
          </a:p>
        </p:txBody>
      </p:sp>
      <p:sp>
        <p:nvSpPr>
          <p:cNvPr id="160" name="TextBox 159"/>
          <p:cNvSpPr txBox="1"/>
          <p:nvPr/>
        </p:nvSpPr>
        <p:spPr>
          <a:xfrm>
            <a:off x="11045952" y="3145536"/>
            <a:ext cx="914400" cy="237744"/>
          </a:xfrm>
          <a:prstGeom prst="rect">
            <a:avLst/>
          </a:prstGeom>
          <a:noFill/>
        </p:spPr>
        <p:txBody>
          <a:bodyPr wrap="none">
            <a:spAutoFit/>
          </a:bodyPr>
          <a:lstStyle/>
          <a:p>
            <a:pPr algn="ctr">
              <a:defRPr sz="950" b="1">
                <a:solidFill>
                  <a:srgbClr val="111827"/>
                </a:solidFill>
                <a:latin typeface="Calibri"/>
              </a:defRPr>
            </a:pPr>
            <a:r>
              <a:t>$407K</a:t>
            </a:r>
          </a:p>
        </p:txBody>
      </p:sp>
      <p:sp>
        <p:nvSpPr>
          <p:cNvPr id="161" name="Rectangle 160"/>
          <p:cNvSpPr/>
          <p:nvPr/>
        </p:nvSpPr>
        <p:spPr>
          <a:xfrm>
            <a:off x="6254496" y="3383280"/>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254496" y="3401568"/>
            <a:ext cx="411480" cy="237744"/>
          </a:xfrm>
          <a:prstGeom prst="rect">
            <a:avLst/>
          </a:prstGeom>
          <a:noFill/>
        </p:spPr>
        <p:txBody>
          <a:bodyPr wrap="none">
            <a:spAutoFit/>
          </a:bodyPr>
          <a:lstStyle/>
          <a:p>
            <a:pPr algn="ctr">
              <a:defRPr sz="950" b="1">
                <a:solidFill>
                  <a:srgbClr val="6B7280"/>
                </a:solidFill>
                <a:latin typeface="Calibri"/>
              </a:defRPr>
            </a:pPr>
            <a:r>
              <a:t>30</a:t>
            </a:r>
          </a:p>
        </p:txBody>
      </p:sp>
      <p:sp>
        <p:nvSpPr>
          <p:cNvPr id="163" name="TextBox 162"/>
          <p:cNvSpPr txBox="1"/>
          <p:nvPr/>
        </p:nvSpPr>
        <p:spPr>
          <a:xfrm>
            <a:off x="6665976" y="3401568"/>
            <a:ext cx="1920240" cy="237744"/>
          </a:xfrm>
          <a:prstGeom prst="rect">
            <a:avLst/>
          </a:prstGeom>
          <a:noFill/>
        </p:spPr>
        <p:txBody>
          <a:bodyPr wrap="none">
            <a:spAutoFit/>
          </a:bodyPr>
          <a:lstStyle/>
          <a:p>
            <a:pPr algn="l">
              <a:defRPr sz="950" b="1">
                <a:solidFill>
                  <a:srgbClr val="111827"/>
                </a:solidFill>
                <a:latin typeface="Calibri"/>
              </a:defRPr>
            </a:pPr>
            <a:r>
              <a:t>Daliborka Savovic</a:t>
            </a:r>
          </a:p>
        </p:txBody>
      </p:sp>
      <p:sp>
        <p:nvSpPr>
          <p:cNvPr id="164" name="TextBox 163"/>
          <p:cNvSpPr txBox="1"/>
          <p:nvPr/>
        </p:nvSpPr>
        <p:spPr>
          <a:xfrm>
            <a:off x="8586216" y="3401568"/>
            <a:ext cx="2459736" cy="237744"/>
          </a:xfrm>
          <a:prstGeom prst="rect">
            <a:avLst/>
          </a:prstGeom>
          <a:noFill/>
        </p:spPr>
        <p:txBody>
          <a:bodyPr wrap="none">
            <a:spAutoFit/>
          </a:bodyPr>
          <a:lstStyle/>
          <a:p>
            <a:pPr algn="l">
              <a:defRPr sz="950" b="0">
                <a:solidFill>
                  <a:srgbClr val="6B7280"/>
                </a:solidFill>
                <a:latin typeface="Calibri"/>
              </a:defRPr>
            </a:pPr>
            <a:r>
              <a:t>Alpha Trucking Insurance Agency In…</a:t>
            </a:r>
          </a:p>
        </p:txBody>
      </p:sp>
      <p:sp>
        <p:nvSpPr>
          <p:cNvPr id="165" name="TextBox 164"/>
          <p:cNvSpPr txBox="1"/>
          <p:nvPr/>
        </p:nvSpPr>
        <p:spPr>
          <a:xfrm>
            <a:off x="11045952" y="3401568"/>
            <a:ext cx="914400" cy="237744"/>
          </a:xfrm>
          <a:prstGeom prst="rect">
            <a:avLst/>
          </a:prstGeom>
          <a:noFill/>
        </p:spPr>
        <p:txBody>
          <a:bodyPr wrap="none">
            <a:spAutoFit/>
          </a:bodyPr>
          <a:lstStyle/>
          <a:p>
            <a:pPr algn="ctr">
              <a:defRPr sz="950" b="1">
                <a:solidFill>
                  <a:srgbClr val="111827"/>
                </a:solidFill>
                <a:latin typeface="Calibri"/>
              </a:defRPr>
            </a:pPr>
            <a:r>
              <a:t>$396K</a:t>
            </a:r>
          </a:p>
        </p:txBody>
      </p:sp>
      <p:sp>
        <p:nvSpPr>
          <p:cNvPr id="166" name="Rectangle 165"/>
          <p:cNvSpPr/>
          <p:nvPr/>
        </p:nvSpPr>
        <p:spPr>
          <a:xfrm>
            <a:off x="6254496" y="3639312"/>
            <a:ext cx="5705856" cy="256032"/>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6254496" y="3657600"/>
            <a:ext cx="411480" cy="237744"/>
          </a:xfrm>
          <a:prstGeom prst="rect">
            <a:avLst/>
          </a:prstGeom>
          <a:noFill/>
        </p:spPr>
        <p:txBody>
          <a:bodyPr wrap="none">
            <a:spAutoFit/>
          </a:bodyPr>
          <a:lstStyle/>
          <a:p>
            <a:pPr algn="ctr">
              <a:defRPr sz="950" b="1">
                <a:solidFill>
                  <a:srgbClr val="6B7280"/>
                </a:solidFill>
                <a:latin typeface="Calibri"/>
              </a:defRPr>
            </a:pPr>
            <a:r>
              <a:t>31</a:t>
            </a:r>
          </a:p>
        </p:txBody>
      </p:sp>
      <p:sp>
        <p:nvSpPr>
          <p:cNvPr id="168" name="TextBox 167"/>
          <p:cNvSpPr txBox="1"/>
          <p:nvPr/>
        </p:nvSpPr>
        <p:spPr>
          <a:xfrm>
            <a:off x="6665976" y="3657600"/>
            <a:ext cx="1920240" cy="237744"/>
          </a:xfrm>
          <a:prstGeom prst="rect">
            <a:avLst/>
          </a:prstGeom>
          <a:noFill/>
        </p:spPr>
        <p:txBody>
          <a:bodyPr wrap="none">
            <a:spAutoFit/>
          </a:bodyPr>
          <a:lstStyle/>
          <a:p>
            <a:pPr algn="l">
              <a:defRPr sz="950" b="1">
                <a:solidFill>
                  <a:srgbClr val="111827"/>
                </a:solidFill>
                <a:latin typeface="Calibri"/>
              </a:defRPr>
            </a:pPr>
            <a:r>
              <a:t>Lynda Inderjeet</a:t>
            </a:r>
          </a:p>
        </p:txBody>
      </p:sp>
      <p:sp>
        <p:nvSpPr>
          <p:cNvPr id="169" name="TextBox 168"/>
          <p:cNvSpPr txBox="1"/>
          <p:nvPr/>
        </p:nvSpPr>
        <p:spPr>
          <a:xfrm>
            <a:off x="8586216" y="3657600"/>
            <a:ext cx="2459736" cy="237744"/>
          </a:xfrm>
          <a:prstGeom prst="rect">
            <a:avLst/>
          </a:prstGeom>
          <a:noFill/>
        </p:spPr>
        <p:txBody>
          <a:bodyPr wrap="none">
            <a:spAutoFit/>
          </a:bodyPr>
          <a:lstStyle/>
          <a:p>
            <a:pPr algn="l">
              <a:defRPr sz="950" b="0">
                <a:solidFill>
                  <a:srgbClr val="6B7280"/>
                </a:solidFill>
                <a:latin typeface="Calibri"/>
              </a:defRPr>
            </a:pPr>
            <a:r>
              <a:t>R-T Specialty, LLC</a:t>
            </a:r>
          </a:p>
        </p:txBody>
      </p:sp>
      <p:sp>
        <p:nvSpPr>
          <p:cNvPr id="170" name="TextBox 169"/>
          <p:cNvSpPr txBox="1"/>
          <p:nvPr/>
        </p:nvSpPr>
        <p:spPr>
          <a:xfrm>
            <a:off x="11045952" y="3657600"/>
            <a:ext cx="914400" cy="237744"/>
          </a:xfrm>
          <a:prstGeom prst="rect">
            <a:avLst/>
          </a:prstGeom>
          <a:noFill/>
        </p:spPr>
        <p:txBody>
          <a:bodyPr wrap="none">
            <a:spAutoFit/>
          </a:bodyPr>
          <a:lstStyle/>
          <a:p>
            <a:pPr algn="ctr">
              <a:defRPr sz="950" b="1">
                <a:solidFill>
                  <a:srgbClr val="111827"/>
                </a:solidFill>
                <a:latin typeface="Calibri"/>
              </a:defRPr>
            </a:pPr>
            <a:r>
              <a:t>$388K</a:t>
            </a:r>
          </a:p>
        </p:txBody>
      </p:sp>
      <p:sp>
        <p:nvSpPr>
          <p:cNvPr id="171" name="Rectangle 170"/>
          <p:cNvSpPr/>
          <p:nvPr/>
        </p:nvSpPr>
        <p:spPr>
          <a:xfrm>
            <a:off x="6254496" y="3895344"/>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254496" y="3913632"/>
            <a:ext cx="411480" cy="237744"/>
          </a:xfrm>
          <a:prstGeom prst="rect">
            <a:avLst/>
          </a:prstGeom>
          <a:noFill/>
        </p:spPr>
        <p:txBody>
          <a:bodyPr wrap="none">
            <a:spAutoFit/>
          </a:bodyPr>
          <a:lstStyle/>
          <a:p>
            <a:pPr algn="ctr">
              <a:defRPr sz="950" b="1">
                <a:solidFill>
                  <a:srgbClr val="6B7280"/>
                </a:solidFill>
                <a:latin typeface="Calibri"/>
              </a:defRPr>
            </a:pPr>
            <a:r>
              <a:t>32</a:t>
            </a:r>
          </a:p>
        </p:txBody>
      </p:sp>
      <p:sp>
        <p:nvSpPr>
          <p:cNvPr id="173" name="TextBox 172"/>
          <p:cNvSpPr txBox="1"/>
          <p:nvPr/>
        </p:nvSpPr>
        <p:spPr>
          <a:xfrm>
            <a:off x="6665976" y="3913632"/>
            <a:ext cx="1920240" cy="237744"/>
          </a:xfrm>
          <a:prstGeom prst="rect">
            <a:avLst/>
          </a:prstGeom>
          <a:noFill/>
        </p:spPr>
        <p:txBody>
          <a:bodyPr wrap="none">
            <a:spAutoFit/>
          </a:bodyPr>
          <a:lstStyle/>
          <a:p>
            <a:pPr algn="l">
              <a:defRPr sz="950" b="1">
                <a:solidFill>
                  <a:srgbClr val="111827"/>
                </a:solidFill>
                <a:latin typeface="Calibri"/>
              </a:defRPr>
            </a:pPr>
            <a:r>
              <a:t>Venizelos Papadopulos</a:t>
            </a:r>
          </a:p>
        </p:txBody>
      </p:sp>
      <p:sp>
        <p:nvSpPr>
          <p:cNvPr id="174" name="TextBox 173"/>
          <p:cNvSpPr txBox="1"/>
          <p:nvPr/>
        </p:nvSpPr>
        <p:spPr>
          <a:xfrm>
            <a:off x="8586216" y="3913632"/>
            <a:ext cx="2459736" cy="237744"/>
          </a:xfrm>
          <a:prstGeom prst="rect">
            <a:avLst/>
          </a:prstGeom>
          <a:noFill/>
        </p:spPr>
        <p:txBody>
          <a:bodyPr wrap="none">
            <a:spAutoFit/>
          </a:bodyPr>
          <a:lstStyle/>
          <a:p>
            <a:pPr algn="l">
              <a:defRPr sz="950" b="0">
                <a:solidFill>
                  <a:srgbClr val="6B7280"/>
                </a:solidFill>
                <a:latin typeface="Calibri"/>
              </a:defRPr>
            </a:pPr>
            <a:r>
              <a:t>Exclusive Financial Services, Inc</a:t>
            </a:r>
          </a:p>
        </p:txBody>
      </p:sp>
      <p:sp>
        <p:nvSpPr>
          <p:cNvPr id="175" name="TextBox 174"/>
          <p:cNvSpPr txBox="1"/>
          <p:nvPr/>
        </p:nvSpPr>
        <p:spPr>
          <a:xfrm>
            <a:off x="11045952" y="3913632"/>
            <a:ext cx="914400" cy="237744"/>
          </a:xfrm>
          <a:prstGeom prst="rect">
            <a:avLst/>
          </a:prstGeom>
          <a:noFill/>
        </p:spPr>
        <p:txBody>
          <a:bodyPr wrap="none">
            <a:spAutoFit/>
          </a:bodyPr>
          <a:lstStyle/>
          <a:p>
            <a:pPr algn="ctr">
              <a:defRPr sz="950" b="1">
                <a:solidFill>
                  <a:srgbClr val="111827"/>
                </a:solidFill>
                <a:latin typeface="Calibri"/>
              </a:defRPr>
            </a:pPr>
            <a:r>
              <a:t>$380K</a:t>
            </a:r>
          </a:p>
        </p:txBody>
      </p:sp>
      <p:sp>
        <p:nvSpPr>
          <p:cNvPr id="176" name="Rectangle 175"/>
          <p:cNvSpPr/>
          <p:nvPr/>
        </p:nvSpPr>
        <p:spPr>
          <a:xfrm>
            <a:off x="6254496" y="4151376"/>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254496" y="4169664"/>
            <a:ext cx="411480" cy="237744"/>
          </a:xfrm>
          <a:prstGeom prst="rect">
            <a:avLst/>
          </a:prstGeom>
          <a:noFill/>
        </p:spPr>
        <p:txBody>
          <a:bodyPr wrap="none">
            <a:spAutoFit/>
          </a:bodyPr>
          <a:lstStyle/>
          <a:p>
            <a:pPr algn="ctr">
              <a:defRPr sz="950" b="1">
                <a:solidFill>
                  <a:srgbClr val="6B7280"/>
                </a:solidFill>
                <a:latin typeface="Calibri"/>
              </a:defRPr>
            </a:pPr>
            <a:r>
              <a:t>33</a:t>
            </a:r>
          </a:p>
        </p:txBody>
      </p:sp>
      <p:sp>
        <p:nvSpPr>
          <p:cNvPr id="178" name="TextBox 177"/>
          <p:cNvSpPr txBox="1"/>
          <p:nvPr/>
        </p:nvSpPr>
        <p:spPr>
          <a:xfrm>
            <a:off x="6665976" y="4169664"/>
            <a:ext cx="1920240" cy="237744"/>
          </a:xfrm>
          <a:prstGeom prst="rect">
            <a:avLst/>
          </a:prstGeom>
          <a:noFill/>
        </p:spPr>
        <p:txBody>
          <a:bodyPr wrap="none">
            <a:spAutoFit/>
          </a:bodyPr>
          <a:lstStyle/>
          <a:p>
            <a:pPr algn="l">
              <a:defRPr sz="950" b="1">
                <a:solidFill>
                  <a:srgbClr val="111827"/>
                </a:solidFill>
                <a:latin typeface="Calibri"/>
              </a:defRPr>
            </a:pPr>
            <a:r>
              <a:t>Inderjit Singh</a:t>
            </a:r>
          </a:p>
        </p:txBody>
      </p:sp>
      <p:sp>
        <p:nvSpPr>
          <p:cNvPr id="179" name="TextBox 178"/>
          <p:cNvSpPr txBox="1"/>
          <p:nvPr/>
        </p:nvSpPr>
        <p:spPr>
          <a:xfrm>
            <a:off x="8586216" y="4169664"/>
            <a:ext cx="2459736" cy="237744"/>
          </a:xfrm>
          <a:prstGeom prst="rect">
            <a:avLst/>
          </a:prstGeom>
          <a:noFill/>
        </p:spPr>
        <p:txBody>
          <a:bodyPr wrap="none">
            <a:spAutoFit/>
          </a:bodyPr>
          <a:lstStyle/>
          <a:p>
            <a:pPr algn="l">
              <a:defRPr sz="950" b="0">
                <a:solidFill>
                  <a:srgbClr val="6B7280"/>
                </a:solidFill>
                <a:latin typeface="Calibri"/>
              </a:defRPr>
            </a:pPr>
            <a:r>
              <a:t>American Insurance Agency LLC</a:t>
            </a:r>
          </a:p>
        </p:txBody>
      </p:sp>
      <p:sp>
        <p:nvSpPr>
          <p:cNvPr id="180" name="TextBox 179"/>
          <p:cNvSpPr txBox="1"/>
          <p:nvPr/>
        </p:nvSpPr>
        <p:spPr>
          <a:xfrm>
            <a:off x="11045952" y="4169664"/>
            <a:ext cx="914400" cy="237744"/>
          </a:xfrm>
          <a:prstGeom prst="rect">
            <a:avLst/>
          </a:prstGeom>
          <a:noFill/>
        </p:spPr>
        <p:txBody>
          <a:bodyPr wrap="none">
            <a:spAutoFit/>
          </a:bodyPr>
          <a:lstStyle/>
          <a:p>
            <a:pPr algn="ctr">
              <a:defRPr sz="950" b="1">
                <a:solidFill>
                  <a:srgbClr val="111827"/>
                </a:solidFill>
                <a:latin typeface="Calibri"/>
              </a:defRPr>
            </a:pPr>
            <a:r>
              <a:t>$375K</a:t>
            </a:r>
          </a:p>
        </p:txBody>
      </p:sp>
      <p:sp>
        <p:nvSpPr>
          <p:cNvPr id="181" name="Rectangle 180"/>
          <p:cNvSpPr/>
          <p:nvPr/>
        </p:nvSpPr>
        <p:spPr>
          <a:xfrm>
            <a:off x="6254496" y="4407408"/>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6254496" y="4425696"/>
            <a:ext cx="411480" cy="237744"/>
          </a:xfrm>
          <a:prstGeom prst="rect">
            <a:avLst/>
          </a:prstGeom>
          <a:noFill/>
        </p:spPr>
        <p:txBody>
          <a:bodyPr wrap="none">
            <a:spAutoFit/>
          </a:bodyPr>
          <a:lstStyle/>
          <a:p>
            <a:pPr algn="ctr">
              <a:defRPr sz="950" b="1">
                <a:solidFill>
                  <a:srgbClr val="6B7280"/>
                </a:solidFill>
                <a:latin typeface="Calibri"/>
              </a:defRPr>
            </a:pPr>
            <a:r>
              <a:t>34</a:t>
            </a:r>
          </a:p>
        </p:txBody>
      </p:sp>
      <p:sp>
        <p:nvSpPr>
          <p:cNvPr id="183" name="TextBox 182"/>
          <p:cNvSpPr txBox="1"/>
          <p:nvPr/>
        </p:nvSpPr>
        <p:spPr>
          <a:xfrm>
            <a:off x="6665976" y="4425696"/>
            <a:ext cx="1920240" cy="237744"/>
          </a:xfrm>
          <a:prstGeom prst="rect">
            <a:avLst/>
          </a:prstGeom>
          <a:noFill/>
        </p:spPr>
        <p:txBody>
          <a:bodyPr wrap="none">
            <a:spAutoFit/>
          </a:bodyPr>
          <a:lstStyle/>
          <a:p>
            <a:pPr algn="l">
              <a:defRPr sz="950" b="1">
                <a:solidFill>
                  <a:srgbClr val="111827"/>
                </a:solidFill>
                <a:latin typeface="Calibri"/>
              </a:defRPr>
            </a:pPr>
            <a:r>
              <a:t>Michael Su</a:t>
            </a:r>
          </a:p>
        </p:txBody>
      </p:sp>
      <p:sp>
        <p:nvSpPr>
          <p:cNvPr id="184" name="TextBox 183"/>
          <p:cNvSpPr txBox="1"/>
          <p:nvPr/>
        </p:nvSpPr>
        <p:spPr>
          <a:xfrm>
            <a:off x="8586216" y="4425696"/>
            <a:ext cx="2459736" cy="237744"/>
          </a:xfrm>
          <a:prstGeom prst="rect">
            <a:avLst/>
          </a:prstGeom>
          <a:noFill/>
        </p:spPr>
        <p:txBody>
          <a:bodyPr wrap="none">
            <a:spAutoFit/>
          </a:bodyPr>
          <a:lstStyle/>
          <a:p>
            <a:pPr algn="l">
              <a:defRPr sz="950" b="0">
                <a:solidFill>
                  <a:srgbClr val="6B7280"/>
                </a:solidFill>
                <a:latin typeface="Calibri"/>
              </a:defRPr>
            </a:pPr>
            <a:r>
              <a:t>Jtc Insurance Agency, Inc.</a:t>
            </a:r>
          </a:p>
        </p:txBody>
      </p:sp>
      <p:sp>
        <p:nvSpPr>
          <p:cNvPr id="185" name="TextBox 184"/>
          <p:cNvSpPr txBox="1"/>
          <p:nvPr/>
        </p:nvSpPr>
        <p:spPr>
          <a:xfrm>
            <a:off x="11045952" y="4425696"/>
            <a:ext cx="914400" cy="237744"/>
          </a:xfrm>
          <a:prstGeom prst="rect">
            <a:avLst/>
          </a:prstGeom>
          <a:noFill/>
        </p:spPr>
        <p:txBody>
          <a:bodyPr wrap="none">
            <a:spAutoFit/>
          </a:bodyPr>
          <a:lstStyle/>
          <a:p>
            <a:pPr algn="ctr">
              <a:defRPr sz="950" b="1">
                <a:solidFill>
                  <a:srgbClr val="111827"/>
                </a:solidFill>
                <a:latin typeface="Calibri"/>
              </a:defRPr>
            </a:pPr>
            <a:r>
              <a:t>$368K</a:t>
            </a:r>
          </a:p>
        </p:txBody>
      </p:sp>
      <p:sp>
        <p:nvSpPr>
          <p:cNvPr id="186" name="Rectangle 185"/>
          <p:cNvSpPr/>
          <p:nvPr/>
        </p:nvSpPr>
        <p:spPr>
          <a:xfrm>
            <a:off x="6254496" y="4663440"/>
            <a:ext cx="5705856" cy="256032"/>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254496" y="4681728"/>
            <a:ext cx="411480" cy="237744"/>
          </a:xfrm>
          <a:prstGeom prst="rect">
            <a:avLst/>
          </a:prstGeom>
          <a:noFill/>
        </p:spPr>
        <p:txBody>
          <a:bodyPr wrap="none">
            <a:spAutoFit/>
          </a:bodyPr>
          <a:lstStyle/>
          <a:p>
            <a:pPr algn="ctr">
              <a:defRPr sz="950" b="1">
                <a:solidFill>
                  <a:srgbClr val="6B7280"/>
                </a:solidFill>
                <a:latin typeface="Calibri"/>
              </a:defRPr>
            </a:pPr>
            <a:r>
              <a:t>35</a:t>
            </a:r>
          </a:p>
        </p:txBody>
      </p:sp>
      <p:sp>
        <p:nvSpPr>
          <p:cNvPr id="188" name="TextBox 187"/>
          <p:cNvSpPr txBox="1"/>
          <p:nvPr/>
        </p:nvSpPr>
        <p:spPr>
          <a:xfrm>
            <a:off x="6665976" y="4681728"/>
            <a:ext cx="1920240" cy="237744"/>
          </a:xfrm>
          <a:prstGeom prst="rect">
            <a:avLst/>
          </a:prstGeom>
          <a:noFill/>
        </p:spPr>
        <p:txBody>
          <a:bodyPr wrap="none">
            <a:spAutoFit/>
          </a:bodyPr>
          <a:lstStyle/>
          <a:p>
            <a:pPr algn="l">
              <a:defRPr sz="950" b="1">
                <a:solidFill>
                  <a:srgbClr val="111827"/>
                </a:solidFill>
                <a:latin typeface="Calibri"/>
              </a:defRPr>
            </a:pPr>
            <a:r>
              <a:t>Elena Tchernogorova</a:t>
            </a:r>
          </a:p>
        </p:txBody>
      </p:sp>
      <p:sp>
        <p:nvSpPr>
          <p:cNvPr id="189" name="TextBox 188"/>
          <p:cNvSpPr txBox="1"/>
          <p:nvPr/>
        </p:nvSpPr>
        <p:spPr>
          <a:xfrm>
            <a:off x="8586216" y="4681728"/>
            <a:ext cx="2459736" cy="237744"/>
          </a:xfrm>
          <a:prstGeom prst="rect">
            <a:avLst/>
          </a:prstGeom>
          <a:noFill/>
        </p:spPr>
        <p:txBody>
          <a:bodyPr wrap="none">
            <a:spAutoFit/>
          </a:bodyPr>
          <a:lstStyle/>
          <a:p>
            <a:pPr algn="l">
              <a:defRPr sz="950" b="0">
                <a:solidFill>
                  <a:srgbClr val="6B7280"/>
                </a:solidFill>
                <a:latin typeface="Calibri"/>
              </a:defRPr>
            </a:pPr>
            <a:r>
              <a:t>First Connect Insurance</a:t>
            </a:r>
          </a:p>
        </p:txBody>
      </p:sp>
      <p:sp>
        <p:nvSpPr>
          <p:cNvPr id="190" name="TextBox 189"/>
          <p:cNvSpPr txBox="1"/>
          <p:nvPr/>
        </p:nvSpPr>
        <p:spPr>
          <a:xfrm>
            <a:off x="11045952" y="4681728"/>
            <a:ext cx="914400" cy="237744"/>
          </a:xfrm>
          <a:prstGeom prst="rect">
            <a:avLst/>
          </a:prstGeom>
          <a:noFill/>
        </p:spPr>
        <p:txBody>
          <a:bodyPr wrap="none">
            <a:spAutoFit/>
          </a:bodyPr>
          <a:lstStyle/>
          <a:p>
            <a:pPr algn="ctr">
              <a:defRPr sz="950" b="1">
                <a:solidFill>
                  <a:srgbClr val="111827"/>
                </a:solidFill>
                <a:latin typeface="Calibri"/>
              </a:defRPr>
            </a:pPr>
            <a:r>
              <a:t>$367K</a:t>
            </a:r>
          </a:p>
        </p:txBody>
      </p:sp>
      <p:sp>
        <p:nvSpPr>
          <p:cNvPr id="191" name="Rectangle 190"/>
          <p:cNvSpPr/>
          <p:nvPr/>
        </p:nvSpPr>
        <p:spPr>
          <a:xfrm>
            <a:off x="6254496" y="4919472"/>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254496" y="4937760"/>
            <a:ext cx="411480" cy="237744"/>
          </a:xfrm>
          <a:prstGeom prst="rect">
            <a:avLst/>
          </a:prstGeom>
          <a:noFill/>
        </p:spPr>
        <p:txBody>
          <a:bodyPr wrap="none">
            <a:spAutoFit/>
          </a:bodyPr>
          <a:lstStyle/>
          <a:p>
            <a:pPr algn="ctr">
              <a:defRPr sz="950" b="1">
                <a:solidFill>
                  <a:srgbClr val="6B7280"/>
                </a:solidFill>
                <a:latin typeface="Calibri"/>
              </a:defRPr>
            </a:pPr>
            <a:r>
              <a:t>36</a:t>
            </a:r>
          </a:p>
        </p:txBody>
      </p:sp>
      <p:sp>
        <p:nvSpPr>
          <p:cNvPr id="193" name="TextBox 192"/>
          <p:cNvSpPr txBox="1"/>
          <p:nvPr/>
        </p:nvSpPr>
        <p:spPr>
          <a:xfrm>
            <a:off x="6665976" y="4937760"/>
            <a:ext cx="1920240" cy="237744"/>
          </a:xfrm>
          <a:prstGeom prst="rect">
            <a:avLst/>
          </a:prstGeom>
          <a:noFill/>
        </p:spPr>
        <p:txBody>
          <a:bodyPr wrap="none">
            <a:spAutoFit/>
          </a:bodyPr>
          <a:lstStyle/>
          <a:p>
            <a:pPr algn="l">
              <a:defRPr sz="950" b="1">
                <a:solidFill>
                  <a:srgbClr val="111827"/>
                </a:solidFill>
                <a:latin typeface="Calibri"/>
              </a:defRPr>
            </a:pPr>
            <a:r>
              <a:t>Ibrahim Mammo</a:t>
            </a:r>
          </a:p>
        </p:txBody>
      </p:sp>
      <p:sp>
        <p:nvSpPr>
          <p:cNvPr id="194" name="TextBox 193"/>
          <p:cNvSpPr txBox="1"/>
          <p:nvPr/>
        </p:nvSpPr>
        <p:spPr>
          <a:xfrm>
            <a:off x="8586216" y="4937760"/>
            <a:ext cx="2459736" cy="237744"/>
          </a:xfrm>
          <a:prstGeom prst="rect">
            <a:avLst/>
          </a:prstGeom>
          <a:noFill/>
        </p:spPr>
        <p:txBody>
          <a:bodyPr wrap="none">
            <a:spAutoFit/>
          </a:bodyPr>
          <a:lstStyle/>
          <a:p>
            <a:pPr algn="l">
              <a:defRPr sz="950" b="0">
                <a:solidFill>
                  <a:srgbClr val="6B7280"/>
                </a:solidFill>
                <a:latin typeface="Calibri"/>
              </a:defRPr>
            </a:pPr>
            <a:r>
              <a:t>Surefire Insurance Agency Corp.</a:t>
            </a:r>
          </a:p>
        </p:txBody>
      </p:sp>
      <p:sp>
        <p:nvSpPr>
          <p:cNvPr id="195" name="TextBox 194"/>
          <p:cNvSpPr txBox="1"/>
          <p:nvPr/>
        </p:nvSpPr>
        <p:spPr>
          <a:xfrm>
            <a:off x="11045952" y="4937760"/>
            <a:ext cx="914400" cy="237744"/>
          </a:xfrm>
          <a:prstGeom prst="rect">
            <a:avLst/>
          </a:prstGeom>
          <a:noFill/>
        </p:spPr>
        <p:txBody>
          <a:bodyPr wrap="none">
            <a:spAutoFit/>
          </a:bodyPr>
          <a:lstStyle/>
          <a:p>
            <a:pPr algn="ctr">
              <a:defRPr sz="950" b="1">
                <a:solidFill>
                  <a:srgbClr val="111827"/>
                </a:solidFill>
                <a:latin typeface="Calibri"/>
              </a:defRPr>
            </a:pPr>
            <a:r>
              <a:t>$365K</a:t>
            </a:r>
          </a:p>
        </p:txBody>
      </p:sp>
      <p:sp>
        <p:nvSpPr>
          <p:cNvPr id="196" name="Rectangle 195"/>
          <p:cNvSpPr/>
          <p:nvPr/>
        </p:nvSpPr>
        <p:spPr>
          <a:xfrm>
            <a:off x="6254496" y="5175504"/>
            <a:ext cx="570585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6254496" y="5193792"/>
            <a:ext cx="411480" cy="237744"/>
          </a:xfrm>
          <a:prstGeom prst="rect">
            <a:avLst/>
          </a:prstGeom>
          <a:noFill/>
        </p:spPr>
        <p:txBody>
          <a:bodyPr wrap="none">
            <a:spAutoFit/>
          </a:bodyPr>
          <a:lstStyle/>
          <a:p>
            <a:pPr algn="ctr">
              <a:defRPr sz="950" b="1">
                <a:solidFill>
                  <a:srgbClr val="6B7280"/>
                </a:solidFill>
                <a:latin typeface="Calibri"/>
              </a:defRPr>
            </a:pPr>
            <a:r>
              <a:t>37</a:t>
            </a:r>
          </a:p>
        </p:txBody>
      </p:sp>
      <p:sp>
        <p:nvSpPr>
          <p:cNvPr id="198" name="TextBox 197"/>
          <p:cNvSpPr txBox="1"/>
          <p:nvPr/>
        </p:nvSpPr>
        <p:spPr>
          <a:xfrm>
            <a:off x="6665976" y="5193792"/>
            <a:ext cx="1920240" cy="237744"/>
          </a:xfrm>
          <a:prstGeom prst="rect">
            <a:avLst/>
          </a:prstGeom>
          <a:noFill/>
        </p:spPr>
        <p:txBody>
          <a:bodyPr wrap="none">
            <a:spAutoFit/>
          </a:bodyPr>
          <a:lstStyle/>
          <a:p>
            <a:pPr algn="l">
              <a:defRPr sz="950" b="1">
                <a:solidFill>
                  <a:srgbClr val="111827"/>
                </a:solidFill>
                <a:latin typeface="Calibri"/>
              </a:defRPr>
            </a:pPr>
            <a:r>
              <a:t>Patricia Galindoparedes</a:t>
            </a:r>
          </a:p>
        </p:txBody>
      </p:sp>
      <p:sp>
        <p:nvSpPr>
          <p:cNvPr id="199" name="TextBox 198"/>
          <p:cNvSpPr txBox="1"/>
          <p:nvPr/>
        </p:nvSpPr>
        <p:spPr>
          <a:xfrm>
            <a:off x="8586216" y="5193792"/>
            <a:ext cx="2459736" cy="237744"/>
          </a:xfrm>
          <a:prstGeom prst="rect">
            <a:avLst/>
          </a:prstGeom>
          <a:noFill/>
        </p:spPr>
        <p:txBody>
          <a:bodyPr wrap="none">
            <a:spAutoFit/>
          </a:bodyPr>
          <a:lstStyle/>
          <a:p>
            <a:pPr algn="l">
              <a:defRPr sz="950" b="0">
                <a:solidFill>
                  <a:srgbClr val="6B7280"/>
                </a:solidFill>
                <a:latin typeface="Calibri"/>
              </a:defRPr>
            </a:pPr>
            <a:r>
              <a:t>Call Patty Insurance Services</a:t>
            </a:r>
          </a:p>
        </p:txBody>
      </p:sp>
      <p:sp>
        <p:nvSpPr>
          <p:cNvPr id="200" name="TextBox 199"/>
          <p:cNvSpPr txBox="1"/>
          <p:nvPr/>
        </p:nvSpPr>
        <p:spPr>
          <a:xfrm>
            <a:off x="11045952" y="5193792"/>
            <a:ext cx="914400" cy="237744"/>
          </a:xfrm>
          <a:prstGeom prst="rect">
            <a:avLst/>
          </a:prstGeom>
          <a:noFill/>
        </p:spPr>
        <p:txBody>
          <a:bodyPr wrap="none">
            <a:spAutoFit/>
          </a:bodyPr>
          <a:lstStyle/>
          <a:p>
            <a:pPr algn="ctr">
              <a:defRPr sz="950" b="1">
                <a:solidFill>
                  <a:srgbClr val="111827"/>
                </a:solidFill>
                <a:latin typeface="Calibri"/>
              </a:defRPr>
            </a:pPr>
            <a:r>
              <a:t>$361K</a:t>
            </a:r>
          </a:p>
        </p:txBody>
      </p:sp>
      <p:sp>
        <p:nvSpPr>
          <p:cNvPr id="201" name="Rectangle 200"/>
          <p:cNvSpPr/>
          <p:nvPr/>
        </p:nvSpPr>
        <p:spPr>
          <a:xfrm>
            <a:off x="6254496" y="5431536"/>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6254496" y="5449824"/>
            <a:ext cx="411480" cy="237744"/>
          </a:xfrm>
          <a:prstGeom prst="rect">
            <a:avLst/>
          </a:prstGeom>
          <a:noFill/>
        </p:spPr>
        <p:txBody>
          <a:bodyPr wrap="none">
            <a:spAutoFit/>
          </a:bodyPr>
          <a:lstStyle/>
          <a:p>
            <a:pPr algn="ctr">
              <a:defRPr sz="950" b="1">
                <a:solidFill>
                  <a:srgbClr val="6B7280"/>
                </a:solidFill>
                <a:latin typeface="Calibri"/>
              </a:defRPr>
            </a:pPr>
            <a:r>
              <a:t>38</a:t>
            </a:r>
          </a:p>
        </p:txBody>
      </p:sp>
      <p:sp>
        <p:nvSpPr>
          <p:cNvPr id="203" name="TextBox 202"/>
          <p:cNvSpPr txBox="1"/>
          <p:nvPr/>
        </p:nvSpPr>
        <p:spPr>
          <a:xfrm>
            <a:off x="6665976" y="5449824"/>
            <a:ext cx="1920240" cy="237744"/>
          </a:xfrm>
          <a:prstGeom prst="rect">
            <a:avLst/>
          </a:prstGeom>
          <a:noFill/>
        </p:spPr>
        <p:txBody>
          <a:bodyPr wrap="none">
            <a:spAutoFit/>
          </a:bodyPr>
          <a:lstStyle/>
          <a:p>
            <a:pPr algn="l">
              <a:defRPr sz="950" b="1">
                <a:solidFill>
                  <a:srgbClr val="111827"/>
                </a:solidFill>
                <a:latin typeface="Calibri"/>
              </a:defRPr>
            </a:pPr>
            <a:r>
              <a:t>Kurtis Gautz</a:t>
            </a:r>
          </a:p>
        </p:txBody>
      </p:sp>
      <p:sp>
        <p:nvSpPr>
          <p:cNvPr id="204" name="TextBox 203"/>
          <p:cNvSpPr txBox="1"/>
          <p:nvPr/>
        </p:nvSpPr>
        <p:spPr>
          <a:xfrm>
            <a:off x="8586216" y="5449824"/>
            <a:ext cx="2459736" cy="237744"/>
          </a:xfrm>
          <a:prstGeom prst="rect">
            <a:avLst/>
          </a:prstGeom>
          <a:noFill/>
        </p:spPr>
        <p:txBody>
          <a:bodyPr wrap="none">
            <a:spAutoFit/>
          </a:bodyPr>
          <a:lstStyle/>
          <a:p>
            <a:pPr algn="l">
              <a:defRPr sz="950" b="0">
                <a:solidFill>
                  <a:srgbClr val="6B7280"/>
                </a:solidFill>
                <a:latin typeface="Calibri"/>
              </a:defRPr>
            </a:pPr>
            <a:r>
              <a:t>CRC Insurance Services, Inc</a:t>
            </a:r>
          </a:p>
        </p:txBody>
      </p:sp>
      <p:sp>
        <p:nvSpPr>
          <p:cNvPr id="205" name="TextBox 204"/>
          <p:cNvSpPr txBox="1"/>
          <p:nvPr/>
        </p:nvSpPr>
        <p:spPr>
          <a:xfrm>
            <a:off x="11045952" y="5449824"/>
            <a:ext cx="914400" cy="237744"/>
          </a:xfrm>
          <a:prstGeom prst="rect">
            <a:avLst/>
          </a:prstGeom>
          <a:noFill/>
        </p:spPr>
        <p:txBody>
          <a:bodyPr wrap="none">
            <a:spAutoFit/>
          </a:bodyPr>
          <a:lstStyle/>
          <a:p>
            <a:pPr algn="ctr">
              <a:defRPr sz="950" b="1">
                <a:solidFill>
                  <a:srgbClr val="111827"/>
                </a:solidFill>
                <a:latin typeface="Calibri"/>
              </a:defRPr>
            </a:pPr>
            <a:r>
              <a:t>$352K</a:t>
            </a:r>
          </a:p>
        </p:txBody>
      </p:sp>
      <p:sp>
        <p:nvSpPr>
          <p:cNvPr id="206" name="Rectangle 205"/>
          <p:cNvSpPr/>
          <p:nvPr/>
        </p:nvSpPr>
        <p:spPr>
          <a:xfrm>
            <a:off x="6254496" y="5687568"/>
            <a:ext cx="5705856" cy="256032"/>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6254496" y="5705856"/>
            <a:ext cx="411480" cy="237744"/>
          </a:xfrm>
          <a:prstGeom prst="rect">
            <a:avLst/>
          </a:prstGeom>
          <a:noFill/>
        </p:spPr>
        <p:txBody>
          <a:bodyPr wrap="none">
            <a:spAutoFit/>
          </a:bodyPr>
          <a:lstStyle/>
          <a:p>
            <a:pPr algn="ctr">
              <a:defRPr sz="950" b="1">
                <a:solidFill>
                  <a:srgbClr val="6B7280"/>
                </a:solidFill>
                <a:latin typeface="Calibri"/>
              </a:defRPr>
            </a:pPr>
            <a:r>
              <a:t>39</a:t>
            </a:r>
          </a:p>
        </p:txBody>
      </p:sp>
      <p:sp>
        <p:nvSpPr>
          <p:cNvPr id="208" name="TextBox 207"/>
          <p:cNvSpPr txBox="1"/>
          <p:nvPr/>
        </p:nvSpPr>
        <p:spPr>
          <a:xfrm>
            <a:off x="6665976" y="5705856"/>
            <a:ext cx="1920240" cy="237744"/>
          </a:xfrm>
          <a:prstGeom prst="rect">
            <a:avLst/>
          </a:prstGeom>
          <a:noFill/>
        </p:spPr>
        <p:txBody>
          <a:bodyPr wrap="none">
            <a:spAutoFit/>
          </a:bodyPr>
          <a:lstStyle/>
          <a:p>
            <a:pPr algn="l">
              <a:defRPr sz="950" b="1">
                <a:solidFill>
                  <a:srgbClr val="111827"/>
                </a:solidFill>
                <a:latin typeface="Calibri"/>
              </a:defRPr>
            </a:pPr>
            <a:r>
              <a:t>Api_User Api_User</a:t>
            </a:r>
          </a:p>
        </p:txBody>
      </p:sp>
      <p:sp>
        <p:nvSpPr>
          <p:cNvPr id="209" name="TextBox 208"/>
          <p:cNvSpPr txBox="1"/>
          <p:nvPr/>
        </p:nvSpPr>
        <p:spPr>
          <a:xfrm>
            <a:off x="8586216" y="5705856"/>
            <a:ext cx="2459736" cy="237744"/>
          </a:xfrm>
          <a:prstGeom prst="rect">
            <a:avLst/>
          </a:prstGeom>
          <a:noFill/>
        </p:spPr>
        <p:txBody>
          <a:bodyPr wrap="none">
            <a:spAutoFit/>
          </a:bodyPr>
          <a:lstStyle/>
          <a:p>
            <a:pPr algn="l">
              <a:defRPr sz="950" b="0">
                <a:solidFill>
                  <a:srgbClr val="6B7280"/>
                </a:solidFill>
                <a:latin typeface="Calibri"/>
              </a:defRPr>
            </a:pPr>
            <a:r>
              <a:t>Insurance4Truckers LLC</a:t>
            </a:r>
          </a:p>
        </p:txBody>
      </p:sp>
      <p:sp>
        <p:nvSpPr>
          <p:cNvPr id="210" name="TextBox 209"/>
          <p:cNvSpPr txBox="1"/>
          <p:nvPr/>
        </p:nvSpPr>
        <p:spPr>
          <a:xfrm>
            <a:off x="11045952" y="5705856"/>
            <a:ext cx="914400" cy="237744"/>
          </a:xfrm>
          <a:prstGeom prst="rect">
            <a:avLst/>
          </a:prstGeom>
          <a:noFill/>
        </p:spPr>
        <p:txBody>
          <a:bodyPr wrap="none">
            <a:spAutoFit/>
          </a:bodyPr>
          <a:lstStyle/>
          <a:p>
            <a:pPr algn="ctr">
              <a:defRPr sz="950" b="1">
                <a:solidFill>
                  <a:srgbClr val="111827"/>
                </a:solidFill>
                <a:latin typeface="Calibri"/>
              </a:defRPr>
            </a:pPr>
            <a:r>
              <a:t>$344K</a:t>
            </a:r>
          </a:p>
        </p:txBody>
      </p:sp>
      <p:sp>
        <p:nvSpPr>
          <p:cNvPr id="211" name="Rectangle 210"/>
          <p:cNvSpPr/>
          <p:nvPr/>
        </p:nvSpPr>
        <p:spPr>
          <a:xfrm>
            <a:off x="6254496" y="5943600"/>
            <a:ext cx="5705856"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6254496" y="5961888"/>
            <a:ext cx="411480" cy="237744"/>
          </a:xfrm>
          <a:prstGeom prst="rect">
            <a:avLst/>
          </a:prstGeom>
          <a:noFill/>
        </p:spPr>
        <p:txBody>
          <a:bodyPr wrap="none">
            <a:spAutoFit/>
          </a:bodyPr>
          <a:lstStyle/>
          <a:p>
            <a:pPr algn="ctr">
              <a:defRPr sz="950" b="1">
                <a:solidFill>
                  <a:srgbClr val="6B7280"/>
                </a:solidFill>
                <a:latin typeface="Calibri"/>
              </a:defRPr>
            </a:pPr>
            <a:r>
              <a:t>40</a:t>
            </a:r>
          </a:p>
        </p:txBody>
      </p:sp>
      <p:sp>
        <p:nvSpPr>
          <p:cNvPr id="213" name="TextBox 212"/>
          <p:cNvSpPr txBox="1"/>
          <p:nvPr/>
        </p:nvSpPr>
        <p:spPr>
          <a:xfrm>
            <a:off x="6665976" y="5961888"/>
            <a:ext cx="1920240" cy="237744"/>
          </a:xfrm>
          <a:prstGeom prst="rect">
            <a:avLst/>
          </a:prstGeom>
          <a:noFill/>
        </p:spPr>
        <p:txBody>
          <a:bodyPr wrap="none">
            <a:spAutoFit/>
          </a:bodyPr>
          <a:lstStyle/>
          <a:p>
            <a:pPr algn="l">
              <a:defRPr sz="950" b="1">
                <a:solidFill>
                  <a:srgbClr val="111827"/>
                </a:solidFill>
                <a:latin typeface="Calibri"/>
              </a:defRPr>
            </a:pPr>
            <a:r>
              <a:t>Damandeep Singh</a:t>
            </a:r>
          </a:p>
        </p:txBody>
      </p:sp>
      <p:sp>
        <p:nvSpPr>
          <p:cNvPr id="214" name="TextBox 213"/>
          <p:cNvSpPr txBox="1"/>
          <p:nvPr/>
        </p:nvSpPr>
        <p:spPr>
          <a:xfrm>
            <a:off x="8586216" y="5961888"/>
            <a:ext cx="2459736" cy="237744"/>
          </a:xfrm>
          <a:prstGeom prst="rect">
            <a:avLst/>
          </a:prstGeom>
          <a:noFill/>
        </p:spPr>
        <p:txBody>
          <a:bodyPr wrap="none">
            <a:spAutoFit/>
          </a:bodyPr>
          <a:lstStyle/>
          <a:p>
            <a:pPr algn="l">
              <a:defRPr sz="950" b="0">
                <a:solidFill>
                  <a:srgbClr val="6B7280"/>
                </a:solidFill>
                <a:latin typeface="Calibri"/>
              </a:defRPr>
            </a:pPr>
            <a:r>
              <a:t>Mayflower Insurance Services</a:t>
            </a:r>
          </a:p>
        </p:txBody>
      </p:sp>
      <p:sp>
        <p:nvSpPr>
          <p:cNvPr id="215" name="TextBox 214"/>
          <p:cNvSpPr txBox="1"/>
          <p:nvPr/>
        </p:nvSpPr>
        <p:spPr>
          <a:xfrm>
            <a:off x="11045952" y="5961888"/>
            <a:ext cx="914400" cy="237744"/>
          </a:xfrm>
          <a:prstGeom prst="rect">
            <a:avLst/>
          </a:prstGeom>
          <a:noFill/>
        </p:spPr>
        <p:txBody>
          <a:bodyPr wrap="none">
            <a:spAutoFit/>
          </a:bodyPr>
          <a:lstStyle/>
          <a:p>
            <a:pPr algn="ctr">
              <a:defRPr sz="950" b="1">
                <a:solidFill>
                  <a:srgbClr val="111827"/>
                </a:solidFill>
                <a:latin typeface="Calibri"/>
              </a:defRPr>
            </a:pPr>
            <a:r>
              <a:t>$341K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