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54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24, 2026  |  54 days into Q2  |  37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24,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$19.7M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$33.2M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180%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87%</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30,528</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112%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$3.3M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39pp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12967 vs Apr (17561)</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$27.3M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(71%)</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$8.6M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(22%)</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$2.8M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45,794</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$10.06M written  ·  $12.99M pace  ·  24/31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24)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24,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24)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24,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24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24,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7" name="Rectangle 16"/>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19" name="Rectangle 18"/>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3" name="Rectangle 22"/>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5" name="Rectangle 24"/>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7" name="Rectangle 26"/>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29" name="Rectangle 28"/>
          <p:cNvSpPr/>
          <p:nvPr/>
        </p:nvSpPr>
        <p:spPr>
          <a:xfrm>
            <a:off x="863193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31" name="TextBox 30"/>
          <p:cNvSpPr txBox="1"/>
          <p:nvPr/>
        </p:nvSpPr>
        <p:spPr>
          <a:xfrm>
            <a:off x="9692640" y="1211580"/>
            <a:ext cx="822960" cy="429768"/>
          </a:xfrm>
          <a:prstGeom prst="rect">
            <a:avLst/>
          </a:prstGeom>
          <a:noFill/>
        </p:spPr>
        <p:txBody>
          <a:bodyPr wrap="square">
            <a:spAutoFit/>
          </a:bodyPr>
          <a:lstStyle/>
          <a:p>
            <a:pPr algn="ctr">
              <a:defRPr sz="1100" b="1">
                <a:solidFill>
                  <a:srgbClr val="059669"/>
                </a:solidFill>
                <a:latin typeface="Calibri"/>
              </a:defRPr>
            </a:pPr>
            <a:r>
              <a:t>155%</a:t>
            </a:r>
          </a:p>
        </p:txBody>
      </p:sp>
      <p:sp>
        <p:nvSpPr>
          <p:cNvPr id="32" name="Rectangle 31"/>
          <p:cNvSpPr/>
          <p:nvPr/>
        </p:nvSpPr>
        <p:spPr>
          <a:xfrm>
            <a:off x="182880" y="158191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4" name="Rectangle 33"/>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6" name="Rectangle 35"/>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38" name="Rectangle 37"/>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0" name="Rectangle 39"/>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2" name="Rectangle 41"/>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4" name="Rectangle 43"/>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6" name="Rectangle 45"/>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72</a:t>
            </a:r>
          </a:p>
        </p:txBody>
      </p:sp>
      <p:sp>
        <p:nvSpPr>
          <p:cNvPr id="48" name="TextBox 47"/>
          <p:cNvSpPr txBox="1"/>
          <p:nvPr/>
        </p:nvSpPr>
        <p:spPr>
          <a:xfrm>
            <a:off x="9692640" y="1714500"/>
            <a:ext cx="822960" cy="429768"/>
          </a:xfrm>
          <a:prstGeom prst="rect">
            <a:avLst/>
          </a:prstGeom>
          <a:noFill/>
        </p:spPr>
        <p:txBody>
          <a:bodyPr wrap="square">
            <a:spAutoFit/>
          </a:bodyPr>
          <a:lstStyle/>
          <a:p>
            <a:pPr algn="ctr">
              <a:defRPr sz="1100" b="1">
                <a:solidFill>
                  <a:srgbClr val="D97706"/>
                </a:solidFill>
                <a:latin typeface="Calibri"/>
              </a:defRPr>
            </a:pPr>
            <a:r>
              <a:t>82%</a:t>
            </a:r>
          </a:p>
        </p:txBody>
      </p:sp>
      <p:sp>
        <p:nvSpPr>
          <p:cNvPr id="49" name="TextBox 48"/>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0" name="Rectangle 49"/>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2" name="Rectangle 51"/>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4" name="Rectangle 53"/>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56" name="Rectangle 55"/>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58" name="Rectangle 57"/>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0" name="Rectangle 59"/>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2" name="Rectangle 61"/>
          <p:cNvSpPr/>
          <p:nvPr/>
        </p:nvSpPr>
        <p:spPr>
          <a:xfrm>
            <a:off x="863193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64" name="TextBox 63"/>
          <p:cNvSpPr txBox="1"/>
          <p:nvPr/>
        </p:nvSpPr>
        <p:spPr>
          <a:xfrm>
            <a:off x="969264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65" name="Rectangle 64"/>
          <p:cNvSpPr/>
          <p:nvPr/>
        </p:nvSpPr>
        <p:spPr>
          <a:xfrm>
            <a:off x="182880" y="258775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67" name="Rectangle 66"/>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69" name="Rectangle 68"/>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1" name="Rectangle 70"/>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65</a:t>
            </a:r>
          </a:p>
        </p:txBody>
      </p:sp>
      <p:sp>
        <p:nvSpPr>
          <p:cNvPr id="73" name="Rectangle 72"/>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75" name="Rectangle 74"/>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77" name="Rectangle 76"/>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79" name="Rectangle 78"/>
          <p:cNvSpPr/>
          <p:nvPr/>
        </p:nvSpPr>
        <p:spPr>
          <a:xfrm>
            <a:off x="863193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81" name="TextBox 80"/>
          <p:cNvSpPr txBox="1"/>
          <p:nvPr/>
        </p:nvSpPr>
        <p:spPr>
          <a:xfrm>
            <a:off x="9692640" y="2720340"/>
            <a:ext cx="822960" cy="429768"/>
          </a:xfrm>
          <a:prstGeom prst="rect">
            <a:avLst/>
          </a:prstGeom>
          <a:noFill/>
        </p:spPr>
        <p:txBody>
          <a:bodyPr wrap="square">
            <a:spAutoFit/>
          </a:bodyPr>
          <a:lstStyle/>
          <a:p>
            <a:pPr algn="ctr">
              <a:defRPr sz="1100" b="1">
                <a:solidFill>
                  <a:srgbClr val="059669"/>
                </a:solidFill>
                <a:latin typeface="Calibri"/>
              </a:defRPr>
            </a:pPr>
            <a:r>
              <a:t>137%</a:t>
            </a:r>
          </a:p>
        </p:txBody>
      </p:sp>
      <p:sp>
        <p:nvSpPr>
          <p:cNvPr id="82" name="TextBox 81"/>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83" name="Rectangle 82"/>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85" name="Rectangle 84"/>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87" name="Rectangle 86"/>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89" name="Rectangle 88"/>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91" name="Rectangle 90"/>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93" name="Rectangle 92"/>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95" name="Rectangle 94"/>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97" name="TextBox 96"/>
          <p:cNvSpPr txBox="1"/>
          <p:nvPr/>
        </p:nvSpPr>
        <p:spPr>
          <a:xfrm>
            <a:off x="969264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98" name="Rectangle 97"/>
          <p:cNvSpPr/>
          <p:nvPr/>
        </p:nvSpPr>
        <p:spPr>
          <a:xfrm>
            <a:off x="182880" y="3593591"/>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00" name="Rectangle 99"/>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2" name="Rectangle 101"/>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4" name="Rectangle 103"/>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06" name="Rectangle 105"/>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8" name="Rectangle 107"/>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10" name="Rectangle 109"/>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12" name="Rectangle 111"/>
          <p:cNvSpPr/>
          <p:nvPr/>
        </p:nvSpPr>
        <p:spPr>
          <a:xfrm>
            <a:off x="863193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114" name="TextBox 113"/>
          <p:cNvSpPr txBox="1"/>
          <p:nvPr/>
        </p:nvSpPr>
        <p:spPr>
          <a:xfrm>
            <a:off x="9692640" y="3726180"/>
            <a:ext cx="822960" cy="429768"/>
          </a:xfrm>
          <a:prstGeom prst="rect">
            <a:avLst/>
          </a:prstGeom>
          <a:noFill/>
        </p:spPr>
        <p:txBody>
          <a:bodyPr wrap="square">
            <a:spAutoFit/>
          </a:bodyPr>
          <a:lstStyle/>
          <a:p>
            <a:pPr algn="ctr">
              <a:defRPr sz="1100" b="1">
                <a:solidFill>
                  <a:srgbClr val="DC2626"/>
                </a:solidFill>
                <a:latin typeface="Calibri"/>
              </a:defRPr>
            </a:pPr>
            <a:r>
              <a:t>34%</a:t>
            </a:r>
          </a:p>
        </p:txBody>
      </p:sp>
      <p:sp>
        <p:nvSpPr>
          <p:cNvPr id="115" name="Rectangle 114"/>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17" name="TextBox 116"/>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18" name="TextBox 117"/>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19" name="TextBox 118"/>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20" name="TextBox 119"/>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21" name="TextBox 120"/>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22" name="TextBox 121"/>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23" name="TextBox 122"/>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24" name="TextBox 123"/>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25" name="TextBox 124"/>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26" name="TextBox 125"/>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429</a:t>
            </a:r>
          </a:p>
        </p:txBody>
      </p:sp>
      <p:sp>
        <p:nvSpPr>
          <p:cNvPr id="127" name="TextBox 126"/>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28" name="TextBox 127"/>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29" name="TextBox 128"/>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476</a:t>
            </a:r>
          </a:p>
        </p:txBody>
      </p:sp>
      <p:sp>
        <p:nvSpPr>
          <p:cNvPr id="130" name="TextBox 129"/>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62.2</a:t>
            </a:r>
          </a:p>
        </p:txBody>
      </p:sp>
      <p:sp>
        <p:nvSpPr>
          <p:cNvPr id="131" name="TextBox 130"/>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155%</a:t>
            </a:r>
          </a:p>
        </p:txBody>
      </p:sp>
      <p:sp>
        <p:nvSpPr>
          <p:cNvPr id="132" name="Rectangle 131"/>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34" name="TextBox 133"/>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5" name="TextBox 134"/>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250</a:t>
            </a:r>
          </a:p>
        </p:txBody>
      </p:sp>
      <p:sp>
        <p:nvSpPr>
          <p:cNvPr id="136" name="TextBox 135"/>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23</a:t>
            </a:r>
          </a:p>
        </p:txBody>
      </p:sp>
      <p:sp>
        <p:nvSpPr>
          <p:cNvPr id="137" name="TextBox 136"/>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38" name="TextBox 137"/>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273</a:t>
            </a:r>
          </a:p>
        </p:txBody>
      </p:sp>
      <p:sp>
        <p:nvSpPr>
          <p:cNvPr id="139" name="TextBox 138"/>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33.0</a:t>
            </a:r>
          </a:p>
        </p:txBody>
      </p:sp>
      <p:sp>
        <p:nvSpPr>
          <p:cNvPr id="140" name="TextBox 139"/>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41" name="TextBox 140"/>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42" name="TextBox 141"/>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3" name="TextBox 142"/>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241</a:t>
            </a:r>
          </a:p>
        </p:txBody>
      </p:sp>
      <p:sp>
        <p:nvSpPr>
          <p:cNvPr id="144" name="TextBox 143"/>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45" name="TextBox 144"/>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46" name="TextBox 145"/>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254</a:t>
            </a:r>
          </a:p>
        </p:txBody>
      </p:sp>
      <p:sp>
        <p:nvSpPr>
          <p:cNvPr id="147" name="TextBox 146"/>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34.3</a:t>
            </a:r>
          </a:p>
        </p:txBody>
      </p:sp>
      <p:sp>
        <p:nvSpPr>
          <p:cNvPr id="148" name="TextBox 147"/>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49" name="Rectangle 148"/>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51" name="TextBox 150"/>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2" name="TextBox 151"/>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399</a:t>
            </a:r>
          </a:p>
        </p:txBody>
      </p:sp>
      <p:sp>
        <p:nvSpPr>
          <p:cNvPr id="153" name="TextBox 152"/>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20</a:t>
            </a:r>
          </a:p>
        </p:txBody>
      </p:sp>
      <p:sp>
        <p:nvSpPr>
          <p:cNvPr id="154" name="TextBox 153"/>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48</a:t>
            </a:r>
          </a:p>
        </p:txBody>
      </p:sp>
      <p:sp>
        <p:nvSpPr>
          <p:cNvPr id="155" name="TextBox 154"/>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419</a:t>
            </a:r>
          </a:p>
        </p:txBody>
      </p:sp>
      <p:sp>
        <p:nvSpPr>
          <p:cNvPr id="156" name="TextBox 155"/>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54.7</a:t>
            </a:r>
          </a:p>
        </p:txBody>
      </p:sp>
      <p:sp>
        <p:nvSpPr>
          <p:cNvPr id="157" name="TextBox 156"/>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137%</a:t>
            </a:r>
          </a:p>
        </p:txBody>
      </p:sp>
      <p:sp>
        <p:nvSpPr>
          <p:cNvPr id="158" name="TextBox 157"/>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59" name="TextBox 158"/>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0" name="TextBox 159"/>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243</a:t>
            </a:r>
          </a:p>
        </p:txBody>
      </p:sp>
      <p:sp>
        <p:nvSpPr>
          <p:cNvPr id="161" name="TextBox 160"/>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62" name="TextBox 161"/>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47</a:t>
            </a:r>
          </a:p>
        </p:txBody>
      </p:sp>
      <p:sp>
        <p:nvSpPr>
          <p:cNvPr id="163" name="TextBox 162"/>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259</a:t>
            </a:r>
          </a:p>
        </p:txBody>
      </p:sp>
      <p:sp>
        <p:nvSpPr>
          <p:cNvPr id="164" name="TextBox 163"/>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65" name="TextBox 164"/>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66" name="Rectangle 165"/>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68" name="TextBox 167"/>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9" name="TextBox 168"/>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109</a:t>
            </a:r>
          </a:p>
        </p:txBody>
      </p:sp>
      <p:sp>
        <p:nvSpPr>
          <p:cNvPr id="170" name="TextBox 169"/>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15</a:t>
            </a:r>
          </a:p>
        </p:txBody>
      </p:sp>
      <p:sp>
        <p:nvSpPr>
          <p:cNvPr id="171" name="TextBox 170"/>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15</a:t>
            </a:r>
          </a:p>
        </p:txBody>
      </p:sp>
      <p:sp>
        <p:nvSpPr>
          <p:cNvPr id="172" name="TextBox 171"/>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124</a:t>
            </a:r>
          </a:p>
        </p:txBody>
      </p:sp>
      <p:sp>
        <p:nvSpPr>
          <p:cNvPr id="173" name="TextBox 172"/>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13.5</a:t>
            </a:r>
          </a:p>
        </p:txBody>
      </p:sp>
      <p:sp>
        <p:nvSpPr>
          <p:cNvPr id="174" name="TextBox 173"/>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24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24,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7" name="Rectangle 16"/>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19" name="Rectangle 18"/>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3" name="Rectangle 22"/>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5" name="Rectangle 24"/>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7" name="Rectangle 26"/>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29" name="Rectangle 28"/>
          <p:cNvSpPr/>
          <p:nvPr/>
        </p:nvSpPr>
        <p:spPr>
          <a:xfrm>
            <a:off x="863193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31" name="TextBox 30"/>
          <p:cNvSpPr txBox="1"/>
          <p:nvPr/>
        </p:nvSpPr>
        <p:spPr>
          <a:xfrm>
            <a:off x="9692640" y="1234440"/>
            <a:ext cx="822960" cy="475488"/>
          </a:xfrm>
          <a:prstGeom prst="rect">
            <a:avLst/>
          </a:prstGeom>
          <a:noFill/>
        </p:spPr>
        <p:txBody>
          <a:bodyPr wrap="square">
            <a:spAutoFit/>
          </a:bodyPr>
          <a:lstStyle/>
          <a:p>
            <a:pPr algn="ctr">
              <a:defRPr sz="1100" b="1">
                <a:solidFill>
                  <a:srgbClr val="D97706"/>
                </a:solidFill>
                <a:latin typeface="Calibri"/>
              </a:defRPr>
            </a:pPr>
            <a:r>
              <a:t>95%</a:t>
            </a:r>
          </a:p>
        </p:txBody>
      </p:sp>
      <p:sp>
        <p:nvSpPr>
          <p:cNvPr id="32" name="Rectangle 31"/>
          <p:cNvSpPr/>
          <p:nvPr/>
        </p:nvSpPr>
        <p:spPr>
          <a:xfrm>
            <a:off x="182880" y="162763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4" name="Rectangle 33"/>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38" name="Rectangle 37"/>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0" name="Rectangle 39"/>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2" name="Rectangle 41"/>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4" name="Rectangle 43"/>
          <p:cNvSpPr/>
          <p:nvPr/>
        </p:nvSpPr>
        <p:spPr>
          <a:xfrm>
            <a:off x="863193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46" name="TextBox 45"/>
          <p:cNvSpPr txBox="1"/>
          <p:nvPr/>
        </p:nvSpPr>
        <p:spPr>
          <a:xfrm>
            <a:off x="9692640" y="1783079"/>
            <a:ext cx="822960" cy="475488"/>
          </a:xfrm>
          <a:prstGeom prst="rect">
            <a:avLst/>
          </a:prstGeom>
          <a:noFill/>
        </p:spPr>
        <p:txBody>
          <a:bodyPr wrap="square">
            <a:spAutoFit/>
          </a:bodyPr>
          <a:lstStyle/>
          <a:p>
            <a:pPr algn="ctr">
              <a:defRPr sz="1100" b="1">
                <a:solidFill>
                  <a:srgbClr val="DC2626"/>
                </a:solidFill>
                <a:latin typeface="Calibri"/>
              </a:defRPr>
            </a:pPr>
            <a:r>
              <a:t>74%</a:t>
            </a:r>
          </a:p>
        </p:txBody>
      </p:sp>
      <p:sp>
        <p:nvSpPr>
          <p:cNvPr id="47" name="TextBox 46"/>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48" name="Rectangle 47"/>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2" name="Rectangle 51"/>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4" name="Rectangle 53"/>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56" name="Rectangle 55"/>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58" name="Rectangle 57"/>
          <p:cNvSpPr/>
          <p:nvPr/>
        </p:nvSpPr>
        <p:spPr>
          <a:xfrm>
            <a:off x="863193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60" name="TextBox 59"/>
          <p:cNvSpPr txBox="1"/>
          <p:nvPr/>
        </p:nvSpPr>
        <p:spPr>
          <a:xfrm>
            <a:off x="9692640" y="2331720"/>
            <a:ext cx="822960" cy="475488"/>
          </a:xfrm>
          <a:prstGeom prst="rect">
            <a:avLst/>
          </a:prstGeom>
          <a:noFill/>
        </p:spPr>
        <p:txBody>
          <a:bodyPr wrap="square">
            <a:spAutoFit/>
          </a:bodyPr>
          <a:lstStyle/>
          <a:p>
            <a:pPr algn="ctr">
              <a:defRPr sz="1100" b="1">
                <a:solidFill>
                  <a:srgbClr val="D97706"/>
                </a:solidFill>
                <a:latin typeface="Calibri"/>
              </a:defRPr>
            </a:pPr>
            <a:r>
              <a:t>82%</a:t>
            </a:r>
          </a:p>
        </p:txBody>
      </p:sp>
      <p:sp>
        <p:nvSpPr>
          <p:cNvPr id="61" name="Rectangle 60"/>
          <p:cNvSpPr/>
          <p:nvPr/>
        </p:nvSpPr>
        <p:spPr>
          <a:xfrm>
            <a:off x="182880" y="272491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63" name="Rectangle 62"/>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67" name="Rectangle 66"/>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69" name="Rectangle 68"/>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1" name="Rectangle 70"/>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73" name="Rectangle 72"/>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75" name="TextBox 74"/>
          <p:cNvSpPr txBox="1"/>
          <p:nvPr/>
        </p:nvSpPr>
        <p:spPr>
          <a:xfrm>
            <a:off x="9692640" y="2880359"/>
            <a:ext cx="822960" cy="475488"/>
          </a:xfrm>
          <a:prstGeom prst="rect">
            <a:avLst/>
          </a:prstGeom>
          <a:noFill/>
        </p:spPr>
        <p:txBody>
          <a:bodyPr wrap="square">
            <a:spAutoFit/>
          </a:bodyPr>
          <a:lstStyle/>
          <a:p>
            <a:pPr algn="ctr">
              <a:defRPr sz="1100" b="1">
                <a:solidFill>
                  <a:srgbClr val="D97706"/>
                </a:solidFill>
                <a:latin typeface="Calibri"/>
              </a:defRPr>
            </a:pPr>
            <a:r>
              <a:t>94%</a:t>
            </a:r>
          </a:p>
        </p:txBody>
      </p:sp>
      <p:sp>
        <p:nvSpPr>
          <p:cNvPr id="76" name="TextBox 75"/>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77" name="Rectangle 76"/>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9" name="Rectangle 78"/>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1" name="Rectangle 80"/>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83" name="Rectangle 82"/>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5" name="Rectangle 84"/>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87" name="Rectangle 86"/>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89" name="Rectangle 88"/>
          <p:cNvSpPr/>
          <p:nvPr/>
        </p:nvSpPr>
        <p:spPr>
          <a:xfrm>
            <a:off x="863193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60</a:t>
            </a:r>
          </a:p>
        </p:txBody>
      </p:sp>
      <p:sp>
        <p:nvSpPr>
          <p:cNvPr id="91" name="TextBox 90"/>
          <p:cNvSpPr txBox="1"/>
          <p:nvPr/>
        </p:nvSpPr>
        <p:spPr>
          <a:xfrm>
            <a:off x="9692640" y="3429000"/>
            <a:ext cx="822960" cy="475488"/>
          </a:xfrm>
          <a:prstGeom prst="rect">
            <a:avLst/>
          </a:prstGeom>
          <a:noFill/>
        </p:spPr>
        <p:txBody>
          <a:bodyPr wrap="square">
            <a:spAutoFit/>
          </a:bodyPr>
          <a:lstStyle/>
          <a:p>
            <a:pPr algn="ctr">
              <a:defRPr sz="1100" b="1">
                <a:solidFill>
                  <a:srgbClr val="DC2626"/>
                </a:solidFill>
                <a:latin typeface="Calibri"/>
              </a:defRPr>
            </a:pPr>
            <a:r>
              <a:t>34%</a:t>
            </a:r>
          </a:p>
        </p:txBody>
      </p:sp>
      <p:sp>
        <p:nvSpPr>
          <p:cNvPr id="92" name="Rectangle 91"/>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94" name="TextBox 93"/>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95" name="TextBox 94"/>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96" name="TextBox 95"/>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97" name="TextBox 96"/>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98" name="TextBox 97"/>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99" name="TextBox 98"/>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00" name="TextBox 99"/>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01" name="TextBox 100"/>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02" name="TextBox 101"/>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03" name="TextBox 102"/>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350</a:t>
            </a:r>
          </a:p>
        </p:txBody>
      </p:sp>
      <p:sp>
        <p:nvSpPr>
          <p:cNvPr id="104" name="TextBox 103"/>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05" name="TextBox 104"/>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38</a:t>
            </a:r>
          </a:p>
        </p:txBody>
      </p:sp>
      <p:sp>
        <p:nvSpPr>
          <p:cNvPr id="106" name="TextBox 105"/>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360</a:t>
            </a:r>
          </a:p>
        </p:txBody>
      </p:sp>
      <p:sp>
        <p:nvSpPr>
          <p:cNvPr id="107" name="TextBox 106"/>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47.5</a:t>
            </a:r>
          </a:p>
        </p:txBody>
      </p:sp>
      <p:sp>
        <p:nvSpPr>
          <p:cNvPr id="108" name="TextBox 107"/>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95%</a:t>
            </a:r>
          </a:p>
        </p:txBody>
      </p:sp>
      <p:sp>
        <p:nvSpPr>
          <p:cNvPr id="109" name="Rectangle 108"/>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11" name="TextBox 110"/>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2" name="TextBox 111"/>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175</a:t>
            </a:r>
          </a:p>
        </p:txBody>
      </p:sp>
      <p:sp>
        <p:nvSpPr>
          <p:cNvPr id="113" name="TextBox 112"/>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14" name="TextBox 113"/>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15" name="TextBox 114"/>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185</a:t>
            </a:r>
          </a:p>
        </p:txBody>
      </p:sp>
      <p:sp>
        <p:nvSpPr>
          <p:cNvPr id="116" name="TextBox 115"/>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37.0</a:t>
            </a:r>
          </a:p>
        </p:txBody>
      </p:sp>
      <p:sp>
        <p:nvSpPr>
          <p:cNvPr id="117" name="TextBox 116"/>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74%</a:t>
            </a:r>
          </a:p>
        </p:txBody>
      </p:sp>
      <p:sp>
        <p:nvSpPr>
          <p:cNvPr id="118" name="TextBox 117"/>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19" name="TextBox 118"/>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0" name="TextBox 119"/>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194</a:t>
            </a:r>
          </a:p>
        </p:txBody>
      </p:sp>
      <p:sp>
        <p:nvSpPr>
          <p:cNvPr id="121" name="TextBox 120"/>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22" name="TextBox 121"/>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28</a:t>
            </a:r>
          </a:p>
        </p:txBody>
      </p:sp>
      <p:sp>
        <p:nvSpPr>
          <p:cNvPr id="123" name="TextBox 122"/>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205</a:t>
            </a:r>
          </a:p>
        </p:txBody>
      </p:sp>
      <p:sp>
        <p:nvSpPr>
          <p:cNvPr id="124" name="TextBox 123"/>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41.0</a:t>
            </a:r>
          </a:p>
        </p:txBody>
      </p:sp>
      <p:sp>
        <p:nvSpPr>
          <p:cNvPr id="125" name="TextBox 124"/>
          <p:cNvSpPr txBox="1"/>
          <p:nvPr/>
        </p:nvSpPr>
        <p:spPr>
          <a:xfrm>
            <a:off x="6583679" y="4791456"/>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26" name="Rectangle 125"/>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28" name="TextBox 127"/>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9" name="TextBox 128"/>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222</a:t>
            </a:r>
          </a:p>
        </p:txBody>
      </p:sp>
      <p:sp>
        <p:nvSpPr>
          <p:cNvPr id="130" name="TextBox 129"/>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31" name="TextBox 130"/>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32" name="TextBox 131"/>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234</a:t>
            </a:r>
          </a:p>
        </p:txBody>
      </p:sp>
      <p:sp>
        <p:nvSpPr>
          <p:cNvPr id="133" name="TextBox 132"/>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46.8</a:t>
            </a:r>
          </a:p>
        </p:txBody>
      </p:sp>
      <p:sp>
        <p:nvSpPr>
          <p:cNvPr id="134" name="TextBox 133"/>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94%</a:t>
            </a:r>
          </a:p>
        </p:txBody>
      </p:sp>
      <p:sp>
        <p:nvSpPr>
          <p:cNvPr id="135" name="TextBox 134"/>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36" name="TextBox 135"/>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7" name="TextBox 136"/>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155</a:t>
            </a:r>
          </a:p>
        </p:txBody>
      </p:sp>
      <p:sp>
        <p:nvSpPr>
          <p:cNvPr id="138" name="TextBox 137"/>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6</a:t>
            </a:r>
          </a:p>
        </p:txBody>
      </p:sp>
      <p:sp>
        <p:nvSpPr>
          <p:cNvPr id="139" name="TextBox 138"/>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40" name="TextBox 139"/>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161</a:t>
            </a:r>
          </a:p>
        </p:txBody>
      </p:sp>
      <p:sp>
        <p:nvSpPr>
          <p:cNvPr id="141" name="TextBox 140"/>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16.8</a:t>
            </a:r>
          </a:p>
        </p:txBody>
      </p:sp>
      <p:sp>
        <p:nvSpPr>
          <p:cNvPr id="142" name="TextBox 141"/>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24,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6943</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478</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$16.4M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$4.5M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$3.9M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3341</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331</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$9.2M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$1.3M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$2.9M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5304</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297</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$8.7M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$3.6M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3236</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257</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$6.3M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$760K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$1.7M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1809</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127</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$4.1M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$1.5M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3937</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104</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$2.5M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$105K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$770K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2682</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51</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$246K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6</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89%</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1561</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34</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$24K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$307K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50</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49</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910</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51</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$316K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27</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26</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594</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24</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$801K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213</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213</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7416</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287</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$8.3M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$2.7M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182 portfolio  ·  181 active  ·  1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220 portfolio  ·  206 active  ·  14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402 portfolio  ·  387 active  ·  96%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2026-05-24</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24,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5" name="Rectangle 14"/>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18" name="TextBox 17"/>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9" name="TextBox 18"/>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50 agencies dormant</a:t>
            </a:r>
          </a:p>
        </p:txBody>
      </p:sp>
      <p:sp>
        <p:nvSpPr>
          <p:cNvPr id="20" name="TextBox 19"/>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1" name="TextBox 20"/>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2" name="Rectangle 21"/>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5" name="TextBox 24"/>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26" name="TextBox 25"/>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27" name="TextBox 26"/>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28" name="TextBox 27"/>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29" name="TextBox 28"/>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0" name="TextBox 29"/>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1" name="TextBox 30"/>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3" name="Rectangle 32"/>
          <p:cNvSpPr/>
          <p:nvPr/>
        </p:nvSpPr>
        <p:spPr>
          <a:xfrm>
            <a:off x="6263640" y="3154680"/>
            <a:ext cx="5623560" cy="1536192"/>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63640" y="3154680"/>
            <a:ext cx="54864" cy="1536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36" name="TextBox 35"/>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6 dormant</a:t>
            </a:r>
          </a:p>
        </p:txBody>
      </p:sp>
      <p:sp>
        <p:nvSpPr>
          <p:cNvPr id="37" name="TextBox 36"/>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6 of 53 agencies dormant</a:t>
            </a:r>
          </a:p>
        </p:txBody>
      </p:sp>
      <p:sp>
        <p:nvSpPr>
          <p:cNvPr id="38" name="TextBox 37"/>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39" name="TextBox 38"/>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0" name="TextBox 39"/>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1" name="TextBox 40"/>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2" name="TextBox 41"/>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44" name="TextBox 43"/>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46" name="TextBox 45"/>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48" name="TextBox 47"/>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0" name="Rectangle 49"/>
          <p:cNvSpPr/>
          <p:nvPr/>
        </p:nvSpPr>
        <p:spPr>
          <a:xfrm>
            <a:off x="6263640" y="4782312"/>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4782312"/>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9944" y="4818888"/>
            <a:ext cx="4251960" cy="219456"/>
          </a:xfrm>
          <a:prstGeom prst="rect">
            <a:avLst/>
          </a:prstGeom>
          <a:noFill/>
        </p:spPr>
        <p:txBody>
          <a:bodyPr wrap="none">
            <a:spAutoFit/>
          </a:bodyPr>
          <a:lstStyle/>
          <a:p>
            <a:pPr algn="l">
              <a:defRPr sz="1100" b="1">
                <a:solidFill>
                  <a:srgbClr val="111827"/>
                </a:solidFill>
                <a:latin typeface="Calibri"/>
              </a:defRPr>
            </a:pPr>
            <a:r>
              <a:t>Taylor Sloan</a:t>
            </a:r>
          </a:p>
        </p:txBody>
      </p:sp>
      <p:sp>
        <p:nvSpPr>
          <p:cNvPr id="53" name="TextBox 52"/>
          <p:cNvSpPr txBox="1"/>
          <p:nvPr/>
        </p:nvSpPr>
        <p:spPr>
          <a:xfrm>
            <a:off x="10652760" y="4837176"/>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54" name="TextBox 53"/>
          <p:cNvSpPr txBox="1"/>
          <p:nvPr/>
        </p:nvSpPr>
        <p:spPr>
          <a:xfrm>
            <a:off x="6409944" y="5020056"/>
            <a:ext cx="5349240" cy="146304"/>
          </a:xfrm>
          <a:prstGeom prst="rect">
            <a:avLst/>
          </a:prstGeom>
          <a:noFill/>
        </p:spPr>
        <p:txBody>
          <a:bodyPr wrap="none">
            <a:spAutoFit/>
          </a:bodyPr>
          <a:lstStyle/>
          <a:p>
            <a:pPr algn="l">
              <a:defRPr sz="900" b="0">
                <a:solidFill>
                  <a:srgbClr val="6B7280"/>
                </a:solidFill>
                <a:latin typeface="Calibri"/>
              </a:defRPr>
            </a:pPr>
            <a:r>
              <a:t>1 of 27 agencies dormant</a:t>
            </a:r>
          </a:p>
        </p:txBody>
      </p:sp>
      <p:sp>
        <p:nvSpPr>
          <p:cNvPr id="55" name="TextBox 54"/>
          <p:cNvSpPr txBox="1"/>
          <p:nvPr/>
        </p:nvSpPr>
        <p:spPr>
          <a:xfrm>
            <a:off x="6446520" y="5184648"/>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56" name="TextBox 55"/>
          <p:cNvSpPr txBox="1"/>
          <p:nvPr/>
        </p:nvSpPr>
        <p:spPr>
          <a:xfrm>
            <a:off x="6574536" y="5166360"/>
            <a:ext cx="5221224" cy="182880"/>
          </a:xfrm>
          <a:prstGeom prst="rect">
            <a:avLst/>
          </a:prstGeom>
          <a:noFill/>
        </p:spPr>
        <p:txBody>
          <a:bodyPr wrap="none">
            <a:spAutoFit/>
          </a:bodyPr>
          <a:lstStyle/>
          <a:p>
            <a:pPr algn="l">
              <a:defRPr sz="1000" b="0">
                <a:solidFill>
                  <a:srgbClr val="374151"/>
                </a:solidFill>
                <a:latin typeface="Calibri"/>
              </a:defRPr>
            </a:pPr>
            <a:r>
              <a:t>Titanic Insurance Services Inc.</a:t>
            </a:r>
          </a:p>
        </p:txBody>
      </p:sp>
      <p:sp>
        <p:nvSpPr>
          <p:cNvPr id="57" name="Rectangle 56"/>
          <p:cNvSpPr/>
          <p:nvPr/>
        </p:nvSpPr>
        <p:spPr>
          <a:xfrm>
            <a:off x="6263640" y="5550408"/>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263640" y="5550408"/>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9944" y="5586984"/>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60" name="TextBox 59"/>
          <p:cNvSpPr txBox="1"/>
          <p:nvPr/>
        </p:nvSpPr>
        <p:spPr>
          <a:xfrm>
            <a:off x="10652760" y="5605272"/>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61" name="TextBox 60"/>
          <p:cNvSpPr txBox="1"/>
          <p:nvPr/>
        </p:nvSpPr>
        <p:spPr>
          <a:xfrm>
            <a:off x="6409944" y="5788152"/>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62" name="TextBox 61"/>
          <p:cNvSpPr txBox="1"/>
          <p:nvPr/>
        </p:nvSpPr>
        <p:spPr>
          <a:xfrm>
            <a:off x="6446520" y="595274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3" name="TextBox 62"/>
          <p:cNvSpPr txBox="1"/>
          <p:nvPr/>
        </p:nvSpPr>
        <p:spPr>
          <a:xfrm>
            <a:off x="6574536" y="5934456"/>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64" name="TextBox 63"/>
          <p:cNvSpPr txBox="1"/>
          <p:nvPr/>
        </p:nvSpPr>
        <p:spPr>
          <a:xfrm>
            <a:off x="6446520" y="612648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5" name="TextBox 64"/>
          <p:cNvSpPr txBox="1"/>
          <p:nvPr/>
        </p:nvSpPr>
        <p:spPr>
          <a:xfrm>
            <a:off x="6574536" y="6108192"/>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66" name="TextBox 65"/>
          <p:cNvSpPr txBox="1"/>
          <p:nvPr/>
        </p:nvSpPr>
        <p:spPr>
          <a:xfrm>
            <a:off x="6446520" y="6300216"/>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7" name="TextBox 66"/>
          <p:cNvSpPr txBox="1"/>
          <p:nvPr/>
        </p:nvSpPr>
        <p:spPr>
          <a:xfrm>
            <a:off x="6574536" y="6281928"/>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68" name="TextBox 67"/>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+ 4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24,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24</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24,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$3.0M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$997K</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$981K</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$896K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$893K</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$797K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$753K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$665K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$640K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$582K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2193</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2039</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1543</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1259</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1171</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1008</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974</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909</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690</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552</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525</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496</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450</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432</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384</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368</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358</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350</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346</a:t>
            </a:r>
          </a:p>
        </p:txBody>
      </p:sp>
      <p:sp>
        <p:nvSpPr>
          <p:cNvPr id="215" name="Rectangle 214"/>
          <p:cNvSpPr/>
          <p:nvPr/>
        </p:nvSpPr>
        <p:spPr>
          <a:xfrm>
            <a:off x="6291072"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318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24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24,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Ameritrans Risk Solutions, Inc DBA American Transportation &amp; Ener</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$371K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33</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$327K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16</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$231K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$220K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Westy M.</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Acrisure LLC DBA RRL Insurance Agency</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$184K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MST INSURANCE SERVICES INC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$175K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Westy M.</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Acrisure LLC DBA RRL Insurance Agency</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$174K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216 fleet binds  ·  $19.9M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24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24,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$4.2M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$3.1M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$1.0M</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$932K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$836K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$708K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$692K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$690K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$688K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$663K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$584K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$549K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$524K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$516K</a:t>
            </a:r>
          </a:p>
        </p:txBody>
      </p:sp>
      <p:sp>
        <p:nvSpPr>
          <p:cNvPr id="106" name="Rectangle 105"/>
          <p:cNvSpPr/>
          <p:nvPr/>
        </p:nvSpPr>
        <p:spPr>
          <a:xfrm>
            <a:off x="228600" y="594360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$507K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$502K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$472K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$441K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$439K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41" name="Rectangle 140"/>
          <p:cNvSpPr/>
          <p:nvPr/>
        </p:nvSpPr>
        <p:spPr>
          <a:xfrm>
            <a:off x="6254496" y="235915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$413K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$412K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$408K</a:t>
            </a:r>
          </a:p>
        </p:txBody>
      </p:sp>
      <p:sp>
        <p:nvSpPr>
          <p:cNvPr id="156" name="Rectangle 155"/>
          <p:cNvSpPr/>
          <p:nvPr/>
        </p:nvSpPr>
        <p:spPr>
          <a:xfrm>
            <a:off x="6254496"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$396K</a:t>
            </a:r>
          </a:p>
        </p:txBody>
      </p:sp>
      <p:sp>
        <p:nvSpPr>
          <p:cNvPr id="161" name="Rectangle 160"/>
          <p:cNvSpPr/>
          <p:nvPr/>
        </p:nvSpPr>
        <p:spPr>
          <a:xfrm>
            <a:off x="6254496" y="338328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$388K</a:t>
            </a:r>
          </a:p>
        </p:txBody>
      </p:sp>
      <p:sp>
        <p:nvSpPr>
          <p:cNvPr id="166" name="Rectangle 165"/>
          <p:cNvSpPr/>
          <p:nvPr/>
        </p:nvSpPr>
        <p:spPr>
          <a:xfrm>
            <a:off x="6254496" y="363931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$372K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$365K</a:t>
            </a:r>
          </a:p>
        </p:txBody>
      </p:sp>
      <p:sp>
        <p:nvSpPr>
          <p:cNvPr id="181" name="Rectangle 180"/>
          <p:cNvSpPr/>
          <p:nvPr/>
        </p:nvSpPr>
        <p:spPr>
          <a:xfrm>
            <a:off x="6254496" y="440740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$352K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$341K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$339K</a:t>
            </a:r>
          </a:p>
        </p:txBody>
      </p:sp>
      <p:sp>
        <p:nvSpPr>
          <p:cNvPr id="196" name="Rectangle 195"/>
          <p:cNvSpPr/>
          <p:nvPr/>
        </p:nvSpPr>
        <p:spPr>
          <a:xfrm>
            <a:off x="6254496" y="5175504"/>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Elena Tchernogorova</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$331K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$330K</a:t>
            </a:r>
          </a:p>
        </p:txBody>
      </p:sp>
      <p:sp>
        <p:nvSpPr>
          <p:cNvPr id="206" name="Rectangle 205"/>
          <p:cNvSpPr/>
          <p:nvPr/>
        </p:nvSpPr>
        <p:spPr>
          <a:xfrm>
            <a:off x="6254496"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$323K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$321K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