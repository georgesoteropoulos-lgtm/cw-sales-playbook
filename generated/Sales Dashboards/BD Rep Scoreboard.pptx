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52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22, 2026  |  52 days into Q2  |  39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$19.0M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$33.3M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180%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86%</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29,898</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114%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$3.4M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38pp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12283 vs Apr (17615)</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$26.5M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(70%)</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$8.5M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(23%)</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$2.6M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45,825</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$9.32M written  ·  $13.13M pace  ·  22/31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22)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22)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22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18-22</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69</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424</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84</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471</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247</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396</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46</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416</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242</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47</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258</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107</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14</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122</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22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18-22</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40</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68%</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58" name="Rectangle 57"/>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23</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90%</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49</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347</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357</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159</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169</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33.8</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68%</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194</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27</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214</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226</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45.2</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90%</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144</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150</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6818</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487</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$17.4M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$4.4M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3274</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333</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$9.6M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$2.9M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5190</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299</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$8.6M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3166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254</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$6.2M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$760K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1760</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129</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$4.2M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3853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104</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$742K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2624</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50</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$207K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1529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892</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48</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$889K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584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$800K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7206</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285</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$8.1M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$2.7M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221 portfolio  ·  207 active  ·  14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388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2026-05-22</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57" name="Rectangle 56"/>
          <p:cNvSpPr/>
          <p:nvPr/>
        </p:nvSpPr>
        <p:spPr>
          <a:xfrm>
            <a:off x="6263640" y="5550408"/>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63640" y="5550408"/>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5586984"/>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0" name="TextBox 59"/>
          <p:cNvSpPr txBox="1"/>
          <p:nvPr/>
        </p:nvSpPr>
        <p:spPr>
          <a:xfrm>
            <a:off x="10652760" y="5605272"/>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1" name="TextBox 60"/>
          <p:cNvSpPr txBox="1"/>
          <p:nvPr/>
        </p:nvSpPr>
        <p:spPr>
          <a:xfrm>
            <a:off x="6409944" y="5788152"/>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2" name="TextBox 61"/>
          <p:cNvSpPr txBox="1"/>
          <p:nvPr/>
        </p:nvSpPr>
        <p:spPr>
          <a:xfrm>
            <a:off x="6446520" y="59527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3" name="TextBox 62"/>
          <p:cNvSpPr txBox="1"/>
          <p:nvPr/>
        </p:nvSpPr>
        <p:spPr>
          <a:xfrm>
            <a:off x="6574536" y="5934456"/>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64" name="TextBox 63"/>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5" name="TextBox 64"/>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66" name="TextBox 65"/>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7" name="TextBox 66"/>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22</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$919K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$890K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$884K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$796K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$753K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$752K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$640K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2146</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2002</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1502</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1225</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1150</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996</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954</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890</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680</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539</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520</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484</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434</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424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377</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357</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350</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343</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338</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304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22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$232K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$184K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221 fleet binds  ·  $20.8M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22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22,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$4.0M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$3.1M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$977K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$932K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$836K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$693K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$650K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$592K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$572K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101" name="Rectangle 100"/>
          <p:cNvSpPr/>
          <p:nvPr/>
        </p:nvSpPr>
        <p:spPr>
          <a:xfrm>
            <a:off x="228600"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$503K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$479K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$472K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$454K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1" name="Rectangle 140"/>
          <p:cNvSpPr/>
          <p:nvPr/>
        </p:nvSpPr>
        <p:spPr>
          <a:xfrm>
            <a:off x="6254496" y="235915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$391K</a:t>
            </a:r>
          </a:p>
        </p:txBody>
      </p:sp>
      <p:sp>
        <p:nvSpPr>
          <p:cNvPr id="151" name="Rectangle 150"/>
          <p:cNvSpPr/>
          <p:nvPr/>
        </p:nvSpPr>
        <p:spPr>
          <a:xfrm>
            <a:off x="6254496" y="287121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$382K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$364K</a:t>
            </a:r>
          </a:p>
        </p:txBody>
      </p:sp>
      <p:sp>
        <p:nvSpPr>
          <p:cNvPr id="176" name="Rectangle 175"/>
          <p:cNvSpPr/>
          <p:nvPr/>
        </p:nvSpPr>
        <p:spPr>
          <a:xfrm>
            <a:off x="6254496" y="415137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$355K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$342K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$330K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$321K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211" name="Rectangle 210"/>
          <p:cNvSpPr/>
          <p:nvPr/>
        </p:nvSpPr>
        <p:spPr>
          <a:xfrm>
            <a:off x="6254496"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Christopher Salazar</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Protectgo Services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$314K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