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59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29, 2026  |  59 days into Q2  |  32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$19.9M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$30.7M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167%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89%</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32,765</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111%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$1.3M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41pp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15289 vs Apr (17476)</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5 vs Q1 final (4)</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$28.5M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$8.8M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$2.9M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45,722</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4</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$10.28M written  ·  $10.99M pace  ·  29/31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29)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29)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29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25-29</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41</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13</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55</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27</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26</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470</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98</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517</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290</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25</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315</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267</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453</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55</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473</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52.7</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51</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286</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133</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17</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150</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29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25-29</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46</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30</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72%</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35</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97706"/>
                </a:solidFill>
                <a:latin typeface="Calibri"/>
              </a:defRPr>
            </a:pPr>
            <a:r>
              <a:t>80%</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91%</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396</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40</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203</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215</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35.8</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72%</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225</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36</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240</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40.0</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80%</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259</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21</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273</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45.5</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91%</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192</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199</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7353</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525</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$18.8M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$4.6M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$4.2M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3554</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355</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$9.6M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$3.1M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5726</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322</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$9.4M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$3.7M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3506</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270</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$6.4M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$778K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$1.9M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1926</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126</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$3.9M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4263</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109</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$2.6M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$835K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2920</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52</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$271K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1689</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32</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$351K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961</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$964K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$114K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638</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26</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$895K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217</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217</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7971</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310</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$8.4M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$2.9M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207 active  ·  13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388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2026-05-29</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(4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TextBox 60"/>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29</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$3.1M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$2.0M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$995K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$956K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$952K</a:t>
            </a:r>
          </a:p>
        </p:txBody>
      </p:sp>
      <p:sp>
        <p:nvSpPr>
          <p:cNvPr id="88" name="Rectangle 87"/>
          <p:cNvSpPr/>
          <p:nvPr/>
        </p:nvSpPr>
        <p:spPr>
          <a:xfrm>
            <a:off x="228600" y="4882895"/>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$906K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$849K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$764K</a:t>
            </a:r>
          </a:p>
        </p:txBody>
      </p:sp>
      <p:sp>
        <p:nvSpPr>
          <p:cNvPr id="108" name="Rectangle 107"/>
          <p:cNvSpPr/>
          <p:nvPr/>
        </p:nvSpPr>
        <p:spPr>
          <a:xfrm>
            <a:off x="228600"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Connect Insurance Agency, Inc.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$743K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2320</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2180</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1671</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1379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1195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1091</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1078</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1002</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726</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598</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553</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534</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478</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474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404</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391</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380</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375</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358</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29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$323K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$281K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$247K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$239K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$214K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Swan Insurance Sales, LLC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222 fleet binds  ·  $20.7M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29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$4.6M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$3.3M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$1.7M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$838K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$720K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$700K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$683K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$638K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$589K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$565K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$548K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$529K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$505K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$493K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$455K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$443K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$442K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$407K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$375K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81" name="Rectangle 180"/>
          <p:cNvSpPr/>
          <p:nvPr/>
        </p:nvSpPr>
        <p:spPr>
          <a:xfrm>
            <a:off x="6254496" y="440740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$365K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$334K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