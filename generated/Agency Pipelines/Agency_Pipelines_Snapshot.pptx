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Agency Pipelines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Live HubSpot view of every agency-lifecycle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Generated May 06, 2026  |  Cover Whale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Executive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14630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91440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5F6D"/>
                </a:solidFill>
                <a:latin typeface="Calibri"/>
              </a:rPr>
              <a:t>Open Deals (All Pipelines)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0B1F3A"/>
                </a:solidFill>
                <a:latin typeface="Calibri"/>
              </a:rPr>
              <a:t>2,818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914400"/>
            <a:ext cx="2743200" cy="14630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914400"/>
            <a:ext cx="2743200" cy="91440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143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5F6D"/>
                </a:solidFill>
                <a:latin typeface="Calibri"/>
              </a:rPr>
              <a:t>Closed 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0B1F3A"/>
                </a:solidFill>
                <a:latin typeface="Calibri"/>
              </a:rPr>
              <a:t>1,781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2743200" cy="14630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2743200" cy="91440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43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5F6D"/>
                </a:solidFill>
                <a:latin typeface="Calibri"/>
              </a:rPr>
              <a:t>Closed 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0B1F3A"/>
                </a:solidFill>
                <a:latin typeface="Calibri"/>
              </a:rPr>
              <a:t>371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914400"/>
            <a:ext cx="2743200" cy="14630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914400"/>
            <a:ext cx="2743200" cy="91440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143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5F6D"/>
                </a:solidFill>
                <a:latin typeface="Calibri"/>
              </a:rPr>
              <a:t>Overall 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0B1F3A"/>
                </a:solidFill>
                <a:latin typeface="Calibri"/>
              </a:rPr>
              <a:t>82.8%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Pipeline Summary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11247120" cy="32918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154679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154679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3154679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Won YTD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154679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Lost YTD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154679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Win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19" y="3154679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Avg Age (open)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38144"/>
            <a:ext cx="1124712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74720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Net New Agency Prospect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474720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300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3474720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74720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474720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26%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19" y="3474720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41 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803904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Trucking Agency Prospecting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803904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3803904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803904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803904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19" y="3803904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9 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096512"/>
            <a:ext cx="1124712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133088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Agency Appointments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4133088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2191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4133088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133088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133088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19" y="4133088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392 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462272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Aggregator Appointment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4462272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79" y="4462272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462272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462272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73%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19" y="4462272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 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54879"/>
            <a:ext cx="1124712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791455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New Agent Creation Process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4791455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79" y="4791455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1533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791455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251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4791455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86%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19" y="4791455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 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120640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(Temporary) Agency Agreement Catchup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0720" y="5120640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306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79" y="5120640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5120640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5120640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19" y="5120640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497 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413248"/>
            <a:ext cx="1124712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449824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Agency Reactivation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720" y="5449824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40879" y="5449824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449824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5449824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19" y="5449824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92 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5779007"/>
            <a:ext cx="52120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Growth Team Workflow 2025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0" y="5779007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40879" y="5779007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5779007"/>
            <a:ext cx="12801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0" y="5779007"/>
            <a:ext cx="11887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19" y="5779007"/>
            <a:ext cx="10058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301 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Net New Agency Prospect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Open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300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 Deals by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Identified / Researched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86584"/>
            <a:ext cx="3832057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8177" y="235000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91  (38d avg)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 Initial Outreach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889503"/>
            <a:ext cx="640080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28529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152  (31d avg)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35584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Engaged / Discovery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392424"/>
            <a:ext cx="968542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4662" y="335584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23  (28d avg)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5876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Decision Maker Bought-In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895344"/>
            <a:ext cx="80010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46220" y="385876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19  (30d avg)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36168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Education / Platform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39" y="436168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6460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Intent to Partner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4901183"/>
            <a:ext cx="547436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3556" y="486460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13  (24d avg)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675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Onboarding / Setup in Progress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404103"/>
            <a:ext cx="84221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0341" y="53675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2  (48d avg)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1874519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Top Owners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28600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Derrick Leroy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228600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2578608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Ron Douglas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0" y="2578608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871216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Christopher Hayes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12880" y="2871216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163824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(Unassigned)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0" y="3163824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43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456432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Derek Janssen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12880" y="3456432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Pipeline ID 865302192  |  Source: HubSpot live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Trucking Agency Prospecting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Open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 Deals by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New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86584"/>
            <a:ext cx="640080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235000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14  (9d avg)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Outreach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39" y="28529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5584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335584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39" y="385876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874519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Top Owners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28600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(Unassigned)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228600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78608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Ron Douglas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2578608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871216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Cory Arnette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2871216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Pipeline ID 891524948  |  Source: HubSpot live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Agency Appointments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Open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2191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 Deals by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Growth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235000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529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Send DocuSign Questionnaire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28529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5584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Questionaire 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392424"/>
            <a:ext cx="4572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39" y="335584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5  (19d avg)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Compliance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895344"/>
            <a:ext cx="4572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39" y="385876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11  (5d avg)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6168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Send DocuSign Appointment Forms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39" y="436168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6460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Appointment Forms Pending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4901183"/>
            <a:ext cx="4572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39" y="486460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6  (12d avg)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675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Docs Received: Create Agency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5404103"/>
            <a:ext cx="4572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39" y="53675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2  (56d avg)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7044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Closed Lost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907024"/>
            <a:ext cx="640080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587044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2167  (386d avg)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1874519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Top Owners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28600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(Unassigned)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12880" y="228600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2015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578608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Tamera 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12880" y="2578608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871216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Bryan Salvadore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12880" y="2871216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3163824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Cory Arnette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0" y="3163824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3456432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Nyles Oppenheimer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12880" y="3456432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Pipeline ID 63826993  |  Source: HubSpot live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Aggregator Appointment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Open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73%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 Deals by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New Request - In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235000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529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Pending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28529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5584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Approved Create Agency/Agent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335584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5876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Create User 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39" y="385876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1874519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Top Owners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Pipeline ID 11066131  |  Source: HubSpot live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New Agent Creation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Open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1533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251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 Deals by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New Agent Application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86584"/>
            <a:ext cx="640080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235000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3  (0d avg)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Agent Approved - Create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39" y="28529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74519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Top Owners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28600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Bryan Salvadore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0" y="228600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Pipeline ID 79777569  |  Source: HubSpot live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(Temporary) Agency Agreement Catchup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Open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306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 Deals by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Needs to 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86584"/>
            <a:ext cx="640080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235000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190  (421d avg)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Agency Agreement Sent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889503"/>
            <a:ext cx="1448602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4722" y="28529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43  (412d avg)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35584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On-Hold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392424"/>
            <a:ext cx="2156058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2178" y="335584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64  (322d avg)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5876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Agent Signed Please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895344"/>
            <a:ext cx="303195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9315" y="385876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9  (352d avg)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36168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Agency Agreement 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39" y="436168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1874519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Top Owners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28600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Bryan Salvadore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228600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578608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(Unassigned)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2578608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2871216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Ron Douglas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2871216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163824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Roland Massey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3163824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456432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Cory Arnette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0" y="3456432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Pipeline ID 643322763  |  Source: HubSpot live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Agency Reactivation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Open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 Deals by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Researching Inactive Agencys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235000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529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Outreach Initiated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89503"/>
            <a:ext cx="640080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8529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3  (84d avg)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5584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Contact Reestablished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335584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1874519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Top Owners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28600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Tamera 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228600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Pipeline ID 772091285  |  Source: HubSpot live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Growth Team Workflow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Open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Won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Lost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777240"/>
            <a:ext cx="2743200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777240"/>
            <a:ext cx="2743200" cy="73152"/>
          </a:xfrm>
          <a:prstGeom prst="rect">
            <a:avLst/>
          </a:prstGeom>
          <a:solidFill>
            <a:srgbClr val="F2B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9144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Calibri"/>
              </a:rPr>
              <a:t>Win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88720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87451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 Deals by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New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86584"/>
            <a:ext cx="6400800" cy="393192"/>
          </a:xfrm>
          <a:prstGeom prst="rect">
            <a:avLst/>
          </a:prstGeom>
          <a:solidFill>
            <a:srgbClr val="00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235000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1  (292d avg)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7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Qualified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39" y="2852927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5584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In 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335584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Quoted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39" y="385876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61688"/>
            <a:ext cx="26517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Bound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4361688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0  (0d avg)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874519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Top Owners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28600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Ian Abrahamsen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228600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0A3B4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Pipeline ID 760929579  |  Source: HubSpot live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Methodology &amp;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Source: HubSpot Deals API (live).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Pipelines included: Net New Agency Prospect, Trucking Agency Prospecting, Agency Appointments,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  Aggregator Appointment, New Agent Creation, Agency Agreement Catchup, Agency Reactivation, Growth Team Workflow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Open = not in a Closed stage. Won/Lost YTD = closedate within current calendar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Days in Stage = today - hs_v2_date_entered_current_stage.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BDM/BDA come from the associated company (owner_2 / onboarding_success_agent).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Deal Owner = hubspot_owner_id on the deal itself (may differ from BDM).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Re-run script: G:\My Drive\Claude\Agency Pipelines\agency_pipelines_snapshot.py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